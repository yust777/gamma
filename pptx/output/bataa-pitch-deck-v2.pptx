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3d0c772a9c4a3e" /><Relationship Type="http://schemas.openxmlformats.org/officeDocument/2006/relationships/extended-properties" Target="/docProps/app.xml" Id="R63a7e2cee7284bf6" /><Relationship Type="http://schemas.openxmlformats.org/officeDocument/2006/relationships/officeDocument" Target="/ppt/presentation.xml" Id="Rda790d371a6a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1b54ad6b749b1"/>
  </p:sldMasterIdLst>
  <p:notesMasterIdLst>
    <p:notesMasterId xmlns:r="http://schemas.openxmlformats.org/officeDocument/2006/relationships" r:id="Rc4cd515ae60b464a"/>
  </p:notesMasterIdLst>
  <p:sldIdLst>
    <p:sldId xmlns:r="http://schemas.openxmlformats.org/officeDocument/2006/relationships" id="256" r:id="Re905e68490c74cce"/>
    <p:sldId xmlns:r="http://schemas.openxmlformats.org/officeDocument/2006/relationships" id="257" r:id="R5233b3867bbc4aec"/>
    <p:sldId xmlns:r="http://schemas.openxmlformats.org/officeDocument/2006/relationships" id="258" r:id="Redf2904ba1e94c3f"/>
    <p:sldId xmlns:r="http://schemas.openxmlformats.org/officeDocument/2006/relationships" id="259" r:id="Rd0e1368158424251"/>
    <p:sldId xmlns:r="http://schemas.openxmlformats.org/officeDocument/2006/relationships" id="260" r:id="Rcfc4dda87d814d60"/>
    <p:sldId xmlns:r="http://schemas.openxmlformats.org/officeDocument/2006/relationships" id="261" r:id="Recbb0966e8604981"/>
    <p:sldId xmlns:r="http://schemas.openxmlformats.org/officeDocument/2006/relationships" id="262" r:id="R3275ef3e4dc64881"/>
    <p:sldId xmlns:r="http://schemas.openxmlformats.org/officeDocument/2006/relationships" id="263" r:id="R294beee6ee5e430f"/>
    <p:sldId xmlns:r="http://schemas.openxmlformats.org/officeDocument/2006/relationships" id="264" r:id="R839561bd22a54e02"/>
    <p:sldId xmlns:r="http://schemas.openxmlformats.org/officeDocument/2006/relationships" id="265" r:id="R03d3ea9056f54463"/>
    <p:sldId xmlns:r="http://schemas.openxmlformats.org/officeDocument/2006/relationships" id="266" r:id="R0474545d8d594149"/>
    <p:sldId xmlns:r="http://schemas.openxmlformats.org/officeDocument/2006/relationships" id="267" r:id="R23f334ede71a4b68"/>
    <p:sldId xmlns:r="http://schemas.openxmlformats.org/officeDocument/2006/relationships" id="268" r:id="Ra0ee74eeac1a4a6d"/>
    <p:sldId xmlns:r="http://schemas.openxmlformats.org/officeDocument/2006/relationships" id="269" r:id="R97b44e05f24c4185"/>
    <p:sldId xmlns:r="http://schemas.openxmlformats.org/officeDocument/2006/relationships" id="270" r:id="R6679d28a66d349f4"/>
    <p:sldId xmlns:r="http://schemas.openxmlformats.org/officeDocument/2006/relationships" id="271" r:id="R31827324bf3c43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8d71c0dbd14deb" /><Relationship Type="http://schemas.openxmlformats.org/officeDocument/2006/relationships/slideMaster" Target="/ppt/slideMasters/slideMaster1.xml" Id="R6c11b54ad6b749b1" /><Relationship Type="http://schemas.openxmlformats.org/officeDocument/2006/relationships/notesMaster" Target="/ppt/notesMasters/notesMaster1.xml" Id="Rc4cd515ae60b464a" /><Relationship Type="http://schemas.openxmlformats.org/officeDocument/2006/relationships/presProps" Target="/ppt/presProps.xml" Id="R4470557a5dd243ef" /><Relationship Type="http://schemas.openxmlformats.org/officeDocument/2006/relationships/tableStyles" Target="/ppt/tableStyles.xml" Id="Rfbebbe5ab35d4d7b" /><Relationship Type="http://schemas.openxmlformats.org/officeDocument/2006/relationships/slide" Target="/ppt/slides/slide1.xml" Id="Re905e68490c74cce" /><Relationship Type="http://schemas.openxmlformats.org/officeDocument/2006/relationships/slide" Target="/ppt/slides/slide2.xml" Id="R5233b3867bbc4aec" /><Relationship Type="http://schemas.openxmlformats.org/officeDocument/2006/relationships/slide" Target="/ppt/slides/slide3.xml" Id="Redf2904ba1e94c3f" /><Relationship Type="http://schemas.openxmlformats.org/officeDocument/2006/relationships/slide" Target="/ppt/slides/slide4.xml" Id="Rd0e1368158424251" /><Relationship Type="http://schemas.openxmlformats.org/officeDocument/2006/relationships/slide" Target="/ppt/slides/slide5.xml" Id="Rcfc4dda87d814d60" /><Relationship Type="http://schemas.openxmlformats.org/officeDocument/2006/relationships/slide" Target="/ppt/slides/slide6.xml" Id="Recbb0966e8604981" /><Relationship Type="http://schemas.openxmlformats.org/officeDocument/2006/relationships/slide" Target="/ppt/slides/slide7.xml" Id="R3275ef3e4dc64881" /><Relationship Type="http://schemas.openxmlformats.org/officeDocument/2006/relationships/slide" Target="/ppt/slides/slide8.xml" Id="R294beee6ee5e430f" /><Relationship Type="http://schemas.openxmlformats.org/officeDocument/2006/relationships/slide" Target="/ppt/slides/slide9.xml" Id="R839561bd22a54e02" /><Relationship Type="http://schemas.openxmlformats.org/officeDocument/2006/relationships/slide" Target="/ppt/slides/slide10.xml" Id="R03d3ea9056f54463" /><Relationship Type="http://schemas.openxmlformats.org/officeDocument/2006/relationships/slide" Target="/ppt/slides/slide11.xml" Id="R0474545d8d594149" /><Relationship Type="http://schemas.openxmlformats.org/officeDocument/2006/relationships/slide" Target="/ppt/slides/slide12.xml" Id="R23f334ede71a4b68" /><Relationship Type="http://schemas.openxmlformats.org/officeDocument/2006/relationships/slide" Target="/ppt/slides/slide13.xml" Id="Ra0ee74eeac1a4a6d" /><Relationship Type="http://schemas.openxmlformats.org/officeDocument/2006/relationships/slide" Target="/ppt/slides/slide14.xml" Id="R97b44e05f24c4185" /><Relationship Type="http://schemas.openxmlformats.org/officeDocument/2006/relationships/slide" Target="/ppt/slides/slide15.xml" Id="R6679d28a66d349f4" /><Relationship Type="http://schemas.openxmlformats.org/officeDocument/2006/relationships/slide" Target="/ppt/slides/slide16.xml" Id="R31827324bf3c43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ce3244a58e43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237556249c465b" /><Relationship Type="http://schemas.openxmlformats.org/officeDocument/2006/relationships/notesMaster" Target="/ppt/notesMasters/notesMaster1.xml" Id="R2b5db0bb29d345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b70f451174d5d" /><Relationship Type="http://schemas.openxmlformats.org/officeDocument/2006/relationships/notesMaster" Target="/ppt/notesMasters/notesMaster1.xml" Id="R14fa8fbd91eb4b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73b17abcc04485" /><Relationship Type="http://schemas.openxmlformats.org/officeDocument/2006/relationships/notesMaster" Target="/ppt/notesMasters/notesMaster1.xml" Id="R561246cda9034e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d5af5a3fd47ba" /><Relationship Type="http://schemas.openxmlformats.org/officeDocument/2006/relationships/notesMaster" Target="/ppt/notesMasters/notesMaster1.xml" Id="Rcb8362980d6040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5ea14b344b4c84" /><Relationship Type="http://schemas.openxmlformats.org/officeDocument/2006/relationships/notesMaster" Target="/ppt/notesMasters/notesMaster1.xml" Id="Rf0f88faa0a02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1aded4f0cb4c15" /><Relationship Type="http://schemas.openxmlformats.org/officeDocument/2006/relationships/notesMaster" Target="/ppt/notesMasters/notesMaster1.xml" Id="R343a37817962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4750ff9c874fbe" /><Relationship Type="http://schemas.openxmlformats.org/officeDocument/2006/relationships/notesMaster" Target="/ppt/notesMasters/notesMaster1.xml" Id="Rd5c9cbcbc6de46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346ef95064ddb" /><Relationship Type="http://schemas.openxmlformats.org/officeDocument/2006/relationships/notesMaster" Target="/ppt/notesMasters/notesMaster1.xml" Id="Re6621cc37ff4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5c8c7d3c294de7" /><Relationship Type="http://schemas.openxmlformats.org/officeDocument/2006/relationships/notesMaster" Target="/ppt/notesMasters/notesMaster1.xml" Id="R31fe102017ba41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c332b2b2b24fe9" /><Relationship Type="http://schemas.openxmlformats.org/officeDocument/2006/relationships/notesMaster" Target="/ppt/notesMasters/notesMaster1.xml" Id="R5db06dfd54aa40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e4d9ca78474a79" /><Relationship Type="http://schemas.openxmlformats.org/officeDocument/2006/relationships/notesMaster" Target="/ppt/notesMasters/notesMaster1.xml" Id="R6f0c3d7282f04c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73f1dda8754589" /><Relationship Type="http://schemas.openxmlformats.org/officeDocument/2006/relationships/notesMaster" Target="/ppt/notesMasters/notesMaster1.xml" Id="Rb2717485092e47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491e5a976f4988" /><Relationship Type="http://schemas.openxmlformats.org/officeDocument/2006/relationships/notesMaster" Target="/ppt/notesMasters/notesMaster1.xml" Id="Rb60098944c5440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2eee5018214d38" /><Relationship Type="http://schemas.openxmlformats.org/officeDocument/2006/relationships/notesMaster" Target="/ppt/notesMasters/notesMaster1.xml" Id="Rfae0a1c9fe544f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1cbd8219724d33" /><Relationship Type="http://schemas.openxmlformats.org/officeDocument/2006/relationships/notesMaster" Target="/ppt/notesMasters/notesMaster1.xml" Id="R52450eb8e03441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77df1135dd40e0" /><Relationship Type="http://schemas.openxmlformats.org/officeDocument/2006/relationships/notesMaster" Target="/ppt/notesMasters/notesMaster1.xml" Id="Rf9d1fc47b6d54d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People do not fail because content is unavailable. They stall at the moment they need to act. Bataa keeps the next action close. Visual source: public/hero.webp from the Bataa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Framing based on the user-provided problem statement. The quoted sentence is a synthesized articulation, not a verbatim interview 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label: OBSERVED. Source: user-provided description of early qualitative conversations at Horus University. Do not add a participant count until the team verifies it. These are synthesized themes, not verbatim quotes.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bridge: Bataa is not another content library. It is the guidance layer between intention and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sources: Bataa mobile capture from the running app (lesson-1.png) and public/guided-project-ai.webp. The desktop agent interaction should be demonstrated live or with a short clip when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sources: running Bataa app captures from the project. The “no typing needed” design is demonstrated in the first lesson step, which offers three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sources: public/ai-assisted-coding.webp and public/guided-project-ai.webp. Evidence status: DEMONSTRATED for the guidance concept. State clearly that autonomous cursor control and broad software coverage remain pilot scope unless already shipped.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journey for explaining the product loop. Do not present the day-30 outcome as a measured result until a real course and pilot validate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source: running Bataa app capture lesson-step-1.png. This design directly addresses beginner anxiety and keyboard friction from the user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editable diagram expresses the intended learning loop. Validate it with pilot metrics such as task completion, time-to-first-success, hint usage, and return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qualitative positioning hypothesis based on the user-provided competitor list. Verify the exact local platform names and current features before presenting. Do not claim that competitors do not use AI without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is based on the user-provided brief. Course purchases are the launch priority; token packs and platform fees are expansion paths unless already implemented and tested commercially.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reflects planned expansion from the user-provided business model: institution and creator courses with commission, plus an API/base URL offering. Label as planned until commercially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ladder: OBSERVED = campus conversations; DEMONSTRATED = existing product surfaces; NEXT TEST = pilot metrics and partner recruitment. Do not claim retention or conversion before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 and roles are taken from the user-provided brief. Add concrete proof points, links, or advisor details if available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ask for pilot partners, not a generic “thank you.” Replace the ask and roadmap with dates, owners, and contact details when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196460fb64e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070759145471c" /><Relationship Type="http://schemas.openxmlformats.org/officeDocument/2006/relationships/slideLayout" Target="/ppt/slideLayouts/slideLayout1.xml" Id="R99ea091af49e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a091af49e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5ce9d15894e70" /><Relationship Type="http://schemas.openxmlformats.org/officeDocument/2006/relationships/image" Target="/ppt/media/image.png" Id="R4faddbbbe677495e" /><Relationship Type="http://schemas.openxmlformats.org/officeDocument/2006/relationships/notesSlide" Target="/ppt/notesSlides/notesSlide1.xml" Id="Rbfa60737aa304e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d6c89d0f54a38" /><Relationship Type="http://schemas.openxmlformats.org/officeDocument/2006/relationships/image" Target="/ppt/media/image2.png" Id="Rbde6659c95de47b1" /><Relationship Type="http://schemas.openxmlformats.org/officeDocument/2006/relationships/notesSlide" Target="/ppt/notesSlides/notesSlide2.xml" Id="R695b7bb1d1a14c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1576c3ce0432d" /><Relationship Type="http://schemas.openxmlformats.org/officeDocument/2006/relationships/notesSlide" Target="/ppt/notesSlides/notesSlide3.xml" Id="Rb37519f664cd45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27f44b5c7480f" /><Relationship Type="http://schemas.openxmlformats.org/officeDocument/2006/relationships/notesSlide" Target="/ppt/notesSlides/notesSlide4.xml" Id="R3f3af39b322a4c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65f93395d4afe" /><Relationship Type="http://schemas.openxmlformats.org/officeDocument/2006/relationships/image" Target="/ppt/media/image3.png" Id="R701faad932f64389" /><Relationship Type="http://schemas.openxmlformats.org/officeDocument/2006/relationships/image" Target="/ppt/media/image4.png" Id="R7f704beb07d64a85" /><Relationship Type="http://schemas.openxmlformats.org/officeDocument/2006/relationships/notesSlide" Target="/ppt/notesSlides/notesSlide5.xml" Id="R5291a14ddbb84b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ac186c71247bf" /><Relationship Type="http://schemas.openxmlformats.org/officeDocument/2006/relationships/image" Target="/ppt/media/image5.png" Id="R0b67bae220e044eb" /><Relationship Type="http://schemas.openxmlformats.org/officeDocument/2006/relationships/image" Target="/ppt/media/image6.png" Id="R6296639336da4930" /><Relationship Type="http://schemas.openxmlformats.org/officeDocument/2006/relationships/notesSlide" Target="/ppt/notesSlides/notesSlide6.xml" Id="Rfa4cd764958b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ef64c27784c8c" /><Relationship Type="http://schemas.openxmlformats.org/officeDocument/2006/relationships/image" Target="/ppt/media/image7.png" Id="Rca5d30840e6044e4" /><Relationship Type="http://schemas.openxmlformats.org/officeDocument/2006/relationships/notesSlide" Target="/ppt/notesSlides/notesSlide7.xml" Id="Rabcc55c6468146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ec9b38c2a4730" /><Relationship Type="http://schemas.openxmlformats.org/officeDocument/2006/relationships/notesSlide" Target="/ppt/notesSlides/notesSlide8.xml" Id="Rd19c55d9e433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58b2e7a394616" /><Relationship Type="http://schemas.openxmlformats.org/officeDocument/2006/relationships/image" Target="/ppt/media/image8.png" Id="Rbe13cc6e36c1458c" /><Relationship Type="http://schemas.openxmlformats.org/officeDocument/2006/relationships/notesSlide" Target="/ppt/notesSlides/notesSlide9.xml" Id="Ra0910c1a96ac40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7b01022964c26" /><Relationship Type="http://schemas.openxmlformats.org/officeDocument/2006/relationships/notesSlide" Target="/ppt/notesSlides/notesSlide10.xml" Id="R10d1457bd062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022302ab46d9" /><Relationship Type="http://schemas.openxmlformats.org/officeDocument/2006/relationships/notesSlide" Target="/ppt/notesSlides/notesSlide11.xml" Id="R42086c5ba21245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5951c924847c6" /><Relationship Type="http://schemas.openxmlformats.org/officeDocument/2006/relationships/notesSlide" Target="/ppt/notesSlides/notesSlide12.xml" Id="Rd0a3f42758774b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2e2e0f8b34dbc" /><Relationship Type="http://schemas.openxmlformats.org/officeDocument/2006/relationships/notesSlide" Target="/ppt/notesSlides/notesSlide13.xml" Id="R4697896a1f0d41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10e0c14ef4c0e" /><Relationship Type="http://schemas.openxmlformats.org/officeDocument/2006/relationships/notesSlide" Target="/ppt/notesSlides/notesSlide14.xml" Id="R3d3f79d928f64a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82062fdda432b" /><Relationship Type="http://schemas.openxmlformats.org/officeDocument/2006/relationships/notesSlide" Target="/ppt/notesSlides/notesSlide15.xml" Id="R407f0755f46649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5601d85b94019" /><Relationship Type="http://schemas.openxmlformats.org/officeDocument/2006/relationships/notesSlide" Target="/ppt/notesSlides/notesSlide16.xml" Id="Rb0d5b5ecbbdf40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80753-EBA3-4836-AB8B-243B24A4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68049-6EDC-4390-8614-FADFB448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A3"/>
          </a:solidFill>
          <a:ln xmlns:a="http://schemas.openxmlformats.org/drawingml/2006/main" w="0">
            <a:solidFill>
              <a:srgbClr val="FFD5A3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PRODUCT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96C34-89F3-450A-A587-3DEC9767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49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Learn by doing.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65C3D-15D5-4B3F-9939-3A1FBA4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895F3C"/>
                </a:solidFill>
                <a:latin typeface="Lato"/>
                <a:ea typeface="Lato"/>
                <a:cs typeface="Lato"/>
              </a:rPr>
              <a:t>A learning companion that gives people one doable next step, wherever they 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393FC-EDC4-48D6-8272-832BB32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Mobile practice  ·  Desktop guidance  ·  AI when the question appears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ddbbbe677495e"/>
          <a:stretch xmlns:a="http://schemas.openxmlformats.org/drawingml/2006/main"/>
        </p:blipFill>
        <p:spPr>
          <a:xfrm xmlns:a="http://schemas.openxmlformats.org/drawingml/2006/main">
            <a:off x="6191250" y="1356360"/>
            <a:ext cx="5334000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65E6D-33FA-47EB-9385-67EEFD84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7D5C42"/>
                </a:solidFill>
                <a:latin typeface="Lato"/>
                <a:ea typeface="Lato"/>
                <a:cs typeface="Lato"/>
              </a:rPr>
              <a:t>Pitch deck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95688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8198E-449F-43F8-B140-2A179DBE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4A8D-95D6-4507-BF9A-03ED5D3F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0D78C-CBFA-4860-9BC6-C2EC6EB9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D4F0F-AE3D-41A0-8B13-A65DCA8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661E1-2641-48FA-BFF3-25DC5B99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Learning support disappears when the learner is ready to 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EC2FC-84C2-4941-8C05-912CE18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The hardest moment often comes after the video ends.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F7644-1EF4-4191-88F5-12AA6DE4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“I know what I want to learn. I just do not know what to click next.”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A84C2-0665-456E-9484-1A6AFA15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5CFBD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E5CFBD"/>
                </a:solidFill>
                <a:latin typeface="Lato"/>
                <a:ea typeface="Lato"/>
                <a:cs typeface="Lato"/>
              </a:rPr>
              <a:t>The learner is alone when the question appears: late at night, between classes, or inside unfamiliar software.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6E8CD-A651-472E-A6FB-5C67B042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8100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6659c95de47b1"/>
          <a:stretch xmlns:a="http://schemas.openxmlformats.org/drawingml/2006/main"/>
        </p:blipFill>
        <p:spPr>
          <a:xfrm xmlns:a="http://schemas.openxmlformats.org/drawingml/2006/main">
            <a:off x="7488134" y="1809750"/>
            <a:ext cx="3216482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EA6FB-BDFE-4A15-A526-FF6B9C86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THE STALL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C7BFB-EF6B-4265-B119-3E73D072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Content is available. Context is missing.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A5D52-FACD-49CB-BC61-348EB55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Problem framing · user-provided brief</a:t>
            </a:r>
          </a:p>
        </p:txBody>
      </p:sp>
    </p:spTree>
    <p:extLst>
      <p:ext uri="{BB962C8B-B14F-4D97-AF65-F5344CB8AC3E}">
        <p14:creationId xmlns:p14="http://schemas.microsoft.com/office/powerpoint/2010/main" val="2142600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457E3-A038-4158-9216-4B1BC1A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9ECB-949B-412F-9561-8255D1E0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4EA3B-2242-4EAC-A189-0DFC3BB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1F1E5-EAF5-486B-A2D4-78B4CBE4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0B972-E0F3-4245-A93C-1A04BEF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campus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8D82A-66B7-4F59-AC9C-B2DD55BD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Early conversations at Horus University pointed to the same friction from different angles.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49597-AECB-4F8E-8D4D-387E92B5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Students do not only need more content. They need a safe next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C4358-2898-4592-A6A2-03DB877D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127D9-A1DB-4043-87CC-F4A56B57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D8D42-210B-410D-86C2-5E547D54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AVAILABILITY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A65F7-1155-4475-B785-9560F786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D180B"/>
                </a:solidFill>
                <a:latin typeface="Lato"/>
                <a:ea typeface="Lato"/>
                <a:cs typeface="Lato"/>
              </a:rPr>
              <a:t>Instructor support stops when the learner’s question starts.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B4AFE-4EF3-4E6B-90DA-84F3601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24DE7-5F78-45CC-A2BC-21211B7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949C0-352F-49D4-84C9-675C803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BAA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6E5BAA"/>
                </a:solidFill>
                <a:latin typeface="Lato"/>
                <a:ea typeface="Lato"/>
                <a:cs typeface="Lato"/>
              </a:rPr>
              <a:t>ANXIETY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38581-FC88-4E48-B5DE-6C43FE7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D180B"/>
                </a:solidFill>
                <a:latin typeface="Lato"/>
                <a:ea typeface="Lato"/>
                <a:cs typeface="Lato"/>
              </a:rPr>
              <a:t>Some learners avoid asking because the question feels too basic or too late.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AE204-FB16-441B-8753-9BEE1DB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86125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6EFF5-F1C4-43BC-8361-62F6F540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861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E9485-6234-4481-B956-A4ADF90C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E9B62"/>
                </a:solidFill>
                <a:latin typeface="Lato"/>
                <a:ea typeface="Lato"/>
                <a:cs typeface="Lato"/>
              </a:rPr>
              <a:t>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0A9C0-D077-4037-94A0-52E42D3D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D180B"/>
                </a:solidFill>
                <a:latin typeface="Lato"/>
                <a:ea typeface="Lato"/>
                <a:cs typeface="Lato"/>
              </a:rPr>
              <a:t>Courses can feel expensive, crowded, or disconnected from the moment of practice.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A19C4-3BF1-424A-8CA6-0A3A1DA8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28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5"/>
          </a:solidFill>
          <a:ln xmlns:a="http://schemas.openxmlformats.org/drawingml/2006/main" w="0">
            <a:solidFill>
              <a:srgbClr val="DFF2E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E9B62"/>
                </a:solidFill>
                <a:latin typeface="Lato"/>
                <a:ea typeface="Lato"/>
                <a:cs typeface="Lato"/>
              </a:rPr>
              <a:t>OBSERVED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925AC-DD8C-4B5D-9580-4466F69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7D5C42"/>
                </a:solidFill>
                <a:latin typeface="Lato"/>
                <a:ea typeface="Lato"/>
                <a:cs typeface="Lato"/>
              </a:rPr>
              <a:t>Qualitative themes from campus conversations. Add the verified participant count before presenting.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71BB0-DDE7-4B0D-954D-F52C3067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Evidence status: observed · Horus University conversations</a:t>
            </a:r>
          </a:p>
        </p:txBody>
      </p:sp>
    </p:spTree>
    <p:extLst>
      <p:ext uri="{BB962C8B-B14F-4D97-AF65-F5344CB8AC3E}">
        <p14:creationId xmlns:p14="http://schemas.microsoft.com/office/powerpoint/2010/main" val="20342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85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CEAED-A1F5-4A3B-8022-D823A616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99A2C-96AA-413A-A144-C6F3476F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1C8F7-B567-408E-B783-11160218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9E5FF-4F48-4B62-9765-0322111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1F538-BA29-4D35-AAD2-7803EE46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missing layer is contextual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83281-914A-4728-A316-27CCEC0E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Bataa helps at the exact moment the learner has to make a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65FAC-72A3-4995-B7C3-61B2800B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905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8A17"/>
          </a:solidFill>
          <a:ln xmlns:a="http://schemas.openxmlformats.org/drawingml/2006/main" w="9525">
            <a:solidFill>
              <a:srgbClr val="FFB5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920DF-372E-476A-AAC8-1C04A2D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CONTENT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8F0A2-82C1-4F04-851E-A22FE8E6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92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Watch → pause → search → 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508C-A4FE-4B13-9487-CA08EDE9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2D180B"/>
                </a:solidFill>
                <a:latin typeface="Lato"/>
                <a:ea typeface="Lato"/>
                <a:cs typeface="Lato"/>
              </a:rPr>
              <a:t>The learner has to translate theory into the next action alone.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B2D18-03A4-4771-A204-AC900299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F6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EC974-EAE5-49AC-B91C-341B3C2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67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89AC5-9349-40C3-AD81-34AE8F3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FFF6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1F16C-7305-456F-9055-C2800C6D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90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180B"/>
          </a:solidFill>
          <a:ln xmlns:a="http://schemas.openxmlformats.org/drawingml/2006/main" w="0">
            <a:solidFill>
              <a:srgbClr val="2D180B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56F85-72C1-4690-80E2-D0550C7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94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Try → get feedback → keep moving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0C513-443A-49B6-BD0D-C5E9182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The next step appears beside the work, in plain English.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75266-B328-496E-A9BA-10B1CB40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Product insight · contextual help at the moment of action</a:t>
            </a:r>
          </a:p>
        </p:txBody>
      </p:sp>
    </p:spTree>
    <p:extLst>
      <p:ext uri="{BB962C8B-B14F-4D97-AF65-F5344CB8AC3E}">
        <p14:creationId xmlns:p14="http://schemas.microsoft.com/office/powerpoint/2010/main" val="436782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D75A8-70AE-412F-A72C-2CF8E401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ED7F0-1958-4D29-B891-192A76C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7B44E-D131-4ABE-898C-EDACA5F7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A44BB-8F65-4735-8576-96F240A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DAB47-298D-454D-A612-D735D11A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One product, two moments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626DC-1609-4940-AE21-9092A59A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The same learning loop follows the learner from a spare minute to the tool where the work happens.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20F7-7D39-4F7A-825A-072C6DC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476750" cy="300037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faad932f64389"/>
          <a:stretch xmlns:a="http://schemas.openxmlformats.org/drawingml/2006/main"/>
        </p:blipFill>
        <p:spPr>
          <a:xfrm xmlns:a="http://schemas.openxmlformats.org/drawingml/2006/main">
            <a:off x="1156938" y="2714625"/>
            <a:ext cx="1210375" cy="2619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C217B-19ED-45CE-95ED-33BA0624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D2AB-917B-4A28-9A01-5F969086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02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Keep momentum anywhere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D1B87-5C37-4D3A-AE19-4ABA1DA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7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Short daily tasks make progress possible in transit, between classes, or at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A5453-DC21-45EB-BA95-E118E760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24125"/>
            <a:ext cx="4476750" cy="300037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100B"/>
          </a:solidFill>
          <a:ln xmlns:a="http://schemas.openxmlformats.org/drawingml/2006/main" w="9525">
            <a:solidFill>
              <a:srgbClr val="4F332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04beb07d64a85"/>
          <a:srcRect xmlns:a="http://schemas.openxmlformats.org/drawingml/2006/main" l="0" t="3931" r="0" b="3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819400"/>
            <a:ext cx="405765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592AE-26CD-42D8-9A06-8C696C3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76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DESKTOP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A8AAA-52F2-4DF7-A504-527AEBD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43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Guide inside the 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2946E-91C8-41AC-8F03-B77CC10F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Demonstrated surfaces · mobile and desktop product visuals</a:t>
            </a:r>
          </a:p>
        </p:txBody>
      </p:sp>
    </p:spTree>
    <p:extLst>
      <p:ext uri="{BB962C8B-B14F-4D97-AF65-F5344CB8AC3E}">
        <p14:creationId xmlns:p14="http://schemas.microsoft.com/office/powerpoint/2010/main" val="271235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B19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69CB4-BD1A-4508-B213-BC730F7D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47660-62B9-457F-BD5B-404436B2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MOBILE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DB993-E9AD-43C9-A512-2ACB1E6F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942A2-BD33-492C-ADD3-CE713C13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9036A-B003-4D99-88E0-953E8476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Mobile turns spare minutes into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64586-F61D-449A-84C7-5420618B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A daily task can fit into the time a learner already has.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FEA86-9833-4AEB-863E-0B0C16E2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286000" cy="3619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100B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7bae220e044eb"/>
          <a:stretch xmlns:a="http://schemas.openxmlformats.org/drawingml/2006/main"/>
        </p:blipFill>
        <p:spPr>
          <a:xfrm xmlns:a="http://schemas.openxmlformats.org/drawingml/2006/main">
            <a:off x="1073210" y="2543175"/>
            <a:ext cx="1549280" cy="3352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C516-3FD0-40F1-92ED-D31A5253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286000" cy="3619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100B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6639336da4930"/>
          <a:stretch xmlns:a="http://schemas.openxmlformats.org/drawingml/2006/main"/>
        </p:blipFill>
        <p:spPr>
          <a:xfrm xmlns:a="http://schemas.openxmlformats.org/drawingml/2006/main">
            <a:off x="3606860" y="2543175"/>
            <a:ext cx="1549280" cy="3352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63380-A3EC-4501-9AEA-FF55C17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E81EC-5D0B-4CE7-A63B-EDE6CDE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289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8–10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2018F-E6A2-4380-966A-DFFAD37E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718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A small session with a clear finish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2A8BA-8DE6-4692-A7AF-9CF198C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BE357-3D3C-4C84-940E-F2C2F34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004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No typing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F3958-53D3-479B-90D6-7F107631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433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The first days use three-choice recognition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2A794-C5AD-4F99-8D64-D4054BEB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3FA9C-E66A-4286-959C-C85C58A5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72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One real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70930-EA62-4587-AB11-FD6717A4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149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Every step maps to a usable web concept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46514-0DF5-4518-B1CA-838B2897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Demonstrated · beginner-friendly lesson flow</a:t>
            </a:r>
          </a:p>
        </p:txBody>
      </p:sp>
    </p:spTree>
    <p:extLst>
      <p:ext uri="{BB962C8B-B14F-4D97-AF65-F5344CB8AC3E}">
        <p14:creationId xmlns:p14="http://schemas.microsoft.com/office/powerpoint/2010/main" val="2080583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D18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0EEDE-B1C4-4ED8-BBFD-0546DEFC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F388F-D23C-4570-86C2-8BE531E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DESKTOP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9D474-9CF4-40D2-8CAC-7909337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73B15-486A-445A-8A2A-B031D95E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2854C-DE17-437F-A50F-344D3DD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281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Desktop guidance meets the learner where work happens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03F05-AB34-4730-AA99-251E45FA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For 3D, code, and other tools, Bataa can point to the next action instead of describing it from a distance.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d30840e6044e4"/>
          <a:srcRect xmlns:a="http://schemas.openxmlformats.org/drawingml/2006/main" l="0" t="2065" r="0" b="2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476500"/>
            <a:ext cx="65722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681BC-A79A-42EC-A50D-E6FCD905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571875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EBC1D-279A-4363-B103-D2DFF1FE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2F650-1776-46D3-AEF8-912DAD2E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14F6-2784-47C2-9A53-A81460FC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52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Understand what the learner is trying to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E5282-E882-4FEF-A315-E693EA3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43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075C7-BC91-4332-8D0B-F206A12A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24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1F07A-B34E-4539-A70B-DDA59A36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Highlight the exact control or line to 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E4C97-5B4D-4303-8091-8871874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32D50-85AE-4E48-9E16-DC27C485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0A153-D95D-491C-BBCD-188BE869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10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Let the learner perform the action and see the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D56C1-41F5-4BCB-B186-81AE53B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DEMONSTRATED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179FD-A20C-4999-979E-A8EBB56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34100"/>
            <a:ext cx="752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D8BBA4"/>
                </a:solidFill>
                <a:latin typeface="Lato"/>
                <a:ea typeface="Lato"/>
                <a:cs typeface="Lato"/>
              </a:rPr>
              <a:t>Autonomous control and deeper integrations are pilot work, not a promise of the current build.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DC740-FE1F-4F63-BBB0-D24C51B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Desktop product visual · guided-project-ai.webp and ai-assisted-coding.webp</a:t>
            </a:r>
          </a:p>
        </p:txBody>
      </p:sp>
    </p:spTree>
    <p:extLst>
      <p:ext uri="{BB962C8B-B14F-4D97-AF65-F5344CB8AC3E}">
        <p14:creationId xmlns:p14="http://schemas.microsoft.com/office/powerpoint/2010/main" val="1960942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327C4-5624-45F2-8B2C-35B4CB70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E8AF9-7E0F-435A-8409-E7E80CC4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SKILL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644BF-5C3B-4D61-8258-F11946C3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E69B9-235C-4FE5-AA06-0158F4A8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892F7-3401-4EDD-8DE8-BF0A070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531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A skill compounds one small day at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59F74-3A7F-4B81-85F6-99734DF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Illustrative 3D-modeling journey: the learner starts with a gesture, then builds a real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F2E2F-A1A4-45A2-9EAA-A9E7E5D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5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60EDA-3BDD-4752-ACCF-76DAF1C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CB5D-B139-45BA-B7CB-11E65435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DAY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CED95-0650-40FF-BDAA-EB1BF525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Find the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1720B-6CA1-4B86-AE2D-397F4E08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Recognize the viewport, select an object, make one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91684-ED2E-42A0-8BA8-CE5E1AC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E4616-9DC4-4428-80B0-D564C1F6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762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DAY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787E-86FF-4BD4-A434-0068A89C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Shape a scene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04371-433A-406B-B05C-BF71BA38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Combine small actions into a simple modeled composition.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4D215-6128-43BE-9D5E-6ED8E34D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4BE7C-47FF-4122-BB0F-F2C7E25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62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DAY 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E1524-6440-42F7-8D67-E2BEBDBD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Finish an 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492AA-AA2C-44DB-B5BC-8412763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Use the same guided loop to complete a portfolio-ready piece.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F069A-D160-408D-A512-8591DDC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95550"/>
            <a:ext cx="36766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74C36-65AA-4500-B90C-F127318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9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product promise is a path, not a single lesson.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9F090-6B64-4B1B-81D8-6A98F502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93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895F3C"/>
                </a:solidFill>
                <a:latin typeface="Lato"/>
                <a:ea typeface="Lato"/>
                <a:cs typeface="Lato"/>
              </a:rPr>
              <a:t>ILLUSTRATIVE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D2E65-F13C-4ABE-96D2-781DE875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0550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7D5C42"/>
                </a:solidFill>
                <a:latin typeface="Lato"/>
                <a:ea typeface="Lato"/>
                <a:cs typeface="Lato"/>
              </a:rPr>
              <a:t>Replace with a real Bataa skill path and learner artifact before the final pitch.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00479-2053-46E2-BF03-48ABFD1D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Product narrative · example journey, not a measured outcome</a:t>
            </a:r>
          </a:p>
        </p:txBody>
      </p:sp>
    </p:spTree>
    <p:extLst>
      <p:ext uri="{BB962C8B-B14F-4D97-AF65-F5344CB8AC3E}">
        <p14:creationId xmlns:p14="http://schemas.microsoft.com/office/powerpoint/2010/main" val="914278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78AFE-E9D9-49FF-806B-4D0429A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05AC4-DF51-4DE6-939A-754BF64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BEGINNER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95864-DDBE-4118-B8EB-6212F00F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E06C2-F5A6-459C-BF9C-0E6BFF8C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522C6-3195-4872-9C56-05690E6C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2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first three days should feel approachable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851CB-4245-4907-B3E1-7CDD4785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617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895F3C"/>
                </a:solidFill>
                <a:latin typeface="Lato"/>
                <a:ea typeface="Lato"/>
                <a:cs typeface="Lato"/>
              </a:rPr>
              <a:t>Recognition first. Typed code comes after the learner understands what the code is doing.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422B1-873F-4C26-AEA3-B7FE6942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2862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3cc6e36c1458c"/>
          <a:stretch xmlns:a="http://schemas.openxmlformats.org/drawingml/2006/main"/>
        </p:blipFill>
        <p:spPr>
          <a:xfrm xmlns:a="http://schemas.openxmlformats.org/drawingml/2006/main">
            <a:off x="2041081" y="2428875"/>
            <a:ext cx="1575688" cy="3409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A14CC-0779-48E5-ADF6-85851724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DAY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7A741-8860-4CE3-8CD5-42422DC3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Choose the right HTML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35CBD-EE6A-4A9A-866F-7346351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718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C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82817-89F9-4755-9087-1C9DDB9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A6578-2C4F-47B8-8034-A00A3E3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Match CSS properties to a visual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10573-B6F8-4DB8-AFE8-39D1AEF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433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CF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C52F7-00B0-4F98-B855-0259B6B8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DAY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44E84-28EC-4C58-A24D-1E0016EC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Predict what a hover state will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24067-FB0B-4077-BECF-6EB4ECAF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149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CF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F4864-BBF5-4947-8932-FCB1CAA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895F3C"/>
                </a:solidFill>
                <a:latin typeface="Lato"/>
                <a:ea typeface="Lato"/>
                <a:cs typeface="Lato"/>
              </a:rPr>
              <a:t>The learner gets a win before they get a keyboard-heavy challenge.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BCD21-766D-4D34-B209-BEE2A42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Demonstrated · first lesson uses three-choice recognition</a:t>
            </a:r>
          </a:p>
        </p:txBody>
      </p:sp>
    </p:spTree>
    <p:extLst>
      <p:ext uri="{BB962C8B-B14F-4D97-AF65-F5344CB8AC3E}">
        <p14:creationId xmlns:p14="http://schemas.microsoft.com/office/powerpoint/2010/main" val="1970129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D5A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016B16-F827-412D-8777-E3E22C65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9FA53-318C-4DA7-820D-B667E7FD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F880B-E784-4CF2-AC77-8680E2EA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4196B-F7B4-40E0-8B38-0C46B062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7FC18-DC6B-4A13-96E4-0EEECC5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687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Bataa closes the gap between attempt and understanding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32CC5-D249-4407-8827-5630537D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Each turn makes the next turn easier.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13BE3-C688-4FBD-840F-689297E2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4C2A7-18F1-4187-80A6-39EBDD9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7BD49-0265-4780-BEE3-D53F554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Choose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953BA-806C-48C3-B5D1-025BCC3C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One clear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4CEB6-8418-4F0D-9AA7-338B1F3B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33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04C97-00DC-465A-A832-FC8ACA8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5BC04-DD6E-469D-85C7-4C3080F0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B5B4C-AA6E-4C32-8DCB-88704C0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The learner 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15625-973D-497B-B859-633DDD3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33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9525">
            <a:solidFill>
              <a:srgbClr val="FF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0FE47-B25A-4FA3-A4E7-8B456B9A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28661-3F28-4E71-A995-594FA33C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97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Get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1D220-2B1D-4A52-BA9D-07AB0418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241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FFF6E9"/>
                </a:solidFill>
                <a:latin typeface="Lato"/>
                <a:ea typeface="Lato"/>
                <a:cs typeface="Lato"/>
              </a:rPr>
              <a:t>Context, not a lecture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CA6E8-439D-497B-BF6F-F1A2AF77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C09D8-E136-449F-8B5B-50A2FA8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6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90A8A-3DE5-49E3-B61F-E3BE88B3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Repeat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A8AE7-0227-491D-BFD0-D9CCB69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81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Correct the next detail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45B88-393E-420D-A9CF-9F7D91A9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93414-630E-451B-9686-3344AC44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33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A3260-4370-4AB4-9190-1714CF5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53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0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Build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1530C-076B-474A-8DF8-D8B15AD6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53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A skill that stays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58A35C-3329-4928-962C-ABC8159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4286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61AF3-9901-4E48-A74E-E9F3389D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31CB6-C621-4E4A-B355-A6A18D9C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8572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705A8-72F6-4DEA-815B-9AF6881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57675"/>
            <a:ext cx="290512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BB255-BBF5-41FD-9C91-84EAA1BA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2047875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A4172-464A-4C58-AE23-2C918ADB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180B"/>
          </a:solidFill>
          <a:ln xmlns:a="http://schemas.openxmlformats.org/drawingml/2006/main" w="0">
            <a:solidFill>
              <a:srgbClr val="2D180B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DEB8F-74B7-403F-85E6-9023E0B0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895F3C"/>
                </a:solidFill>
                <a:latin typeface="Lato"/>
                <a:ea typeface="Lato"/>
                <a:cs typeface="Lato"/>
              </a:rPr>
              <a:t>The product keeps the learner moving without taking the work away from them.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1457A-BB74-4EF5-B7AF-AB7DD638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Editable diagram · product hypothesis to validate in pilot</a:t>
            </a:r>
          </a:p>
        </p:txBody>
      </p:sp>
    </p:spTree>
    <p:extLst>
      <p:ext uri="{BB962C8B-B14F-4D97-AF65-F5344CB8AC3E}">
        <p14:creationId xmlns:p14="http://schemas.microsoft.com/office/powerpoint/2010/main" val="356739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635CC3-E511-40D3-ABC1-AC1E7D0C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36D16-6AFD-4AF4-9438-67518A86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F6B5C-7A1A-4EA5-AB0C-4CBE2487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A1C5B-DCE3-4627-B2C1-747F132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2EA46-552E-446D-982E-FE546C1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59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Bataa sits between content and the moment of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DF5A5-5B08-4778-B210-BA28FC9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A positioning hypothesis, not a claim that competitors lack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14CEC-D77A-4E72-9E6E-F20EFDA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GUIDANCE 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D9337-B3F8-481F-9E62-71A6762B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15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9A98C"/>
                </a:solidFill>
                <a:latin typeface="Lato"/>
                <a:ea typeface="Lato"/>
                <a:cs typeface="Lato"/>
              </a:rPr>
              <a:t>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6AE0E-72E0-416B-AD7B-27A97D34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9A98C"/>
                </a:solidFill>
                <a:latin typeface="Lato"/>
                <a:ea typeface="Lato"/>
                <a:cs typeface="Lato"/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7DD26-7AE5-47F3-A72E-67F7453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47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528B5-947E-4D1E-AABF-1C7A38D8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47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37686-4539-4F20-9DFD-EC673405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81375"/>
            <a:ext cx="76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DAILY PRACTICE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E6C87-CB55-4067-8356-EB4F7EE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57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03AEC-3340-4AD9-84CC-90C49717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FFF6E9"/>
                </a:solidFill>
                <a:latin typeface="Lato"/>
                <a:ea typeface="Lato"/>
                <a:cs typeface="Lato"/>
              </a:rPr>
              <a:t>Khan Academy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23AC2-AB39-44D0-BE52-60FAECC2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90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A9E4"/>
          </a:solidFill>
          <a:ln xmlns:a="http://schemas.openxmlformats.org/drawingml/2006/main" w="0">
            <a:solidFill>
              <a:srgbClr val="BBA9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1F613-97F9-49CF-8B3C-04DBDDD5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05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FFF6E9"/>
                </a:solidFill>
                <a:latin typeface="Lato"/>
                <a:ea typeface="Lato"/>
                <a:cs typeface="Lato"/>
              </a:rPr>
              <a:t>iSchool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AE5B7-6E2B-4BF1-9F0E-18E8C2F4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8C5"/>
          </a:solidFill>
          <a:ln xmlns:a="http://schemas.openxmlformats.org/drawingml/2006/main" w="0">
            <a:solidFill>
              <a:srgbClr val="B9D8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B2BAD-CA90-48DE-BD2A-8D00572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FFF6E9"/>
                </a:solidFill>
                <a:latin typeface="Lato"/>
                <a:ea typeface="Lato"/>
                <a:cs typeface="Lato"/>
              </a:rPr>
              <a:t>Yanfaa / Nafham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30453-1E09-410C-8D12-33DA180C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90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44F23-7243-4B9A-B0DE-B085467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D5A3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FFB47-1B93-40AB-96FD-273F6B82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763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6B47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D61FA-DB86-4D07-AD2E-A873A341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70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Bataa combines daily practice with help inside the work.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586D1-4718-4481-8854-4B435B1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762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869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VERIFY BEFORE PRESENTING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6675A-C424-4299-AB6D-26630604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Qualitative positioning hypothesis · verify competitor names and feature claims</a:t>
            </a:r>
          </a:p>
        </p:txBody>
      </p:sp>
    </p:spTree>
    <p:extLst>
      <p:ext uri="{BB962C8B-B14F-4D97-AF65-F5344CB8AC3E}">
        <p14:creationId xmlns:p14="http://schemas.microsoft.com/office/powerpoint/2010/main" val="1664077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D9E7F-E78F-4B8B-93D6-8093A98F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7403B-D799-461C-9BBA-F2C02830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5DB4E-6809-47C1-865F-7EF32357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BD131-015B-4047-8293-93CB0C13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51533-F043-4D61-B4B0-0E32BAC3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Start with one clear revenue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B7535-E471-44F3-A3BB-656CF632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Paid learning first. Optional AI usage and platform licensing expand the model later.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8F92E-5628-48B6-B698-5E911AFF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953000" cy="27622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9525">
            <a:solidFill>
              <a:srgbClr val="FF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55939-9B33-4905-A231-7CFEBCD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LAUNCH 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969A-0F7B-4765-B30E-F5D9FB9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Course purchase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D464D-3240-4C00-8EE5-CDA68F0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2D180B"/>
                </a:solidFill>
                <a:latin typeface="Lato"/>
                <a:ea typeface="Lato"/>
                <a:cs typeface="Lato"/>
              </a:rPr>
              <a:t>Learners pay for a structured path that turns practice into a finished skill.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C74D2-7843-43E3-AD9E-F7012289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428875" cy="2762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0F43C-CA68-4473-914C-2BBEF38A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895F3C"/>
                </a:solidFill>
                <a:latin typeface="Lato"/>
                <a:ea typeface="Lato"/>
                <a:cs typeface="Lato"/>
              </a:rPr>
              <a:t>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98472-A082-4944-A8FE-E280EB77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AI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7805F-B61B-4577-A819-3C42185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Extra attempts, deeper explanations, or advanced model 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9A9B6-F314-411A-9864-4E1C8870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476500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DCE1C-C0DF-4153-87AD-BF8E843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714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5"/>
          </a:solidFill>
          <a:ln xmlns:a="http://schemas.openxmlformats.org/drawingml/2006/main" w="0">
            <a:solidFill>
              <a:srgbClr val="DFF2E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E9B62"/>
                </a:solidFill>
                <a:latin typeface="Lato"/>
                <a:ea typeface="Lato"/>
                <a:cs typeface="Lato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AFBCA-E2A2-46EC-9A79-05276BED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Platform fees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FB71C-57A6-448C-BDD1-7B5BAAF3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Commission from creator and institution courses.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2F595-16E8-4AA0-9E66-FA81E560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Keep the first story simple: one learner pays for one useful outcome.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1E28C-1D1A-4D83-B1CA-A9699E69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Business model · planned streams, launch priority shown</a:t>
            </a:r>
          </a:p>
        </p:txBody>
      </p:sp>
    </p:spTree>
    <p:extLst>
      <p:ext uri="{BB962C8B-B14F-4D97-AF65-F5344CB8AC3E}">
        <p14:creationId xmlns:p14="http://schemas.microsoft.com/office/powerpoint/2010/main" val="20909455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B19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04349-85BF-4744-B213-B76A0D6D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56CEE-AE0B-4470-B1A1-946A0BB0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PLATFORM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89D6F-5042-48F4-84F7-D04634FD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60ECC-9B9E-40E6-B0A8-7C3B5C8D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09134-C852-4C2A-A074-0B8C50DE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same learning engine can serve creators and institutions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C110C-88F0-4686-AD4F-6D8BD92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Bataa can become the infrastructure behind guided practice, not only a destination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CA5AA-558C-49AC-8C4C-4382A1F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2857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9525">
            <a:solidFill>
              <a:srgbClr val="FB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264B-A45E-43D2-82EA-54199AC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438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CREATORS + INSTITUTIONS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D1394-DE84-4554-B3A0-6AB1D0E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Publish a course or training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D1DA9-D714-4F57-AFBA-49AE4F3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9527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9525">
            <a:solidFill>
              <a:srgbClr val="FF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EE225-6251-4A9B-8188-9377FE9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BATAA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FC333-FB69-4C7A-AD91-3D562C6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05175"/>
            <a:ext cx="2533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Guided tasks, feedback, progress, AI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1030A-12DF-4EA0-9B02-1D74ADF7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667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9525">
            <a:solidFill>
              <a:srgbClr val="FB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22973-7588-4D4B-A15C-166FB060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247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LEARNERS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6CC0C-05BD-4918-B1EF-D50A9E9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241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Buy, practice, and finish the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3FBC4-3A8E-4530-842D-14357472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667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BA9E4"/>
          </a:solidFill>
          <a:ln xmlns:a="http://schemas.openxmlformats.org/drawingml/2006/main" w="9525">
            <a:solidFill>
              <a:srgbClr val="BBA9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F1C37-DAED-4DEB-904A-8C7340A7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2247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IDE / PRODUCT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F67F0-8067-402E-A6E0-7A79D0C4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291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Bring the tutor into another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42D3B-8553-481C-A9B7-39C5FD7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5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039D6-933F-47DD-A1A8-89B4423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952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5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3035E-3F0B-4B10-82C1-30A6FDE3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952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5A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55747-D547-4A3E-83B0-9575A462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87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PLANNED EXPANSION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9BCDD-33EB-4BBF-8785-60D2897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Commission on course sales plus API licensing for organizations and tools.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CF05F-AFD0-48DF-98A2-5F566BD7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Platform architecture · future revenue paths</a:t>
            </a:r>
          </a:p>
        </p:txBody>
      </p:sp>
    </p:spTree>
    <p:extLst>
      <p:ext uri="{BB962C8B-B14F-4D97-AF65-F5344CB8AC3E}">
        <p14:creationId xmlns:p14="http://schemas.microsoft.com/office/powerpoint/2010/main" val="18818925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81B63-BA2E-4844-8A01-E02AE2E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A091-D3AA-46E3-BAFF-8BEBE0CA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198E0-DF2A-4E2B-AEBD-890070D2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A8375-B352-483D-88BB-AA923C11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07100-8F9C-4E30-9A5D-A76AA0B7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first wedge is close to the learner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8F4F6-1995-40B7-962B-9C4A85A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Start with campus communities, prove the learning loop, then widen the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5D66A-95E4-4775-BC4F-B017108A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2B899-6121-4A2E-83E9-BDAA2BC8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OBSERVED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D5547-89D9-4854-B5F7-A292885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Campus conversations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07EA8-C07B-4B90-8D94-FC07335A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Students described the support gap.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8243F-9325-470E-A642-40986D8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5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73F5B-5B7C-4D66-85D0-8125703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69562-15FF-4132-B0E6-8BF9B302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00375"/>
            <a:ext cx="1190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074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DEMONSTRATED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FFA3C-BEAF-4FA1-9E8F-F0D84E60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Working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BD2CD-58CA-4F59-B907-A663588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Mobile lesson flow and desktop guidance visuals exist.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DF0DD-2623-4964-812E-A76FF34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0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5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FC45A-FAA4-4F3A-8F9A-EE308D53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B5770-CF37-4F3B-9DB9-03AB8A8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NEXT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CEF19-3CDF-4C8D-B192-377E1DB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Pilot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8CFDC-E06E-4ABB-BDB9-9F348F19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Measure task completion, return rate, and confidence.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075F6-1B25-46D4-B47A-DC79ADA1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5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FE0BD-8CC6-4F8C-9494-8584EF77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ED0F9-43E9-4546-A087-C2525F0D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003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5F3C"/>
          </a:solidFill>
          <a:ln xmlns:a="http://schemas.openxmlformats.org/drawingml/2006/main" w="0">
            <a:solidFill>
              <a:srgbClr val="895F3C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NEXT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0EA55-E587-403F-88A9-1FFBF918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9A4CF-4DAF-4DCB-9555-27771CC5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Recruit one creator and one training institution.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7D2A3-A574-46CB-B3EC-4F8D8C6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next proof point is not reach. It is whether a learner returns because the next step felt doable.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949AB-0CB0-441A-A5E5-C0722E5C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Go-to-market sequence · observed → demonstrated → next test</a:t>
            </a:r>
          </a:p>
        </p:txBody>
      </p:sp>
    </p:spTree>
    <p:extLst>
      <p:ext uri="{BB962C8B-B14F-4D97-AF65-F5344CB8AC3E}">
        <p14:creationId xmlns:p14="http://schemas.microsoft.com/office/powerpoint/2010/main" val="3275983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B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E7EE3-BF2F-4D48-A253-E83588E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B200F-26F4-4F6E-981E-CDC87552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9A6E6-3646-4295-BB20-1EDE9938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104A9-73A6-4B80-9DF2-38F14041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E62F-8E2B-40CA-BA71-8712F1B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team built the core surfaces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0E590-ABA3-4DDB-95AA-7D806EF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The product is split across the places where the learner meets Bataa.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9FBD1-E5EE-4692-9AB5-960D8AD2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28612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B9A0C-C313-4375-86CA-4619A5D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FDFA-1A10-4ECA-A6A3-FC8D44B7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Abdelrahman Mohsen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8B143-3FD3-4757-B093-0B997E39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81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FF8500"/>
                </a:solidFill>
                <a:latin typeface="Lato"/>
                <a:ea typeface="Lato"/>
                <a:cs typeface="Lato"/>
              </a:rPr>
              <a:t>DESKTOP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474C5-17AF-4ABC-8D06-D0709762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Builds the guided workspace where the AI can meet the learner inside real software.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9268D-7899-4DBD-A67A-28F6B88B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28612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F6F2D-687B-4BA6-8B94-F94BFCD7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62ED8-D65D-4963-8390-EB7F2A5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Yousef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6FAEB-03F0-49F9-98DF-7B36EED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81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5BAA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6E5BAA"/>
                </a:solidFill>
                <a:latin typeface="Lato"/>
                <a:ea typeface="Lato"/>
                <a:cs typeface="Lato"/>
              </a:rPr>
              <a:t>MOBILE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AA778-8458-4D65-BC3E-088DDCC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Builds the daily lesson loop for small, approachable practice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79ADB-8ED6-48E9-B14F-AFF0F4B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328612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48655-C410-4D84-B5A8-D1A4010D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8C97C-C644-40A5-9D6E-82776731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Mostafa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5F360-8EA3-4D92-9895-F716B997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E9B62"/>
                </a:solidFill>
                <a:latin typeface="Lato"/>
                <a:ea typeface="Lato"/>
                <a:cs typeface="Lato"/>
              </a:rPr>
              <a:t>LANDING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35097-0077-4048-A3C9-40191818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Shapes the public story, visual identity, and first touchpoint for Bataa.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FD907-3216-4511-9EE7-2F2E3E18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190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TEAM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D6060-1454-41BD-956A-AD0F0244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53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D8BBA4"/>
                </a:solidFill>
                <a:latin typeface="Lato"/>
                <a:ea typeface="Lato"/>
                <a:cs typeface="Lato"/>
              </a:rPr>
              <a:t>Each role maps to a working surface already visible in the product.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3CDB9-CE35-4CE0-A8B9-300AAA66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Team roles · supplied in the Bataa brief</a:t>
            </a:r>
          </a:p>
        </p:txBody>
      </p:sp>
    </p:spTree>
    <p:extLst>
      <p:ext uri="{BB962C8B-B14F-4D97-AF65-F5344CB8AC3E}">
        <p14:creationId xmlns:p14="http://schemas.microsoft.com/office/powerpoint/2010/main" val="1295211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85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EB611-262A-4607-8D0F-31E46F99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8DC98-DD56-4ADB-8A69-2F3D8B9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NEXT MILESTONE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AF22F-234F-48F6-A9D0-8832C144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801F8-212A-4E57-B28F-CBB731A6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F9E6D-7B37-4833-A9ED-8353A656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08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42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next milestone is a real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BD33D-38D2-47B4-8175-70C651F9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7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2D180B"/>
                </a:solidFill>
                <a:latin typeface="Lato"/>
                <a:ea typeface="Lato"/>
                <a:cs typeface="Lato"/>
              </a:rPr>
              <a:t>Prove that one doable action can become a habit and a finished skill.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DEA21-821F-4862-89DE-EE838062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2238375"/>
          </a:xfrm>
          <a:prstGeom xmlns:a="http://schemas.openxmlformats.org/drawingml/2006/main" prst="roundRect">
            <a:avLst>
              <a:gd name="adj" fmla="val 10213"/>
            </a:avLst>
          </a:prstGeom>
          <a:solidFill xmlns:a="http://schemas.openxmlformats.org/drawingml/2006/main">
            <a:srgbClr val="F78A17"/>
          </a:solidFill>
          <a:ln xmlns:a="http://schemas.openxmlformats.org/drawingml/2006/main" w="9525">
            <a:solidFill>
              <a:srgbClr val="FFB5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C3420-4AED-454B-99B8-69EAB3B1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82FBB-5867-49EE-8149-FF1F5466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Beginner mobile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C6225-4C5A-4392-B63B-FB9490B9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2D180B"/>
                </a:solidFill>
                <a:latin typeface="Lato"/>
                <a:ea typeface="Lato"/>
                <a:cs typeface="Lato"/>
              </a:rPr>
              <a:t>Ship the first week of simple daily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5F3A5-4FBB-44F3-856E-034A26E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DFE7C-16BC-44BB-B519-160A8A35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Desktop agent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0F3DD-FC0E-46BC-A047-59A90D33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62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03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2D180B"/>
                </a:solidFill>
                <a:latin typeface="Lato"/>
                <a:ea typeface="Lato"/>
                <a:cs typeface="Lato"/>
              </a:rPr>
              <a:t>Guide one real workflow with safe user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128A6-8DF3-467C-80E8-C763F3C1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2F8FC-B3B0-469C-866F-362FAE06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Partner pilots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D2ACD-2FC7-4A78-A932-182047C1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9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2D180B"/>
                </a:solidFill>
                <a:latin typeface="Lato"/>
                <a:ea typeface="Lato"/>
                <a:cs typeface="Lato"/>
              </a:rPr>
              <a:t>Test a creator course and an institutional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57B80-68EE-4193-B75F-CEA7FF84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524250" cy="2238375"/>
          </a:xfrm>
          <a:prstGeom xmlns:a="http://schemas.openxmlformats.org/drawingml/2006/main" prst="roundRect">
            <a:avLst>
              <a:gd name="adj" fmla="val 1021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FFF6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D37A1-1BA6-499E-B301-E861D0B1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528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180B"/>
          </a:solidFill>
          <a:ln xmlns:a="http://schemas.openxmlformats.org/drawingml/2006/main" w="0">
            <a:solidFill>
              <a:srgbClr val="2D180B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OUR 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CA788-AB52-4945-A191-9056B57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Pilot partners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BBE5E-5A3F-4EA7-AF73-5509B68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350">
                <a:solidFill>
                  <a:srgbClr val="895F3C"/>
                </a:solidFill>
                <a:latin typeface="Lato"/>
                <a:ea typeface="Lato"/>
                <a:cs typeface="Lato"/>
              </a:rPr>
              <a:t>One campus, one creator, and one training team willing to measure the loop with 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B33CB-5870-4441-AEED-2DA3484A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Bataa gives every learner a next step.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04FE6-5319-436E-B317-D7E192AE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Close with a specific pilot ask · replace with contact details before presenting</a:t>
            </a:r>
          </a:p>
        </p:txBody>
      </p:sp>
    </p:spTree>
    <p:extLst>
      <p:ext uri="{BB962C8B-B14F-4D97-AF65-F5344CB8AC3E}">
        <p14:creationId xmlns:p14="http://schemas.microsoft.com/office/powerpoint/2010/main" val="1060799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2026-09-19T20:08:30.1540000Z</dcterms:created>
  <dcterms:modified xsi:type="dcterms:W3CDTF">2026-09-19T20:08:30.1540000Z</dcterms:modified>
</coreProperties>
</file>