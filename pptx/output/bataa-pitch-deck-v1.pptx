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16012e85774068" /><Relationship Type="http://schemas.openxmlformats.org/officeDocument/2006/relationships/extended-properties" Target="/docProps/app.xml" Id="R09ca73dcbf114307" /><Relationship Type="http://schemas.openxmlformats.org/officeDocument/2006/relationships/officeDocument" Target="/ppt/presentation.xml" Id="R9a977448989748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f7db6d8f55402f"/>
  </p:sldMasterIdLst>
  <p:notesMasterIdLst>
    <p:notesMasterId xmlns:r="http://schemas.openxmlformats.org/officeDocument/2006/relationships" r:id="Red42d52fa45f4c00"/>
  </p:notesMasterIdLst>
  <p:sldIdLst>
    <p:sldId xmlns:r="http://schemas.openxmlformats.org/officeDocument/2006/relationships" id="256" r:id="R712dfee2de6b4635"/>
    <p:sldId xmlns:r="http://schemas.openxmlformats.org/officeDocument/2006/relationships" id="257" r:id="R996b5caddda04b0d"/>
    <p:sldId xmlns:r="http://schemas.openxmlformats.org/officeDocument/2006/relationships" id="258" r:id="Rb24dce9c7ce14521"/>
    <p:sldId xmlns:r="http://schemas.openxmlformats.org/officeDocument/2006/relationships" id="259" r:id="Rab0994ecd6154d8e"/>
    <p:sldId xmlns:r="http://schemas.openxmlformats.org/officeDocument/2006/relationships" id="260" r:id="R3c5bb4a7cd3042e9"/>
    <p:sldId xmlns:r="http://schemas.openxmlformats.org/officeDocument/2006/relationships" id="261" r:id="Re84aaddee8f14610"/>
    <p:sldId xmlns:r="http://schemas.openxmlformats.org/officeDocument/2006/relationships" id="262" r:id="Rab9dd29dee114efb"/>
    <p:sldId xmlns:r="http://schemas.openxmlformats.org/officeDocument/2006/relationships" id="263" r:id="Rdb251a42502646d3"/>
    <p:sldId xmlns:r="http://schemas.openxmlformats.org/officeDocument/2006/relationships" id="264" r:id="Rf0777da69d584c49"/>
    <p:sldId xmlns:r="http://schemas.openxmlformats.org/officeDocument/2006/relationships" id="265" r:id="Rafcf88dc3a934f51"/>
    <p:sldId xmlns:r="http://schemas.openxmlformats.org/officeDocument/2006/relationships" id="266" r:id="R357b6e3affc444cc"/>
    <p:sldId xmlns:r="http://schemas.openxmlformats.org/officeDocument/2006/relationships" id="267" r:id="Rb82cd53e228a4a79"/>
    <p:sldId xmlns:r="http://schemas.openxmlformats.org/officeDocument/2006/relationships" id="268" r:id="R66a8c99c019e4cf1"/>
    <p:sldId xmlns:r="http://schemas.openxmlformats.org/officeDocument/2006/relationships" id="269" r:id="Rc9fd2269991c4544"/>
    <p:sldId xmlns:r="http://schemas.openxmlformats.org/officeDocument/2006/relationships" id="270" r:id="Rd2945e43aafa4e58"/>
    <p:sldId xmlns:r="http://schemas.openxmlformats.org/officeDocument/2006/relationships" id="271" r:id="Rf6b01da0f61b480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9b23b785b44254" /><Relationship Type="http://schemas.openxmlformats.org/officeDocument/2006/relationships/slideMaster" Target="/ppt/slideMasters/slideMaster1.xml" Id="R83f7db6d8f55402f" /><Relationship Type="http://schemas.openxmlformats.org/officeDocument/2006/relationships/notesMaster" Target="/ppt/notesMasters/notesMaster1.xml" Id="Red42d52fa45f4c00" /><Relationship Type="http://schemas.openxmlformats.org/officeDocument/2006/relationships/presProps" Target="/ppt/presProps.xml" Id="Raa5776ba53be4f94" /><Relationship Type="http://schemas.openxmlformats.org/officeDocument/2006/relationships/tableStyles" Target="/ppt/tableStyles.xml" Id="R9afb2cfb3d6946ca" /><Relationship Type="http://schemas.openxmlformats.org/officeDocument/2006/relationships/slide" Target="/ppt/slides/slide1.xml" Id="R712dfee2de6b4635" /><Relationship Type="http://schemas.openxmlformats.org/officeDocument/2006/relationships/slide" Target="/ppt/slides/slide2.xml" Id="R996b5caddda04b0d" /><Relationship Type="http://schemas.openxmlformats.org/officeDocument/2006/relationships/slide" Target="/ppt/slides/slide3.xml" Id="Rb24dce9c7ce14521" /><Relationship Type="http://schemas.openxmlformats.org/officeDocument/2006/relationships/slide" Target="/ppt/slides/slide4.xml" Id="Rab0994ecd6154d8e" /><Relationship Type="http://schemas.openxmlformats.org/officeDocument/2006/relationships/slide" Target="/ppt/slides/slide5.xml" Id="R3c5bb4a7cd3042e9" /><Relationship Type="http://schemas.openxmlformats.org/officeDocument/2006/relationships/slide" Target="/ppt/slides/slide6.xml" Id="Re84aaddee8f14610" /><Relationship Type="http://schemas.openxmlformats.org/officeDocument/2006/relationships/slide" Target="/ppt/slides/slide7.xml" Id="Rab9dd29dee114efb" /><Relationship Type="http://schemas.openxmlformats.org/officeDocument/2006/relationships/slide" Target="/ppt/slides/slide8.xml" Id="Rdb251a42502646d3" /><Relationship Type="http://schemas.openxmlformats.org/officeDocument/2006/relationships/slide" Target="/ppt/slides/slide9.xml" Id="Rf0777da69d584c49" /><Relationship Type="http://schemas.openxmlformats.org/officeDocument/2006/relationships/slide" Target="/ppt/slides/slide10.xml" Id="Rafcf88dc3a934f51" /><Relationship Type="http://schemas.openxmlformats.org/officeDocument/2006/relationships/slide" Target="/ppt/slides/slide11.xml" Id="R357b6e3affc444cc" /><Relationship Type="http://schemas.openxmlformats.org/officeDocument/2006/relationships/slide" Target="/ppt/slides/slide12.xml" Id="Rb82cd53e228a4a79" /><Relationship Type="http://schemas.openxmlformats.org/officeDocument/2006/relationships/slide" Target="/ppt/slides/slide13.xml" Id="R66a8c99c019e4cf1" /><Relationship Type="http://schemas.openxmlformats.org/officeDocument/2006/relationships/slide" Target="/ppt/slides/slide14.xml" Id="Rc9fd2269991c4544" /><Relationship Type="http://schemas.openxmlformats.org/officeDocument/2006/relationships/slide" Target="/ppt/slides/slide15.xml" Id="Rd2945e43aafa4e58" /><Relationship Type="http://schemas.openxmlformats.org/officeDocument/2006/relationships/slide" Target="/ppt/slides/slide16.xml" Id="Rf6b01da0f61b48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1ee60b54554d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531b2736204234" /><Relationship Type="http://schemas.openxmlformats.org/officeDocument/2006/relationships/notesMaster" Target="/ppt/notesMasters/notesMaster1.xml" Id="R0fd7ae6c0ef042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65876eda15a430e" /><Relationship Type="http://schemas.openxmlformats.org/officeDocument/2006/relationships/notesMaster" Target="/ppt/notesMasters/notesMaster1.xml" Id="R4a5162b93a884bb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273a11167c436d" /><Relationship Type="http://schemas.openxmlformats.org/officeDocument/2006/relationships/notesMaster" Target="/ppt/notesMasters/notesMaster1.xml" Id="R63207ff03a2241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1066b773ef4321" /><Relationship Type="http://schemas.openxmlformats.org/officeDocument/2006/relationships/notesMaster" Target="/ppt/notesMasters/notesMaster1.xml" Id="R0644d3768af647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dafb53468f4033" /><Relationship Type="http://schemas.openxmlformats.org/officeDocument/2006/relationships/notesMaster" Target="/ppt/notesMasters/notesMaster1.xml" Id="R503a1cc16f0041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ce3e351e0d4a87" /><Relationship Type="http://schemas.openxmlformats.org/officeDocument/2006/relationships/notesMaster" Target="/ppt/notesMasters/notesMaster1.xml" Id="R2459137e4d4f40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701377636c4e9b" /><Relationship Type="http://schemas.openxmlformats.org/officeDocument/2006/relationships/notesMaster" Target="/ppt/notesMasters/notesMaster1.xml" Id="Rc4266b0ab97042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12287e597d450a" /><Relationship Type="http://schemas.openxmlformats.org/officeDocument/2006/relationships/notesMaster" Target="/ppt/notesMasters/notesMaster1.xml" Id="Rc663fe71abbf42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6361ea32a14c6b" /><Relationship Type="http://schemas.openxmlformats.org/officeDocument/2006/relationships/notesMaster" Target="/ppt/notesMasters/notesMaster1.xml" Id="Rbccc41f17cbb4cd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97304d325942f1" /><Relationship Type="http://schemas.openxmlformats.org/officeDocument/2006/relationships/notesMaster" Target="/ppt/notesMasters/notesMaster1.xml" Id="Rfce803038b60466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178e3aef544780" /><Relationship Type="http://schemas.openxmlformats.org/officeDocument/2006/relationships/notesMaster" Target="/ppt/notesMasters/notesMaster1.xml" Id="R3060568dd9514a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0f0c3586db4284" /><Relationship Type="http://schemas.openxmlformats.org/officeDocument/2006/relationships/notesMaster" Target="/ppt/notesMasters/notesMaster1.xml" Id="Raca09e2a260842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e0eca3993214ab3" /><Relationship Type="http://schemas.openxmlformats.org/officeDocument/2006/relationships/notesMaster" Target="/ppt/notesMasters/notesMaster1.xml" Id="R7291c50e854a49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7d2967a81e4d97" /><Relationship Type="http://schemas.openxmlformats.org/officeDocument/2006/relationships/notesMaster" Target="/ppt/notesMasters/notesMaster1.xml" Id="R4dbc7747efcb40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ee052dbc9644ec" /><Relationship Type="http://schemas.openxmlformats.org/officeDocument/2006/relationships/notesMaster" Target="/ppt/notesMasters/notesMaster1.xml" Id="R49a4ee83ccd74b7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b0b3b5bda04314" /><Relationship Type="http://schemas.openxmlformats.org/officeDocument/2006/relationships/notesMaster" Target="/ppt/notesMasters/notesMaster1.xml" Id="R8f59772678cc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People do not fail because content is unavailable. They stall at the moment they need to act. Bataa keeps the next action close. Visual source: public/hero.webp from the Bataa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Framing based on the user-provided problem statement. The quoted sentence is a synthesized articulation, not a verbatim interview quote.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label: OBSERVED. Source: user-provided description of early qualitative conversations at Horus University. Do not add a participant count until the team verifies it. These are synthesized themes, not verbatim quotes.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Narrative bridge: Bataa is not another content library. It is the guidance layer between intention and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sources: Bataa mobile capture from the running app (lesson-1.png) and public/guided-project-ai.webp. The desktop agent interaction should be demonstrated live or with a short clip when 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sources: running Bataa app captures from the project. The “no typing needed” design is demonstrated in the first lesson step, which offers three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sources: public/ai-assisted-coding.webp and public/guided-project-ai.webp. Evidence status: DEMONSTRATED for the guidance concept. State clearly that autonomous cursor control and broad software coverage remain pilot scope unless already shipped.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an illustrative journey for explaining the product loop. Do not present the day-30 outcome as a measured result until a real course and pilot validate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Visual source: running Bataa app capture lesson-step-1.png. This design directly addresses beginner anxiety and keyboard friction from the user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editable diagram expresses the intended learning loop. Validate it with pilot metrics such as task completion, time-to-first-success, hint usage, and return rate.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qualitative positioning hypothesis based on the user-provided competitor list. Verify the exact local platform names and current features before presenting. Do not claim that competitors do not use AI without research.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Business model is based on the user-provided brief. Course purchases are the launch priority; token packs and platform fees are expansion paths unless already implemented and tested commercially.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diagram reflects planned expansion from the user-provided business model: institution and creator courses with commission, plus an API/base URL offering. Label as planned until commercially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 ladder: OBSERVED = campus conversations; DEMONSTRATED = existing product surfaces; NEXT TEST = pilot metrics and partner recruitment. Do not claim retention or conversion before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Team names and roles are taken from the user-provided brief. Add concrete proof points, links, or advisor details if available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Close: ask for pilot partners, not a generic “thank you.” Replace the ask and roadmap with dates, owners, and contact details when confirmed.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7e571d73c945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46f6d5e916496a" /><Relationship Type="http://schemas.openxmlformats.org/officeDocument/2006/relationships/slideLayout" Target="/ppt/slideLayouts/slideLayout1.xml" Id="Rc8e5953d7aaf42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e5953d7aaf42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ac8f3a4f3242e0" /><Relationship Type="http://schemas.openxmlformats.org/officeDocument/2006/relationships/image" Target="/ppt/media/image.png" Id="R971f303c9f5241da" /><Relationship Type="http://schemas.openxmlformats.org/officeDocument/2006/relationships/notesSlide" Target="/ppt/notesSlides/notesSlide1.xml" Id="Re0d4d40a03d844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6ac51259f74db5" /><Relationship Type="http://schemas.openxmlformats.org/officeDocument/2006/relationships/image" Target="/ppt/media/image2.png" Id="Rfd930b5febaa44b0" /><Relationship Type="http://schemas.openxmlformats.org/officeDocument/2006/relationships/notesSlide" Target="/ppt/notesSlides/notesSlide2.xml" Id="R82273ce692e74e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b52562e4a4d80" /><Relationship Type="http://schemas.openxmlformats.org/officeDocument/2006/relationships/notesSlide" Target="/ppt/notesSlides/notesSlide3.xml" Id="R4577192f3e5b46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9494e2ee94ebb" /><Relationship Type="http://schemas.openxmlformats.org/officeDocument/2006/relationships/notesSlide" Target="/ppt/notesSlides/notesSlide4.xml" Id="Re448ece4c41c4c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0b35bf0d804ec4" /><Relationship Type="http://schemas.openxmlformats.org/officeDocument/2006/relationships/image" Target="/ppt/media/image3.png" Id="Rddfaf46a32844c21" /><Relationship Type="http://schemas.openxmlformats.org/officeDocument/2006/relationships/image" Target="/ppt/media/image4.png" Id="Rb165266aa6cb4164" /><Relationship Type="http://schemas.openxmlformats.org/officeDocument/2006/relationships/notesSlide" Target="/ppt/notesSlides/notesSlide5.xml" Id="R8a27bd82fcf041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4165435a04da0" /><Relationship Type="http://schemas.openxmlformats.org/officeDocument/2006/relationships/image" Target="/ppt/media/image5.png" Id="R6de39405a04845e3" /><Relationship Type="http://schemas.openxmlformats.org/officeDocument/2006/relationships/image" Target="/ppt/media/image6.png" Id="R171b557d475b49be" /><Relationship Type="http://schemas.openxmlformats.org/officeDocument/2006/relationships/notesSlide" Target="/ppt/notesSlides/notesSlide6.xml" Id="R5f35550656244d1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7e77661c84836" /><Relationship Type="http://schemas.openxmlformats.org/officeDocument/2006/relationships/image" Target="/ppt/media/image7.png" Id="R1e704787884c4936" /><Relationship Type="http://schemas.openxmlformats.org/officeDocument/2006/relationships/notesSlide" Target="/ppt/notesSlides/notesSlide7.xml" Id="R90a131fbdc9c47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12b180f814812" /><Relationship Type="http://schemas.openxmlformats.org/officeDocument/2006/relationships/notesSlide" Target="/ppt/notesSlides/notesSlide8.xml" Id="R350af92b24ee47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37adad8b140ed" /><Relationship Type="http://schemas.openxmlformats.org/officeDocument/2006/relationships/image" Target="/ppt/media/image8.png" Id="Re693676c8b644f91" /><Relationship Type="http://schemas.openxmlformats.org/officeDocument/2006/relationships/notesSlide" Target="/ppt/notesSlides/notesSlide9.xml" Id="R4e58ceeb915543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6baf26aac4b73" /><Relationship Type="http://schemas.openxmlformats.org/officeDocument/2006/relationships/notesSlide" Target="/ppt/notesSlides/notesSlide10.xml" Id="R9d2d6902a9f54d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8e0af829dd43fb" /><Relationship Type="http://schemas.openxmlformats.org/officeDocument/2006/relationships/notesSlide" Target="/ppt/notesSlides/notesSlide11.xml" Id="R36dde4ae9537436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b2107a111449f" /><Relationship Type="http://schemas.openxmlformats.org/officeDocument/2006/relationships/notesSlide" Target="/ppt/notesSlides/notesSlide12.xml" Id="R1018fc9630404a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65ff11bbf4671" /><Relationship Type="http://schemas.openxmlformats.org/officeDocument/2006/relationships/notesSlide" Target="/ppt/notesSlides/notesSlide13.xml" Id="R2c4727f1de0c43e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635083b154b65" /><Relationship Type="http://schemas.openxmlformats.org/officeDocument/2006/relationships/notesSlide" Target="/ppt/notesSlides/notesSlide14.xml" Id="R5f23b9e58c8b4f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ce0e41b784d89" /><Relationship Type="http://schemas.openxmlformats.org/officeDocument/2006/relationships/notesSlide" Target="/ppt/notesSlides/notesSlide15.xml" Id="Rd0929357a63b432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c2d3eac894eb8" /><Relationship Type="http://schemas.openxmlformats.org/officeDocument/2006/relationships/notesSlide" Target="/ppt/notesSlides/notesSlide16.xml" Id="Rf59bb1c3a90247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FAC9C3-3AA5-4973-B908-4E12BE4C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EEA26-E773-460B-8C52-70FEBA43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428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5A3"/>
          </a:solidFill>
          <a:ln xmlns:a="http://schemas.openxmlformats.org/drawingml/2006/main" w="0">
            <a:solidFill>
              <a:srgbClr val="FFD5A3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PRODUCT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1EC16-ACE6-4742-8CBE-8ADF85EE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49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Learn by doing.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95679-A6FD-4010-847B-8ED1D17D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875">
                <a:solidFill>
                  <a:srgbClr val="895F3C"/>
                </a:solidFill>
                <a:latin typeface="Lato"/>
                <a:ea typeface="Lato"/>
                <a:cs typeface="Lato"/>
              </a:rPr>
              <a:t>A learning companion that gives people one doable next step, wherever they are.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8F99D-8E50-4290-A386-794EDB8A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12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Mobile practice  ·  Desktop guidance  ·  AI when the question appears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f303c9f5241da"/>
          <a:stretch xmlns:a="http://schemas.openxmlformats.org/drawingml/2006/main"/>
        </p:blipFill>
        <p:spPr>
          <a:xfrm xmlns:a="http://schemas.openxmlformats.org/drawingml/2006/main">
            <a:off x="6191250" y="1356360"/>
            <a:ext cx="5334000" cy="384048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84754-5F86-44DF-85C1-7B910711C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900">
                <a:solidFill>
                  <a:srgbClr val="7D5C42"/>
                </a:solidFill>
                <a:latin typeface="Lato"/>
                <a:ea typeface="Lato"/>
                <a:cs typeface="Lato"/>
              </a:rPr>
              <a:t>Pitch deck  |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65749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CDA5C-4EF5-484D-9C7E-0FB25D5F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0CB3A-BF96-48E0-BCC2-D04425B3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THE GAP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A3AEE-4F0D-4841-98E4-B7EE3EC0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2402C-2B98-4A53-92BC-A483B9BC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04E59-1D01-476E-A7EF-99DC2748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Learning support disappears when the learner is ready to 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E8AA79-2A95-487D-AE3B-B97D53BE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The hardest moment often comes after the video ends.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27BBA-46B8-4C71-BE8D-8F0E20FD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571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D5A3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FFD5A3"/>
                </a:solidFill>
                <a:latin typeface="Lato"/>
                <a:ea typeface="Lato"/>
                <a:cs typeface="Lato"/>
              </a:rPr>
              <a:t>“I know what I want to learn. I just do not know what to click next.”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D3C0C-17D8-4A05-B9E7-C2C4E736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5CFBD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E5CFBD"/>
                </a:solidFill>
                <a:latin typeface="Lato"/>
                <a:ea typeface="Lato"/>
                <a:cs typeface="Lato"/>
              </a:rPr>
              <a:t>The learner is alone when the question appears: late at night, between classes, or inside unfamiliar software.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41EAD-2EFB-4287-ACEE-FBED4B1C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524000"/>
            <a:ext cx="381000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30b5febaa44b0"/>
          <a:stretch xmlns:a="http://schemas.openxmlformats.org/drawingml/2006/main"/>
        </p:blipFill>
        <p:spPr>
          <a:xfrm xmlns:a="http://schemas.openxmlformats.org/drawingml/2006/main">
            <a:off x="7488134" y="1809750"/>
            <a:ext cx="3216482" cy="26670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9C46D-C7A4-4BA7-B2E4-E7471974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THE STALL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77071-0DC5-4B7A-94BA-CBBF4622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91125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5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Content is available. Context is missing.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15297-B9B4-41FF-80D6-F99982BC4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Problem framing · user-provided brief</a:t>
            </a:r>
          </a:p>
        </p:txBody>
      </p:sp>
    </p:spTree>
    <p:extLst>
      <p:ext uri="{BB962C8B-B14F-4D97-AF65-F5344CB8AC3E}">
        <p14:creationId xmlns:p14="http://schemas.microsoft.com/office/powerpoint/2010/main" val="3956746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5CC569-BAEB-4833-8122-0076EC87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580DD-5CA0-49D9-8A1D-04311D8F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62B15-6865-4267-A56B-761BD5DE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62A91-0721-4FC2-BDCC-40A7C923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5E2BB-F357-4787-B6E7-11568E7E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campus signal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12F2A-3BE8-47D2-9D3C-0B5BF769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Early conversations at Horus University pointed to the same friction from different angles.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F3E35-1F6D-4F28-8A3A-42FEACCF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38375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Students do not only need more content. They need a safe next step.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2C4B1-762E-42B0-ABC0-8C4D7709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3333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7746D-4B94-4571-B129-1D92806D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86125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7EF832-5C98-4955-9301-5887D126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AVAILABILITY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DDB925-06D6-4D83-B964-BC2C306D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D180B"/>
                </a:solidFill>
                <a:latin typeface="Lato"/>
                <a:ea typeface="Lato"/>
                <a:cs typeface="Lato"/>
              </a:rPr>
              <a:t>Instructor support stops when the learner’s question starts.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4C474-4287-4533-B494-29263DD1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3333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71D8D-1619-4FD4-AA3D-56A799F2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86125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5BAA"/>
          </a:solidFill>
          <a:ln xmlns:a="http://schemas.openxmlformats.org/drawingml/2006/main" w="0">
            <a:solidFill>
              <a:srgbClr val="6E5B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1FF977-6EBD-4077-96EF-1F85E11D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619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E5BAA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6E5BAA"/>
                </a:solidFill>
                <a:latin typeface="Lato"/>
                <a:ea typeface="Lato"/>
                <a:cs typeface="Lato"/>
              </a:rPr>
              <a:t>ANXIETY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D5DF3-FC64-4D55-BBD9-76B7F244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9814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D180B"/>
                </a:solidFill>
                <a:latin typeface="Lato"/>
                <a:ea typeface="Lato"/>
                <a:cs typeface="Lato"/>
              </a:rPr>
              <a:t>Some learners avoid asking because the question feels too basic or too late.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9AF98-B9D7-489D-9969-CE763AB6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86125"/>
            <a:ext cx="33337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D9D8D-22F5-4AB2-B874-E22C3EAC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86125"/>
            <a:ext cx="3333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B62"/>
          </a:solidFill>
          <a:ln xmlns:a="http://schemas.openxmlformats.org/drawingml/2006/main" w="0">
            <a:solidFill>
              <a:srgbClr val="2E9B6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AA163B-81BE-425B-920A-4BE09588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E9B6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2E9B62"/>
                </a:solidFill>
                <a:latin typeface="Lato"/>
                <a:ea typeface="Lato"/>
                <a:cs typeface="Lato"/>
              </a:rPr>
              <a:t>ACCESS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75E5C-57F0-469B-BF3A-D7358E03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D180B"/>
                </a:solidFill>
                <a:latin typeface="Lato"/>
                <a:ea typeface="Lato"/>
                <a:cs typeface="Lato"/>
              </a:rPr>
              <a:t>Courses can feel expensive, crowded, or disconnected from the moment of practice.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594096-8DA2-4076-8D58-B5485ECB8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72125"/>
            <a:ext cx="1028700" cy="2762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5"/>
          </a:solidFill>
          <a:ln xmlns:a="http://schemas.openxmlformats.org/drawingml/2006/main" w="0">
            <a:solidFill>
              <a:srgbClr val="DFF2E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9B6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2E9B62"/>
                </a:solidFill>
                <a:latin typeface="Lato"/>
                <a:ea typeface="Lato"/>
                <a:cs typeface="Lato"/>
              </a:rPr>
              <a:t>OBSERVED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5D17A0-8A9A-4D5F-977C-C3702F00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7D5C42"/>
                </a:solidFill>
                <a:latin typeface="Lato"/>
                <a:ea typeface="Lato"/>
                <a:cs typeface="Lato"/>
              </a:rPr>
              <a:t>Qualitative themes from campus conversations. Add the verified participant count before presenting.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1B205-5735-486F-9546-1CDCEF62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Evidence status: observed · Horus University conversations</a:t>
            </a:r>
          </a:p>
        </p:txBody>
      </p:sp>
    </p:spTree>
    <p:extLst>
      <p:ext uri="{BB962C8B-B14F-4D97-AF65-F5344CB8AC3E}">
        <p14:creationId xmlns:p14="http://schemas.microsoft.com/office/powerpoint/2010/main" val="432158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85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3298D-959B-4600-9D82-76137276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003ED-C9DC-4271-AEC4-108EA2F3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INSIGHT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4BF16-AC70-4B62-9391-A4C3B42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FE2BA-37AE-4F3F-9535-47E2F8A1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A96CF-6770-4830-9117-22C5B188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The missing layer is contextual guidance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8856F-637A-4011-A989-AFA12A1C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Bataa helps at the exact moment the learner has to make a move.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EAE38-12D4-4AA5-A854-83985B06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905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78A17"/>
          </a:solidFill>
          <a:ln xmlns:a="http://schemas.openxmlformats.org/drawingml/2006/main" w="9525">
            <a:solidFill>
              <a:srgbClr val="FFB5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FF465-D95D-421C-B0CB-BED9CC46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1238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CONTENT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19924-E3D3-4EEF-9653-B24553A9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3925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Watch → pause → search → stall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7DCCF-584D-45C2-A6DC-AF7A607A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300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2D180B"/>
                </a:solidFill>
                <a:latin typeface="Lato"/>
                <a:ea typeface="Lato"/>
                <a:cs typeface="Lato"/>
              </a:rPr>
              <a:t>The learner has to translate theory into the next action alone.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AAD87-5FC2-42DC-BA8C-333E132A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FFF6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2AB32-F70B-43FF-AAAE-19C078D3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671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D4D76-370A-4BAA-BDBD-0BE82697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44767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FFF6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7C90E-D54D-4E29-A6D8-D4869557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90875"/>
            <a:ext cx="8572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180B"/>
          </a:solidFill>
          <a:ln xmlns:a="http://schemas.openxmlformats.org/drawingml/2006/main" w="0">
            <a:solidFill>
              <a:srgbClr val="2D180B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2003E8-DCCC-4249-9DB4-691D642C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714750"/>
            <a:ext cx="3714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94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Try → get feedback → keep moving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8D17F-39F4-462C-91C1-63CDFD04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386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895F3C"/>
                </a:solidFill>
                <a:latin typeface="Lato"/>
                <a:ea typeface="Lato"/>
                <a:cs typeface="Lato"/>
              </a:rPr>
              <a:t>The next step appears beside the work, in plain English.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D6872B-C954-4E26-A81E-BDE9C2F12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Product insight · contextual help at the moment of action</a:t>
            </a:r>
          </a:p>
        </p:txBody>
      </p:sp>
    </p:spTree>
    <p:extLst>
      <p:ext uri="{BB962C8B-B14F-4D97-AF65-F5344CB8AC3E}">
        <p14:creationId xmlns:p14="http://schemas.microsoft.com/office/powerpoint/2010/main" val="12495374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8EA500-25F5-4F49-90E0-73759E0E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88956C-D3C8-4B1F-857E-3542775F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3F946-BC51-4AD4-962F-C1F00DCC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748BD-422D-4FFB-BFEF-C4D1A3D8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A56600-9223-49E2-B6D4-0E38DDD8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One product, two moments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5EC4D-47FE-4CA4-9FD2-CD835DEF4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The same learning loop follows the learner from a spare minute to the tool where the work happens.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5620B-5F60-4517-B1E4-41A30D54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4476750" cy="300037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af46a32844c21"/>
          <a:stretch xmlns:a="http://schemas.openxmlformats.org/drawingml/2006/main"/>
        </p:blipFill>
        <p:spPr>
          <a:xfrm xmlns:a="http://schemas.openxmlformats.org/drawingml/2006/main">
            <a:off x="1156938" y="2714625"/>
            <a:ext cx="1210375" cy="26193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C949E-B6C4-4E76-A1CC-20825D11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067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MOBILE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6EC5D9-173E-408E-BB28-B6CC25FA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480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023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17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Keep momentum anywhere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DAE5DB-5D47-42FE-ADA4-6DD12203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21005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879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Short daily tasks make progress possible in transit, between classes, or at home.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7D510-B8F2-4B88-81FB-C7A736D3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24125"/>
            <a:ext cx="4476750" cy="300037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B100B"/>
          </a:solidFill>
          <a:ln xmlns:a="http://schemas.openxmlformats.org/drawingml/2006/main" w="9525">
            <a:solidFill>
              <a:srgbClr val="4F332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5266aa6cb4164"/>
          <a:srcRect xmlns:a="http://schemas.openxmlformats.org/drawingml/2006/main" l="0" t="3931" r="0" b="39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819400"/>
            <a:ext cx="4057650" cy="1809750"/>
          </a:xfrm>
          <a:prstGeom xmlns:a="http://schemas.openxmlformats.org/drawingml/2006/main" prst="roundRect">
            <a:avLst>
              <a:gd name="adj" fmla="val 631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9E3F6-5AE4-424F-9C67-6B1E8AE5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76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D5A3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D5A3"/>
                </a:solidFill>
                <a:latin typeface="Lato"/>
                <a:ea typeface="Lato"/>
                <a:cs typeface="Lato"/>
              </a:rPr>
              <a:t>DESKTOP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B5F61-7ACC-43EE-96F0-1EEC9819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1435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Guide inside the tool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A53C5-7FE0-4278-902C-99A1A736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Demonstrated surfaces · mobile and desktop product visuals</a:t>
            </a:r>
          </a:p>
        </p:txBody>
      </p:sp>
    </p:spTree>
    <p:extLst>
      <p:ext uri="{BB962C8B-B14F-4D97-AF65-F5344CB8AC3E}">
        <p14:creationId xmlns:p14="http://schemas.microsoft.com/office/powerpoint/2010/main" val="2300241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B19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DD78B-B8BC-41D8-A115-674E5BF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3C789-1ADB-4E61-A9D7-FA276F2B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MOBILE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489D8-D1F6-4E48-9280-97C6AD69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7A9D0-67B8-47E6-AD5F-CD0A29AE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55E603-8AAD-4BFC-AA4D-D4B96D60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Mobile turns spare minutes into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90291-ACCD-4699-A075-348DA79D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A daily task can fit into the time a learner already has.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A8FC2-DA43-4E8D-832B-F54977B5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2286000" cy="3619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100B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39405a04845e3"/>
          <a:stretch xmlns:a="http://schemas.openxmlformats.org/drawingml/2006/main"/>
        </p:blipFill>
        <p:spPr>
          <a:xfrm xmlns:a="http://schemas.openxmlformats.org/drawingml/2006/main">
            <a:off x="1073210" y="2543175"/>
            <a:ext cx="1549280" cy="33528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DA206-62DD-497D-89F9-4D4C7686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2286000" cy="3619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B100B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1b557d475b49be"/>
          <a:stretch xmlns:a="http://schemas.openxmlformats.org/drawingml/2006/main"/>
        </p:blipFill>
        <p:spPr>
          <a:xfrm xmlns:a="http://schemas.openxmlformats.org/drawingml/2006/main">
            <a:off x="3606860" y="2543175"/>
            <a:ext cx="1549280" cy="33528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469DC7-31C0-45F9-983F-A69565E7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E1BEA-A93A-4217-98F9-979F2056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289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8–10 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DE8F37-8D1E-42CA-A74C-A8149E7C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718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A small session with a clear finish 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D10FA-2E5F-4C7E-B10C-DFDB77C5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5658E-6CA7-4D2C-A319-B631E78B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8004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No typing needed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0DCB9F-344E-4456-AB06-4330CF17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4337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The first days use three-choice recognition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69F09-AA0A-4DDC-86DE-2A91EA52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15EE3-D61F-40B7-BC9E-A6DBD3E2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720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One real skill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416A5-742D-4382-9CE8-217B04CC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14925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Every step maps to a usable web concept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3B6A2-AA74-4E06-BBE7-1886F387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Demonstrated · beginner-friendly lesson flow</a:t>
            </a:r>
          </a:p>
        </p:txBody>
      </p:sp>
    </p:spTree>
    <p:extLst>
      <p:ext uri="{BB962C8B-B14F-4D97-AF65-F5344CB8AC3E}">
        <p14:creationId xmlns:p14="http://schemas.microsoft.com/office/powerpoint/2010/main" val="15442030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D18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0542F-6E53-44C5-BBBE-51C7E705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184ED-0CF6-438A-B4C6-A4FE06BC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DESKTOP GUIDANCE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5E178-2BE5-4E59-BDA7-B874D768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3967C-24BF-4972-8F1C-D8DFC065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63C7D-36E9-4487-8094-428CC5BF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281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Desktop guidance meets the learner where work happens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62E908-9370-4FFF-869E-19FDAC9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For 3D, code, and other tools, Bataa can point to the next action instead of describing it from a distance.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04787884c4936"/>
          <a:srcRect xmlns:a="http://schemas.openxmlformats.org/drawingml/2006/main" l="0" t="2065" r="0" b="2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7700" y="2476500"/>
            <a:ext cx="6572250" cy="3429000"/>
          </a:xfrm>
          <a:prstGeom xmlns:a="http://schemas.openxmlformats.org/drawingml/2006/main" prst="roundRect">
            <a:avLst>
              <a:gd name="adj" fmla="val 444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23E97-DF39-443B-A9D0-12DECCC9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3571875" cy="31242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98973-1792-4E8F-9170-82DD8A3C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AD4"/>
          </a:solidFill>
          <a:ln xmlns:a="http://schemas.openxmlformats.org/drawingml/2006/main" w="0">
            <a:solidFill>
              <a:srgbClr val="FBEAD4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BFE807-41D3-4CEE-9BC3-C0319939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956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Notice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0DA1C-54DF-4A4D-8BC7-9CF18972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5277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D8BBA4"/>
                </a:solidFill>
                <a:latin typeface="Lato"/>
                <a:ea typeface="Lato"/>
                <a:cs typeface="Lato"/>
              </a:rPr>
              <a:t>Understand what the learner is trying to 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582EA-CAA7-4076-9ECC-BAFA6289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43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1D0654-5C20-4B6C-9F50-2731423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242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88AEB-B636-4B61-9D2E-539CF2BE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8145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D8BBA4"/>
                </a:solidFill>
                <a:latin typeface="Lato"/>
                <a:ea typeface="Lato"/>
                <a:cs typeface="Lato"/>
              </a:rPr>
              <a:t>Highlight the exact control or line to 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D38EC1-4982-4890-9086-8CFC9051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72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AD4"/>
          </a:solidFill>
          <a:ln xmlns:a="http://schemas.openxmlformats.org/drawingml/2006/main" w="0">
            <a:solidFill>
              <a:srgbClr val="FBEAD4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A7F591-ABAF-43B8-B6EF-36589803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529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Try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28F9F-E575-4779-BBFD-C0436167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10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D8BBA4"/>
                </a:solidFill>
                <a:latin typeface="Lato"/>
                <a:ea typeface="Lato"/>
                <a:cs typeface="Lato"/>
              </a:rPr>
              <a:t>Let the learner perform the action and see the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CA9DF-D231-4C81-B7AC-74CCF6B2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B62"/>
          </a:solidFill>
          <a:ln xmlns:a="http://schemas.openxmlformats.org/drawingml/2006/main" w="0">
            <a:solidFill>
              <a:srgbClr val="2E9B62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99765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DEMONSTRATED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01B383-08E1-4E30-AFF0-77B6385E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134100"/>
            <a:ext cx="7524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975">
                <a:solidFill>
                  <a:srgbClr val="D8BBA4"/>
                </a:solidFill>
                <a:latin typeface="Lato"/>
                <a:ea typeface="Lato"/>
                <a:cs typeface="Lato"/>
              </a:rPr>
              <a:t>Autonomous control and deeper integrations are pilot work, not a promise of the current build.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7AF0B-FD53-442E-9C06-DB96E1B8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Desktop product visual · guided-project-ai.webp and ai-assisted-coding.webp</a:t>
            </a:r>
          </a:p>
        </p:txBody>
      </p:sp>
    </p:spTree>
    <p:extLst>
      <p:ext uri="{BB962C8B-B14F-4D97-AF65-F5344CB8AC3E}">
        <p14:creationId xmlns:p14="http://schemas.microsoft.com/office/powerpoint/2010/main" val="7871687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EDE3F8-374D-4CBF-94E7-B4F9D42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74771C-D315-40E6-B1EC-35D73471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SKILL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0A10BF-BA6C-4895-8A61-D625829F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182BF9-A43E-4E96-BA36-2E979E0D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28E185-558C-40C7-9DC0-2C8AC6B7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531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A skill compounds one small day at a time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BBA23-63F0-4CB3-BCA6-EA2223C5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Illustrative 3D-modeling journey: the learner starts with a gesture, then builds a real artifact.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1B3EE-116C-448A-AC03-9B9ACCDF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6710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85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D3ED21-0B25-4242-A16F-F38892B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24A16-545D-4E80-8C89-48E4950DA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DAY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C12EC-B7F0-4A57-9C60-8149DA69F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Find the tool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E170E-1C89-4FCD-BF64-137A31F8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45434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Recognize the viewport, select an object, make one change.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8B7E0A-A70F-4F97-AF27-32DFF5DF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82A6D2-40B6-4676-AE77-0B5D61E6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762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DAY 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FCC177-DE10-46E1-8C4A-E5DA3916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95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Shape a scene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EACAC1-CE20-4E63-A84C-EC7B3632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434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Combine small actions into a simple modeled composition.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70058-E1BF-4E96-80E3-85465631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257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5A95AC-5EBD-46A5-9FA2-D5FCF519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7623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DAY 30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164FED-34E4-4BBA-8476-5C066B67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Finish an artifact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E8082-35D5-4408-9F49-BE8D99F2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543425"/>
            <a:ext cx="314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Use the same guided loop to complete a portfolio-ready piece.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7D962-763A-4C28-8145-3DD63A5B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952625"/>
            <a:ext cx="367665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264C86-8143-41E1-8D46-9C6EBD62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1812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499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product promise is a path, not a single lesson.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853858-CB9D-4DD2-A472-3ABA05C3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858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D4"/>
          </a:solidFill>
          <a:ln xmlns:a="http://schemas.openxmlformats.org/drawingml/2006/main" w="0">
            <a:solidFill>
              <a:srgbClr val="FBEAD4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9939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895F3C"/>
                </a:solidFill>
                <a:latin typeface="Lato"/>
                <a:ea typeface="Lato"/>
                <a:cs typeface="Lato"/>
              </a:rPr>
              <a:t>ILLUSTRATIVE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7699AE-6AC5-42B9-83A7-2B75D127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905500"/>
            <a:ext cx="6572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975">
                <a:solidFill>
                  <a:srgbClr val="7D5C42"/>
                </a:solidFill>
                <a:latin typeface="Lato"/>
                <a:ea typeface="Lato"/>
                <a:cs typeface="Lato"/>
              </a:rPr>
              <a:t>Replace with a real Bataa skill path and learner artifact before the final pitch.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58680F-D934-4643-BF3D-32CEFE79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Product narrative · example journey, not a measured outcome</a:t>
            </a:r>
          </a:p>
        </p:txBody>
      </p:sp>
    </p:spTree>
    <p:extLst>
      <p:ext uri="{BB962C8B-B14F-4D97-AF65-F5344CB8AC3E}">
        <p14:creationId xmlns:p14="http://schemas.microsoft.com/office/powerpoint/2010/main" val="2793143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EAD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EB660-61EE-46BB-87C7-1EE04B67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D35FE-410F-4EFF-9B7D-B6D34E46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BEGINNER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E8379-D9C0-45B0-AD4E-927FD1927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AE625-52C8-4782-A241-A10D3827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945D9-5FF6-494C-A279-D12D0543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251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first three days should feel approachable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7B2E5-6C1C-45FA-AE4A-977F1454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Recognition first. Typed code comes after the learner understands what the code is doing.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9A7765-5F41-4F79-9311-48FA4558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286250" cy="3714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93676c8b644f91"/>
          <a:stretch xmlns:a="http://schemas.openxmlformats.org/drawingml/2006/main"/>
        </p:blipFill>
        <p:spPr>
          <a:xfrm xmlns:a="http://schemas.openxmlformats.org/drawingml/2006/main">
            <a:off x="2041081" y="2428875"/>
            <a:ext cx="1575688" cy="34099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66EBC7-DB2D-41DF-9D82-B6B2C540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47950"/>
            <a:ext cx="742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DAY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92FBF-6E13-4E06-B68A-0A49E013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Choose the right HTML element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1B7816-7DE1-45F3-9C6E-DCA8A09A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718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CFA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B7B70-CB9A-411C-BBE8-8F8A1367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19500"/>
            <a:ext cx="742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BAA"/>
          </a:solidFill>
          <a:ln xmlns:a="http://schemas.openxmlformats.org/drawingml/2006/main" w="0">
            <a:solidFill>
              <a:srgbClr val="6E5BAA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DAY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997EF6-9D0E-4646-BCFE-120994DC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38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Match CSS properties to a visual 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DB5C6-B90C-424D-8FB0-D8D3F283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4337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CFA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430D6-CA2B-43D0-B6CB-CC4421E6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91050"/>
            <a:ext cx="742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B62"/>
          </a:solidFill>
          <a:ln xmlns:a="http://schemas.openxmlformats.org/drawingml/2006/main" w="0">
            <a:solidFill>
              <a:srgbClr val="2E9B62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DAY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B1FAF-457E-45FE-A33A-C9EBB2EF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10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Predict what a hover state will 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F2A80F-F877-416E-974D-467AB56EC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14925"/>
            <a:ext cx="481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DCFA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52AAAB-D88D-42F1-B376-12E34CDE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61975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895F3C"/>
                </a:solidFill>
                <a:latin typeface="Lato"/>
                <a:ea typeface="Lato"/>
                <a:cs typeface="Lato"/>
              </a:rPr>
              <a:t>The learner gets a win before they get a keyboard-heavy challenge.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84BE38-16BD-4806-AA61-19CAA2D3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Demonstrated · first lesson uses three-choice recognition</a:t>
            </a:r>
          </a:p>
        </p:txBody>
      </p:sp>
    </p:spTree>
    <p:extLst>
      <p:ext uri="{BB962C8B-B14F-4D97-AF65-F5344CB8AC3E}">
        <p14:creationId xmlns:p14="http://schemas.microsoft.com/office/powerpoint/2010/main" val="1330814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D5A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EF0443-28FD-457E-97A3-2C35802C7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11936-C69E-4F16-8714-EBDCB8B1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LEARNING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02C76-E9BC-42F6-8A22-6B5D85A6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43FC4-FE25-43C9-B702-AB1F6144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EE8A20-E253-4349-A78C-13CE0821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687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Bataa closes the gap between attempt and understanding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B6A3D-FF53-4C7B-850D-A9B0B97A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Each turn makes the next turn easier.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4804C-9D32-4D3A-A168-90DC69B9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87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E7DEE-4C43-4CAB-91C9-A688C64C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ED166-F554-4A56-9E06-8D993D26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81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Choose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8702AE-6798-46D0-BC7A-5F7BA267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814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895F3C"/>
                </a:solidFill>
                <a:latin typeface="Lato"/>
                <a:ea typeface="Lato"/>
                <a:cs typeface="Lato"/>
              </a:rPr>
              <a:t>One clear 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070DF-BA7F-47B3-BA36-F9415F239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33362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2AF30-1AD5-49C8-ABD3-7301BF52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505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7E92E-5463-43E8-A86F-FC2740B8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DE14C-A8AF-4BCB-AB64-4FF84698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241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895F3C"/>
                </a:solidFill>
                <a:latin typeface="Lato"/>
                <a:ea typeface="Lato"/>
                <a:cs typeface="Lato"/>
              </a:rPr>
              <a:t>The learner 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BCBC0-2459-4FBD-863D-2C4376C0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33362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9525">
            <a:solidFill>
              <a:srgbClr val="FF85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758F1-5FDA-467B-ABD1-F984EE14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505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E6353-C564-4880-856E-A5C57BE2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2412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97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Get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85172E-375D-401A-AE3C-FC02BF732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9241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FFF6E9"/>
                </a:solidFill>
                <a:latin typeface="Lato"/>
                <a:ea typeface="Lato"/>
                <a:cs typeface="Lato"/>
              </a:rPr>
              <a:t>Context, not a lecture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2BCE1-A257-4426-8B54-B38716BE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90875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4DE02-9608-48A8-8A5A-ECDB0E1B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33623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8D7232-D1B9-4C10-8E47-7E857B91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381375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Repeat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9D948-7961-4FE7-8C14-0CFEC441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814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895F3C"/>
                </a:solidFill>
                <a:latin typeface="Lato"/>
                <a:ea typeface="Lato"/>
                <a:cs typeface="Lato"/>
              </a:rPr>
              <a:t>Correct the next detail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6AE74F-11CA-42D8-9500-5E9972E9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762500"/>
            <a:ext cx="18097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76E1B4-CA70-4619-8952-D29FD26F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933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980568-4A36-48E4-B801-78307079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953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039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Build confidence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9FE3FE-3166-4CE2-9D59-C5096BFF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353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895F3C"/>
                </a:solidFill>
                <a:latin typeface="Lato"/>
                <a:ea typeface="Lato"/>
                <a:cs typeface="Lato"/>
              </a:rPr>
              <a:t>A skill that stays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4AF4E7-034D-4CBB-958F-7E640235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76550"/>
            <a:ext cx="428625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3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21A532-988F-4291-A002-BC99F0CD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76550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3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83C23E-0831-4DF7-8B0E-9BDAEB07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76550"/>
            <a:ext cx="85725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30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A8310D-44C4-4EF5-89B6-6D8C555C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57675"/>
            <a:ext cx="2905125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30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0A2FFB-6680-49CD-88E6-30C6728C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57675"/>
            <a:ext cx="2047875" cy="1038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4530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E95C5F-7465-4317-A77B-1332E1D5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180B"/>
          </a:solidFill>
          <a:ln xmlns:a="http://schemas.openxmlformats.org/drawingml/2006/main" w="0">
            <a:solidFill>
              <a:srgbClr val="2D180B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THE LOOP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D48722-E11F-4E7E-A3FC-D053E961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762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125">
                <a:solidFill>
                  <a:srgbClr val="895F3C"/>
                </a:solidFill>
                <a:latin typeface="Lato"/>
                <a:ea typeface="Lato"/>
                <a:cs typeface="Lato"/>
              </a:rPr>
              <a:t>The product keeps the learner moving without taking the work away from them.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820348-E78F-42A8-98E9-D0A35F32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Editable diagram · product hypothesis to validate in pilot</a:t>
            </a:r>
          </a:p>
        </p:txBody>
      </p:sp>
    </p:spTree>
    <p:extLst>
      <p:ext uri="{BB962C8B-B14F-4D97-AF65-F5344CB8AC3E}">
        <p14:creationId xmlns:p14="http://schemas.microsoft.com/office/powerpoint/2010/main" val="19532699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4B024-2B7F-4E60-BBE1-05C83C6E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01062-AF2D-4917-BF9C-EC9E4CE6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POSITIONING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2CC87-FA25-4186-AFCB-381EFD01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F6396-6ACB-4D0B-AD3B-B80E6C19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48DAD-7CD0-4350-B9AC-2B05687F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593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Bataa sits between content and the moment of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B741C-E22E-404C-A452-93DAB6CC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A positioning hypothesis, not a claim that competitors lack 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DFD16-A3CE-42A0-B61B-2EDE577B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D5A3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D5A3"/>
                </a:solidFill>
                <a:latin typeface="Lato"/>
                <a:ea typeface="Lato"/>
                <a:cs typeface="Lato"/>
              </a:rPr>
              <a:t>GUIDANCE IN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7695BE-C3F9-46D4-80EE-BD985DB7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15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C9A98C"/>
                </a:solidFill>
                <a:latin typeface="Lato"/>
                <a:ea typeface="Lato"/>
                <a:cs typeface="Lato"/>
              </a:rPr>
              <a:t>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618DB6-AFBC-49E4-995C-2CA1719E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7150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C9A98C"/>
                </a:solidFill>
                <a:latin typeface="Lato"/>
                <a:ea typeface="Lato"/>
                <a:cs typeface="Lato"/>
              </a:rPr>
              <a:t>HIGH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455F9E-49A0-4171-A3DC-C0BF9036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81625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473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BB7DDC-543F-4B9D-8882-81E9F453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76500"/>
            <a:ext cx="0" cy="2905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B473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80D83B-9131-4401-A456-48401E43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81375"/>
            <a:ext cx="76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D5A3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D5A3"/>
                </a:solidFill>
                <a:latin typeface="Lato"/>
                <a:ea typeface="Lato"/>
                <a:cs typeface="Lato"/>
              </a:rPr>
              <a:t>DAILY PRACTICE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A56FD-663B-40D9-94C1-FEF3A0817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457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EAD4"/>
          </a:solidFill>
          <a:ln xmlns:a="http://schemas.openxmlformats.org/drawingml/2006/main" w="0">
            <a:solidFill>
              <a:srgbClr val="FBEAD4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B3A01-6B61-457D-BD65-E5367ECE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720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FFF6E9"/>
                </a:solidFill>
                <a:latin typeface="Lato"/>
                <a:ea typeface="Lato"/>
                <a:cs typeface="Lato"/>
              </a:rPr>
              <a:t>Khan Academy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306CE-4035-44F9-BA29-2F69BBB3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90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BA9E4"/>
          </a:solidFill>
          <a:ln xmlns:a="http://schemas.openxmlformats.org/drawingml/2006/main" w="0">
            <a:solidFill>
              <a:srgbClr val="BBA9E4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78E4E-A3D0-427A-90FA-43A41968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30530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FFF6E9"/>
                </a:solidFill>
                <a:latin typeface="Lato"/>
                <a:ea typeface="Lato"/>
                <a:cs typeface="Lato"/>
              </a:rPr>
              <a:t>iSchool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0D64F-24FE-41C3-A736-0234DEFF3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267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8C5"/>
          </a:solidFill>
          <a:ln xmlns:a="http://schemas.openxmlformats.org/drawingml/2006/main" w="0">
            <a:solidFill>
              <a:srgbClr val="B9D8C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CC2CB-A251-4EEA-8B83-C21C33E1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81550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FFF6E9"/>
                </a:solidFill>
                <a:latin typeface="Lato"/>
                <a:ea typeface="Lato"/>
                <a:cs typeface="Lato"/>
              </a:rPr>
              <a:t>Yanfaa / Nafham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92F46-D3C2-4378-8631-8C8C2EB5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90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3783B4-B39A-4488-943D-A635EBCE4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05175"/>
            <a:ext cx="1485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D5A3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D5A3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EC40E-58C7-47EC-9C77-7B2C262F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76375"/>
            <a:ext cx="3333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6B473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54E2BD-280A-4C8C-AC01-D26C049E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145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70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Bataa combines daily practice with help inside the work.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711E9-4159-49EA-9AD1-8C89751F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48375"/>
            <a:ext cx="1762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86904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VERIFY BEFORE PRESENTING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6F1AB9-41BA-423D-A717-A6880CF8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Qualitative positioning hypothesis · verify competitor names and feature claims</a:t>
            </a:r>
          </a:p>
        </p:txBody>
      </p:sp>
    </p:spTree>
    <p:extLst>
      <p:ext uri="{BB962C8B-B14F-4D97-AF65-F5344CB8AC3E}">
        <p14:creationId xmlns:p14="http://schemas.microsoft.com/office/powerpoint/2010/main" val="9328769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56D92-0AF9-43B3-A9C3-065721B6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B2B8EB-7729-49B1-9DF7-5A5AD665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BUSINESS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B43B9-699A-4D7A-91BA-9CC15611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1E960-4151-424D-BB81-88973A0D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52BAE-EADB-46D9-85F2-0E57E718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Start with one clear revenue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B56B69-FA8E-4C57-924D-7E7C81DE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Paid learning first. Optional AI usage and platform licensing expand the model later.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6A2CDF-1969-4D28-978D-759CDE61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4953000" cy="276225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9525">
            <a:solidFill>
              <a:srgbClr val="FF85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0D7DCB-5F87-4241-9D13-78FF4A72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13811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C45300"/>
                </a:solidFill>
                <a:latin typeface="Lato"/>
                <a:ea typeface="Lato"/>
                <a:cs typeface="Lato"/>
              </a:rPr>
              <a:t>LAUNCH PRIORITY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9D413-1783-4307-AAC5-458A8D50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Course purchase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DE906-A56A-46BA-8831-1CE8BF24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95750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2D180B"/>
                </a:solidFill>
                <a:latin typeface="Lato"/>
                <a:ea typeface="Lato"/>
                <a:cs typeface="Lato"/>
              </a:rPr>
              <a:t>Learners pay for a structured path that turns practice into a finished skill.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2E3508-A6B3-4D3A-80E4-89DDF966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2428875" cy="2762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E61756-7E3F-4234-86A6-A62F9894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904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D4"/>
          </a:solidFill>
          <a:ln xmlns:a="http://schemas.openxmlformats.org/drawingml/2006/main" w="0">
            <a:solidFill>
              <a:srgbClr val="FBEAD4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895F3C"/>
                </a:solidFill>
                <a:latin typeface="Lato"/>
                <a:ea typeface="Lato"/>
                <a:cs typeface="Lato"/>
              </a:rPr>
              <a:t>OPTIONAL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BA1EB-01A6-4563-80AD-C3FB3A1C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718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AI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02C31-109F-437B-84CA-6DA7F0AA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1666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Extra attempts, deeper explanations, or advanced model 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27AD4-FECB-4437-9052-C089CE15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76500"/>
            <a:ext cx="2476500" cy="2762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CA829-CAE0-4CD8-927F-2EFADF0C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57500"/>
            <a:ext cx="7143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F2E5"/>
          </a:solidFill>
          <a:ln xmlns:a="http://schemas.openxmlformats.org/drawingml/2006/main" w="0">
            <a:solidFill>
              <a:srgbClr val="DFF2E5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9B62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2E9B62"/>
                </a:solidFill>
                <a:latin typeface="Lato"/>
                <a:ea typeface="Lato"/>
                <a:cs typeface="Lato"/>
              </a:rPr>
              <a:t>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494E21-F986-4102-B677-35F21D5A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7185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Platform fees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44CF79-91FA-46BE-87CA-78B2E119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0050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895F3C"/>
                </a:solidFill>
                <a:latin typeface="Lato"/>
                <a:ea typeface="Lato"/>
                <a:cs typeface="Lato"/>
              </a:rPr>
              <a:t>Commission from creator and institution courses.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0330D-3B8A-4617-ADCC-A921B1BB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53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Keep the first story simple: one learner pays for one useful outcome.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9E038-A4CB-4E3C-B540-95A4C85D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Business model · planned streams, launch priority shown</a:t>
            </a:r>
          </a:p>
        </p:txBody>
      </p:sp>
    </p:spTree>
    <p:extLst>
      <p:ext uri="{BB962C8B-B14F-4D97-AF65-F5344CB8AC3E}">
        <p14:creationId xmlns:p14="http://schemas.microsoft.com/office/powerpoint/2010/main" val="10393254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B19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661445-D7BD-4354-A0DC-345DE8E0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5CA0D-10F4-4D62-AFC8-FE9D1400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PLATFORM EXPANSION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E01359-BCDB-4AA6-A993-DB7FA6DB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E9DD5-FDE2-4AA6-860F-07EA1B5C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B5BE6-75A5-42A4-B674-83901D66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The same learning engine can serve creators and institutions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D4E7B-7C25-40BB-B14D-88F53AD5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Bataa can become the infrastructure behind guided practice, not only a destination app.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8FBC1-B93B-468D-BCB6-64E3989B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2857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EAD4"/>
          </a:solidFill>
          <a:ln xmlns:a="http://schemas.openxmlformats.org/drawingml/2006/main" w="9525">
            <a:solidFill>
              <a:srgbClr val="FBEA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24F98-00BA-4F6D-A726-6E643ABA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38500"/>
            <a:ext cx="2438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CREATORS + INSTITUTIONS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D36E7-6607-4BD2-90BA-9C23A5B6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90925"/>
            <a:ext cx="2438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Publish a course or training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E8A8ED-6D89-4178-A5C5-8D1CD987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2952750" cy="1905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9525">
            <a:solidFill>
              <a:srgbClr val="FF85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6F94D-1783-4EE2-A4E6-560A1BF8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52750"/>
            <a:ext cx="25336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BATAA ENGINE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DCF02-2B9A-4E9A-9920-57B7F1A8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05175"/>
            <a:ext cx="25336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Guided tasks, feedback, progress, AI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CC2FA-5E46-4AA2-9E74-31126497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2667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EAD4"/>
          </a:solidFill>
          <a:ln xmlns:a="http://schemas.openxmlformats.org/drawingml/2006/main" w="9525">
            <a:solidFill>
              <a:srgbClr val="FBEAD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9E2B4-FA6F-4ED4-998F-4C6534CB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71750"/>
            <a:ext cx="2247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LEARNERS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3F2BB-8A6D-45A6-959F-7F43CAE4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24175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Buy, practice, and finish the skill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0CD05-4328-45DA-B4D7-2799E101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38625"/>
            <a:ext cx="2667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BBA9E4"/>
          </a:solidFill>
          <a:ln xmlns:a="http://schemas.openxmlformats.org/drawingml/2006/main" w="9525">
            <a:solidFill>
              <a:srgbClr val="BBA9E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0DC24-8387-45D4-881F-0DD267E8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76750"/>
            <a:ext cx="2247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IDE / PRODUCT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B721E-0A04-42A0-9607-0A307904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29175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Bring the tutor into another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902B15-2678-4DDB-AE50-406D4A52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67125"/>
            <a:ext cx="990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5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3EC61-1C92-44A5-864A-B51F0258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0375"/>
            <a:ext cx="95250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5A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F16C55-C327-4C10-B791-FDFDDFCA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67125"/>
            <a:ext cx="95250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D5A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8816BF-CD70-4A3C-A247-27C4AE178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00750"/>
            <a:ext cx="1571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9879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PLANNED EXPANSION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9ECC1-1C9F-4743-BF2B-61359F98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6038850"/>
            <a:ext cx="742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050">
                <a:solidFill>
                  <a:srgbClr val="D8BBA4"/>
                </a:solidFill>
                <a:latin typeface="Lato"/>
                <a:ea typeface="Lato"/>
                <a:cs typeface="Lato"/>
              </a:rPr>
              <a:t>Commission on course sales plus API licensing for organizations and tools.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33A431-AA18-4BA0-9085-F1E638D6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Platform architecture · future revenue paths</a:t>
            </a:r>
          </a:p>
        </p:txBody>
      </p:sp>
    </p:spTree>
    <p:extLst>
      <p:ext uri="{BB962C8B-B14F-4D97-AF65-F5344CB8AC3E}">
        <p14:creationId xmlns:p14="http://schemas.microsoft.com/office/powerpoint/2010/main" val="4815457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6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483294-29CF-4C4B-9EFF-F2FAEBCA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5188D-1F33-413D-A8BD-1388E528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895F3C"/>
                </a:solidFill>
                <a:latin typeface="Lato"/>
                <a:ea typeface="Lato"/>
                <a:cs typeface="Lato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D9D1D-42BA-4762-87B5-BFF3F098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F22F1-F404-480C-ADC8-2BA0F958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DCFA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85E8A1-7887-4E11-897F-828902B1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first wedge is close to the learner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9FFC8-5705-4616-B6FD-262DB4F6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895F3C"/>
                </a:solidFill>
                <a:latin typeface="Lato"/>
                <a:ea typeface="Lato"/>
                <a:cs typeface="Lato"/>
              </a:rPr>
              <a:t>Start with campus communities, prove the learning loop, then widen the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0CF8F-6423-491C-B08D-EF6C999F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24288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16860-3853-460E-AD86-8131A04F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9B62"/>
          </a:solidFill>
          <a:ln xmlns:a="http://schemas.openxmlformats.org/drawingml/2006/main" w="0">
            <a:solidFill>
              <a:srgbClr val="2E9B62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OBSERVED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35954-7B5C-4845-842D-80DDE158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3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Campus conversations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67FFC-3F9E-4C09-882D-8F6FD64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895F3C"/>
                </a:solidFill>
                <a:latin typeface="Lato"/>
                <a:ea typeface="Lato"/>
                <a:cs typeface="Lato"/>
              </a:rPr>
              <a:t>Students described the support gap.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B48A46-0AC4-447E-B833-A6706E36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8100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85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33940-6158-4D04-AE8C-E9D9A129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62250"/>
            <a:ext cx="24288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BB3D94-1919-4F0B-8428-31687ADF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000375"/>
            <a:ext cx="11906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5BAA"/>
          </a:solidFill>
          <a:ln xmlns:a="http://schemas.openxmlformats.org/drawingml/2006/main" w="0">
            <a:solidFill>
              <a:srgbClr val="6E5BAA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90742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DEMONSTRATED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3E3496-2827-4321-ACED-C95C91F9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476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Working surfaces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872710-1130-4F0E-A7D6-D8BE2402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095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59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895F3C"/>
                </a:solidFill>
                <a:latin typeface="Lato"/>
                <a:ea typeface="Lato"/>
                <a:cs typeface="Lato"/>
              </a:rPr>
              <a:t>Mobile lesson flow and desktop guidance visuals exist.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5F2E7-AF2B-4A46-A0A7-E57CFD7C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100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85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2F624-0011-420E-A801-FD67723E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62250"/>
            <a:ext cx="24288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4F1A6C-4387-482A-BC9F-2AF1F3A7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0375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NEXT TEST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A86321-B428-4156-A886-F4D6EF44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Pilot cohort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FF5D1-6C00-4C93-AF51-DA8F2590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95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895F3C"/>
                </a:solidFill>
                <a:latin typeface="Lato"/>
                <a:ea typeface="Lato"/>
                <a:cs typeface="Lato"/>
              </a:rPr>
              <a:t>Measure task completion, return rate, and confidence.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18D767-B011-4AAF-A758-CB603100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3810000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85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EE6436-1676-410F-93E5-EB15E94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762250"/>
            <a:ext cx="242887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DCFA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83C8D0-972A-4C63-919C-A3FBD6C5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000375"/>
            <a:ext cx="9525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95F3C"/>
          </a:solidFill>
          <a:ln xmlns:a="http://schemas.openxmlformats.org/drawingml/2006/main" w="0">
            <a:solidFill>
              <a:srgbClr val="895F3C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NEXT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74913-16A8-4526-813C-2B9A6D73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4766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Partners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F5EC5-5B16-4D1D-BDE1-47EB87F2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4095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200">
                <a:solidFill>
                  <a:srgbClr val="895F3C"/>
                </a:solidFill>
                <a:latin typeface="Lato"/>
                <a:ea typeface="Lato"/>
                <a:cs typeface="Lato"/>
              </a:rPr>
              <a:t>Recruit one creator and one training institution.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92F944-F67C-483F-9227-76F6F095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09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next proof point is not reach. It is whether a learner returns because the next step felt doable.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35D731-D477-47AE-8D31-BC26F271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7D5C42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7D5C42"/>
                </a:solidFill>
                <a:latin typeface="Lato"/>
                <a:ea typeface="Lato"/>
                <a:cs typeface="Lato"/>
              </a:rPr>
              <a:t>Go-to-market sequence · observed → demonstrated → next test</a:t>
            </a:r>
          </a:p>
        </p:txBody>
      </p:sp>
    </p:spTree>
    <p:extLst>
      <p:ext uri="{BB962C8B-B14F-4D97-AF65-F5344CB8AC3E}">
        <p14:creationId xmlns:p14="http://schemas.microsoft.com/office/powerpoint/2010/main" val="6982860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B10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B0029-06BC-45C0-A0CC-A9877BD9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E8C44-239B-48F5-81CD-0E2E0599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TEAM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2C2F6-F70A-4FD9-9BA8-1319C8C7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1DB29F-C8E8-4CA3-BE16-9795EDC9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CB897-1351-4F88-A847-F6C9BAF8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857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5"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A small team already built the core surfaces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CEA08-AAE9-4D51-97D1-AD27D4D9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E3CDBB"/>
                </a:solidFill>
                <a:latin typeface="Lato"/>
                <a:ea typeface="Lato"/>
                <a:cs typeface="Lato"/>
              </a:defRPr>
            </a:pPr>
            <a:r>
              <a:rPr sz="1650">
                <a:solidFill>
                  <a:srgbClr val="E3CDBB"/>
                </a:solidFill>
                <a:latin typeface="Lato"/>
                <a:ea typeface="Lato"/>
                <a:cs typeface="Lato"/>
              </a:rPr>
              <a:t>The product is split across the places where the learner meets Bataa.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A5F27-C149-421F-B232-23552005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286125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EF3F9-5124-4A57-B63D-8FEEC455A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EED5E6-0EB6-4B08-BB12-C673452E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Abdelrahman Mohsen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C5C48-3F9E-432F-8EAB-39779B6C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381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FF8500"/>
                </a:solidFill>
                <a:latin typeface="Lato"/>
                <a:ea typeface="Lato"/>
                <a:cs typeface="Lato"/>
              </a:rPr>
              <a:t>DESKTOP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673AB-7E8C-434C-8C3C-3A3B3071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Builds the guided workspace where the AI can meet the learner inside real software.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321392-7C9D-4EC0-8716-088A45DD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14625"/>
            <a:ext cx="3286125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ED2E70-9789-4349-B693-12F5A2D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5BAA"/>
          </a:solidFill>
          <a:ln xmlns:a="http://schemas.openxmlformats.org/drawingml/2006/main" w="0">
            <a:solidFill>
              <a:srgbClr val="6E5BAA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B06A4-52C8-47FD-B8AD-5E65841F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Yousef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C1986E-8201-4636-9E67-3132A519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81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E5BAA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6E5BAA"/>
                </a:solidFill>
                <a:latin typeface="Lato"/>
                <a:ea typeface="Lato"/>
                <a:cs typeface="Lato"/>
              </a:rPr>
              <a:t>MOBILE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C2A96E-6CD3-42C7-9606-20723B8D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Builds the daily lesson loop for small, approachable practice sessions.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0D5C06-18B9-4124-B7FC-C2A10067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14625"/>
            <a:ext cx="3286125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2B1910"/>
          </a:solidFill>
          <a:ln xmlns:a="http://schemas.openxmlformats.org/drawingml/2006/main" w="9525">
            <a:solidFill>
              <a:srgbClr val="5D3B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03D1A0-E8CE-490A-B9C1-8D0712D0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003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B62"/>
          </a:solidFill>
          <a:ln xmlns:a="http://schemas.openxmlformats.org/drawingml/2006/main" w="0">
            <a:solidFill>
              <a:srgbClr val="2E9B62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4E72F5-5EFA-4331-B924-AA82943F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28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Mostafa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70E20-95A8-4D94-8C0D-E501A98F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813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E9B62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2E9B62"/>
                </a:solidFill>
                <a:latin typeface="Lato"/>
                <a:ea typeface="Lato"/>
                <a:cs typeface="Lato"/>
              </a:rPr>
              <a:t>LANDING PAGE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1B9AAF-04A0-4520-8456-99F3F823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00500"/>
            <a:ext cx="2724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275">
                <a:solidFill>
                  <a:srgbClr val="D8BBA4"/>
                </a:solidFill>
                <a:latin typeface="Lato"/>
                <a:ea typeface="Lato"/>
                <a:cs typeface="Lato"/>
              </a:rPr>
              <a:t>Shapes the public story, visual identity, and first touchpoint for Bataa.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961DF-0288-428E-B9B9-5A95CCE3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47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500"/>
          </a:solidFill>
          <a:ln xmlns:a="http://schemas.openxmlformats.org/drawingml/2006/main" w="0">
            <a:solidFill>
              <a:srgbClr val="FF8500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9699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TEAM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311DB-4CE1-41D6-BBC1-64923ED2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7531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D8BBA4"/>
                </a:solidFill>
                <a:latin typeface="Lato"/>
                <a:ea typeface="Lato"/>
                <a:cs typeface="Lato"/>
              </a:defRPr>
            </a:pPr>
            <a:r>
              <a:rPr sz="1125">
                <a:solidFill>
                  <a:srgbClr val="D8BBA4"/>
                </a:solidFill>
                <a:latin typeface="Lato"/>
                <a:ea typeface="Lato"/>
                <a:cs typeface="Lato"/>
              </a:rPr>
              <a:t>Each role maps to a working surface already visible in the product.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9D5DF-4A6D-473C-8CA6-5DF68A41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Team roles · supplied in the Bataa brief</a:t>
            </a:r>
          </a:p>
        </p:txBody>
      </p:sp>
    </p:spTree>
    <p:extLst>
      <p:ext uri="{BB962C8B-B14F-4D97-AF65-F5344CB8AC3E}">
        <p14:creationId xmlns:p14="http://schemas.microsoft.com/office/powerpoint/2010/main" val="17172714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85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9FD1AD-B0D5-4711-830E-CF26B1B67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8500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FF8500"/>
                </a:solidFill>
                <a:latin typeface="Lato"/>
                <a:ea typeface="Lato"/>
                <a:cs typeface="Lato"/>
              </a:rPr>
              <a:t>bataa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A7EE4-AA46-412C-BC2F-14E99261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43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D7BDA9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D7BDA9"/>
                </a:solidFill>
                <a:latin typeface="Lato"/>
                <a:ea typeface="Lato"/>
                <a:cs typeface="Lato"/>
              </a:rPr>
              <a:t>NEXT MILESTONE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A65C8-97E5-4973-8433-AA87ADB0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95275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1050" b="1">
                <a:solidFill>
                  <a:srgbClr val="FFF6E9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FA719-7683-4DC7-90C2-9EE1D2CE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3B2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A2069C-C4E3-4F5E-A588-CA4628C8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108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42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The next milestone is a real pilot.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2DD0D9-984B-4D55-A3F2-59875ABE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76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725">
                <a:solidFill>
                  <a:srgbClr val="2D180B"/>
                </a:solidFill>
                <a:latin typeface="Lato"/>
                <a:ea typeface="Lato"/>
                <a:cs typeface="Lato"/>
              </a:rPr>
              <a:t>Prove that one doable action can become a habit and a finished skill.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543046-1241-4120-B0A9-9F5BC889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572250" cy="2238375"/>
          </a:xfrm>
          <a:prstGeom xmlns:a="http://schemas.openxmlformats.org/drawingml/2006/main" prst="roundRect">
            <a:avLst>
              <a:gd name="adj" fmla="val 10213"/>
            </a:avLst>
          </a:prstGeom>
          <a:solidFill xmlns:a="http://schemas.openxmlformats.org/drawingml/2006/main">
            <a:srgbClr val="F78A17"/>
          </a:solidFill>
          <a:ln xmlns:a="http://schemas.openxmlformats.org/drawingml/2006/main" w="9525">
            <a:solidFill>
              <a:srgbClr val="FFB5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898B4-72E5-4A73-87C5-CED8FB007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14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CABBAE-27C2-431E-ACCB-1E1D806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242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Beginner mobile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27F9D-78E9-4F25-A40D-7D9C0A23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337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125">
                <a:solidFill>
                  <a:srgbClr val="2D180B"/>
                </a:solidFill>
                <a:latin typeface="Lato"/>
                <a:ea typeface="Lato"/>
                <a:cs typeface="Lato"/>
              </a:rPr>
              <a:t>Ship the first week of simple daily tasks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E502B-7DA8-45D6-AFA7-C588C587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920AF-A59D-4720-B4E1-41DE4C61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Desktop agent pilot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5B8461-CC19-4DFF-8F8A-CC716B12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9624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603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125">
                <a:solidFill>
                  <a:srgbClr val="2D180B"/>
                </a:solidFill>
                <a:latin typeface="Lato"/>
                <a:ea typeface="Lato"/>
                <a:cs typeface="Lato"/>
              </a:rPr>
              <a:t>Guide one real workflow with safe user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A2372-B34B-4EB3-8293-7959B86B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6E9"/>
          </a:solidFill>
          <a:ln xmlns:a="http://schemas.openxmlformats.org/drawingml/2006/main" w="0">
            <a:solidFill>
              <a:srgbClr val="FFF6E9"/>
            </a:solidFill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45300"/>
                </a:solidFill>
                <a:latin typeface="Lato"/>
                <a:ea typeface="Lato"/>
                <a:cs typeface="Lato"/>
              </a:defRPr>
            </a:pPr>
            <a:r>
              <a:rPr sz="900" b="1">
                <a:solidFill>
                  <a:srgbClr val="C45300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5C576-97D1-4408-B34D-F5803F44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815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Partner pilots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3403D-9B53-4469-8CF9-ADAD7166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5910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1125">
                <a:solidFill>
                  <a:srgbClr val="2D180B"/>
                </a:solidFill>
                <a:latin typeface="Lato"/>
                <a:ea typeface="Lato"/>
                <a:cs typeface="Lato"/>
              </a:rPr>
              <a:t>Test a creator course and an institutional path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ADBDC-6698-45B3-8C2E-647D4F24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3524250" cy="2238375"/>
          </a:xfrm>
          <a:prstGeom xmlns:a="http://schemas.openxmlformats.org/drawingml/2006/main" prst="roundRect">
            <a:avLst>
              <a:gd name="adj" fmla="val 10213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FFF6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B4848F-DDF2-4F3E-8414-D272D780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352800"/>
            <a:ext cx="857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180B"/>
          </a:solidFill>
          <a:ln xmlns:a="http://schemas.openxmlformats.org/drawingml/2006/main" w="0">
            <a:solidFill>
              <a:srgbClr val="2D180B"/>
            </a:solidFill>
            <a:prstDash val="solid"/>
          </a:ln>
        </p:spPr>
        <p:txBody>
          <a:bodyPr xmlns:a="http://schemas.openxmlformats.org/drawingml/2006/main" lIns="95250" tIns="0" rIns="9525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6E9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6E9"/>
                </a:solidFill>
                <a:latin typeface="Lato"/>
                <a:ea typeface="Lato"/>
                <a:cs typeface="Lato"/>
              </a:rPr>
              <a:t>OUR 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479918-F2E4-4E09-BBD7-50BD6E87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57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2D180B"/>
                </a:solidFill>
                <a:latin typeface="Lato"/>
                <a:ea typeface="Lato"/>
                <a:cs typeface="Lato"/>
              </a:rPr>
              <a:t>Pilot partners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640E6-17BE-4C73-8858-368E515A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45770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506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895F3C"/>
                </a:solidFill>
                <a:latin typeface="Lato"/>
                <a:ea typeface="Lato"/>
                <a:cs typeface="Lato"/>
              </a:defRPr>
            </a:pPr>
            <a:r>
              <a:rPr sz="1350">
                <a:solidFill>
                  <a:srgbClr val="895F3C"/>
                </a:solidFill>
                <a:latin typeface="Lato"/>
                <a:ea typeface="Lato"/>
                <a:cs typeface="Lato"/>
              </a:rPr>
              <a:t>One campus, one creator, and one training team willing to measure the loop with 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95B737-067C-4447-839E-4FFEDE3C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180B"/>
                </a:solidFill>
                <a:latin typeface="Lato"/>
                <a:ea typeface="Lato"/>
                <a:cs typeface="Lato"/>
              </a:defRPr>
            </a:pPr>
            <a:r>
              <a:rPr sz="2100" b="1">
                <a:solidFill>
                  <a:srgbClr val="2D180B"/>
                </a:solidFill>
                <a:latin typeface="Lato"/>
                <a:ea typeface="Lato"/>
                <a:cs typeface="Lato"/>
              </a:rPr>
              <a:t>Bataa gives every learner a next step.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13D45-9D73-475C-959F-489B1B50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876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C9A98C"/>
                </a:solidFill>
                <a:latin typeface="Lato"/>
                <a:ea typeface="Lato"/>
                <a:cs typeface="Lato"/>
              </a:defRPr>
            </a:pPr>
            <a:r>
              <a:rPr sz="825">
                <a:solidFill>
                  <a:srgbClr val="C9A98C"/>
                </a:solidFill>
                <a:latin typeface="Lato"/>
                <a:ea typeface="Lato"/>
                <a:cs typeface="Lato"/>
              </a:rPr>
              <a:t>Close with a specific pilot ask · replace with contact details before presenting</a:t>
            </a:r>
          </a:p>
        </p:txBody>
      </p:sp>
    </p:spTree>
    <p:extLst>
      <p:ext uri="{BB962C8B-B14F-4D97-AF65-F5344CB8AC3E}">
        <p14:creationId xmlns:p14="http://schemas.microsoft.com/office/powerpoint/2010/main" val="14799514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2026-09-19T20:02:13.5540000Z</dcterms:created>
  <dcterms:modified xsi:type="dcterms:W3CDTF">2026-09-19T20:02:13.5540000Z</dcterms:modified>
</coreProperties>
</file>