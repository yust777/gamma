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0d959439a9435d" /><Relationship Type="http://schemas.openxmlformats.org/officeDocument/2006/relationships/extended-properties" Target="/docProps/app.xml" Id="R3ea07ea04f904517" /><Relationship Type="http://schemas.openxmlformats.org/officeDocument/2006/relationships/officeDocument" Target="/ppt/presentation.xml" Id="R1f29a13f8e5041b8" /></Relationships>
</file>

<file path=ppt/presentation.xml><?xml version="1.0" encoding="utf-8"?>
<p:presentation xmlns:p="http://schemas.openxmlformats.org/presentationml/2006/main">
  <p:sldMasterIdLst>
    <p:sldMasterId xmlns:r="http://schemas.openxmlformats.org/officeDocument/2006/relationships" id="2147483648" r:id="R638ddf4ab3744a57"/>
  </p:sldMasterIdLst>
  <p:notesMasterIdLst>
    <p:notesMasterId xmlns:r="http://schemas.openxmlformats.org/officeDocument/2006/relationships" r:id="Rbb2f2c807dca46b7"/>
  </p:notesMasterIdLst>
  <p:sldIdLst>
    <p:sldId xmlns:r="http://schemas.openxmlformats.org/officeDocument/2006/relationships" id="256" r:id="Rb6b1061353024bce"/>
    <p:sldId xmlns:r="http://schemas.openxmlformats.org/officeDocument/2006/relationships" id="257" r:id="R2f407a21bbf64f47"/>
    <p:sldId xmlns:r="http://schemas.openxmlformats.org/officeDocument/2006/relationships" id="258" r:id="R7ba8d1fb99454a8c"/>
    <p:sldId xmlns:r="http://schemas.openxmlformats.org/officeDocument/2006/relationships" id="259" r:id="R3e0dac604626437f"/>
    <p:sldId xmlns:r="http://schemas.openxmlformats.org/officeDocument/2006/relationships" id="260" r:id="R0d0d7821d55245bf"/>
    <p:sldId xmlns:r="http://schemas.openxmlformats.org/officeDocument/2006/relationships" id="261" r:id="R87e5ed8d05d54980"/>
    <p:sldId xmlns:r="http://schemas.openxmlformats.org/officeDocument/2006/relationships" id="262" r:id="R801c9d8084334d7d"/>
    <p:sldId xmlns:r="http://schemas.openxmlformats.org/officeDocument/2006/relationships" id="263" r:id="R7a6a6306ca724762"/>
    <p:sldId xmlns:r="http://schemas.openxmlformats.org/officeDocument/2006/relationships" id="264" r:id="Rd3d51d1dc15243bd"/>
    <p:sldId xmlns:r="http://schemas.openxmlformats.org/officeDocument/2006/relationships" id="265" r:id="R724a11bf929a41d6"/>
    <p:sldId xmlns:r="http://schemas.openxmlformats.org/officeDocument/2006/relationships" id="266" r:id="Rd46bad33bb61439f"/>
    <p:sldId xmlns:r="http://schemas.openxmlformats.org/officeDocument/2006/relationships" id="267" r:id="R5599d851e0454410"/>
    <p:sldId xmlns:r="http://schemas.openxmlformats.org/officeDocument/2006/relationships" id="268" r:id="Rb1257877739f4316"/>
    <p:sldId xmlns:r="http://schemas.openxmlformats.org/officeDocument/2006/relationships" id="269" r:id="Re659b3eec43543b8"/>
    <p:sldId xmlns:r="http://schemas.openxmlformats.org/officeDocument/2006/relationships" id="270" r:id="R9076c521fdf44e79"/>
    <p:sldId xmlns:r="http://schemas.openxmlformats.org/officeDocument/2006/relationships" id="271" r:id="R906895845fc740a0"/>
    <p:sldId xmlns:r="http://schemas.openxmlformats.org/officeDocument/2006/relationships" id="272" r:id="R4005735d088e46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253c9bf51a4d89" /><Relationship Type="http://schemas.openxmlformats.org/officeDocument/2006/relationships/slideMaster" Target="/ppt/slideMasters/slideMaster1.xml" Id="R638ddf4ab3744a57" /><Relationship Type="http://schemas.openxmlformats.org/officeDocument/2006/relationships/notesMaster" Target="/ppt/notesMasters/notesMaster1.xml" Id="Rbb2f2c807dca46b7" /><Relationship Type="http://schemas.openxmlformats.org/officeDocument/2006/relationships/presProps" Target="/ppt/presProps.xml" Id="Rcc95a412b04845bb" /><Relationship Type="http://schemas.openxmlformats.org/officeDocument/2006/relationships/tableStyles" Target="/ppt/tableStyles.xml" Id="R853fa499b82d4a35" /><Relationship Type="http://schemas.openxmlformats.org/officeDocument/2006/relationships/slide" Target="/ppt/slides/slide1.xml" Id="Rb6b1061353024bce" /><Relationship Type="http://schemas.openxmlformats.org/officeDocument/2006/relationships/slide" Target="/ppt/slides/slide2.xml" Id="R2f407a21bbf64f47" /><Relationship Type="http://schemas.openxmlformats.org/officeDocument/2006/relationships/slide" Target="/ppt/slides/slide3.xml" Id="R7ba8d1fb99454a8c" /><Relationship Type="http://schemas.openxmlformats.org/officeDocument/2006/relationships/slide" Target="/ppt/slides/slide4.xml" Id="R3e0dac604626437f" /><Relationship Type="http://schemas.openxmlformats.org/officeDocument/2006/relationships/slide" Target="/ppt/slides/slide5.xml" Id="R0d0d7821d55245bf" /><Relationship Type="http://schemas.openxmlformats.org/officeDocument/2006/relationships/slide" Target="/ppt/slides/slide6.xml" Id="R87e5ed8d05d54980" /><Relationship Type="http://schemas.openxmlformats.org/officeDocument/2006/relationships/slide" Target="/ppt/slides/slide7.xml" Id="R801c9d8084334d7d" /><Relationship Type="http://schemas.openxmlformats.org/officeDocument/2006/relationships/slide" Target="/ppt/slides/slide8.xml" Id="R7a6a6306ca724762" /><Relationship Type="http://schemas.openxmlformats.org/officeDocument/2006/relationships/slide" Target="/ppt/slides/slide9.xml" Id="Rd3d51d1dc15243bd" /><Relationship Type="http://schemas.openxmlformats.org/officeDocument/2006/relationships/slide" Target="/ppt/slides/slide10.xml" Id="R724a11bf929a41d6" /><Relationship Type="http://schemas.openxmlformats.org/officeDocument/2006/relationships/slide" Target="/ppt/slides/slide11.xml" Id="Rd46bad33bb61439f" /><Relationship Type="http://schemas.openxmlformats.org/officeDocument/2006/relationships/slide" Target="/ppt/slides/slide12.xml" Id="R5599d851e0454410" /><Relationship Type="http://schemas.openxmlformats.org/officeDocument/2006/relationships/slide" Target="/ppt/slides/slide13.xml" Id="Rb1257877739f4316" /><Relationship Type="http://schemas.openxmlformats.org/officeDocument/2006/relationships/slide" Target="/ppt/slides/slide14.xml" Id="Re659b3eec43543b8" /><Relationship Type="http://schemas.openxmlformats.org/officeDocument/2006/relationships/slide" Target="/ppt/slides/slide15.xml" Id="R9076c521fdf44e79" /><Relationship Type="http://schemas.openxmlformats.org/officeDocument/2006/relationships/slide" Target="/ppt/slides/slide16.xml" Id="R906895845fc740a0" /><Relationship Type="http://schemas.openxmlformats.org/officeDocument/2006/relationships/slide" Target="/ppt/slides/slide17.xml" Id="R4005735d088e46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e7fa4b90a74e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677136db6443c5" /><Relationship Type="http://schemas.openxmlformats.org/officeDocument/2006/relationships/notesMaster" Target="/ppt/notesMasters/notesMaster1.xml" Id="R24ab6b56f11949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ea7fbaa9724b9d" /><Relationship Type="http://schemas.openxmlformats.org/officeDocument/2006/relationships/notesMaster" Target="/ppt/notesMasters/notesMaster1.xml" Id="R54a037616a0849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b0ca4e6b434be8" /><Relationship Type="http://schemas.openxmlformats.org/officeDocument/2006/relationships/notesMaster" Target="/ppt/notesMasters/notesMaster1.xml" Id="R65e27b44d51b41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4dcd0f70cf4221" /><Relationship Type="http://schemas.openxmlformats.org/officeDocument/2006/relationships/notesMaster" Target="/ppt/notesMasters/notesMaster1.xml" Id="R6199484e89fd48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7da74195e14dd3" /><Relationship Type="http://schemas.openxmlformats.org/officeDocument/2006/relationships/notesMaster" Target="/ppt/notesMasters/notesMaster1.xml" Id="Ra1f43e5e0f8b46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dfa74e98534243" /><Relationship Type="http://schemas.openxmlformats.org/officeDocument/2006/relationships/notesMaster" Target="/ppt/notesMasters/notesMaster1.xml" Id="Rd904108f7d7445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802db365314624" /><Relationship Type="http://schemas.openxmlformats.org/officeDocument/2006/relationships/notesMaster" Target="/ppt/notesMasters/notesMaster1.xml" Id="R5c91c8ae20d74a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af38420c4c45d2" /><Relationship Type="http://schemas.openxmlformats.org/officeDocument/2006/relationships/notesMaster" Target="/ppt/notesMasters/notesMaster1.xml" Id="R601e54d157af4a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69a61ebc764a48" /><Relationship Type="http://schemas.openxmlformats.org/officeDocument/2006/relationships/notesMaster" Target="/ppt/notesMasters/notesMaster1.xml" Id="Rea063e1a8a9646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86880dc779418b" /><Relationship Type="http://schemas.openxmlformats.org/officeDocument/2006/relationships/notesMaster" Target="/ppt/notesMasters/notesMaster1.xml" Id="Rab706645297241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9a0b6e342414206" /><Relationship Type="http://schemas.openxmlformats.org/officeDocument/2006/relationships/notesMaster" Target="/ppt/notesMasters/notesMaster1.xml" Id="Rf41a4f7e35394d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99a633d1a6a433d" /><Relationship Type="http://schemas.openxmlformats.org/officeDocument/2006/relationships/notesMaster" Target="/ppt/notesMasters/notesMaster1.xml" Id="Rb9d03fbe81c24f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e0c69360d14e3a" /><Relationship Type="http://schemas.openxmlformats.org/officeDocument/2006/relationships/notesMaster" Target="/ppt/notesMasters/notesMaster1.xml" Id="Rf2bd96eb8ef14c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f3a97a6cfa470e" /><Relationship Type="http://schemas.openxmlformats.org/officeDocument/2006/relationships/notesMaster" Target="/ppt/notesMasters/notesMaster1.xml" Id="Rbf973c3c740e48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cee5bfacd894d06" /><Relationship Type="http://schemas.openxmlformats.org/officeDocument/2006/relationships/notesMaster" Target="/ppt/notesMasters/notesMaster1.xml" Id="R21ebf28c6ee2464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e64aeaf7c245e7" /><Relationship Type="http://schemas.openxmlformats.org/officeDocument/2006/relationships/notesMaster" Target="/ppt/notesMasters/notesMaster1.xml" Id="Rc3c10223ff22493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5d8fcded65d4ead" /><Relationship Type="http://schemas.openxmlformats.org/officeDocument/2006/relationships/notesMaster" Target="/ppt/notesMasters/notesMaster1.xml" Id="R76353ef2d3f244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People do not fail because content is unavailable. They stall at the moment they need to act. Bataa keeps the next action close. Visual source: public/hero.webp from the Bataa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Framing based on the user-provided problem statement. The quoted sentence is a synthesized articulation, not a verbatim interview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label: OBSERVED. Source: user-provided description of early qualitative conversations at Horus University. The large sentence is a paraphrased student signal, not a verbatim quote. Do not add a participant count until the team verifies it. The three moments are synthesized themes: instructor availability, anxiety about asking basic questions, and price or crowding in existing course options.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Narrative bridge: Bataa is not another content library. It is the guidance layer between intention and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sources: Bataa mobile capture from the running app (lesson-1.png) and public/guided-project-ai.webp. The desktop agent interaction should be demonstrated live or with a short clip when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sources: running Bataa app captures from the project. The “no typing needed” design is demonstrated in the first lesson step, which offers three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sources: public/ai-assisted-coding.webp and public/guided-project-ai.webp. Evidence status: DEMONSTRATED for the guidance concept. State clearly that autonomous cursor control and broad software coverage remain pilot scope unless already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journey for explaining the product loop. Do not present the day-30 outcome as a measured result until a real course and pilot validate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Visual source: running Bataa app capture lesson-step-1.png. This design directly addresses beginner anxiety and keyboard friction from the user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hypothesis: Bataa reduces the gap between doing and knowing by making feedback actionable. Validate in pilot with retry-after-feedback, time-to-first-success, explanation recall, task completion, hint use, and return rate. The diagram is not a measured funnel.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qualitative positioning hypothesis based on the user-provided competitor list. Verify the exact local platform names and current features before presenting. Do not claim that competitors do not use AI without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model is based on the user-provided brief. Course purchases are the launch priority; token packs and platform fees are expansion paths unless already implemented and tested commercially.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reflects planned expansion from the user-provided business model: institution and creator courses with commission, plus an API/base URL offering. Label as planned until commercially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ladder: OBSERVED = campus conversations; DEMONSTRATED = existing product surfaces; NEXT TEST = pilot metrics and partner recruitment. Do not claim retention or conversion before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names and roles are taken from the user-provided brief. Add concrete proof points, links, or advisor details if available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ask for pilot partners, not a generic “thank you.” Replace the ask and roadmap with dates, owners, and contact details when 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Website: bataa.app, supplied by the user. Social platforms requested by the user: TikTok, Instagram, Facebook, and LinkedIn. Account handles and profile URLs were not provided, so this slide labels each account as “Bataa” without inventing links. Verify and add the live handles before publishing. Logo sources: Simple Icons via jsDelivr (TikTok, Instagram, and Facebook from Simple Icons 14.15; LinkedIn from Simple Icons 13.0).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811604208c43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be061d28de4af6" /><Relationship Type="http://schemas.openxmlformats.org/officeDocument/2006/relationships/slideLayout" Target="/ppt/slideLayouts/slideLayout1.xml" Id="R9ef200906dd24d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f200906dd24d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2ee94aa07a4d3b" /><Relationship Type="http://schemas.openxmlformats.org/officeDocument/2006/relationships/image" Target="/ppt/media/image.png" Id="R83ba9d5b49d149a9" /><Relationship Type="http://schemas.openxmlformats.org/officeDocument/2006/relationships/notesSlide" Target="/ppt/notesSlides/notesSlide1.xml" Id="R9df87c6c03854b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03890bf4e44cc4" /><Relationship Type="http://schemas.openxmlformats.org/officeDocument/2006/relationships/image" Target="/ppt/media/image2.png" Id="R64ca06091d004049" /><Relationship Type="http://schemas.openxmlformats.org/officeDocument/2006/relationships/notesSlide" Target="/ppt/notesSlides/notesSlide2.xml" Id="Rb24530d679c74b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c6d3eae0eb4b83" /><Relationship Type="http://schemas.openxmlformats.org/officeDocument/2006/relationships/notesSlide" Target="/ppt/notesSlides/notesSlide3.xml" Id="Rc4463b4748034c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7f0e13fb3b4746" /><Relationship Type="http://schemas.openxmlformats.org/officeDocument/2006/relationships/notesSlide" Target="/ppt/notesSlides/notesSlide4.xml" Id="R3b4076990c474d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7b6e9926dc422f" /><Relationship Type="http://schemas.openxmlformats.org/officeDocument/2006/relationships/image" Target="/ppt/media/image3.png" Id="Rb956fd94fd7841a0" /><Relationship Type="http://schemas.openxmlformats.org/officeDocument/2006/relationships/image" Target="/ppt/media/image4.png" Id="R99a06fb685084bf2" /><Relationship Type="http://schemas.openxmlformats.org/officeDocument/2006/relationships/notesSlide" Target="/ppt/notesSlides/notesSlide5.xml" Id="Rd9425c21594e4b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ee1415fc06463b" /><Relationship Type="http://schemas.openxmlformats.org/officeDocument/2006/relationships/image" Target="/ppt/media/image5.png" Id="R6363134f7d4048e5" /><Relationship Type="http://schemas.openxmlformats.org/officeDocument/2006/relationships/image" Target="/ppt/media/image6.png" Id="Rf317d675d6444eec" /><Relationship Type="http://schemas.openxmlformats.org/officeDocument/2006/relationships/notesSlide" Target="/ppt/notesSlides/notesSlide6.xml" Id="R05a85ed01ed74e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04e270b5bd24f12" /><Relationship Type="http://schemas.openxmlformats.org/officeDocument/2006/relationships/image" Target="/ppt/media/image7.png" Id="R734bf0024fbb4050" /><Relationship Type="http://schemas.openxmlformats.org/officeDocument/2006/relationships/notesSlide" Target="/ppt/notesSlides/notesSlide7.xml" Id="Rc376cc2d4f694d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39487404f84487" /><Relationship Type="http://schemas.openxmlformats.org/officeDocument/2006/relationships/notesSlide" Target="/ppt/notesSlides/notesSlide8.xml" Id="R438d7033bc3740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607e0a49cf34002" /><Relationship Type="http://schemas.openxmlformats.org/officeDocument/2006/relationships/image" Target="/ppt/media/image8.png" Id="Rf65491bd6d7e4768" /><Relationship Type="http://schemas.openxmlformats.org/officeDocument/2006/relationships/notesSlide" Target="/ppt/notesSlides/notesSlide9.xml" Id="Re0463c60f37941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e6156a188f64c3f" /><Relationship Type="http://schemas.openxmlformats.org/officeDocument/2006/relationships/notesSlide" Target="/ppt/notesSlides/notesSlide10.xml" Id="Re2ee3687c8494b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a7a04210c1a412e" /><Relationship Type="http://schemas.openxmlformats.org/officeDocument/2006/relationships/notesSlide" Target="/ppt/notesSlides/notesSlide11.xml" Id="Rf5637a338c5048e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bf62a97ddd24a66" /><Relationship Type="http://schemas.openxmlformats.org/officeDocument/2006/relationships/notesSlide" Target="/ppt/notesSlides/notesSlide12.xml" Id="R7d20adde68ca45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f596cd68d734910" /><Relationship Type="http://schemas.openxmlformats.org/officeDocument/2006/relationships/notesSlide" Target="/ppt/notesSlides/notesSlide13.xml" Id="R638f3aa5e66840b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de3bcac2ad34c7e" /><Relationship Type="http://schemas.openxmlformats.org/officeDocument/2006/relationships/notesSlide" Target="/ppt/notesSlides/notesSlide14.xml" Id="R119885156ce245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f43d1bb1f654050" /><Relationship Type="http://schemas.openxmlformats.org/officeDocument/2006/relationships/notesSlide" Target="/ppt/notesSlides/notesSlide15.xml" Id="R0f3457754204407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67d9b95f4fb4dca" /><Relationship Type="http://schemas.openxmlformats.org/officeDocument/2006/relationships/notesSlide" Target="/ppt/notesSlides/notesSlide16.xml" Id="R1368cd85a15845e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6436562098f4cb6" /><Relationship Type="http://schemas.openxmlformats.org/officeDocument/2006/relationships/image" Target="/ppt/media/image9.png" Id="R2b73fab2829847b9" /><Relationship Type="http://schemas.openxmlformats.org/officeDocument/2006/relationships/image" Target="/ppt/media/image10.png" Id="Rda8da31b0c4243e3" /><Relationship Type="http://schemas.openxmlformats.org/officeDocument/2006/relationships/image" Target="/ppt/media/image11.png" Id="R00e526c1f5bb43e5" /><Relationship Type="http://schemas.openxmlformats.org/officeDocument/2006/relationships/image" Target="/ppt/media/image12.png" Id="R1bf3ed10b05d4ebc" /><Relationship Type="http://schemas.openxmlformats.org/officeDocument/2006/relationships/notesSlide" Target="/ppt/notesSlides/notesSlide17.xml" Id="Rbdb6a3af6098453b" /></Relationships>
</file>

<file path=ppt/slides/slide1.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D2BFEE-9517-41C2-B455-A9B7EB20B8D6}"/>
              </a:ext>
            </a:extLst>
          </p:cNvPr>
          <p:cNvSpPr>
            <a:spLocks xmlns:a="http://schemas.openxmlformats.org/drawingml/2006/main" noGrp="1"/>
          </p:cNvSpPr>
          <p:nvPr/>
        </p:nvSpPr>
        <p:spPr>
          <a:xfrm xmlns:a="http://schemas.openxmlformats.org/drawingml/2006/main">
            <a:off x="609600" y="3619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F8500"/>
                </a:solidFill>
                <a:latin typeface="Lato"/>
                <a:ea typeface="Lato"/>
                <a:cs typeface="Lato"/>
              </a:defRPr>
            </a:pPr>
            <a:r>
              <a:rPr sz="23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DB5284C4-634A-4DCE-9B3A-6F038FCAE560}"/>
              </a:ext>
            </a:extLst>
          </p:cNvPr>
          <p:cNvSpPr>
            <a:spLocks xmlns:a="http://schemas.openxmlformats.org/drawingml/2006/main" noGrp="1"/>
          </p:cNvSpPr>
          <p:nvPr/>
        </p:nvSpPr>
        <p:spPr>
          <a:xfrm xmlns:a="http://schemas.openxmlformats.org/drawingml/2006/main">
            <a:off x="609600" y="1143000"/>
            <a:ext cx="1428750" cy="304800"/>
          </a:xfrm>
          <a:prstGeom xmlns:a="http://schemas.openxmlformats.org/drawingml/2006/main" prst="roundRect">
            <a:avLst>
              <a:gd name="adj" fmla="val 50000"/>
            </a:avLst>
          </a:prstGeom>
          <a:solidFill xmlns:a="http://schemas.openxmlformats.org/drawingml/2006/main">
            <a:srgbClr val="FFD5A3"/>
          </a:solidFill>
          <a:ln xmlns:a="http://schemas.openxmlformats.org/drawingml/2006/main" w="0">
            <a:solidFill>
              <a:srgbClr val="FFD5A3"/>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PRODUCT STORY</a:t>
            </a:r>
          </a:p>
        </p:txBody>
      </p:sp>
      <p:sp>
        <p:nvSpPr>
          <p:cNvPr id="3" name="">
            <a:extLst xmlns:a="http://schemas.openxmlformats.org/drawingml/2006/main">
              <a:ext uri="{FF2B5EF4-FFF2-40B4-BE49-F238E27FC236}">
                <a16:creationId xmlns:a16="http://schemas.microsoft.com/office/drawing/2014/main" id="{47FC4FFC-A12F-46F0-A329-CBDA8C712B81}"/>
              </a:ext>
            </a:extLst>
          </p:cNvPr>
          <p:cNvSpPr>
            <a:spLocks xmlns:a="http://schemas.openxmlformats.org/drawingml/2006/main" noGrp="1"/>
          </p:cNvSpPr>
          <p:nvPr/>
        </p:nvSpPr>
        <p:spPr>
          <a:xfrm xmlns:a="http://schemas.openxmlformats.org/drawingml/2006/main">
            <a:off x="609600" y="1733550"/>
            <a:ext cx="609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4950" b="1">
                <a:solidFill>
                  <a:srgbClr val="2D180B"/>
                </a:solidFill>
                <a:latin typeface="Lato"/>
                <a:ea typeface="Lato"/>
                <a:cs typeface="Lato"/>
              </a:defRPr>
            </a:pPr>
            <a:r>
              <a:rPr sz="4950" b="1">
                <a:solidFill>
                  <a:srgbClr val="2D180B"/>
                </a:solidFill>
                <a:latin typeface="Lato"/>
                <a:ea typeface="Lato"/>
                <a:cs typeface="Lato"/>
              </a:rPr>
              <a:t>Learn by doing.</a:t>
            </a:r>
          </a:p>
        </p:txBody>
      </p:sp>
      <p:sp>
        <p:nvSpPr>
          <p:cNvPr id="4" name="">
            <a:extLst xmlns:a="http://schemas.openxmlformats.org/drawingml/2006/main">
              <a:ext uri="{FF2B5EF4-FFF2-40B4-BE49-F238E27FC236}">
                <a16:creationId xmlns:a16="http://schemas.microsoft.com/office/drawing/2014/main" id="{621D9DC7-F800-42EF-964C-92704BC7DE6D}"/>
              </a:ext>
            </a:extLst>
          </p:cNvPr>
          <p:cNvSpPr>
            <a:spLocks xmlns:a="http://schemas.openxmlformats.org/drawingml/2006/main" noGrp="1"/>
          </p:cNvSpPr>
          <p:nvPr/>
        </p:nvSpPr>
        <p:spPr>
          <a:xfrm xmlns:a="http://schemas.openxmlformats.org/drawingml/2006/main">
            <a:off x="666750" y="278130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a:solidFill>
                  <a:srgbClr val="895F3C"/>
                </a:solidFill>
                <a:latin typeface="Lato"/>
                <a:ea typeface="Lato"/>
                <a:cs typeface="Lato"/>
              </a:defRPr>
            </a:pPr>
            <a:r>
              <a:rPr sz="1875">
                <a:solidFill>
                  <a:srgbClr val="895F3C"/>
                </a:solidFill>
                <a:latin typeface="Lato"/>
                <a:ea typeface="Lato"/>
                <a:cs typeface="Lato"/>
              </a:rPr>
              <a:t>A learning companion that gives people one doable next step, wherever they are.</a:t>
            </a:r>
          </a:p>
        </p:txBody>
      </p:sp>
      <p:sp>
        <p:nvSpPr>
          <p:cNvPr id="5" name="">
            <a:extLst xmlns:a="http://schemas.openxmlformats.org/drawingml/2006/main">
              <a:ext uri="{FF2B5EF4-FFF2-40B4-BE49-F238E27FC236}">
                <a16:creationId xmlns:a16="http://schemas.microsoft.com/office/drawing/2014/main" id="{5818C030-11E9-4CAC-998A-A6D231D15822}"/>
              </a:ext>
            </a:extLst>
          </p:cNvPr>
          <p:cNvSpPr>
            <a:spLocks xmlns:a="http://schemas.openxmlformats.org/drawingml/2006/main" noGrp="1"/>
          </p:cNvSpPr>
          <p:nvPr/>
        </p:nvSpPr>
        <p:spPr>
          <a:xfrm xmlns:a="http://schemas.openxmlformats.org/drawingml/2006/main">
            <a:off x="666750" y="3905250"/>
            <a:ext cx="561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b="1">
                <a:solidFill>
                  <a:srgbClr val="C45300"/>
                </a:solidFill>
                <a:latin typeface="Lato"/>
                <a:ea typeface="Lato"/>
                <a:cs typeface="Lato"/>
              </a:defRPr>
            </a:pPr>
            <a:r>
              <a:rPr sz="1125" b="1">
                <a:solidFill>
                  <a:srgbClr val="C45300"/>
                </a:solidFill>
                <a:latin typeface="Lato"/>
                <a:ea typeface="Lato"/>
                <a:cs typeface="Lato"/>
              </a:rPr>
              <a:t>Mobile practice  ·  Desktop guidance  ·  AI when the question appears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3ba9d5b49d149a9"/>
          <a:stretch xmlns:a="http://schemas.openxmlformats.org/drawingml/2006/main"/>
        </p:blipFill>
        <p:spPr>
          <a:xfrm xmlns:a="http://schemas.openxmlformats.org/drawingml/2006/main">
            <a:off x="6191250" y="1356360"/>
            <a:ext cx="5334000" cy="384048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B9ECEEB-6971-4616-A7E3-A6F0D526E8D7}"/>
              </a:ext>
            </a:extLst>
          </p:cNvPr>
          <p:cNvSpPr>
            <a:spLocks xmlns:a="http://schemas.openxmlformats.org/drawingml/2006/main" noGrp="1"/>
          </p:cNvSpPr>
          <p:nvPr/>
        </p:nvSpPr>
        <p:spPr>
          <a:xfrm xmlns:a="http://schemas.openxmlformats.org/drawingml/2006/main">
            <a:off x="609600" y="63817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a:solidFill>
                  <a:srgbClr val="7D5C42"/>
                </a:solidFill>
                <a:latin typeface="Lato"/>
                <a:ea typeface="Lato"/>
                <a:cs typeface="Lato"/>
              </a:defRPr>
            </a:pPr>
            <a:r>
              <a:rPr sz="900">
                <a:solidFill>
                  <a:srgbClr val="7D5C42"/>
                </a:solidFill>
                <a:latin typeface="Lato"/>
                <a:ea typeface="Lato"/>
                <a:cs typeface="Lato"/>
              </a:rPr>
              <a:t>Pitch deck  |  September 2026</a:t>
            </a:r>
          </a:p>
        </p:txBody>
      </p:sp>
    </p:spTree>
    <p:extLst>
      <p:ext uri="{BB962C8B-B14F-4D97-AF65-F5344CB8AC3E}">
        <p14:creationId xmlns:p14="http://schemas.microsoft.com/office/powerpoint/2010/main" val="1736855425"/>
      </p:ext>
    </p:extLst>
  </p:cSld>
</p:sld>
</file>

<file path=ppt/slides/slide2.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1A40620-9224-4825-86AF-13C4B81257DF}"/>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8785AB5F-8231-451E-B533-726923655108}"/>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THE GAP</a:t>
            </a:r>
          </a:p>
        </p:txBody>
      </p:sp>
      <p:sp>
        <p:nvSpPr>
          <p:cNvPr id="3" name="">
            <a:extLst xmlns:a="http://schemas.openxmlformats.org/drawingml/2006/main">
              <a:ext uri="{FF2B5EF4-FFF2-40B4-BE49-F238E27FC236}">
                <a16:creationId xmlns:a16="http://schemas.microsoft.com/office/drawing/2014/main" id="{F27159FD-D0B4-43B8-9567-AEA9794B57EE}"/>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02</a:t>
            </a:r>
          </a:p>
        </p:txBody>
      </p:sp>
      <p:sp>
        <p:nvSpPr>
          <p:cNvPr id="4" name="">
            <a:extLst xmlns:a="http://schemas.openxmlformats.org/drawingml/2006/main">
              <a:ext uri="{FF2B5EF4-FFF2-40B4-BE49-F238E27FC236}">
                <a16:creationId xmlns:a16="http://schemas.microsoft.com/office/drawing/2014/main" id="{14F2BEC8-8164-4997-A3F1-647164BB7972}"/>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149C896A-9486-4651-88C6-8A397C9E0EB3}"/>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8333"/>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Learning support disappears when the learner is ready to act</a:t>
            </a:r>
          </a:p>
        </p:txBody>
      </p:sp>
      <p:sp>
        <p:nvSpPr>
          <p:cNvPr id="6" name="">
            <a:extLst xmlns:a="http://schemas.openxmlformats.org/drawingml/2006/main">
              <a:ext uri="{FF2B5EF4-FFF2-40B4-BE49-F238E27FC236}">
                <a16:creationId xmlns:a16="http://schemas.microsoft.com/office/drawing/2014/main" id="{C1FD8307-3F02-4C51-BB90-3B51393F472A}"/>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The hardest moment often comes after the video ends.</a:t>
            </a:r>
          </a:p>
        </p:txBody>
      </p:sp>
      <p:sp>
        <p:nvSpPr>
          <p:cNvPr id="7" name="">
            <a:extLst xmlns:a="http://schemas.openxmlformats.org/drawingml/2006/main">
              <a:ext uri="{FF2B5EF4-FFF2-40B4-BE49-F238E27FC236}">
                <a16:creationId xmlns:a16="http://schemas.microsoft.com/office/drawing/2014/main" id="{8B2E49D6-A58F-4726-B40C-454028E59A9D}"/>
              </a:ext>
            </a:extLst>
          </p:cNvPr>
          <p:cNvSpPr>
            <a:spLocks xmlns:a="http://schemas.openxmlformats.org/drawingml/2006/main" noGrp="1"/>
          </p:cNvSpPr>
          <p:nvPr/>
        </p:nvSpPr>
        <p:spPr>
          <a:xfrm xmlns:a="http://schemas.openxmlformats.org/drawingml/2006/main">
            <a:off x="647700" y="2667000"/>
            <a:ext cx="5715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FD5A3"/>
                </a:solidFill>
                <a:latin typeface="Lato"/>
                <a:ea typeface="Lato"/>
                <a:cs typeface="Lato"/>
              </a:defRPr>
            </a:pPr>
            <a:r>
              <a:rPr sz="2625" b="1">
                <a:solidFill>
                  <a:srgbClr val="FFD5A3"/>
                </a:solidFill>
                <a:latin typeface="Lato"/>
                <a:ea typeface="Lato"/>
                <a:cs typeface="Lato"/>
              </a:rPr>
              <a:t>“I know what I want to learn. I just do not know what to click next.”</a:t>
            </a:r>
          </a:p>
        </p:txBody>
      </p:sp>
      <p:sp>
        <p:nvSpPr>
          <p:cNvPr id="8" name="">
            <a:extLst xmlns:a="http://schemas.openxmlformats.org/drawingml/2006/main">
              <a:ext uri="{FF2B5EF4-FFF2-40B4-BE49-F238E27FC236}">
                <a16:creationId xmlns:a16="http://schemas.microsoft.com/office/drawing/2014/main" id="{B30B376C-3D92-43C3-A9AB-69EA84C0DFDB}"/>
              </a:ext>
            </a:extLst>
          </p:cNvPr>
          <p:cNvSpPr>
            <a:spLocks xmlns:a="http://schemas.openxmlformats.org/drawingml/2006/main" noGrp="1"/>
          </p:cNvSpPr>
          <p:nvPr/>
        </p:nvSpPr>
        <p:spPr>
          <a:xfrm xmlns:a="http://schemas.openxmlformats.org/drawingml/2006/main">
            <a:off x="666750" y="3810000"/>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a:solidFill>
                  <a:srgbClr val="E5CFBD"/>
                </a:solidFill>
                <a:latin typeface="Lato"/>
                <a:ea typeface="Lato"/>
                <a:cs typeface="Lato"/>
              </a:defRPr>
            </a:pPr>
            <a:r>
              <a:rPr sz="1575">
                <a:solidFill>
                  <a:srgbClr val="E5CFBD"/>
                </a:solidFill>
                <a:latin typeface="Lato"/>
                <a:ea typeface="Lato"/>
                <a:cs typeface="Lato"/>
              </a:rPr>
              <a:t>The learner is alone when the question appears: late at night, between classes, or inside unfamiliar software.</a:t>
            </a:r>
          </a:p>
        </p:txBody>
      </p:sp>
      <p:sp>
        <p:nvSpPr>
          <p:cNvPr id="9" name="">
            <a:extLst xmlns:a="http://schemas.openxmlformats.org/drawingml/2006/main">
              <a:ext uri="{FF2B5EF4-FFF2-40B4-BE49-F238E27FC236}">
                <a16:creationId xmlns:a16="http://schemas.microsoft.com/office/drawing/2014/main" id="{53F09EFC-94D6-4008-95A6-0E8007B2E83C}"/>
              </a:ext>
            </a:extLst>
          </p:cNvPr>
          <p:cNvSpPr>
            <a:spLocks xmlns:a="http://schemas.openxmlformats.org/drawingml/2006/main" noGrp="1"/>
          </p:cNvSpPr>
          <p:nvPr/>
        </p:nvSpPr>
        <p:spPr>
          <a:xfrm xmlns:a="http://schemas.openxmlformats.org/drawingml/2006/main">
            <a:off x="7191375" y="1524000"/>
            <a:ext cx="3810000" cy="371475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4ca06091d004049"/>
          <a:stretch xmlns:a="http://schemas.openxmlformats.org/drawingml/2006/main"/>
        </p:blipFill>
        <p:spPr>
          <a:xfrm xmlns:a="http://schemas.openxmlformats.org/drawingml/2006/main">
            <a:off x="7488134" y="1809750"/>
            <a:ext cx="3216482" cy="2667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F3F3567-2302-4D52-8511-613C3D96BB0E}"/>
              </a:ext>
            </a:extLst>
          </p:cNvPr>
          <p:cNvSpPr>
            <a:spLocks xmlns:a="http://schemas.openxmlformats.org/drawingml/2006/main" noGrp="1"/>
          </p:cNvSpPr>
          <p:nvPr/>
        </p:nvSpPr>
        <p:spPr>
          <a:xfrm xmlns:a="http://schemas.openxmlformats.org/drawingml/2006/main">
            <a:off x="7810500" y="4762500"/>
            <a:ext cx="1123950" cy="28575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THE STALL</a:t>
            </a:r>
          </a:p>
        </p:txBody>
      </p:sp>
      <p:sp>
        <p:nvSpPr>
          <p:cNvPr id="12" name="">
            <a:extLst xmlns:a="http://schemas.openxmlformats.org/drawingml/2006/main">
              <a:ext uri="{FF2B5EF4-FFF2-40B4-BE49-F238E27FC236}">
                <a16:creationId xmlns:a16="http://schemas.microsoft.com/office/drawing/2014/main" id="{1290D832-8E4F-4017-8C0D-4AEB476D01B5}"/>
              </a:ext>
            </a:extLst>
          </p:cNvPr>
          <p:cNvSpPr>
            <a:spLocks xmlns:a="http://schemas.openxmlformats.org/drawingml/2006/main" noGrp="1"/>
          </p:cNvSpPr>
          <p:nvPr/>
        </p:nvSpPr>
        <p:spPr>
          <a:xfrm xmlns:a="http://schemas.openxmlformats.org/drawingml/2006/main">
            <a:off x="7810500" y="519112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Content is available. Context is missing.</a:t>
            </a:r>
          </a:p>
        </p:txBody>
      </p:sp>
      <p:sp>
        <p:nvSpPr>
          <p:cNvPr id="13" name="">
            <a:extLst xmlns:a="http://schemas.openxmlformats.org/drawingml/2006/main">
              <a:ext uri="{FF2B5EF4-FFF2-40B4-BE49-F238E27FC236}">
                <a16:creationId xmlns:a16="http://schemas.microsoft.com/office/drawing/2014/main" id="{5759B855-BBAC-44B9-813C-568B5CADF95C}"/>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Problem framing · user-provided brief</a:t>
            </a:r>
          </a:p>
        </p:txBody>
      </p:sp>
    </p:spTree>
    <p:extLst>
      <p:ext uri="{BB962C8B-B14F-4D97-AF65-F5344CB8AC3E}">
        <p14:creationId xmlns:p14="http://schemas.microsoft.com/office/powerpoint/2010/main" val="1967727222"/>
      </p:ext>
    </p:extLst>
  </p:cSld>
</p:sld>
</file>

<file path=ppt/slides/slide3.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4DCA85B-805B-4DC3-B849-B1CEAACD10FD}"/>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83DA783D-5041-40AC-9D03-7E1FE6C35DD0}"/>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DISCOVERY</a:t>
            </a:r>
          </a:p>
        </p:txBody>
      </p:sp>
      <p:sp>
        <p:nvSpPr>
          <p:cNvPr id="3" name="">
            <a:extLst xmlns:a="http://schemas.openxmlformats.org/drawingml/2006/main">
              <a:ext uri="{FF2B5EF4-FFF2-40B4-BE49-F238E27FC236}">
                <a16:creationId xmlns:a16="http://schemas.microsoft.com/office/drawing/2014/main" id="{1725F304-5AE6-41CA-8499-41F122625439}"/>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03</a:t>
            </a:r>
          </a:p>
        </p:txBody>
      </p:sp>
      <p:sp>
        <p:nvSpPr>
          <p:cNvPr id="4" name="">
            <a:extLst xmlns:a="http://schemas.openxmlformats.org/drawingml/2006/main">
              <a:ext uri="{FF2B5EF4-FFF2-40B4-BE49-F238E27FC236}">
                <a16:creationId xmlns:a16="http://schemas.microsoft.com/office/drawing/2014/main" id="{21003FAB-5054-4008-85EB-ADF6B8690CB1}"/>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DD5032B3-E95D-4702-B7A9-643CD7658CBE}"/>
              </a:ext>
            </a:extLst>
          </p:cNvPr>
          <p:cNvSpPr>
            <a:spLocks xmlns:a="http://schemas.openxmlformats.org/drawingml/2006/main" noGrp="1"/>
          </p:cNvSpPr>
          <p:nvPr/>
        </p:nvSpPr>
        <p:spPr>
          <a:xfrm xmlns:a="http://schemas.openxmlformats.org/drawingml/2006/main">
            <a:off x="609600" y="10096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375" b="1">
                <a:solidFill>
                  <a:srgbClr val="2D180B"/>
                </a:solidFill>
                <a:latin typeface="Lato"/>
                <a:ea typeface="Lato"/>
                <a:cs typeface="Lato"/>
              </a:defRPr>
            </a:pPr>
            <a:r>
              <a:rPr sz="3375" b="1">
                <a:solidFill>
                  <a:srgbClr val="2D180B"/>
                </a:solidFill>
                <a:latin typeface="Lato"/>
                <a:ea typeface="Lato"/>
                <a:cs typeface="Lato"/>
              </a:rPr>
              <a:t>We heard the same friction in three moments</a:t>
            </a:r>
          </a:p>
        </p:txBody>
      </p:sp>
      <p:sp>
        <p:nvSpPr>
          <p:cNvPr id="6" name="">
            <a:extLst xmlns:a="http://schemas.openxmlformats.org/drawingml/2006/main">
              <a:ext uri="{FF2B5EF4-FFF2-40B4-BE49-F238E27FC236}">
                <a16:creationId xmlns:a16="http://schemas.microsoft.com/office/drawing/2014/main" id="{F9697936-3BD5-4B8D-B0B6-383EB1F5656A}"/>
              </a:ext>
            </a:extLst>
          </p:cNvPr>
          <p:cNvSpPr>
            <a:spLocks xmlns:a="http://schemas.openxmlformats.org/drawingml/2006/main" noGrp="1"/>
          </p:cNvSpPr>
          <p:nvPr/>
        </p:nvSpPr>
        <p:spPr>
          <a:xfrm xmlns:a="http://schemas.openxmlformats.org/drawingml/2006/main">
            <a:off x="647700" y="16954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a:solidFill>
                  <a:srgbClr val="895F3C"/>
                </a:solidFill>
                <a:latin typeface="Lato"/>
                <a:ea typeface="Lato"/>
                <a:cs typeface="Lato"/>
              </a:defRPr>
            </a:pPr>
            <a:r>
              <a:rPr sz="1350">
                <a:solidFill>
                  <a:srgbClr val="895F3C"/>
                </a:solidFill>
                <a:latin typeface="Lato"/>
                <a:ea typeface="Lato"/>
                <a:cs typeface="Lato"/>
              </a:rPr>
              <a:t>Qualitative discovery at Horus University. Synthesized from conversations, not verbatim quotes.</a:t>
            </a:r>
          </a:p>
        </p:txBody>
      </p:sp>
      <p:sp>
        <p:nvSpPr>
          <p:cNvPr id="7" name="">
            <a:extLst xmlns:a="http://schemas.openxmlformats.org/drawingml/2006/main">
              <a:ext uri="{FF2B5EF4-FFF2-40B4-BE49-F238E27FC236}">
                <a16:creationId xmlns:a16="http://schemas.microsoft.com/office/drawing/2014/main" id="{A446EE35-03AA-4FDE-8070-FF0EA415A941}"/>
              </a:ext>
            </a:extLst>
          </p:cNvPr>
          <p:cNvSpPr>
            <a:spLocks xmlns:a="http://schemas.openxmlformats.org/drawingml/2006/main" noGrp="1"/>
          </p:cNvSpPr>
          <p:nvPr/>
        </p:nvSpPr>
        <p:spPr>
          <a:xfrm xmlns:a="http://schemas.openxmlformats.org/drawingml/2006/main">
            <a:off x="647700" y="2428875"/>
            <a:ext cx="4048125" cy="2857500"/>
          </a:xfrm>
          <a:prstGeom xmlns:a="http://schemas.openxmlformats.org/drawingml/2006/main" prst="roundRect">
            <a:avLst>
              <a:gd name="adj" fmla="val 8000"/>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E88DE4B6-4CC3-4911-85CD-F286DC72664B}"/>
              </a:ext>
            </a:extLst>
          </p:cNvPr>
          <p:cNvSpPr>
            <a:spLocks xmlns:a="http://schemas.openxmlformats.org/drawingml/2006/main" noGrp="1"/>
          </p:cNvSpPr>
          <p:nvPr/>
        </p:nvSpPr>
        <p:spPr>
          <a:xfrm xmlns:a="http://schemas.openxmlformats.org/drawingml/2006/main">
            <a:off x="952500" y="2724150"/>
            <a:ext cx="971550"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OBSERVED</a:t>
            </a:r>
          </a:p>
        </p:txBody>
      </p:sp>
      <p:sp>
        <p:nvSpPr>
          <p:cNvPr id="9" name="">
            <a:extLst xmlns:a="http://schemas.openxmlformats.org/drawingml/2006/main">
              <a:ext uri="{FF2B5EF4-FFF2-40B4-BE49-F238E27FC236}">
                <a16:creationId xmlns:a16="http://schemas.microsoft.com/office/drawing/2014/main" id="{17886E9B-61AB-417A-A000-52486973334A}"/>
              </a:ext>
            </a:extLst>
          </p:cNvPr>
          <p:cNvSpPr>
            <a:spLocks xmlns:a="http://schemas.openxmlformats.org/drawingml/2006/main" noGrp="1"/>
          </p:cNvSpPr>
          <p:nvPr/>
        </p:nvSpPr>
        <p:spPr>
          <a:xfrm xmlns:a="http://schemas.openxmlformats.org/drawingml/2006/main">
            <a:off x="2095500" y="2771775"/>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HORUS UNIVERSITY</a:t>
            </a:r>
          </a:p>
        </p:txBody>
      </p:sp>
      <p:sp>
        <p:nvSpPr>
          <p:cNvPr id="10" name="">
            <a:extLst xmlns:a="http://schemas.openxmlformats.org/drawingml/2006/main">
              <a:ext uri="{FF2B5EF4-FFF2-40B4-BE49-F238E27FC236}">
                <a16:creationId xmlns:a16="http://schemas.microsoft.com/office/drawing/2014/main" id="{D366B74D-8936-43C2-81EB-01ECF3A9D941}"/>
              </a:ext>
            </a:extLst>
          </p:cNvPr>
          <p:cNvSpPr>
            <a:spLocks xmlns:a="http://schemas.openxmlformats.org/drawingml/2006/main" noGrp="1"/>
          </p:cNvSpPr>
          <p:nvPr/>
        </p:nvSpPr>
        <p:spPr>
          <a:xfrm xmlns:a="http://schemas.openxmlformats.org/drawingml/2006/main">
            <a:off x="952500" y="3286125"/>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FF6E9"/>
                </a:solidFill>
                <a:latin typeface="Lato"/>
                <a:ea typeface="Lato"/>
                <a:cs typeface="Lato"/>
              </a:defRPr>
            </a:pPr>
            <a:r>
              <a:rPr sz="2400" b="1">
                <a:solidFill>
                  <a:srgbClr val="FFF6E9"/>
                </a:solidFill>
                <a:latin typeface="Lato"/>
                <a:ea typeface="Lato"/>
                <a:cs typeface="Lato"/>
              </a:rPr>
              <a:t>“I can’t ask an instructor at 2 a.m.”</a:t>
            </a:r>
          </a:p>
        </p:txBody>
      </p:sp>
      <p:sp>
        <p:nvSpPr>
          <p:cNvPr id="11" name="">
            <a:extLst xmlns:a="http://schemas.openxmlformats.org/drawingml/2006/main">
              <a:ext uri="{FF2B5EF4-FFF2-40B4-BE49-F238E27FC236}">
                <a16:creationId xmlns:a16="http://schemas.microsoft.com/office/drawing/2014/main" id="{AC559C3A-B85C-49D0-84A0-6257F7237068}"/>
              </a:ext>
            </a:extLst>
          </p:cNvPr>
          <p:cNvSpPr>
            <a:spLocks xmlns:a="http://schemas.openxmlformats.org/drawingml/2006/main" noGrp="1"/>
          </p:cNvSpPr>
          <p:nvPr/>
        </p:nvSpPr>
        <p:spPr>
          <a:xfrm xmlns:a="http://schemas.openxmlformats.org/drawingml/2006/main">
            <a:off x="952500" y="457200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PARAPHRASED STUDENT SIGNAL</a:t>
            </a:r>
          </a:p>
        </p:txBody>
      </p:sp>
      <p:sp>
        <p:nvSpPr>
          <p:cNvPr id="12" name="">
            <a:extLst xmlns:a="http://schemas.openxmlformats.org/drawingml/2006/main">
              <a:ext uri="{FF2B5EF4-FFF2-40B4-BE49-F238E27FC236}">
                <a16:creationId xmlns:a16="http://schemas.microsoft.com/office/drawing/2014/main" id="{5A7E718D-92EE-4B6F-88DF-E581522FB50E}"/>
              </a:ext>
            </a:extLst>
          </p:cNvPr>
          <p:cNvSpPr>
            <a:spLocks xmlns:a="http://schemas.openxmlformats.org/drawingml/2006/main" noGrp="1"/>
          </p:cNvSpPr>
          <p:nvPr/>
        </p:nvSpPr>
        <p:spPr>
          <a:xfrm xmlns:a="http://schemas.openxmlformats.org/drawingml/2006/main">
            <a:off x="952500" y="4857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E3CDBB"/>
                </a:solidFill>
                <a:latin typeface="Lato"/>
                <a:ea typeface="Lato"/>
                <a:cs typeface="Lato"/>
              </a:defRPr>
            </a:pPr>
            <a:r>
              <a:rPr sz="1200">
                <a:solidFill>
                  <a:srgbClr val="E3CDBB"/>
                </a:solidFill>
                <a:latin typeface="Lato"/>
                <a:ea typeface="Lato"/>
                <a:cs typeface="Lato"/>
              </a:rPr>
              <a:t>The question arrives after the lesson.</a:t>
            </a:r>
          </a:p>
        </p:txBody>
      </p:sp>
      <p:sp>
        <p:nvSpPr>
          <p:cNvPr id="13" name="">
            <a:extLst xmlns:a="http://schemas.openxmlformats.org/drawingml/2006/main">
              <a:ext uri="{FF2B5EF4-FFF2-40B4-BE49-F238E27FC236}">
                <a16:creationId xmlns:a16="http://schemas.microsoft.com/office/drawing/2014/main" id="{1F75EAAC-2FBE-40C6-B9AF-A0E4A4B55B65}"/>
              </a:ext>
            </a:extLst>
          </p:cNvPr>
          <p:cNvSpPr>
            <a:spLocks xmlns:a="http://schemas.openxmlformats.org/drawingml/2006/main" noGrp="1"/>
          </p:cNvSpPr>
          <p:nvPr/>
        </p:nvSpPr>
        <p:spPr>
          <a:xfrm xmlns:a="http://schemas.openxmlformats.org/drawingml/2006/main">
            <a:off x="5334000" y="2505075"/>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2D180B"/>
                </a:solidFill>
                <a:latin typeface="Lato"/>
                <a:ea typeface="Lato"/>
                <a:cs typeface="Lato"/>
              </a:defRPr>
            </a:pPr>
            <a:r>
              <a:rPr sz="1875" b="1">
                <a:solidFill>
                  <a:srgbClr val="2D180B"/>
                </a:solidFill>
                <a:latin typeface="Lato"/>
                <a:ea typeface="Lato"/>
                <a:cs typeface="Lato"/>
              </a:rPr>
              <a:t>Three moments, one pattern</a:t>
            </a:r>
          </a:p>
        </p:txBody>
      </p:sp>
      <p:sp>
        <p:nvSpPr>
          <p:cNvPr id="14" name="">
            <a:extLst xmlns:a="http://schemas.openxmlformats.org/drawingml/2006/main">
              <a:ext uri="{FF2B5EF4-FFF2-40B4-BE49-F238E27FC236}">
                <a16:creationId xmlns:a16="http://schemas.microsoft.com/office/drawing/2014/main" id="{9FACB167-9021-483B-A4BE-0A834356C3F2}"/>
              </a:ext>
            </a:extLst>
          </p:cNvPr>
          <p:cNvSpPr>
            <a:spLocks xmlns:a="http://schemas.openxmlformats.org/drawingml/2006/main" noGrp="1"/>
          </p:cNvSpPr>
          <p:nvPr/>
        </p:nvSpPr>
        <p:spPr>
          <a:xfrm xmlns:a="http://schemas.openxmlformats.org/drawingml/2006/main">
            <a:off x="5334000" y="3048000"/>
            <a:ext cx="400050" cy="4000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Lato"/>
                <a:ea typeface="Lato"/>
                <a:cs typeface="Lato"/>
              </a:defRPr>
            </a:pPr>
            <a:r>
              <a:rPr sz="1200" b="1">
                <a:solidFill>
                  <a:srgbClr val="FFFFFF"/>
                </a:solidFill>
                <a:latin typeface="Lato"/>
                <a:ea typeface="Lato"/>
                <a:cs typeface="Lato"/>
              </a:rPr>
              <a:t>1</a:t>
            </a:r>
          </a:p>
        </p:txBody>
      </p:sp>
      <p:sp>
        <p:nvSpPr>
          <p:cNvPr id="15" name="">
            <a:extLst xmlns:a="http://schemas.openxmlformats.org/drawingml/2006/main">
              <a:ext uri="{FF2B5EF4-FFF2-40B4-BE49-F238E27FC236}">
                <a16:creationId xmlns:a16="http://schemas.microsoft.com/office/drawing/2014/main" id="{6B1B7C08-8988-4E65-BB13-B9DEE178B525}"/>
              </a:ext>
            </a:extLst>
          </p:cNvPr>
          <p:cNvSpPr>
            <a:spLocks xmlns:a="http://schemas.openxmlformats.org/drawingml/2006/main" noGrp="1"/>
          </p:cNvSpPr>
          <p:nvPr/>
        </p:nvSpPr>
        <p:spPr>
          <a:xfrm xmlns:a="http://schemas.openxmlformats.org/drawingml/2006/main">
            <a:off x="5953125" y="305752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FF8500"/>
                </a:solidFill>
                <a:latin typeface="Lato"/>
                <a:ea typeface="Lato"/>
                <a:cs typeface="Lato"/>
              </a:defRPr>
            </a:pPr>
            <a:r>
              <a:rPr sz="900" b="1">
                <a:solidFill>
                  <a:srgbClr val="FF8500"/>
                </a:solidFill>
                <a:latin typeface="Lato"/>
                <a:ea typeface="Lato"/>
                <a:cs typeface="Lato"/>
              </a:rPr>
              <a:t>02:00 AM</a:t>
            </a:r>
          </a:p>
        </p:txBody>
      </p:sp>
      <p:sp>
        <p:nvSpPr>
          <p:cNvPr id="16" name="">
            <a:extLst xmlns:a="http://schemas.openxmlformats.org/drawingml/2006/main">
              <a:ext uri="{FF2B5EF4-FFF2-40B4-BE49-F238E27FC236}">
                <a16:creationId xmlns:a16="http://schemas.microsoft.com/office/drawing/2014/main" id="{D6A33C41-0EF3-40BA-8886-108335B71B1E}"/>
              </a:ext>
            </a:extLst>
          </p:cNvPr>
          <p:cNvSpPr>
            <a:spLocks xmlns:a="http://schemas.openxmlformats.org/drawingml/2006/main" noGrp="1"/>
          </p:cNvSpPr>
          <p:nvPr/>
        </p:nvSpPr>
        <p:spPr>
          <a:xfrm xmlns:a="http://schemas.openxmlformats.org/drawingml/2006/main">
            <a:off x="5953125" y="32956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2D180B"/>
                </a:solidFill>
                <a:latin typeface="Lato"/>
                <a:ea typeface="Lato"/>
                <a:cs typeface="Lato"/>
              </a:defRPr>
            </a:pPr>
            <a:r>
              <a:rPr sz="1425">
                <a:solidFill>
                  <a:srgbClr val="2D180B"/>
                </a:solidFill>
                <a:latin typeface="Lato"/>
                <a:ea typeface="Lato"/>
                <a:cs typeface="Lato"/>
              </a:rPr>
              <a:t>Support stops when the question starts.</a:t>
            </a:r>
          </a:p>
        </p:txBody>
      </p:sp>
      <p:sp>
        <p:nvSpPr>
          <p:cNvPr id="17" name="">
            <a:extLst xmlns:a="http://schemas.openxmlformats.org/drawingml/2006/main">
              <a:ext uri="{FF2B5EF4-FFF2-40B4-BE49-F238E27FC236}">
                <a16:creationId xmlns:a16="http://schemas.microsoft.com/office/drawing/2014/main" id="{6E4458E9-9CC0-4A02-96F9-C572E119203F}"/>
              </a:ext>
            </a:extLst>
          </p:cNvPr>
          <p:cNvSpPr>
            <a:spLocks xmlns:a="http://schemas.openxmlformats.org/drawingml/2006/main" noGrp="1"/>
          </p:cNvSpPr>
          <p:nvPr/>
        </p:nvSpPr>
        <p:spPr>
          <a:xfrm xmlns:a="http://schemas.openxmlformats.org/drawingml/2006/main">
            <a:off x="5953125" y="3714750"/>
            <a:ext cx="5238750"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18" name="">
            <a:extLst xmlns:a="http://schemas.openxmlformats.org/drawingml/2006/main">
              <a:ext uri="{FF2B5EF4-FFF2-40B4-BE49-F238E27FC236}">
                <a16:creationId xmlns:a16="http://schemas.microsoft.com/office/drawing/2014/main" id="{706ECC6A-4E8E-4F55-B0AE-275BF62630F8}"/>
              </a:ext>
            </a:extLst>
          </p:cNvPr>
          <p:cNvSpPr>
            <a:spLocks xmlns:a="http://schemas.openxmlformats.org/drawingml/2006/main" noGrp="1"/>
          </p:cNvSpPr>
          <p:nvPr/>
        </p:nvSpPr>
        <p:spPr>
          <a:xfrm xmlns:a="http://schemas.openxmlformats.org/drawingml/2006/main">
            <a:off x="5334000" y="3848100"/>
            <a:ext cx="400050" cy="400050"/>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Lato"/>
                <a:ea typeface="Lato"/>
                <a:cs typeface="Lato"/>
              </a:defRPr>
            </a:pPr>
            <a:r>
              <a:rPr sz="1200" b="1">
                <a:solidFill>
                  <a:srgbClr val="FFFFFF"/>
                </a:solidFill>
                <a:latin typeface="Lato"/>
                <a:ea typeface="Lato"/>
                <a:cs typeface="Lato"/>
              </a:rPr>
              <a:t>2</a:t>
            </a:r>
          </a:p>
        </p:txBody>
      </p:sp>
      <p:sp>
        <p:nvSpPr>
          <p:cNvPr id="19" name="">
            <a:extLst xmlns:a="http://schemas.openxmlformats.org/drawingml/2006/main">
              <a:ext uri="{FF2B5EF4-FFF2-40B4-BE49-F238E27FC236}">
                <a16:creationId xmlns:a16="http://schemas.microsoft.com/office/drawing/2014/main" id="{CA83305C-2B78-43D8-B1BA-09CAEBA3FCD8}"/>
              </a:ext>
            </a:extLst>
          </p:cNvPr>
          <p:cNvSpPr>
            <a:spLocks xmlns:a="http://schemas.openxmlformats.org/drawingml/2006/main" noGrp="1"/>
          </p:cNvSpPr>
          <p:nvPr/>
        </p:nvSpPr>
        <p:spPr>
          <a:xfrm xmlns:a="http://schemas.openxmlformats.org/drawingml/2006/main">
            <a:off x="5953125" y="385762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6E5BAA"/>
                </a:solidFill>
                <a:latin typeface="Lato"/>
                <a:ea typeface="Lato"/>
                <a:cs typeface="Lato"/>
              </a:defRPr>
            </a:pPr>
            <a:r>
              <a:rPr sz="900" b="1">
                <a:solidFill>
                  <a:srgbClr val="6E5BAA"/>
                </a:solidFill>
                <a:latin typeface="Lato"/>
                <a:ea typeface="Lato"/>
                <a:cs typeface="Lato"/>
              </a:rPr>
              <a:t>TOO BASIC TO ASK</a:t>
            </a:r>
          </a:p>
        </p:txBody>
      </p:sp>
      <p:sp>
        <p:nvSpPr>
          <p:cNvPr id="20" name="">
            <a:extLst xmlns:a="http://schemas.openxmlformats.org/drawingml/2006/main">
              <a:ext uri="{FF2B5EF4-FFF2-40B4-BE49-F238E27FC236}">
                <a16:creationId xmlns:a16="http://schemas.microsoft.com/office/drawing/2014/main" id="{1B366FA4-BF52-461E-858D-3CAB1415E6E6}"/>
              </a:ext>
            </a:extLst>
          </p:cNvPr>
          <p:cNvSpPr>
            <a:spLocks xmlns:a="http://schemas.openxmlformats.org/drawingml/2006/main" noGrp="1"/>
          </p:cNvSpPr>
          <p:nvPr/>
        </p:nvSpPr>
        <p:spPr>
          <a:xfrm xmlns:a="http://schemas.openxmlformats.org/drawingml/2006/main">
            <a:off x="5953125" y="40957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2D180B"/>
                </a:solidFill>
                <a:latin typeface="Lato"/>
                <a:ea typeface="Lato"/>
                <a:cs typeface="Lato"/>
              </a:defRPr>
            </a:pPr>
            <a:r>
              <a:rPr sz="1425">
                <a:solidFill>
                  <a:srgbClr val="2D180B"/>
                </a:solidFill>
                <a:latin typeface="Lato"/>
                <a:ea typeface="Lato"/>
                <a:cs typeface="Lato"/>
              </a:rPr>
              <a:t>Anxiety turns a small blocker into a stall.</a:t>
            </a:r>
          </a:p>
        </p:txBody>
      </p:sp>
      <p:sp>
        <p:nvSpPr>
          <p:cNvPr id="21" name="">
            <a:extLst xmlns:a="http://schemas.openxmlformats.org/drawingml/2006/main">
              <a:ext uri="{FF2B5EF4-FFF2-40B4-BE49-F238E27FC236}">
                <a16:creationId xmlns:a16="http://schemas.microsoft.com/office/drawing/2014/main" id="{C452AB51-E675-464B-A3BE-33033CB5C9BB}"/>
              </a:ext>
            </a:extLst>
          </p:cNvPr>
          <p:cNvSpPr>
            <a:spLocks xmlns:a="http://schemas.openxmlformats.org/drawingml/2006/main" noGrp="1"/>
          </p:cNvSpPr>
          <p:nvPr/>
        </p:nvSpPr>
        <p:spPr>
          <a:xfrm xmlns:a="http://schemas.openxmlformats.org/drawingml/2006/main">
            <a:off x="5953125" y="4514850"/>
            <a:ext cx="5238750"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22" name="">
            <a:extLst xmlns:a="http://schemas.openxmlformats.org/drawingml/2006/main">
              <a:ext uri="{FF2B5EF4-FFF2-40B4-BE49-F238E27FC236}">
                <a16:creationId xmlns:a16="http://schemas.microsoft.com/office/drawing/2014/main" id="{792C4592-141B-469F-8815-051687FEAA1B}"/>
              </a:ext>
            </a:extLst>
          </p:cNvPr>
          <p:cNvSpPr>
            <a:spLocks xmlns:a="http://schemas.openxmlformats.org/drawingml/2006/main" noGrp="1"/>
          </p:cNvSpPr>
          <p:nvPr/>
        </p:nvSpPr>
        <p:spPr>
          <a:xfrm xmlns:a="http://schemas.openxmlformats.org/drawingml/2006/main">
            <a:off x="5334000" y="4648200"/>
            <a:ext cx="400050" cy="400050"/>
          </a:xfrm>
          <a:prstGeom xmlns:a="http://schemas.openxmlformats.org/drawingml/2006/main" prst="ellipse">
            <a:avLst/>
          </a:prstGeom>
          <a:solidFill xmlns:a="http://schemas.openxmlformats.org/drawingml/2006/main">
            <a:srgbClr val="2E9B62"/>
          </a:solidFill>
          <a:ln xmlns:a="http://schemas.openxmlformats.org/drawingml/2006/main" w="0">
            <a:solidFill>
              <a:srgbClr val="2E9B62"/>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FFFFFF"/>
                </a:solidFill>
                <a:latin typeface="Lato"/>
                <a:ea typeface="Lato"/>
                <a:cs typeface="Lato"/>
              </a:defRPr>
            </a:pPr>
            <a:r>
              <a:rPr sz="1200" b="1">
                <a:solidFill>
                  <a:srgbClr val="FFFFFF"/>
                </a:solidFill>
                <a:latin typeface="Lato"/>
                <a:ea typeface="Lato"/>
                <a:cs typeface="Lato"/>
              </a:rPr>
              <a:t>3</a:t>
            </a:r>
          </a:p>
        </p:txBody>
      </p:sp>
      <p:sp>
        <p:nvSpPr>
          <p:cNvPr id="23" name="">
            <a:extLst xmlns:a="http://schemas.openxmlformats.org/drawingml/2006/main">
              <a:ext uri="{FF2B5EF4-FFF2-40B4-BE49-F238E27FC236}">
                <a16:creationId xmlns:a16="http://schemas.microsoft.com/office/drawing/2014/main" id="{87BA5903-9CD6-4153-8CF9-9DD42A2B5EB5}"/>
              </a:ext>
            </a:extLst>
          </p:cNvPr>
          <p:cNvSpPr>
            <a:spLocks xmlns:a="http://schemas.openxmlformats.org/drawingml/2006/main" noGrp="1"/>
          </p:cNvSpPr>
          <p:nvPr/>
        </p:nvSpPr>
        <p:spPr>
          <a:xfrm xmlns:a="http://schemas.openxmlformats.org/drawingml/2006/main">
            <a:off x="5953125" y="465772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E9B62"/>
                </a:solidFill>
                <a:latin typeface="Lato"/>
                <a:ea typeface="Lato"/>
                <a:cs typeface="Lato"/>
              </a:defRPr>
            </a:pPr>
            <a:r>
              <a:rPr sz="900" b="1">
                <a:solidFill>
                  <a:srgbClr val="2E9B62"/>
                </a:solidFill>
                <a:latin typeface="Lato"/>
                <a:ea typeface="Lato"/>
                <a:cs typeface="Lato"/>
              </a:rPr>
              <a:t>TOO EXPENSIVE / TOO CROWDED</a:t>
            </a:r>
          </a:p>
        </p:txBody>
      </p:sp>
      <p:sp>
        <p:nvSpPr>
          <p:cNvPr id="24" name="">
            <a:extLst xmlns:a="http://schemas.openxmlformats.org/drawingml/2006/main">
              <a:ext uri="{FF2B5EF4-FFF2-40B4-BE49-F238E27FC236}">
                <a16:creationId xmlns:a16="http://schemas.microsoft.com/office/drawing/2014/main" id="{F40A88DA-60B0-4549-B4E5-324FB5EA0C3A}"/>
              </a:ext>
            </a:extLst>
          </p:cNvPr>
          <p:cNvSpPr>
            <a:spLocks xmlns:a="http://schemas.openxmlformats.org/drawingml/2006/main" noGrp="1"/>
          </p:cNvSpPr>
          <p:nvPr/>
        </p:nvSpPr>
        <p:spPr>
          <a:xfrm xmlns:a="http://schemas.openxmlformats.org/drawingml/2006/main">
            <a:off x="5953125" y="48958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a:solidFill>
                  <a:srgbClr val="2D180B"/>
                </a:solidFill>
                <a:latin typeface="Lato"/>
                <a:ea typeface="Lato"/>
                <a:cs typeface="Lato"/>
              </a:defRPr>
            </a:pPr>
            <a:r>
              <a:rPr sz="1425">
                <a:solidFill>
                  <a:srgbClr val="2D180B"/>
                </a:solidFill>
                <a:latin typeface="Lato"/>
                <a:ea typeface="Lato"/>
                <a:cs typeface="Lato"/>
              </a:rPr>
              <a:t>Existing options miss the moment of practice.</a:t>
            </a:r>
          </a:p>
        </p:txBody>
      </p:sp>
      <p:sp>
        <p:nvSpPr>
          <p:cNvPr id="25" name="">
            <a:extLst xmlns:a="http://schemas.openxmlformats.org/drawingml/2006/main">
              <a:ext uri="{FF2B5EF4-FFF2-40B4-BE49-F238E27FC236}">
                <a16:creationId xmlns:a16="http://schemas.microsoft.com/office/drawing/2014/main" id="{D21F98B2-CB5E-4EB3-BD6E-18E3B3C5844A}"/>
              </a:ext>
            </a:extLst>
          </p:cNvPr>
          <p:cNvSpPr>
            <a:spLocks xmlns:a="http://schemas.openxmlformats.org/drawingml/2006/main" noGrp="1"/>
          </p:cNvSpPr>
          <p:nvPr/>
        </p:nvSpPr>
        <p:spPr>
          <a:xfrm xmlns:a="http://schemas.openxmlformats.org/drawingml/2006/main">
            <a:off x="647700" y="5715000"/>
            <a:ext cx="10591800" cy="476250"/>
          </a:xfrm>
          <a:prstGeom xmlns:a="http://schemas.openxmlformats.org/drawingml/2006/main" prst="roundRect">
            <a:avLst>
              <a:gd name="adj" fmla="val 32000"/>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4E02DF12-E7E4-4EA8-8296-CEEABD5F0A0F}"/>
              </a:ext>
            </a:extLst>
          </p:cNvPr>
          <p:cNvSpPr>
            <a:spLocks xmlns:a="http://schemas.openxmlformats.org/drawingml/2006/main" noGrp="1"/>
          </p:cNvSpPr>
          <p:nvPr/>
        </p:nvSpPr>
        <p:spPr>
          <a:xfrm xmlns:a="http://schemas.openxmlformats.org/drawingml/2006/main">
            <a:off x="914400" y="5867400"/>
            <a:ext cx="1619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2D180B"/>
                </a:solidFill>
                <a:latin typeface="Lato"/>
                <a:ea typeface="Lato"/>
                <a:cs typeface="Lato"/>
              </a:defRPr>
            </a:pPr>
            <a:r>
              <a:rPr sz="825" b="1">
                <a:solidFill>
                  <a:srgbClr val="2D180B"/>
                </a:solidFill>
                <a:latin typeface="Lato"/>
                <a:ea typeface="Lato"/>
                <a:cs typeface="Lato"/>
              </a:rPr>
              <a:t>PRODUCT IMPLICATION</a:t>
            </a:r>
          </a:p>
        </p:txBody>
      </p:sp>
      <p:sp>
        <p:nvSpPr>
          <p:cNvPr id="27" name="">
            <a:extLst xmlns:a="http://schemas.openxmlformats.org/drawingml/2006/main">
              <a:ext uri="{FF2B5EF4-FFF2-40B4-BE49-F238E27FC236}">
                <a16:creationId xmlns:a16="http://schemas.microsoft.com/office/drawing/2014/main" id="{4E16F00B-6F9D-43E7-B690-A5D39B0ACB3B}"/>
              </a:ext>
            </a:extLst>
          </p:cNvPr>
          <p:cNvSpPr>
            <a:spLocks xmlns:a="http://schemas.openxmlformats.org/drawingml/2006/main" noGrp="1"/>
          </p:cNvSpPr>
          <p:nvPr/>
        </p:nvSpPr>
        <p:spPr>
          <a:xfrm xmlns:a="http://schemas.openxmlformats.org/drawingml/2006/main">
            <a:off x="2809875" y="5829300"/>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2D180B"/>
                </a:solidFill>
                <a:latin typeface="Lato"/>
                <a:ea typeface="Lato"/>
                <a:cs typeface="Lato"/>
              </a:defRPr>
            </a:pPr>
            <a:r>
              <a:rPr sz="1500" b="1">
                <a:solidFill>
                  <a:srgbClr val="2D180B"/>
                </a:solidFill>
                <a:latin typeface="Lato"/>
                <a:ea typeface="Lato"/>
                <a:cs typeface="Lato"/>
              </a:rPr>
              <a:t>Make the next step available, private, and easy to try.</a:t>
            </a:r>
          </a:p>
        </p:txBody>
      </p:sp>
      <p:sp>
        <p:nvSpPr>
          <p:cNvPr id="28" name="">
            <a:extLst xmlns:a="http://schemas.openxmlformats.org/drawingml/2006/main">
              <a:ext uri="{FF2B5EF4-FFF2-40B4-BE49-F238E27FC236}">
                <a16:creationId xmlns:a16="http://schemas.microsoft.com/office/drawing/2014/main" id="{9F749F13-AA34-47A9-8CE5-DB42FC5E1A08}"/>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Evidence status: observed. Horus University conversations.</a:t>
            </a:r>
          </a:p>
        </p:txBody>
      </p:sp>
    </p:spTree>
    <p:extLst>
      <p:ext uri="{BB962C8B-B14F-4D97-AF65-F5344CB8AC3E}">
        <p14:creationId xmlns:p14="http://schemas.microsoft.com/office/powerpoint/2010/main" val="1390867071"/>
      </p:ext>
    </p:extLst>
  </p:cSld>
</p:sld>
</file>

<file path=ppt/slides/slide4.xml><?xml version="1.0" encoding="utf-8"?>
<p:sld xmlns:p="http://schemas.openxmlformats.org/presentationml/2006/main">
  <p:cSld>
    <p:bg>
      <p:bgPr>
        <a:solidFill xmlns:a="http://schemas.openxmlformats.org/drawingml/2006/main">
          <a:srgbClr val="FF850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BC8BA53-AAF0-40DD-B3F1-B10F5C239AE7}"/>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FEB99A41-CA86-4D0C-A360-081F51286C6A}"/>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INSIGHT</a:t>
            </a:r>
          </a:p>
        </p:txBody>
      </p:sp>
      <p:sp>
        <p:nvSpPr>
          <p:cNvPr id="3" name="">
            <a:extLst xmlns:a="http://schemas.openxmlformats.org/drawingml/2006/main">
              <a:ext uri="{FF2B5EF4-FFF2-40B4-BE49-F238E27FC236}">
                <a16:creationId xmlns:a16="http://schemas.microsoft.com/office/drawing/2014/main" id="{2C962230-8D34-4FCF-9C81-60CB0C04114C}"/>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04</a:t>
            </a:r>
          </a:p>
        </p:txBody>
      </p:sp>
      <p:sp>
        <p:nvSpPr>
          <p:cNvPr id="4" name="">
            <a:extLst xmlns:a="http://schemas.openxmlformats.org/drawingml/2006/main">
              <a:ext uri="{FF2B5EF4-FFF2-40B4-BE49-F238E27FC236}">
                <a16:creationId xmlns:a16="http://schemas.microsoft.com/office/drawing/2014/main" id="{DB82C1B2-B6BC-4FE2-8BA5-C11C1753433C}"/>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485C515A-A6EC-4FA3-88AC-2651F98C2B83}"/>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The missing layer is contextual guidance</a:t>
            </a:r>
          </a:p>
        </p:txBody>
      </p:sp>
      <p:sp>
        <p:nvSpPr>
          <p:cNvPr id="6" name="">
            <a:extLst xmlns:a="http://schemas.openxmlformats.org/drawingml/2006/main">
              <a:ext uri="{FF2B5EF4-FFF2-40B4-BE49-F238E27FC236}">
                <a16:creationId xmlns:a16="http://schemas.microsoft.com/office/drawing/2014/main" id="{93664436-4329-42EB-9647-272B4081973C}"/>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Bataa helps at the exact moment the learner has to make a move.</a:t>
            </a:r>
          </a:p>
        </p:txBody>
      </p:sp>
      <p:sp>
        <p:nvSpPr>
          <p:cNvPr id="7" name="">
            <a:extLst xmlns:a="http://schemas.openxmlformats.org/drawingml/2006/main">
              <a:ext uri="{FF2B5EF4-FFF2-40B4-BE49-F238E27FC236}">
                <a16:creationId xmlns:a16="http://schemas.microsoft.com/office/drawing/2014/main" id="{49853165-5AC3-44F2-9247-31FFD18A8A89}"/>
              </a:ext>
            </a:extLst>
          </p:cNvPr>
          <p:cNvSpPr>
            <a:spLocks xmlns:a="http://schemas.openxmlformats.org/drawingml/2006/main" noGrp="1"/>
          </p:cNvSpPr>
          <p:nvPr/>
        </p:nvSpPr>
        <p:spPr>
          <a:xfrm xmlns:a="http://schemas.openxmlformats.org/drawingml/2006/main">
            <a:off x="685800" y="2857500"/>
            <a:ext cx="3905250" cy="2095500"/>
          </a:xfrm>
          <a:prstGeom xmlns:a="http://schemas.openxmlformats.org/drawingml/2006/main" prst="roundRect">
            <a:avLst>
              <a:gd name="adj" fmla="val 7273"/>
            </a:avLst>
          </a:prstGeom>
          <a:solidFill xmlns:a="http://schemas.openxmlformats.org/drawingml/2006/main">
            <a:srgbClr val="F78A17"/>
          </a:solidFill>
          <a:ln xmlns:a="http://schemas.openxmlformats.org/drawingml/2006/main" w="9525">
            <a:solidFill>
              <a:srgbClr val="FFB55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A9FE4BD3-2942-4295-842D-366C468117B3}"/>
              </a:ext>
            </a:extLst>
          </p:cNvPr>
          <p:cNvSpPr>
            <a:spLocks xmlns:a="http://schemas.openxmlformats.org/drawingml/2006/main" noGrp="1"/>
          </p:cNvSpPr>
          <p:nvPr/>
        </p:nvSpPr>
        <p:spPr>
          <a:xfrm xmlns:a="http://schemas.openxmlformats.org/drawingml/2006/main">
            <a:off x="1000125" y="3190875"/>
            <a:ext cx="1238250" cy="285750"/>
          </a:xfrm>
          <a:prstGeom xmlns:a="http://schemas.openxmlformats.org/drawingml/2006/main" prst="roundRect">
            <a:avLst>
              <a:gd name="adj" fmla="val 50000"/>
            </a:avLst>
          </a:prstGeom>
          <a:solidFill xmlns:a="http://schemas.openxmlformats.org/drawingml/2006/main">
            <a:srgbClr val="FFF6E9"/>
          </a:solidFill>
          <a:ln xmlns:a="http://schemas.openxmlformats.org/drawingml/2006/main" w="0">
            <a:solidFill>
              <a:srgbClr val="FFF6E9"/>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CONTENT ONLY</a:t>
            </a:r>
          </a:p>
        </p:txBody>
      </p:sp>
      <p:sp>
        <p:nvSpPr>
          <p:cNvPr id="9" name="">
            <a:extLst xmlns:a="http://schemas.openxmlformats.org/drawingml/2006/main">
              <a:ext uri="{FF2B5EF4-FFF2-40B4-BE49-F238E27FC236}">
                <a16:creationId xmlns:a16="http://schemas.microsoft.com/office/drawing/2014/main" id="{15070918-9B13-422A-A660-D8C3AA36595F}"/>
              </a:ext>
            </a:extLst>
          </p:cNvPr>
          <p:cNvSpPr>
            <a:spLocks xmlns:a="http://schemas.openxmlformats.org/drawingml/2006/main" noGrp="1"/>
          </p:cNvSpPr>
          <p:nvPr/>
        </p:nvSpPr>
        <p:spPr>
          <a:xfrm xmlns:a="http://schemas.openxmlformats.org/drawingml/2006/main">
            <a:off x="1000125" y="37147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3925"/>
          </a:bodyPr>
          <a:lstStyle xmlns:a="http://schemas.openxmlformats.org/drawingml/2006/main"/>
          <a:p xmlns:a="http://schemas.openxmlformats.org/drawingml/2006/main">
            <a:pPr>
              <a:defRPr sz="2325" b="1">
                <a:solidFill>
                  <a:srgbClr val="2D180B"/>
                </a:solidFill>
                <a:latin typeface="Lato"/>
                <a:ea typeface="Lato"/>
                <a:cs typeface="Lato"/>
              </a:defRPr>
            </a:pPr>
            <a:r>
              <a:rPr sz="2325" b="1">
                <a:solidFill>
                  <a:srgbClr val="2D180B"/>
                </a:solidFill>
                <a:latin typeface="Lato"/>
                <a:ea typeface="Lato"/>
                <a:cs typeface="Lato"/>
              </a:rPr>
              <a:t>Watch → pause → search → stall</a:t>
            </a:r>
          </a:p>
        </p:txBody>
      </p:sp>
      <p:sp>
        <p:nvSpPr>
          <p:cNvPr id="10" name="">
            <a:extLst xmlns:a="http://schemas.openxmlformats.org/drawingml/2006/main">
              <a:ext uri="{FF2B5EF4-FFF2-40B4-BE49-F238E27FC236}">
                <a16:creationId xmlns:a16="http://schemas.microsoft.com/office/drawing/2014/main" id="{A633719D-2CCB-4EED-A13D-2D914B15617E}"/>
              </a:ext>
            </a:extLst>
          </p:cNvPr>
          <p:cNvSpPr>
            <a:spLocks xmlns:a="http://schemas.openxmlformats.org/drawingml/2006/main" noGrp="1"/>
          </p:cNvSpPr>
          <p:nvPr/>
        </p:nvSpPr>
        <p:spPr>
          <a:xfrm xmlns:a="http://schemas.openxmlformats.org/drawingml/2006/main">
            <a:off x="1000125" y="4438650"/>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defRPr sz="1200">
                <a:solidFill>
                  <a:srgbClr val="2D180B"/>
                </a:solidFill>
                <a:latin typeface="Lato"/>
                <a:ea typeface="Lato"/>
                <a:cs typeface="Lato"/>
              </a:defRPr>
            </a:pPr>
            <a:r>
              <a:rPr sz="1200">
                <a:solidFill>
                  <a:srgbClr val="2D180B"/>
                </a:solidFill>
                <a:latin typeface="Lato"/>
                <a:ea typeface="Lato"/>
                <a:cs typeface="Lato"/>
              </a:rPr>
              <a:t>The learner has to translate theory into the next action alone.</a:t>
            </a:r>
          </a:p>
        </p:txBody>
      </p:sp>
      <p:sp>
        <p:nvSpPr>
          <p:cNvPr id="11" name="">
            <a:extLst xmlns:a="http://schemas.openxmlformats.org/drawingml/2006/main">
              <a:ext uri="{FF2B5EF4-FFF2-40B4-BE49-F238E27FC236}">
                <a16:creationId xmlns:a16="http://schemas.microsoft.com/office/drawing/2014/main" id="{C099B90F-8FEA-4D34-A411-40EE4BFE41C0}"/>
              </a:ext>
            </a:extLst>
          </p:cNvPr>
          <p:cNvSpPr>
            <a:spLocks xmlns:a="http://schemas.openxmlformats.org/drawingml/2006/main" noGrp="1"/>
          </p:cNvSpPr>
          <p:nvPr/>
        </p:nvSpPr>
        <p:spPr>
          <a:xfrm xmlns:a="http://schemas.openxmlformats.org/drawingml/2006/main">
            <a:off x="4953000" y="3905250"/>
            <a:ext cx="1714500" cy="0"/>
          </a:xfrm>
          <a:prstGeom xmlns:a="http://schemas.openxmlformats.org/drawingml/2006/main" prst="line">
            <a:avLst/>
          </a:prstGeom>
          <a:noFill xmlns:a="http://schemas.openxmlformats.org/drawingml/2006/main"/>
          <a:ln xmlns:a="http://schemas.openxmlformats.org/drawingml/2006/main" w="57150">
            <a:solidFill>
              <a:srgbClr val="FFF6E9"/>
            </a:solidFill>
            <a:prstDash val="solid"/>
          </a:ln>
        </p:spPr>
      </p:sp>
      <p:sp>
        <p:nvSpPr>
          <p:cNvPr id="12" name="">
            <a:extLst xmlns:a="http://schemas.openxmlformats.org/drawingml/2006/main">
              <a:ext uri="{FF2B5EF4-FFF2-40B4-BE49-F238E27FC236}">
                <a16:creationId xmlns:a16="http://schemas.microsoft.com/office/drawing/2014/main" id="{02B49EED-F15D-4CE6-B31E-D0709FB5D7E2}"/>
              </a:ext>
            </a:extLst>
          </p:cNvPr>
          <p:cNvSpPr>
            <a:spLocks xmlns:a="http://schemas.openxmlformats.org/drawingml/2006/main" noGrp="1"/>
          </p:cNvSpPr>
          <p:nvPr/>
        </p:nvSpPr>
        <p:spPr>
          <a:xfrm xmlns:a="http://schemas.openxmlformats.org/drawingml/2006/main">
            <a:off x="5667375" y="3667125"/>
            <a:ext cx="476250" cy="4762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100" b="1">
                <a:solidFill>
                  <a:srgbClr val="C45300"/>
                </a:solidFill>
                <a:latin typeface="Lato"/>
                <a:ea typeface="Lato"/>
                <a:cs typeface="Lato"/>
              </a:defRPr>
            </a:pPr>
            <a:r>
              <a:rPr sz="2100" b="1">
                <a:solidFill>
                  <a:srgbClr val="C45300"/>
                </a:solidFill>
                <a:latin typeface="Lato"/>
                <a:ea typeface="Lato"/>
                <a:cs typeface="Lato"/>
              </a:rPr>
              <a:t>→</a:t>
            </a:r>
          </a:p>
        </p:txBody>
      </p:sp>
      <p:sp>
        <p:nvSpPr>
          <p:cNvPr id="13" name="">
            <a:extLst xmlns:a="http://schemas.openxmlformats.org/drawingml/2006/main">
              <a:ext uri="{FF2B5EF4-FFF2-40B4-BE49-F238E27FC236}">
                <a16:creationId xmlns:a16="http://schemas.microsoft.com/office/drawing/2014/main" id="{A01F92CC-91FE-4D17-86F1-6C106127D5A5}"/>
              </a:ext>
            </a:extLst>
          </p:cNvPr>
          <p:cNvSpPr>
            <a:spLocks xmlns:a="http://schemas.openxmlformats.org/drawingml/2006/main" noGrp="1"/>
          </p:cNvSpPr>
          <p:nvPr/>
        </p:nvSpPr>
        <p:spPr>
          <a:xfrm xmlns:a="http://schemas.openxmlformats.org/drawingml/2006/main">
            <a:off x="7029450" y="2857500"/>
            <a:ext cx="4476750" cy="2095500"/>
          </a:xfrm>
          <a:prstGeom xmlns:a="http://schemas.openxmlformats.org/drawingml/2006/main" prst="roundRect">
            <a:avLst>
              <a:gd name="adj" fmla="val 7273"/>
            </a:avLst>
          </a:prstGeom>
          <a:solidFill xmlns:a="http://schemas.openxmlformats.org/drawingml/2006/main">
            <a:srgbClr val="FFF6E9"/>
          </a:solidFill>
          <a:ln xmlns:a="http://schemas.openxmlformats.org/drawingml/2006/main" w="9525">
            <a:solidFill>
              <a:srgbClr val="FFF6E9"/>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8298C4BE-46B7-42B3-80A8-71397BEE0730}"/>
              </a:ext>
            </a:extLst>
          </p:cNvPr>
          <p:cNvSpPr>
            <a:spLocks xmlns:a="http://schemas.openxmlformats.org/drawingml/2006/main" noGrp="1"/>
          </p:cNvSpPr>
          <p:nvPr/>
        </p:nvSpPr>
        <p:spPr>
          <a:xfrm xmlns:a="http://schemas.openxmlformats.org/drawingml/2006/main">
            <a:off x="7353300" y="3190875"/>
            <a:ext cx="857250" cy="285750"/>
          </a:xfrm>
          <a:prstGeom xmlns:a="http://schemas.openxmlformats.org/drawingml/2006/main" prst="roundRect">
            <a:avLst>
              <a:gd name="adj" fmla="val 50000"/>
            </a:avLst>
          </a:prstGeom>
          <a:solidFill xmlns:a="http://schemas.openxmlformats.org/drawingml/2006/main">
            <a:srgbClr val="2D180B"/>
          </a:solidFill>
          <a:ln xmlns:a="http://schemas.openxmlformats.org/drawingml/2006/main" w="0">
            <a:solidFill>
              <a:srgbClr val="2D180B"/>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BATAA</a:t>
            </a:r>
          </a:p>
        </p:txBody>
      </p:sp>
      <p:sp>
        <p:nvSpPr>
          <p:cNvPr id="15" name="">
            <a:extLst xmlns:a="http://schemas.openxmlformats.org/drawingml/2006/main">
              <a:ext uri="{FF2B5EF4-FFF2-40B4-BE49-F238E27FC236}">
                <a16:creationId xmlns:a16="http://schemas.microsoft.com/office/drawing/2014/main" id="{CAB3E881-08EE-4E63-B179-5038BD1F42FC}"/>
              </a:ext>
            </a:extLst>
          </p:cNvPr>
          <p:cNvSpPr>
            <a:spLocks xmlns:a="http://schemas.openxmlformats.org/drawingml/2006/main" noGrp="1"/>
          </p:cNvSpPr>
          <p:nvPr/>
        </p:nvSpPr>
        <p:spPr>
          <a:xfrm xmlns:a="http://schemas.openxmlformats.org/drawingml/2006/main">
            <a:off x="7353300" y="371475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940"/>
          </a:bodyPr>
          <a:lstStyle xmlns:a="http://schemas.openxmlformats.org/drawingml/2006/main"/>
          <a:p xmlns:a="http://schemas.openxmlformats.org/drawingml/2006/main">
            <a:pPr>
              <a:defRPr sz="2325" b="1">
                <a:solidFill>
                  <a:srgbClr val="2D180B"/>
                </a:solidFill>
                <a:latin typeface="Lato"/>
                <a:ea typeface="Lato"/>
                <a:cs typeface="Lato"/>
              </a:defRPr>
            </a:pPr>
            <a:r>
              <a:rPr sz="2325" b="1">
                <a:solidFill>
                  <a:srgbClr val="2D180B"/>
                </a:solidFill>
                <a:latin typeface="Lato"/>
                <a:ea typeface="Lato"/>
                <a:cs typeface="Lato"/>
              </a:rPr>
              <a:t>Try → get feedback → keep moving</a:t>
            </a:r>
          </a:p>
        </p:txBody>
      </p:sp>
      <p:sp>
        <p:nvSpPr>
          <p:cNvPr id="16" name="">
            <a:extLst xmlns:a="http://schemas.openxmlformats.org/drawingml/2006/main">
              <a:ext uri="{FF2B5EF4-FFF2-40B4-BE49-F238E27FC236}">
                <a16:creationId xmlns:a16="http://schemas.microsoft.com/office/drawing/2014/main" id="{EC7D5317-2894-43B7-9356-73E0BC5FBC79}"/>
              </a:ext>
            </a:extLst>
          </p:cNvPr>
          <p:cNvSpPr>
            <a:spLocks xmlns:a="http://schemas.openxmlformats.org/drawingml/2006/main" noGrp="1"/>
          </p:cNvSpPr>
          <p:nvPr/>
        </p:nvSpPr>
        <p:spPr>
          <a:xfrm xmlns:a="http://schemas.openxmlformats.org/drawingml/2006/main">
            <a:off x="7353300" y="44386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The next step appears beside the work, in plain English.</a:t>
            </a:r>
          </a:p>
        </p:txBody>
      </p:sp>
      <p:sp>
        <p:nvSpPr>
          <p:cNvPr id="17" name="">
            <a:extLst xmlns:a="http://schemas.openxmlformats.org/drawingml/2006/main">
              <a:ext uri="{FF2B5EF4-FFF2-40B4-BE49-F238E27FC236}">
                <a16:creationId xmlns:a16="http://schemas.microsoft.com/office/drawing/2014/main" id="{5187F889-D835-41D8-8ACE-9343688EBDCF}"/>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Product insight · contextual help at the moment of action</a:t>
            </a:r>
          </a:p>
        </p:txBody>
      </p:sp>
    </p:spTree>
    <p:extLst>
      <p:ext uri="{BB962C8B-B14F-4D97-AF65-F5344CB8AC3E}">
        <p14:creationId xmlns:p14="http://schemas.microsoft.com/office/powerpoint/2010/main" val="181003354"/>
      </p:ext>
    </p:extLst>
  </p:cSld>
</p:sld>
</file>

<file path=ppt/slides/slide5.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7340B90-AFF1-4F26-AE2A-31CCFF78E73B}"/>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794BEB43-3185-44DF-AF1B-61E4358DB481}"/>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PRODUCT</a:t>
            </a:r>
          </a:p>
        </p:txBody>
      </p:sp>
      <p:sp>
        <p:nvSpPr>
          <p:cNvPr id="3" name="">
            <a:extLst xmlns:a="http://schemas.openxmlformats.org/drawingml/2006/main">
              <a:ext uri="{FF2B5EF4-FFF2-40B4-BE49-F238E27FC236}">
                <a16:creationId xmlns:a16="http://schemas.microsoft.com/office/drawing/2014/main" id="{713B17E3-F4F2-4F7C-AF52-4AD9B7033B4B}"/>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05</a:t>
            </a:r>
          </a:p>
        </p:txBody>
      </p:sp>
      <p:sp>
        <p:nvSpPr>
          <p:cNvPr id="4" name="">
            <a:extLst xmlns:a="http://schemas.openxmlformats.org/drawingml/2006/main">
              <a:ext uri="{FF2B5EF4-FFF2-40B4-BE49-F238E27FC236}">
                <a16:creationId xmlns:a16="http://schemas.microsoft.com/office/drawing/2014/main" id="{978A9798-77C5-453E-8AB8-D0637DE28DE0}"/>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02A696A5-8B44-4742-8F25-095372EC094D}"/>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One product, two moments</a:t>
            </a:r>
          </a:p>
        </p:txBody>
      </p:sp>
      <p:sp>
        <p:nvSpPr>
          <p:cNvPr id="6" name="">
            <a:extLst xmlns:a="http://schemas.openxmlformats.org/drawingml/2006/main">
              <a:ext uri="{FF2B5EF4-FFF2-40B4-BE49-F238E27FC236}">
                <a16:creationId xmlns:a16="http://schemas.microsoft.com/office/drawing/2014/main" id="{80630065-E0AA-422A-B9B5-698D962EB8A0}"/>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The same learning loop follows the learner from a spare minute to the tool where the work happens.</a:t>
            </a:r>
          </a:p>
        </p:txBody>
      </p:sp>
      <p:sp>
        <p:nvSpPr>
          <p:cNvPr id="7" name="">
            <a:extLst xmlns:a="http://schemas.openxmlformats.org/drawingml/2006/main">
              <a:ext uri="{FF2B5EF4-FFF2-40B4-BE49-F238E27FC236}">
                <a16:creationId xmlns:a16="http://schemas.microsoft.com/office/drawing/2014/main" id="{8FC961F7-3647-4E03-B304-5D3EC2AFDBA5}"/>
              </a:ext>
            </a:extLst>
          </p:cNvPr>
          <p:cNvSpPr>
            <a:spLocks xmlns:a="http://schemas.openxmlformats.org/drawingml/2006/main" noGrp="1"/>
          </p:cNvSpPr>
          <p:nvPr/>
        </p:nvSpPr>
        <p:spPr>
          <a:xfrm xmlns:a="http://schemas.openxmlformats.org/drawingml/2006/main">
            <a:off x="704850" y="2524125"/>
            <a:ext cx="4476750" cy="3000375"/>
          </a:xfrm>
          <a:prstGeom xmlns:a="http://schemas.openxmlformats.org/drawingml/2006/main" prst="roundRect">
            <a:avLst>
              <a:gd name="adj" fmla="val 7619"/>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956fd94fd7841a0"/>
          <a:stretch xmlns:a="http://schemas.openxmlformats.org/drawingml/2006/main"/>
        </p:blipFill>
        <p:spPr>
          <a:xfrm xmlns:a="http://schemas.openxmlformats.org/drawingml/2006/main">
            <a:off x="1156938" y="2714625"/>
            <a:ext cx="1210375" cy="2619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DCD1483-7FE1-4620-A928-72F937BA47AD}"/>
              </a:ext>
            </a:extLst>
          </p:cNvPr>
          <p:cNvSpPr>
            <a:spLocks xmlns:a="http://schemas.openxmlformats.org/drawingml/2006/main" noGrp="1"/>
          </p:cNvSpPr>
          <p:nvPr/>
        </p:nvSpPr>
        <p:spPr>
          <a:xfrm xmlns:a="http://schemas.openxmlformats.org/drawingml/2006/main">
            <a:off x="2876550" y="30670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C45300"/>
                </a:solidFill>
                <a:latin typeface="Lato"/>
                <a:ea typeface="Lato"/>
                <a:cs typeface="Lato"/>
              </a:defRPr>
            </a:pPr>
            <a:r>
              <a:rPr sz="975" b="1">
                <a:solidFill>
                  <a:srgbClr val="C45300"/>
                </a:solidFill>
                <a:latin typeface="Lato"/>
                <a:ea typeface="Lato"/>
                <a:cs typeface="Lato"/>
              </a:rPr>
              <a:t>MOBILE</a:t>
            </a:r>
          </a:p>
        </p:txBody>
      </p:sp>
      <p:sp>
        <p:nvSpPr>
          <p:cNvPr id="10" name="">
            <a:extLst xmlns:a="http://schemas.openxmlformats.org/drawingml/2006/main">
              <a:ext uri="{FF2B5EF4-FFF2-40B4-BE49-F238E27FC236}">
                <a16:creationId xmlns:a16="http://schemas.microsoft.com/office/drawing/2014/main" id="{4646FE6D-5A47-49BF-9FBF-D67527CE38EA}"/>
              </a:ext>
            </a:extLst>
          </p:cNvPr>
          <p:cNvSpPr>
            <a:spLocks xmlns:a="http://schemas.openxmlformats.org/drawingml/2006/main" noGrp="1"/>
          </p:cNvSpPr>
          <p:nvPr/>
        </p:nvSpPr>
        <p:spPr>
          <a:xfrm xmlns:a="http://schemas.openxmlformats.org/drawingml/2006/main">
            <a:off x="2876550" y="3448050"/>
            <a:ext cx="190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023"/>
          </a:bodyPr>
          <a:lstStyle xmlns:a="http://schemas.openxmlformats.org/drawingml/2006/main"/>
          <a:p xmlns:a="http://schemas.openxmlformats.org/drawingml/2006/main">
            <a:pPr>
              <a:defRPr sz="2175" b="1">
                <a:solidFill>
                  <a:srgbClr val="2D180B"/>
                </a:solidFill>
                <a:latin typeface="Lato"/>
                <a:ea typeface="Lato"/>
                <a:cs typeface="Lato"/>
              </a:defRPr>
            </a:pPr>
            <a:r>
              <a:rPr sz="2175" b="1">
                <a:solidFill>
                  <a:srgbClr val="2D180B"/>
                </a:solidFill>
                <a:latin typeface="Lato"/>
                <a:ea typeface="Lato"/>
                <a:cs typeface="Lato"/>
              </a:rPr>
              <a:t>Keep momentum anywhere</a:t>
            </a:r>
          </a:p>
        </p:txBody>
      </p:sp>
      <p:sp>
        <p:nvSpPr>
          <p:cNvPr id="11" name="">
            <a:extLst xmlns:a="http://schemas.openxmlformats.org/drawingml/2006/main">
              <a:ext uri="{FF2B5EF4-FFF2-40B4-BE49-F238E27FC236}">
                <a16:creationId xmlns:a16="http://schemas.microsoft.com/office/drawing/2014/main" id="{59888209-1599-456B-841D-0B482BCDDCE9}"/>
              </a:ext>
            </a:extLst>
          </p:cNvPr>
          <p:cNvSpPr>
            <a:spLocks xmlns:a="http://schemas.openxmlformats.org/drawingml/2006/main" noGrp="1"/>
          </p:cNvSpPr>
          <p:nvPr/>
        </p:nvSpPr>
        <p:spPr>
          <a:xfrm xmlns:a="http://schemas.openxmlformats.org/drawingml/2006/main">
            <a:off x="2876550" y="421005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879"/>
          </a:bodyPr>
          <a:lstStyle xmlns:a="http://schemas.openxmlformats.org/drawingml/2006/main"/>
          <a:p xmlns:a="http://schemas.openxmlformats.org/drawingml/2006/main">
            <a:pPr>
              <a:defRPr sz="1275">
                <a:solidFill>
                  <a:srgbClr val="895F3C"/>
                </a:solidFill>
                <a:latin typeface="Lato"/>
                <a:ea typeface="Lato"/>
                <a:cs typeface="Lato"/>
              </a:defRPr>
            </a:pPr>
            <a:r>
              <a:rPr sz="1275">
                <a:solidFill>
                  <a:srgbClr val="895F3C"/>
                </a:solidFill>
                <a:latin typeface="Lato"/>
                <a:ea typeface="Lato"/>
                <a:cs typeface="Lato"/>
              </a:rPr>
              <a:t>Short daily tasks make progress possible in transit, between classes, or at home.</a:t>
            </a:r>
          </a:p>
        </p:txBody>
      </p:sp>
      <p:sp>
        <p:nvSpPr>
          <p:cNvPr id="12" name="">
            <a:extLst xmlns:a="http://schemas.openxmlformats.org/drawingml/2006/main">
              <a:ext uri="{FF2B5EF4-FFF2-40B4-BE49-F238E27FC236}">
                <a16:creationId xmlns:a16="http://schemas.microsoft.com/office/drawing/2014/main" id="{1F189071-6F2D-4327-9354-2123F6048B66}"/>
              </a:ext>
            </a:extLst>
          </p:cNvPr>
          <p:cNvSpPr>
            <a:spLocks xmlns:a="http://schemas.openxmlformats.org/drawingml/2006/main" noGrp="1"/>
          </p:cNvSpPr>
          <p:nvPr/>
        </p:nvSpPr>
        <p:spPr>
          <a:xfrm xmlns:a="http://schemas.openxmlformats.org/drawingml/2006/main">
            <a:off x="7029450" y="2524125"/>
            <a:ext cx="4476750" cy="3000375"/>
          </a:xfrm>
          <a:prstGeom xmlns:a="http://schemas.openxmlformats.org/drawingml/2006/main" prst="roundRect">
            <a:avLst>
              <a:gd name="adj" fmla="val 7619"/>
            </a:avLst>
          </a:prstGeom>
          <a:solidFill xmlns:a="http://schemas.openxmlformats.org/drawingml/2006/main">
            <a:srgbClr val="1B100B"/>
          </a:solidFill>
          <a:ln xmlns:a="http://schemas.openxmlformats.org/drawingml/2006/main" w="9525">
            <a:solidFill>
              <a:srgbClr val="4F3323"/>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9a06fb685084bf2"/>
          <a:srcRect xmlns:a="http://schemas.openxmlformats.org/drawingml/2006/main" l="0" t="3931" r="0" b="3931"/>
          <a:stretch xmlns:a="http://schemas.openxmlformats.org/drawingml/2006/main">
            <a:fillRect l="0" t="0" r="0" b="0"/>
          </a:stretch>
        </p:blipFill>
        <p:spPr>
          <a:xfrm xmlns:a="http://schemas.openxmlformats.org/drawingml/2006/main">
            <a:off x="7239000" y="2819400"/>
            <a:ext cx="4057650" cy="1809750"/>
          </a:xfrm>
          <a:prstGeom xmlns:a="http://schemas.openxmlformats.org/drawingml/2006/main" prst="roundRect">
            <a:avLst>
              <a:gd name="adj" fmla="val 6316"/>
            </a:avLst>
          </a:prstGeom>
        </p:spPr>
      </p:pic>
      <p:sp>
        <p:nvSpPr>
          <p:cNvPr id="14" name="">
            <a:extLst xmlns:a="http://schemas.openxmlformats.org/drawingml/2006/main">
              <a:ext uri="{FF2B5EF4-FFF2-40B4-BE49-F238E27FC236}">
                <a16:creationId xmlns:a16="http://schemas.microsoft.com/office/drawing/2014/main" id="{06F1DB59-CB9E-497C-8946-DF971A138C75}"/>
              </a:ext>
            </a:extLst>
          </p:cNvPr>
          <p:cNvSpPr>
            <a:spLocks xmlns:a="http://schemas.openxmlformats.org/drawingml/2006/main" noGrp="1"/>
          </p:cNvSpPr>
          <p:nvPr/>
        </p:nvSpPr>
        <p:spPr>
          <a:xfrm xmlns:a="http://schemas.openxmlformats.org/drawingml/2006/main">
            <a:off x="7296150" y="487680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b="1">
                <a:solidFill>
                  <a:srgbClr val="FFD5A3"/>
                </a:solidFill>
                <a:latin typeface="Lato"/>
                <a:ea typeface="Lato"/>
                <a:cs typeface="Lato"/>
              </a:defRPr>
            </a:pPr>
            <a:r>
              <a:rPr sz="975" b="1">
                <a:solidFill>
                  <a:srgbClr val="FFD5A3"/>
                </a:solidFill>
                <a:latin typeface="Lato"/>
                <a:ea typeface="Lato"/>
                <a:cs typeface="Lato"/>
              </a:rPr>
              <a:t>DESKTOP</a:t>
            </a:r>
          </a:p>
        </p:txBody>
      </p:sp>
      <p:sp>
        <p:nvSpPr>
          <p:cNvPr id="15" name="">
            <a:extLst xmlns:a="http://schemas.openxmlformats.org/drawingml/2006/main">
              <a:ext uri="{FF2B5EF4-FFF2-40B4-BE49-F238E27FC236}">
                <a16:creationId xmlns:a16="http://schemas.microsoft.com/office/drawing/2014/main" id="{18256BDD-E328-4694-A572-5DC1C24F3E98}"/>
              </a:ext>
            </a:extLst>
          </p:cNvPr>
          <p:cNvSpPr>
            <a:spLocks xmlns:a="http://schemas.openxmlformats.org/drawingml/2006/main" noGrp="1"/>
          </p:cNvSpPr>
          <p:nvPr/>
        </p:nvSpPr>
        <p:spPr>
          <a:xfrm xmlns:a="http://schemas.openxmlformats.org/drawingml/2006/main">
            <a:off x="7296150" y="51435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FF6E9"/>
                </a:solidFill>
                <a:latin typeface="Lato"/>
                <a:ea typeface="Lato"/>
                <a:cs typeface="Lato"/>
              </a:defRPr>
            </a:pPr>
            <a:r>
              <a:rPr sz="2025" b="1">
                <a:solidFill>
                  <a:srgbClr val="FFF6E9"/>
                </a:solidFill>
                <a:latin typeface="Lato"/>
                <a:ea typeface="Lato"/>
                <a:cs typeface="Lato"/>
              </a:rPr>
              <a:t>Guide inside the tool</a:t>
            </a:r>
          </a:p>
        </p:txBody>
      </p:sp>
      <p:sp>
        <p:nvSpPr>
          <p:cNvPr id="16" name="">
            <a:extLst xmlns:a="http://schemas.openxmlformats.org/drawingml/2006/main">
              <a:ext uri="{FF2B5EF4-FFF2-40B4-BE49-F238E27FC236}">
                <a16:creationId xmlns:a16="http://schemas.microsoft.com/office/drawing/2014/main" id="{07166C70-0863-45A0-B5F9-B7E86024A7C8}"/>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Demonstrated surfaces · mobile and desktop product visuals</a:t>
            </a:r>
          </a:p>
        </p:txBody>
      </p:sp>
    </p:spTree>
    <p:extLst>
      <p:ext uri="{BB962C8B-B14F-4D97-AF65-F5344CB8AC3E}">
        <p14:creationId xmlns:p14="http://schemas.microsoft.com/office/powerpoint/2010/main" val="1019028680"/>
      </p:ext>
    </p:extLst>
  </p:cSld>
</p:sld>
</file>

<file path=ppt/slides/slide6.xml><?xml version="1.0" encoding="utf-8"?>
<p:sld xmlns:p="http://schemas.openxmlformats.org/presentationml/2006/main">
  <p:cSld>
    <p:bg>
      <p:bgPr>
        <a:solidFill xmlns:a="http://schemas.openxmlformats.org/drawingml/2006/main">
          <a:srgbClr val="2B191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6DFB919-F57A-4646-94CF-2E7824BFA4D8}"/>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4F5A2C7E-FCAC-4426-8BB3-CEDF9BBDB017}"/>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MOBILE PRACTICE</a:t>
            </a:r>
          </a:p>
        </p:txBody>
      </p:sp>
      <p:sp>
        <p:nvSpPr>
          <p:cNvPr id="3" name="">
            <a:extLst xmlns:a="http://schemas.openxmlformats.org/drawingml/2006/main">
              <a:ext uri="{FF2B5EF4-FFF2-40B4-BE49-F238E27FC236}">
                <a16:creationId xmlns:a16="http://schemas.microsoft.com/office/drawing/2014/main" id="{C1AEF051-80A9-4E71-96DD-AA28927BFC6E}"/>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06</a:t>
            </a:r>
          </a:p>
        </p:txBody>
      </p:sp>
      <p:sp>
        <p:nvSpPr>
          <p:cNvPr id="4" name="">
            <a:extLst xmlns:a="http://schemas.openxmlformats.org/drawingml/2006/main">
              <a:ext uri="{FF2B5EF4-FFF2-40B4-BE49-F238E27FC236}">
                <a16:creationId xmlns:a16="http://schemas.microsoft.com/office/drawing/2014/main" id="{FBAAABC1-D0DA-4D58-B7E4-76B3342E3E7F}"/>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F57AA85D-F8C1-4FFE-89FB-C1055F328CDA}"/>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Mobile turns spare minutes into practice</a:t>
            </a:r>
          </a:p>
        </p:txBody>
      </p:sp>
      <p:sp>
        <p:nvSpPr>
          <p:cNvPr id="6" name="">
            <a:extLst xmlns:a="http://schemas.openxmlformats.org/drawingml/2006/main">
              <a:ext uri="{FF2B5EF4-FFF2-40B4-BE49-F238E27FC236}">
                <a16:creationId xmlns:a16="http://schemas.microsoft.com/office/drawing/2014/main" id="{D04791B7-360C-4CB6-ADA2-64DF6C91797E}"/>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A daily task can fit into the time a learner already has.</a:t>
            </a:r>
          </a:p>
        </p:txBody>
      </p:sp>
      <p:sp>
        <p:nvSpPr>
          <p:cNvPr id="7" name="">
            <a:extLst xmlns:a="http://schemas.openxmlformats.org/drawingml/2006/main">
              <a:ext uri="{FF2B5EF4-FFF2-40B4-BE49-F238E27FC236}">
                <a16:creationId xmlns:a16="http://schemas.microsoft.com/office/drawing/2014/main" id="{59D179DA-FDB3-43D7-A012-0805647A93EB}"/>
              </a:ext>
            </a:extLst>
          </p:cNvPr>
          <p:cNvSpPr>
            <a:spLocks xmlns:a="http://schemas.openxmlformats.org/drawingml/2006/main" noGrp="1"/>
          </p:cNvSpPr>
          <p:nvPr/>
        </p:nvSpPr>
        <p:spPr>
          <a:xfrm xmlns:a="http://schemas.openxmlformats.org/drawingml/2006/main">
            <a:off x="704850" y="2400300"/>
            <a:ext cx="2286000" cy="3619500"/>
          </a:xfrm>
          <a:prstGeom xmlns:a="http://schemas.openxmlformats.org/drawingml/2006/main" prst="roundRect">
            <a:avLst>
              <a:gd name="adj" fmla="val 10000"/>
            </a:avLst>
          </a:prstGeom>
          <a:solidFill xmlns:a="http://schemas.openxmlformats.org/drawingml/2006/main">
            <a:srgbClr val="1B100B"/>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363134f7d4048e5"/>
          <a:stretch xmlns:a="http://schemas.openxmlformats.org/drawingml/2006/main"/>
        </p:blipFill>
        <p:spPr>
          <a:xfrm xmlns:a="http://schemas.openxmlformats.org/drawingml/2006/main">
            <a:off x="1073210" y="2543175"/>
            <a:ext cx="1549280" cy="3352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FDA23A2-AE9D-4359-A150-FD38BD055ED8}"/>
              </a:ext>
            </a:extLst>
          </p:cNvPr>
          <p:cNvSpPr>
            <a:spLocks xmlns:a="http://schemas.openxmlformats.org/drawingml/2006/main" noGrp="1"/>
          </p:cNvSpPr>
          <p:nvPr/>
        </p:nvSpPr>
        <p:spPr>
          <a:xfrm xmlns:a="http://schemas.openxmlformats.org/drawingml/2006/main">
            <a:off x="3238500" y="2400300"/>
            <a:ext cx="2286000" cy="3619500"/>
          </a:xfrm>
          <a:prstGeom xmlns:a="http://schemas.openxmlformats.org/drawingml/2006/main" prst="roundRect">
            <a:avLst>
              <a:gd name="adj" fmla="val 10000"/>
            </a:avLst>
          </a:prstGeom>
          <a:solidFill xmlns:a="http://schemas.openxmlformats.org/drawingml/2006/main">
            <a:srgbClr val="1B100B"/>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f317d675d6444eec"/>
          <a:stretch xmlns:a="http://schemas.openxmlformats.org/drawingml/2006/main"/>
        </p:blipFill>
        <p:spPr>
          <a:xfrm xmlns:a="http://schemas.openxmlformats.org/drawingml/2006/main">
            <a:off x="3606860" y="2543175"/>
            <a:ext cx="1549280" cy="3352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D20717D-3781-45C6-9EB6-164BF4A846CB}"/>
              </a:ext>
            </a:extLst>
          </p:cNvPr>
          <p:cNvSpPr>
            <a:spLocks xmlns:a="http://schemas.openxmlformats.org/drawingml/2006/main" noGrp="1"/>
          </p:cNvSpPr>
          <p:nvPr/>
        </p:nvSpPr>
        <p:spPr>
          <a:xfrm xmlns:a="http://schemas.openxmlformats.org/drawingml/2006/main">
            <a:off x="6477000" y="2857500"/>
            <a:ext cx="400050" cy="4000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1</a:t>
            </a:r>
          </a:p>
        </p:txBody>
      </p:sp>
      <p:sp>
        <p:nvSpPr>
          <p:cNvPr id="12" name="">
            <a:extLst xmlns:a="http://schemas.openxmlformats.org/drawingml/2006/main">
              <a:ext uri="{FF2B5EF4-FFF2-40B4-BE49-F238E27FC236}">
                <a16:creationId xmlns:a16="http://schemas.microsoft.com/office/drawing/2014/main" id="{CD58DB47-245C-400A-B58E-C701DFDC64E2}"/>
              </a:ext>
            </a:extLst>
          </p:cNvPr>
          <p:cNvSpPr>
            <a:spLocks xmlns:a="http://schemas.openxmlformats.org/drawingml/2006/main" noGrp="1"/>
          </p:cNvSpPr>
          <p:nvPr/>
        </p:nvSpPr>
        <p:spPr>
          <a:xfrm xmlns:a="http://schemas.openxmlformats.org/drawingml/2006/main">
            <a:off x="7067550" y="28289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8–10 min</a:t>
            </a:r>
          </a:p>
        </p:txBody>
      </p:sp>
      <p:sp>
        <p:nvSpPr>
          <p:cNvPr id="13" name="">
            <a:extLst xmlns:a="http://schemas.openxmlformats.org/drawingml/2006/main">
              <a:ext uri="{FF2B5EF4-FFF2-40B4-BE49-F238E27FC236}">
                <a16:creationId xmlns:a16="http://schemas.microsoft.com/office/drawing/2014/main" id="{A56DE9D4-8558-401F-864A-096B8825A980}"/>
              </a:ext>
            </a:extLst>
          </p:cNvPr>
          <p:cNvSpPr>
            <a:spLocks xmlns:a="http://schemas.openxmlformats.org/drawingml/2006/main" noGrp="1"/>
          </p:cNvSpPr>
          <p:nvPr/>
        </p:nvSpPr>
        <p:spPr>
          <a:xfrm xmlns:a="http://schemas.openxmlformats.org/drawingml/2006/main">
            <a:off x="7067550" y="317182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A small session with a clear finish line</a:t>
            </a:r>
          </a:p>
        </p:txBody>
      </p:sp>
      <p:sp>
        <p:nvSpPr>
          <p:cNvPr id="14" name="">
            <a:extLst xmlns:a="http://schemas.openxmlformats.org/drawingml/2006/main">
              <a:ext uri="{FF2B5EF4-FFF2-40B4-BE49-F238E27FC236}">
                <a16:creationId xmlns:a16="http://schemas.microsoft.com/office/drawing/2014/main" id="{60170050-A04B-4330-94CC-6A7D7A3598C4}"/>
              </a:ext>
            </a:extLst>
          </p:cNvPr>
          <p:cNvSpPr>
            <a:spLocks xmlns:a="http://schemas.openxmlformats.org/drawingml/2006/main" noGrp="1"/>
          </p:cNvSpPr>
          <p:nvPr/>
        </p:nvSpPr>
        <p:spPr>
          <a:xfrm xmlns:a="http://schemas.openxmlformats.org/drawingml/2006/main">
            <a:off x="6477000" y="3829050"/>
            <a:ext cx="400050" cy="4000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6E9"/>
                </a:solidFill>
                <a:latin typeface="Lato"/>
                <a:ea typeface="Lato"/>
                <a:cs typeface="Lato"/>
              </a:defRPr>
            </a:pPr>
            <a:r>
              <a:rPr sz="1350" b="1">
                <a:solidFill>
                  <a:srgbClr val="FFF6E9"/>
                </a:solidFill>
                <a:latin typeface="Lato"/>
                <a:ea typeface="Lato"/>
                <a:cs typeface="Lato"/>
              </a:rPr>
              <a:t>2</a:t>
            </a:r>
          </a:p>
        </p:txBody>
      </p:sp>
      <p:sp>
        <p:nvSpPr>
          <p:cNvPr id="15" name="">
            <a:extLst xmlns:a="http://schemas.openxmlformats.org/drawingml/2006/main">
              <a:ext uri="{FF2B5EF4-FFF2-40B4-BE49-F238E27FC236}">
                <a16:creationId xmlns:a16="http://schemas.microsoft.com/office/drawing/2014/main" id="{A4DCC659-A7B2-4095-A0B1-BA4B7DB0480B}"/>
              </a:ext>
            </a:extLst>
          </p:cNvPr>
          <p:cNvSpPr>
            <a:spLocks xmlns:a="http://schemas.openxmlformats.org/drawingml/2006/main" noGrp="1"/>
          </p:cNvSpPr>
          <p:nvPr/>
        </p:nvSpPr>
        <p:spPr>
          <a:xfrm xmlns:a="http://schemas.openxmlformats.org/drawingml/2006/main">
            <a:off x="7067550" y="38004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No typing needed</a:t>
            </a:r>
          </a:p>
        </p:txBody>
      </p:sp>
      <p:sp>
        <p:nvSpPr>
          <p:cNvPr id="16" name="">
            <a:extLst xmlns:a="http://schemas.openxmlformats.org/drawingml/2006/main">
              <a:ext uri="{FF2B5EF4-FFF2-40B4-BE49-F238E27FC236}">
                <a16:creationId xmlns:a16="http://schemas.microsoft.com/office/drawing/2014/main" id="{7CEE5D20-20FB-41FF-916C-DFA2F393EAE2}"/>
              </a:ext>
            </a:extLst>
          </p:cNvPr>
          <p:cNvSpPr>
            <a:spLocks xmlns:a="http://schemas.openxmlformats.org/drawingml/2006/main" noGrp="1"/>
          </p:cNvSpPr>
          <p:nvPr/>
        </p:nvSpPr>
        <p:spPr>
          <a:xfrm xmlns:a="http://schemas.openxmlformats.org/drawingml/2006/main">
            <a:off x="7067550" y="414337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The first days use three-choice recognition</a:t>
            </a:r>
          </a:p>
        </p:txBody>
      </p:sp>
      <p:sp>
        <p:nvSpPr>
          <p:cNvPr id="17" name="">
            <a:extLst xmlns:a="http://schemas.openxmlformats.org/drawingml/2006/main">
              <a:ext uri="{FF2B5EF4-FFF2-40B4-BE49-F238E27FC236}">
                <a16:creationId xmlns:a16="http://schemas.microsoft.com/office/drawing/2014/main" id="{A73AD443-59AD-4D93-8E82-6533250546F6}"/>
              </a:ext>
            </a:extLst>
          </p:cNvPr>
          <p:cNvSpPr>
            <a:spLocks xmlns:a="http://schemas.openxmlformats.org/drawingml/2006/main" noGrp="1"/>
          </p:cNvSpPr>
          <p:nvPr/>
        </p:nvSpPr>
        <p:spPr>
          <a:xfrm xmlns:a="http://schemas.openxmlformats.org/drawingml/2006/main">
            <a:off x="6477000" y="4800600"/>
            <a:ext cx="400050" cy="40005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3</a:t>
            </a:r>
          </a:p>
        </p:txBody>
      </p:sp>
      <p:sp>
        <p:nvSpPr>
          <p:cNvPr id="18" name="">
            <a:extLst xmlns:a="http://schemas.openxmlformats.org/drawingml/2006/main">
              <a:ext uri="{FF2B5EF4-FFF2-40B4-BE49-F238E27FC236}">
                <a16:creationId xmlns:a16="http://schemas.microsoft.com/office/drawing/2014/main" id="{EE526B46-32B4-4DB7-A8E1-EEFCF066756C}"/>
              </a:ext>
            </a:extLst>
          </p:cNvPr>
          <p:cNvSpPr>
            <a:spLocks xmlns:a="http://schemas.openxmlformats.org/drawingml/2006/main" noGrp="1"/>
          </p:cNvSpPr>
          <p:nvPr/>
        </p:nvSpPr>
        <p:spPr>
          <a:xfrm xmlns:a="http://schemas.openxmlformats.org/drawingml/2006/main">
            <a:off x="7067550" y="477202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One real skill</a:t>
            </a:r>
          </a:p>
        </p:txBody>
      </p:sp>
      <p:sp>
        <p:nvSpPr>
          <p:cNvPr id="19" name="">
            <a:extLst xmlns:a="http://schemas.openxmlformats.org/drawingml/2006/main">
              <a:ext uri="{FF2B5EF4-FFF2-40B4-BE49-F238E27FC236}">
                <a16:creationId xmlns:a16="http://schemas.microsoft.com/office/drawing/2014/main" id="{5A392FDD-31B7-4614-9DAE-F4B96C72C077}"/>
              </a:ext>
            </a:extLst>
          </p:cNvPr>
          <p:cNvSpPr>
            <a:spLocks xmlns:a="http://schemas.openxmlformats.org/drawingml/2006/main" noGrp="1"/>
          </p:cNvSpPr>
          <p:nvPr/>
        </p:nvSpPr>
        <p:spPr>
          <a:xfrm xmlns:a="http://schemas.openxmlformats.org/drawingml/2006/main">
            <a:off x="7067550" y="511492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Every step maps to a usable web concept</a:t>
            </a:r>
          </a:p>
        </p:txBody>
      </p:sp>
      <p:sp>
        <p:nvSpPr>
          <p:cNvPr id="20" name="">
            <a:extLst xmlns:a="http://schemas.openxmlformats.org/drawingml/2006/main">
              <a:ext uri="{FF2B5EF4-FFF2-40B4-BE49-F238E27FC236}">
                <a16:creationId xmlns:a16="http://schemas.microsoft.com/office/drawing/2014/main" id="{BAA764A3-0E27-40A8-A616-69F8F2FD2FC7}"/>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Demonstrated · beginner-friendly lesson flow</a:t>
            </a:r>
          </a:p>
        </p:txBody>
      </p:sp>
    </p:spTree>
    <p:extLst>
      <p:ext uri="{BB962C8B-B14F-4D97-AF65-F5344CB8AC3E}">
        <p14:creationId xmlns:p14="http://schemas.microsoft.com/office/powerpoint/2010/main" val="1217925117"/>
      </p:ext>
    </p:extLst>
  </p:cSld>
</p:sld>
</file>

<file path=ppt/slides/slide7.xml><?xml version="1.0" encoding="utf-8"?>
<p:sld xmlns:p="http://schemas.openxmlformats.org/presentationml/2006/main">
  <p:cSld>
    <p:bg>
      <p:bgPr>
        <a:solidFill xmlns:a="http://schemas.openxmlformats.org/drawingml/2006/main">
          <a:srgbClr val="2D180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55D1844-AEC7-45E7-B69C-AC0D8C476C2E}"/>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B2AC97E2-3F6B-4D30-94E3-B2886298DAB1}"/>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DESKTOP GUIDANCE</a:t>
            </a:r>
          </a:p>
        </p:txBody>
      </p:sp>
      <p:sp>
        <p:nvSpPr>
          <p:cNvPr id="3" name="">
            <a:extLst xmlns:a="http://schemas.openxmlformats.org/drawingml/2006/main">
              <a:ext uri="{FF2B5EF4-FFF2-40B4-BE49-F238E27FC236}">
                <a16:creationId xmlns:a16="http://schemas.microsoft.com/office/drawing/2014/main" id="{4AEDF79B-1F99-4981-BA4B-53719F2390A0}"/>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07</a:t>
            </a:r>
          </a:p>
        </p:txBody>
      </p:sp>
      <p:sp>
        <p:nvSpPr>
          <p:cNvPr id="4" name="">
            <a:extLst xmlns:a="http://schemas.openxmlformats.org/drawingml/2006/main">
              <a:ext uri="{FF2B5EF4-FFF2-40B4-BE49-F238E27FC236}">
                <a16:creationId xmlns:a16="http://schemas.microsoft.com/office/drawing/2014/main" id="{9E980E9A-2064-4B9B-8829-7ADB1E8816AF}"/>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75C91301-40F5-4784-AF67-5BBC3084A708}"/>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0281"/>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Desktop guidance meets the learner where work happens</a:t>
            </a:r>
          </a:p>
        </p:txBody>
      </p:sp>
      <p:sp>
        <p:nvSpPr>
          <p:cNvPr id="6" name="">
            <a:extLst xmlns:a="http://schemas.openxmlformats.org/drawingml/2006/main">
              <a:ext uri="{FF2B5EF4-FFF2-40B4-BE49-F238E27FC236}">
                <a16:creationId xmlns:a16="http://schemas.microsoft.com/office/drawing/2014/main" id="{B29749B2-D309-4287-B93A-193F92134784}"/>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For 3D, code, and other tools, Bataa can point to the next action instead of describing it from a distance.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34bf0024fbb4050"/>
          <a:srcRect xmlns:a="http://schemas.openxmlformats.org/drawingml/2006/main" l="0" t="2065" r="0" b="2065"/>
          <a:stretch xmlns:a="http://schemas.openxmlformats.org/drawingml/2006/main">
            <a:fillRect l="0" t="0" r="0" b="0"/>
          </a:stretch>
        </p:blipFill>
        <p:spPr>
          <a:xfrm xmlns:a="http://schemas.openxmlformats.org/drawingml/2006/main">
            <a:off x="647700" y="2476500"/>
            <a:ext cx="6572250" cy="3429000"/>
          </a:xfrm>
          <a:prstGeom xmlns:a="http://schemas.openxmlformats.org/drawingml/2006/main" prst="roundRect">
            <a:avLst>
              <a:gd name="adj" fmla="val 4444"/>
            </a:avLst>
          </a:prstGeom>
        </p:spPr>
      </p:pic>
      <p:sp>
        <p:nvSpPr>
          <p:cNvPr id="8" name="">
            <a:extLst xmlns:a="http://schemas.openxmlformats.org/drawingml/2006/main">
              <a:ext uri="{FF2B5EF4-FFF2-40B4-BE49-F238E27FC236}">
                <a16:creationId xmlns:a16="http://schemas.microsoft.com/office/drawing/2014/main" id="{8BEF4824-110B-4279-8A92-C486B0B598B9}"/>
              </a:ext>
            </a:extLst>
          </p:cNvPr>
          <p:cNvSpPr>
            <a:spLocks xmlns:a="http://schemas.openxmlformats.org/drawingml/2006/main" noGrp="1"/>
          </p:cNvSpPr>
          <p:nvPr/>
        </p:nvSpPr>
        <p:spPr>
          <a:xfrm xmlns:a="http://schemas.openxmlformats.org/drawingml/2006/main">
            <a:off x="7696200" y="2571750"/>
            <a:ext cx="3571875" cy="3124200"/>
          </a:xfrm>
          <a:prstGeom xmlns:a="http://schemas.openxmlformats.org/drawingml/2006/main" prst="roundRect">
            <a:avLst>
              <a:gd name="adj" fmla="val 4878"/>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95A307D-F3A2-4C64-860C-E8A7DF0D2F93}"/>
              </a:ext>
            </a:extLst>
          </p:cNvPr>
          <p:cNvSpPr>
            <a:spLocks xmlns:a="http://schemas.openxmlformats.org/drawingml/2006/main" noGrp="1"/>
          </p:cNvSpPr>
          <p:nvPr/>
        </p:nvSpPr>
        <p:spPr>
          <a:xfrm xmlns:a="http://schemas.openxmlformats.org/drawingml/2006/main">
            <a:off x="7981950" y="2914650"/>
            <a:ext cx="342900" cy="342900"/>
          </a:xfrm>
          <a:prstGeom xmlns:a="http://schemas.openxmlformats.org/drawingml/2006/main" prst="ellipse">
            <a:avLst/>
          </a:prstGeom>
          <a:solidFill xmlns:a="http://schemas.openxmlformats.org/drawingml/2006/main">
            <a:srgbClr val="FBEAD4"/>
          </a:solidFill>
          <a:ln xmlns:a="http://schemas.openxmlformats.org/drawingml/2006/main" w="0">
            <a:solidFill>
              <a:srgbClr val="FBEAD4"/>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D83E963C-6ADC-4E4D-A06B-EC0F4A65EE3B}"/>
              </a:ext>
            </a:extLst>
          </p:cNvPr>
          <p:cNvSpPr>
            <a:spLocks xmlns:a="http://schemas.openxmlformats.org/drawingml/2006/main" noGrp="1"/>
          </p:cNvSpPr>
          <p:nvPr/>
        </p:nvSpPr>
        <p:spPr>
          <a:xfrm xmlns:a="http://schemas.openxmlformats.org/drawingml/2006/main">
            <a:off x="8496300" y="28956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FFF6E9"/>
                </a:solidFill>
                <a:latin typeface="Lato"/>
                <a:ea typeface="Lato"/>
                <a:cs typeface="Lato"/>
              </a:defRPr>
            </a:pPr>
            <a:r>
              <a:rPr sz="1425" b="1">
                <a:solidFill>
                  <a:srgbClr val="FFF6E9"/>
                </a:solidFill>
                <a:latin typeface="Lato"/>
                <a:ea typeface="Lato"/>
                <a:cs typeface="Lato"/>
              </a:rPr>
              <a:t>Notice</a:t>
            </a:r>
          </a:p>
        </p:txBody>
      </p:sp>
      <p:sp>
        <p:nvSpPr>
          <p:cNvPr id="11" name="">
            <a:extLst xmlns:a="http://schemas.openxmlformats.org/drawingml/2006/main">
              <a:ext uri="{FF2B5EF4-FFF2-40B4-BE49-F238E27FC236}">
                <a16:creationId xmlns:a16="http://schemas.microsoft.com/office/drawing/2014/main" id="{3B139A92-1BF4-43F7-B385-2F1A68A93026}"/>
              </a:ext>
            </a:extLst>
          </p:cNvPr>
          <p:cNvSpPr>
            <a:spLocks xmlns:a="http://schemas.openxmlformats.org/drawingml/2006/main" noGrp="1"/>
          </p:cNvSpPr>
          <p:nvPr/>
        </p:nvSpPr>
        <p:spPr>
          <a:xfrm xmlns:a="http://schemas.openxmlformats.org/drawingml/2006/main">
            <a:off x="8496300" y="315277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Understand what the learner is trying to do</a:t>
            </a:r>
          </a:p>
        </p:txBody>
      </p:sp>
      <p:sp>
        <p:nvSpPr>
          <p:cNvPr id="12" name="">
            <a:extLst xmlns:a="http://schemas.openxmlformats.org/drawingml/2006/main">
              <a:ext uri="{FF2B5EF4-FFF2-40B4-BE49-F238E27FC236}">
                <a16:creationId xmlns:a16="http://schemas.microsoft.com/office/drawing/2014/main" id="{A7BDA668-1A46-405B-B13D-9786029FDCF9}"/>
              </a:ext>
            </a:extLst>
          </p:cNvPr>
          <p:cNvSpPr>
            <a:spLocks xmlns:a="http://schemas.openxmlformats.org/drawingml/2006/main" noGrp="1"/>
          </p:cNvSpPr>
          <p:nvPr/>
        </p:nvSpPr>
        <p:spPr>
          <a:xfrm xmlns:a="http://schemas.openxmlformats.org/drawingml/2006/main">
            <a:off x="7981950" y="3743325"/>
            <a:ext cx="342900" cy="3429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02</a:t>
            </a:r>
          </a:p>
        </p:txBody>
      </p:sp>
      <p:sp>
        <p:nvSpPr>
          <p:cNvPr id="13" name="">
            <a:extLst xmlns:a="http://schemas.openxmlformats.org/drawingml/2006/main">
              <a:ext uri="{FF2B5EF4-FFF2-40B4-BE49-F238E27FC236}">
                <a16:creationId xmlns:a16="http://schemas.microsoft.com/office/drawing/2014/main" id="{BF15F8D2-FD38-40A3-AB62-0379F75E367D}"/>
              </a:ext>
            </a:extLst>
          </p:cNvPr>
          <p:cNvSpPr>
            <a:spLocks xmlns:a="http://schemas.openxmlformats.org/drawingml/2006/main" noGrp="1"/>
          </p:cNvSpPr>
          <p:nvPr/>
        </p:nvSpPr>
        <p:spPr>
          <a:xfrm xmlns:a="http://schemas.openxmlformats.org/drawingml/2006/main">
            <a:off x="8496300" y="3724275"/>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FFF6E9"/>
                </a:solidFill>
                <a:latin typeface="Lato"/>
                <a:ea typeface="Lato"/>
                <a:cs typeface="Lato"/>
              </a:defRPr>
            </a:pPr>
            <a:r>
              <a:rPr sz="1425" b="1">
                <a:solidFill>
                  <a:srgbClr val="FFF6E9"/>
                </a:solidFill>
                <a:latin typeface="Lato"/>
                <a:ea typeface="Lato"/>
                <a:cs typeface="Lato"/>
              </a:rPr>
              <a:t>Point</a:t>
            </a:r>
          </a:p>
        </p:txBody>
      </p:sp>
      <p:sp>
        <p:nvSpPr>
          <p:cNvPr id="14" name="">
            <a:extLst xmlns:a="http://schemas.openxmlformats.org/drawingml/2006/main">
              <a:ext uri="{FF2B5EF4-FFF2-40B4-BE49-F238E27FC236}">
                <a16:creationId xmlns:a16="http://schemas.microsoft.com/office/drawing/2014/main" id="{789D94F1-1D36-4DCD-8AB0-DAE5842EB331}"/>
              </a:ext>
            </a:extLst>
          </p:cNvPr>
          <p:cNvSpPr>
            <a:spLocks xmlns:a="http://schemas.openxmlformats.org/drawingml/2006/main" noGrp="1"/>
          </p:cNvSpPr>
          <p:nvPr/>
        </p:nvSpPr>
        <p:spPr>
          <a:xfrm xmlns:a="http://schemas.openxmlformats.org/drawingml/2006/main">
            <a:off x="8496300" y="39814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Highlight the exact control or line to inspect</a:t>
            </a:r>
          </a:p>
        </p:txBody>
      </p:sp>
      <p:sp>
        <p:nvSpPr>
          <p:cNvPr id="15" name="">
            <a:extLst xmlns:a="http://schemas.openxmlformats.org/drawingml/2006/main">
              <a:ext uri="{FF2B5EF4-FFF2-40B4-BE49-F238E27FC236}">
                <a16:creationId xmlns:a16="http://schemas.microsoft.com/office/drawing/2014/main" id="{87DFEBE7-BBDF-4AD5-ADF5-3975EFD4052C}"/>
              </a:ext>
            </a:extLst>
          </p:cNvPr>
          <p:cNvSpPr>
            <a:spLocks xmlns:a="http://schemas.openxmlformats.org/drawingml/2006/main" noGrp="1"/>
          </p:cNvSpPr>
          <p:nvPr/>
        </p:nvSpPr>
        <p:spPr>
          <a:xfrm xmlns:a="http://schemas.openxmlformats.org/drawingml/2006/main">
            <a:off x="7981950" y="4572000"/>
            <a:ext cx="342900" cy="342900"/>
          </a:xfrm>
          <a:prstGeom xmlns:a="http://schemas.openxmlformats.org/drawingml/2006/main" prst="ellipse">
            <a:avLst/>
          </a:prstGeom>
          <a:solidFill xmlns:a="http://schemas.openxmlformats.org/drawingml/2006/main">
            <a:srgbClr val="FBEAD4"/>
          </a:solidFill>
          <a:ln xmlns:a="http://schemas.openxmlformats.org/drawingml/2006/main" w="0">
            <a:solidFill>
              <a:srgbClr val="FBEAD4"/>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03</a:t>
            </a:r>
          </a:p>
        </p:txBody>
      </p:sp>
      <p:sp>
        <p:nvSpPr>
          <p:cNvPr id="16" name="">
            <a:extLst xmlns:a="http://schemas.openxmlformats.org/drawingml/2006/main">
              <a:ext uri="{FF2B5EF4-FFF2-40B4-BE49-F238E27FC236}">
                <a16:creationId xmlns:a16="http://schemas.microsoft.com/office/drawing/2014/main" id="{B325A324-6A68-4148-9064-7447C497C770}"/>
              </a:ext>
            </a:extLst>
          </p:cNvPr>
          <p:cNvSpPr>
            <a:spLocks xmlns:a="http://schemas.openxmlformats.org/drawingml/2006/main" noGrp="1"/>
          </p:cNvSpPr>
          <p:nvPr/>
        </p:nvSpPr>
        <p:spPr>
          <a:xfrm xmlns:a="http://schemas.openxmlformats.org/drawingml/2006/main">
            <a:off x="8496300" y="45529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FFF6E9"/>
                </a:solidFill>
                <a:latin typeface="Lato"/>
                <a:ea typeface="Lato"/>
                <a:cs typeface="Lato"/>
              </a:defRPr>
            </a:pPr>
            <a:r>
              <a:rPr sz="1425" b="1">
                <a:solidFill>
                  <a:srgbClr val="FFF6E9"/>
                </a:solidFill>
                <a:latin typeface="Lato"/>
                <a:ea typeface="Lato"/>
                <a:cs typeface="Lato"/>
              </a:rPr>
              <a:t>Try</a:t>
            </a:r>
          </a:p>
        </p:txBody>
      </p:sp>
      <p:sp>
        <p:nvSpPr>
          <p:cNvPr id="17" name="">
            <a:extLst xmlns:a="http://schemas.openxmlformats.org/drawingml/2006/main">
              <a:ext uri="{FF2B5EF4-FFF2-40B4-BE49-F238E27FC236}">
                <a16:creationId xmlns:a16="http://schemas.microsoft.com/office/drawing/2014/main" id="{9A71C6AC-3400-4297-ABC8-7A66BC7CF533}"/>
              </a:ext>
            </a:extLst>
          </p:cNvPr>
          <p:cNvSpPr>
            <a:spLocks xmlns:a="http://schemas.openxmlformats.org/drawingml/2006/main" noGrp="1"/>
          </p:cNvSpPr>
          <p:nvPr/>
        </p:nvSpPr>
        <p:spPr>
          <a:xfrm xmlns:a="http://schemas.openxmlformats.org/drawingml/2006/main">
            <a:off x="8496300" y="481012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Let the learner perform the action and see the result</a:t>
            </a:r>
          </a:p>
        </p:txBody>
      </p:sp>
      <p:sp>
        <p:nvSpPr>
          <p:cNvPr id="18" name="">
            <a:extLst xmlns:a="http://schemas.openxmlformats.org/drawingml/2006/main">
              <a:ext uri="{FF2B5EF4-FFF2-40B4-BE49-F238E27FC236}">
                <a16:creationId xmlns:a16="http://schemas.microsoft.com/office/drawing/2014/main" id="{0A7FA042-C0B2-48FE-88E9-994803D488B9}"/>
              </a:ext>
            </a:extLst>
          </p:cNvPr>
          <p:cNvSpPr>
            <a:spLocks xmlns:a="http://schemas.openxmlformats.org/drawingml/2006/main" noGrp="1"/>
          </p:cNvSpPr>
          <p:nvPr/>
        </p:nvSpPr>
        <p:spPr>
          <a:xfrm xmlns:a="http://schemas.openxmlformats.org/drawingml/2006/main">
            <a:off x="647700" y="6096000"/>
            <a:ext cx="1428750" cy="266700"/>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DEMONSTRATED</a:t>
            </a:r>
          </a:p>
        </p:txBody>
      </p:sp>
      <p:sp>
        <p:nvSpPr>
          <p:cNvPr id="19" name="">
            <a:extLst xmlns:a="http://schemas.openxmlformats.org/drawingml/2006/main">
              <a:ext uri="{FF2B5EF4-FFF2-40B4-BE49-F238E27FC236}">
                <a16:creationId xmlns:a16="http://schemas.microsoft.com/office/drawing/2014/main" id="{DAA6457D-36C1-4A9E-B075-4F48FC904D80}"/>
              </a:ext>
            </a:extLst>
          </p:cNvPr>
          <p:cNvSpPr>
            <a:spLocks xmlns:a="http://schemas.openxmlformats.org/drawingml/2006/main" noGrp="1"/>
          </p:cNvSpPr>
          <p:nvPr/>
        </p:nvSpPr>
        <p:spPr>
          <a:xfrm xmlns:a="http://schemas.openxmlformats.org/drawingml/2006/main">
            <a:off x="2095500" y="6134100"/>
            <a:ext cx="752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a:solidFill>
                  <a:srgbClr val="D8BBA4"/>
                </a:solidFill>
                <a:latin typeface="Lato"/>
                <a:ea typeface="Lato"/>
                <a:cs typeface="Lato"/>
              </a:defRPr>
            </a:pPr>
            <a:r>
              <a:rPr sz="975">
                <a:solidFill>
                  <a:srgbClr val="D8BBA4"/>
                </a:solidFill>
                <a:latin typeface="Lato"/>
                <a:ea typeface="Lato"/>
                <a:cs typeface="Lato"/>
              </a:rPr>
              <a:t>Autonomous control and deeper integrations are pilot work, not a promise of the current build.</a:t>
            </a:r>
          </a:p>
        </p:txBody>
      </p:sp>
      <p:sp>
        <p:nvSpPr>
          <p:cNvPr id="20" name="">
            <a:extLst xmlns:a="http://schemas.openxmlformats.org/drawingml/2006/main">
              <a:ext uri="{FF2B5EF4-FFF2-40B4-BE49-F238E27FC236}">
                <a16:creationId xmlns:a16="http://schemas.microsoft.com/office/drawing/2014/main" id="{1D30F962-AA69-41CB-A843-5760141CE58B}"/>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Desktop product visual · guided-project-ai.webp and ai-assisted-coding.webp</a:t>
            </a:r>
          </a:p>
        </p:txBody>
      </p:sp>
    </p:spTree>
    <p:extLst>
      <p:ext uri="{BB962C8B-B14F-4D97-AF65-F5344CB8AC3E}">
        <p14:creationId xmlns:p14="http://schemas.microsoft.com/office/powerpoint/2010/main" val="893597570"/>
      </p:ext>
    </p:extLst>
  </p:cSld>
</p:sld>
</file>

<file path=ppt/slides/slide8.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768AF7B-B911-4A5B-885E-22C360A2CFA2}"/>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963E4D4D-E60C-4C4C-96DC-4A46B3FB033B}"/>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SKILL JOURNEY</a:t>
            </a:r>
          </a:p>
        </p:txBody>
      </p:sp>
      <p:sp>
        <p:nvSpPr>
          <p:cNvPr id="3" name="">
            <a:extLst xmlns:a="http://schemas.openxmlformats.org/drawingml/2006/main">
              <a:ext uri="{FF2B5EF4-FFF2-40B4-BE49-F238E27FC236}">
                <a16:creationId xmlns:a16="http://schemas.microsoft.com/office/drawing/2014/main" id="{E119F963-AA27-4038-8BAF-CC25CD5D19EA}"/>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08</a:t>
            </a:r>
          </a:p>
        </p:txBody>
      </p:sp>
      <p:sp>
        <p:nvSpPr>
          <p:cNvPr id="4" name="">
            <a:extLst xmlns:a="http://schemas.openxmlformats.org/drawingml/2006/main">
              <a:ext uri="{FF2B5EF4-FFF2-40B4-BE49-F238E27FC236}">
                <a16:creationId xmlns:a16="http://schemas.microsoft.com/office/drawing/2014/main" id="{0F7F4894-04E6-44AA-B8A3-B29D08CCDD91}"/>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A5D15342-EA27-47C9-BEC0-BD0D7BE39693}"/>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531"/>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A skill compounds one small day at a time</a:t>
            </a:r>
          </a:p>
        </p:txBody>
      </p:sp>
      <p:sp>
        <p:nvSpPr>
          <p:cNvPr id="6" name="">
            <a:extLst xmlns:a="http://schemas.openxmlformats.org/drawingml/2006/main">
              <a:ext uri="{FF2B5EF4-FFF2-40B4-BE49-F238E27FC236}">
                <a16:creationId xmlns:a16="http://schemas.microsoft.com/office/drawing/2014/main" id="{6F2ABEDC-7745-4BD0-A7D7-847D836FC4B2}"/>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Illustrative 3D-modeling journey: the learner starts with a gesture, then builds a real artifact.</a:t>
            </a:r>
          </a:p>
        </p:txBody>
      </p:sp>
      <p:sp>
        <p:nvSpPr>
          <p:cNvPr id="7" name="">
            <a:extLst xmlns:a="http://schemas.openxmlformats.org/drawingml/2006/main">
              <a:ext uri="{FF2B5EF4-FFF2-40B4-BE49-F238E27FC236}">
                <a16:creationId xmlns:a16="http://schemas.microsoft.com/office/drawing/2014/main" id="{BBC53A04-02AC-4973-9DDC-CE1E2944C488}"/>
              </a:ext>
            </a:extLst>
          </p:cNvPr>
          <p:cNvSpPr>
            <a:spLocks xmlns:a="http://schemas.openxmlformats.org/drawingml/2006/main" noGrp="1"/>
          </p:cNvSpPr>
          <p:nvPr/>
        </p:nvSpPr>
        <p:spPr>
          <a:xfrm xmlns:a="http://schemas.openxmlformats.org/drawingml/2006/main">
            <a:off x="1524000" y="3467100"/>
            <a:ext cx="9048750" cy="0"/>
          </a:xfrm>
          <a:prstGeom xmlns:a="http://schemas.openxmlformats.org/drawingml/2006/main" prst="line">
            <a:avLst/>
          </a:prstGeom>
          <a:noFill xmlns:a="http://schemas.openxmlformats.org/drawingml/2006/main"/>
          <a:ln xmlns:a="http://schemas.openxmlformats.org/drawingml/2006/main" w="47625">
            <a:solidFill>
              <a:srgbClr val="FF8500"/>
            </a:solidFill>
            <a:prstDash val="solid"/>
          </a:ln>
        </p:spPr>
      </p:sp>
      <p:sp>
        <p:nvSpPr>
          <p:cNvPr id="8" name="">
            <a:extLst xmlns:a="http://schemas.openxmlformats.org/drawingml/2006/main">
              <a:ext uri="{FF2B5EF4-FFF2-40B4-BE49-F238E27FC236}">
                <a16:creationId xmlns:a16="http://schemas.microsoft.com/office/drawing/2014/main" id="{0529F91A-4AA1-4614-B97B-016E898F4CC4}"/>
              </a:ext>
            </a:extLst>
          </p:cNvPr>
          <p:cNvSpPr>
            <a:spLocks xmlns:a="http://schemas.openxmlformats.org/drawingml/2006/main" noGrp="1"/>
          </p:cNvSpPr>
          <p:nvPr/>
        </p:nvSpPr>
        <p:spPr>
          <a:xfrm xmlns:a="http://schemas.openxmlformats.org/drawingml/2006/main">
            <a:off x="1314450" y="3257550"/>
            <a:ext cx="419100" cy="4191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1</a:t>
            </a:r>
          </a:p>
        </p:txBody>
      </p:sp>
      <p:sp>
        <p:nvSpPr>
          <p:cNvPr id="9" name="">
            <a:extLst xmlns:a="http://schemas.openxmlformats.org/drawingml/2006/main">
              <a:ext uri="{FF2B5EF4-FFF2-40B4-BE49-F238E27FC236}">
                <a16:creationId xmlns:a16="http://schemas.microsoft.com/office/drawing/2014/main" id="{CC4ADAE7-5018-48F7-80D3-8CF9D6CD3937}"/>
              </a:ext>
            </a:extLst>
          </p:cNvPr>
          <p:cNvSpPr>
            <a:spLocks xmlns:a="http://schemas.openxmlformats.org/drawingml/2006/main" noGrp="1"/>
          </p:cNvSpPr>
          <p:nvPr/>
        </p:nvSpPr>
        <p:spPr>
          <a:xfrm xmlns:a="http://schemas.openxmlformats.org/drawingml/2006/main">
            <a:off x="1066800" y="37623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DAY 1</a:t>
            </a:r>
          </a:p>
        </p:txBody>
      </p:sp>
      <p:sp>
        <p:nvSpPr>
          <p:cNvPr id="10" name="">
            <a:extLst xmlns:a="http://schemas.openxmlformats.org/drawingml/2006/main">
              <a:ext uri="{FF2B5EF4-FFF2-40B4-BE49-F238E27FC236}">
                <a16:creationId xmlns:a16="http://schemas.microsoft.com/office/drawing/2014/main" id="{2DDA95A4-D5C9-4E05-A7E9-6E535B1D2E24}"/>
              </a:ext>
            </a:extLst>
          </p:cNvPr>
          <p:cNvSpPr>
            <a:spLocks xmlns:a="http://schemas.openxmlformats.org/drawingml/2006/main" noGrp="1"/>
          </p:cNvSpPr>
          <p:nvPr/>
        </p:nvSpPr>
        <p:spPr>
          <a:xfrm xmlns:a="http://schemas.openxmlformats.org/drawingml/2006/main">
            <a:off x="666750" y="4095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2D180B"/>
                </a:solidFill>
                <a:latin typeface="Lato"/>
                <a:ea typeface="Lato"/>
                <a:cs typeface="Lato"/>
              </a:defRPr>
            </a:pPr>
            <a:r>
              <a:rPr sz="1875" b="1">
                <a:solidFill>
                  <a:srgbClr val="2D180B"/>
                </a:solidFill>
                <a:latin typeface="Lato"/>
                <a:ea typeface="Lato"/>
                <a:cs typeface="Lato"/>
              </a:rPr>
              <a:t>Find the tool</a:t>
            </a:r>
          </a:p>
        </p:txBody>
      </p:sp>
      <p:sp>
        <p:nvSpPr>
          <p:cNvPr id="11" name="">
            <a:extLst xmlns:a="http://schemas.openxmlformats.org/drawingml/2006/main">
              <a:ext uri="{FF2B5EF4-FFF2-40B4-BE49-F238E27FC236}">
                <a16:creationId xmlns:a16="http://schemas.microsoft.com/office/drawing/2014/main" id="{9B6BDF4A-8C9A-43F0-A705-8D57612088C2}"/>
              </a:ext>
            </a:extLst>
          </p:cNvPr>
          <p:cNvSpPr>
            <a:spLocks xmlns:a="http://schemas.openxmlformats.org/drawingml/2006/main" noGrp="1"/>
          </p:cNvSpPr>
          <p:nvPr/>
        </p:nvSpPr>
        <p:spPr>
          <a:xfrm xmlns:a="http://schemas.openxmlformats.org/drawingml/2006/main">
            <a:off x="238125" y="454342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a:solidFill>
                  <a:srgbClr val="895F3C"/>
                </a:solidFill>
                <a:latin typeface="Lato"/>
                <a:ea typeface="Lato"/>
                <a:cs typeface="Lato"/>
              </a:defRPr>
            </a:pPr>
            <a:r>
              <a:rPr sz="1275">
                <a:solidFill>
                  <a:srgbClr val="895F3C"/>
                </a:solidFill>
                <a:latin typeface="Lato"/>
                <a:ea typeface="Lato"/>
                <a:cs typeface="Lato"/>
              </a:rPr>
              <a:t>Recognize the viewport, select an object, make one change.</a:t>
            </a:r>
          </a:p>
        </p:txBody>
      </p:sp>
      <p:sp>
        <p:nvSpPr>
          <p:cNvPr id="12" name="">
            <a:extLst xmlns:a="http://schemas.openxmlformats.org/drawingml/2006/main">
              <a:ext uri="{FF2B5EF4-FFF2-40B4-BE49-F238E27FC236}">
                <a16:creationId xmlns:a16="http://schemas.microsoft.com/office/drawing/2014/main" id="{91BEC4A6-1C30-459B-BFA1-6860B1BA83B1}"/>
              </a:ext>
            </a:extLst>
          </p:cNvPr>
          <p:cNvSpPr>
            <a:spLocks xmlns:a="http://schemas.openxmlformats.org/drawingml/2006/main" noGrp="1"/>
          </p:cNvSpPr>
          <p:nvPr/>
        </p:nvSpPr>
        <p:spPr>
          <a:xfrm xmlns:a="http://schemas.openxmlformats.org/drawingml/2006/main">
            <a:off x="5838825" y="3257550"/>
            <a:ext cx="419100" cy="4191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6E9"/>
                </a:solidFill>
                <a:latin typeface="Lato"/>
                <a:ea typeface="Lato"/>
                <a:cs typeface="Lato"/>
              </a:defRPr>
            </a:pPr>
            <a:r>
              <a:rPr sz="1350" b="1">
                <a:solidFill>
                  <a:srgbClr val="FFF6E9"/>
                </a:solidFill>
                <a:latin typeface="Lato"/>
                <a:ea typeface="Lato"/>
                <a:cs typeface="Lato"/>
              </a:rPr>
              <a:t>2</a:t>
            </a:r>
          </a:p>
        </p:txBody>
      </p:sp>
      <p:sp>
        <p:nvSpPr>
          <p:cNvPr id="13" name="">
            <a:extLst xmlns:a="http://schemas.openxmlformats.org/drawingml/2006/main">
              <a:ext uri="{FF2B5EF4-FFF2-40B4-BE49-F238E27FC236}">
                <a16:creationId xmlns:a16="http://schemas.microsoft.com/office/drawing/2014/main" id="{E06112B2-C771-4634-B09A-4FC9CF59D17C}"/>
              </a:ext>
            </a:extLst>
          </p:cNvPr>
          <p:cNvSpPr>
            <a:spLocks xmlns:a="http://schemas.openxmlformats.org/drawingml/2006/main" noGrp="1"/>
          </p:cNvSpPr>
          <p:nvPr/>
        </p:nvSpPr>
        <p:spPr>
          <a:xfrm xmlns:a="http://schemas.openxmlformats.org/drawingml/2006/main">
            <a:off x="5591175" y="37623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DAY 7</a:t>
            </a:r>
          </a:p>
        </p:txBody>
      </p:sp>
      <p:sp>
        <p:nvSpPr>
          <p:cNvPr id="14" name="">
            <a:extLst xmlns:a="http://schemas.openxmlformats.org/drawingml/2006/main">
              <a:ext uri="{FF2B5EF4-FFF2-40B4-BE49-F238E27FC236}">
                <a16:creationId xmlns:a16="http://schemas.microsoft.com/office/drawing/2014/main" id="{E841A059-14DE-4492-A8C8-9B38A7176873}"/>
              </a:ext>
            </a:extLst>
          </p:cNvPr>
          <p:cNvSpPr>
            <a:spLocks xmlns:a="http://schemas.openxmlformats.org/drawingml/2006/main" noGrp="1"/>
          </p:cNvSpPr>
          <p:nvPr/>
        </p:nvSpPr>
        <p:spPr>
          <a:xfrm xmlns:a="http://schemas.openxmlformats.org/drawingml/2006/main">
            <a:off x="5191125" y="4095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2D180B"/>
                </a:solidFill>
                <a:latin typeface="Lato"/>
                <a:ea typeface="Lato"/>
                <a:cs typeface="Lato"/>
              </a:defRPr>
            </a:pPr>
            <a:r>
              <a:rPr sz="1875" b="1">
                <a:solidFill>
                  <a:srgbClr val="2D180B"/>
                </a:solidFill>
                <a:latin typeface="Lato"/>
                <a:ea typeface="Lato"/>
                <a:cs typeface="Lato"/>
              </a:rPr>
              <a:t>Shape a scene</a:t>
            </a:r>
          </a:p>
        </p:txBody>
      </p:sp>
      <p:sp>
        <p:nvSpPr>
          <p:cNvPr id="15" name="">
            <a:extLst xmlns:a="http://schemas.openxmlformats.org/drawingml/2006/main">
              <a:ext uri="{FF2B5EF4-FFF2-40B4-BE49-F238E27FC236}">
                <a16:creationId xmlns:a16="http://schemas.microsoft.com/office/drawing/2014/main" id="{46767531-0ED0-4988-979C-548F2CD0F24E}"/>
              </a:ext>
            </a:extLst>
          </p:cNvPr>
          <p:cNvSpPr>
            <a:spLocks xmlns:a="http://schemas.openxmlformats.org/drawingml/2006/main" noGrp="1"/>
          </p:cNvSpPr>
          <p:nvPr/>
        </p:nvSpPr>
        <p:spPr>
          <a:xfrm xmlns:a="http://schemas.openxmlformats.org/drawingml/2006/main">
            <a:off x="4762500" y="454342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a:solidFill>
                  <a:srgbClr val="895F3C"/>
                </a:solidFill>
                <a:latin typeface="Lato"/>
                <a:ea typeface="Lato"/>
                <a:cs typeface="Lato"/>
              </a:defRPr>
            </a:pPr>
            <a:r>
              <a:rPr sz="1275">
                <a:solidFill>
                  <a:srgbClr val="895F3C"/>
                </a:solidFill>
                <a:latin typeface="Lato"/>
                <a:ea typeface="Lato"/>
                <a:cs typeface="Lato"/>
              </a:rPr>
              <a:t>Combine small actions into a simple modeled composition.</a:t>
            </a:r>
          </a:p>
        </p:txBody>
      </p:sp>
      <p:sp>
        <p:nvSpPr>
          <p:cNvPr id="16" name="">
            <a:extLst xmlns:a="http://schemas.openxmlformats.org/drawingml/2006/main">
              <a:ext uri="{FF2B5EF4-FFF2-40B4-BE49-F238E27FC236}">
                <a16:creationId xmlns:a16="http://schemas.microsoft.com/office/drawing/2014/main" id="{4BAA8D61-FF4F-4E3C-99D2-1A44A7E379A6}"/>
              </a:ext>
            </a:extLst>
          </p:cNvPr>
          <p:cNvSpPr>
            <a:spLocks xmlns:a="http://schemas.openxmlformats.org/drawingml/2006/main" noGrp="1"/>
          </p:cNvSpPr>
          <p:nvPr/>
        </p:nvSpPr>
        <p:spPr>
          <a:xfrm xmlns:a="http://schemas.openxmlformats.org/drawingml/2006/main">
            <a:off x="10363200" y="3257550"/>
            <a:ext cx="419100" cy="4191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C45300"/>
                </a:solidFill>
                <a:latin typeface="Lato"/>
                <a:ea typeface="Lato"/>
                <a:cs typeface="Lato"/>
              </a:defRPr>
            </a:pPr>
            <a:r>
              <a:rPr sz="1350" b="1">
                <a:solidFill>
                  <a:srgbClr val="C45300"/>
                </a:solidFill>
                <a:latin typeface="Lato"/>
                <a:ea typeface="Lato"/>
                <a:cs typeface="Lato"/>
              </a:rPr>
              <a:t>3</a:t>
            </a:r>
          </a:p>
        </p:txBody>
      </p:sp>
      <p:sp>
        <p:nvSpPr>
          <p:cNvPr id="17" name="">
            <a:extLst xmlns:a="http://schemas.openxmlformats.org/drawingml/2006/main">
              <a:ext uri="{FF2B5EF4-FFF2-40B4-BE49-F238E27FC236}">
                <a16:creationId xmlns:a16="http://schemas.microsoft.com/office/drawing/2014/main" id="{729EBC9E-AF84-4A19-8280-140A04B42116}"/>
              </a:ext>
            </a:extLst>
          </p:cNvPr>
          <p:cNvSpPr>
            <a:spLocks xmlns:a="http://schemas.openxmlformats.org/drawingml/2006/main" noGrp="1"/>
          </p:cNvSpPr>
          <p:nvPr/>
        </p:nvSpPr>
        <p:spPr>
          <a:xfrm xmlns:a="http://schemas.openxmlformats.org/drawingml/2006/main">
            <a:off x="10115550" y="37623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DAY 30</a:t>
            </a:r>
          </a:p>
        </p:txBody>
      </p:sp>
      <p:sp>
        <p:nvSpPr>
          <p:cNvPr id="18" name="">
            <a:extLst xmlns:a="http://schemas.openxmlformats.org/drawingml/2006/main">
              <a:ext uri="{FF2B5EF4-FFF2-40B4-BE49-F238E27FC236}">
                <a16:creationId xmlns:a16="http://schemas.microsoft.com/office/drawing/2014/main" id="{3A569D7D-8E89-447D-9C8F-4D1DE6892AAE}"/>
              </a:ext>
            </a:extLst>
          </p:cNvPr>
          <p:cNvSpPr>
            <a:spLocks xmlns:a="http://schemas.openxmlformats.org/drawingml/2006/main" noGrp="1"/>
          </p:cNvSpPr>
          <p:nvPr/>
        </p:nvSpPr>
        <p:spPr>
          <a:xfrm xmlns:a="http://schemas.openxmlformats.org/drawingml/2006/main">
            <a:off x="9715500" y="4095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2D180B"/>
                </a:solidFill>
                <a:latin typeface="Lato"/>
                <a:ea typeface="Lato"/>
                <a:cs typeface="Lato"/>
              </a:defRPr>
            </a:pPr>
            <a:r>
              <a:rPr sz="1875" b="1">
                <a:solidFill>
                  <a:srgbClr val="2D180B"/>
                </a:solidFill>
                <a:latin typeface="Lato"/>
                <a:ea typeface="Lato"/>
                <a:cs typeface="Lato"/>
              </a:rPr>
              <a:t>Finish an artifact</a:t>
            </a:r>
          </a:p>
        </p:txBody>
      </p:sp>
      <p:sp>
        <p:nvSpPr>
          <p:cNvPr id="19" name="">
            <a:extLst xmlns:a="http://schemas.openxmlformats.org/drawingml/2006/main">
              <a:ext uri="{FF2B5EF4-FFF2-40B4-BE49-F238E27FC236}">
                <a16:creationId xmlns:a16="http://schemas.microsoft.com/office/drawing/2014/main" id="{B4F7481F-BBC9-4C4D-A270-F7A41FAC7345}"/>
              </a:ext>
            </a:extLst>
          </p:cNvPr>
          <p:cNvSpPr>
            <a:spLocks xmlns:a="http://schemas.openxmlformats.org/drawingml/2006/main" noGrp="1"/>
          </p:cNvSpPr>
          <p:nvPr/>
        </p:nvSpPr>
        <p:spPr>
          <a:xfrm xmlns:a="http://schemas.openxmlformats.org/drawingml/2006/main">
            <a:off x="9286875" y="454342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a:solidFill>
                  <a:srgbClr val="895F3C"/>
                </a:solidFill>
                <a:latin typeface="Lato"/>
                <a:ea typeface="Lato"/>
                <a:cs typeface="Lato"/>
              </a:defRPr>
            </a:pPr>
            <a:r>
              <a:rPr sz="1275">
                <a:solidFill>
                  <a:srgbClr val="895F3C"/>
                </a:solidFill>
                <a:latin typeface="Lato"/>
                <a:ea typeface="Lato"/>
                <a:cs typeface="Lato"/>
              </a:rPr>
              <a:t>Use the same guided loop to complete a portfolio-ready piece.</a:t>
            </a:r>
          </a:p>
        </p:txBody>
      </p:sp>
      <p:sp>
        <p:nvSpPr>
          <p:cNvPr id="20" name="">
            <a:extLst xmlns:a="http://schemas.openxmlformats.org/drawingml/2006/main">
              <a:ext uri="{FF2B5EF4-FFF2-40B4-BE49-F238E27FC236}">
                <a16:creationId xmlns:a16="http://schemas.microsoft.com/office/drawing/2014/main" id="{B9C01CE7-A770-4066-A6CE-5A8466512DA9}"/>
              </a:ext>
            </a:extLst>
          </p:cNvPr>
          <p:cNvSpPr>
            <a:spLocks xmlns:a="http://schemas.openxmlformats.org/drawingml/2006/main" noGrp="1"/>
          </p:cNvSpPr>
          <p:nvPr/>
        </p:nvSpPr>
        <p:spPr>
          <a:xfrm xmlns:a="http://schemas.openxmlformats.org/drawingml/2006/main">
            <a:off x="4257675" y="2495550"/>
            <a:ext cx="3676650" cy="723900"/>
          </a:xfrm>
          <a:prstGeom xmlns:a="http://schemas.openxmlformats.org/drawingml/2006/main" prst="roundRect">
            <a:avLst>
              <a:gd name="adj" fmla="val 2105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131F2C0D-B34E-4F08-AF1F-2E6AD6F046F7}"/>
              </a:ext>
            </a:extLst>
          </p:cNvPr>
          <p:cNvSpPr>
            <a:spLocks xmlns:a="http://schemas.openxmlformats.org/drawingml/2006/main" noGrp="1"/>
          </p:cNvSpPr>
          <p:nvPr/>
        </p:nvSpPr>
        <p:spPr>
          <a:xfrm xmlns:a="http://schemas.openxmlformats.org/drawingml/2006/main">
            <a:off x="4514850" y="27241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997"/>
          </a:bodyPr>
          <a:lstStyle xmlns:a="http://schemas.openxmlformats.org/drawingml/2006/main"/>
          <a:p xmlns:a="http://schemas.openxmlformats.org/drawingml/2006/main">
            <a:pPr algn="ctr">
              <a:defRPr sz="1500" b="1">
                <a:solidFill>
                  <a:srgbClr val="2D180B"/>
                </a:solidFill>
                <a:latin typeface="Lato"/>
                <a:ea typeface="Lato"/>
                <a:cs typeface="Lato"/>
              </a:defRPr>
            </a:pPr>
            <a:r>
              <a:rPr sz="1500" b="1">
                <a:solidFill>
                  <a:srgbClr val="2D180B"/>
                </a:solidFill>
                <a:latin typeface="Lato"/>
                <a:ea typeface="Lato"/>
                <a:cs typeface="Lato"/>
              </a:rPr>
              <a:t>The product promise is a path, not a single lesson.</a:t>
            </a:r>
          </a:p>
        </p:txBody>
      </p:sp>
      <p:sp>
        <p:nvSpPr>
          <p:cNvPr id="22" name="">
            <a:extLst xmlns:a="http://schemas.openxmlformats.org/drawingml/2006/main">
              <a:ext uri="{FF2B5EF4-FFF2-40B4-BE49-F238E27FC236}">
                <a16:creationId xmlns:a16="http://schemas.microsoft.com/office/drawing/2014/main" id="{C72247E4-2056-4D6A-8A8F-EE240414A216}"/>
              </a:ext>
            </a:extLst>
          </p:cNvPr>
          <p:cNvSpPr>
            <a:spLocks xmlns:a="http://schemas.openxmlformats.org/drawingml/2006/main" noGrp="1"/>
          </p:cNvSpPr>
          <p:nvPr/>
        </p:nvSpPr>
        <p:spPr>
          <a:xfrm xmlns:a="http://schemas.openxmlformats.org/drawingml/2006/main">
            <a:off x="609600" y="5857875"/>
            <a:ext cx="1085850" cy="266700"/>
          </a:xfrm>
          <a:prstGeom xmlns:a="http://schemas.openxmlformats.org/drawingml/2006/main" prst="roundRect">
            <a:avLst>
              <a:gd name="adj" fmla="val 50000"/>
            </a:avLst>
          </a:prstGeom>
          <a:solidFill xmlns:a="http://schemas.openxmlformats.org/drawingml/2006/main">
            <a:srgbClr val="FBEAD4"/>
          </a:solidFill>
          <a:ln xmlns:a="http://schemas.openxmlformats.org/drawingml/2006/main" w="0">
            <a:solidFill>
              <a:srgbClr val="FBEAD4"/>
            </a:solidFill>
            <a:prstDash val="solid"/>
          </a:ln>
        </p:spPr>
        <p:txBody>
          <a:bodyPr xmlns:a="http://schemas.openxmlformats.org/drawingml/2006/main" lIns="95250" tIns="0" rIns="95250" bIns="0" anchor="ctr">
            <a:normAutofit fontScale="99396"/>
          </a:bodyPr>
          <a:lstStyle xmlns:a="http://schemas.openxmlformats.org/drawingml/2006/main"/>
          <a:p xmlns:a="http://schemas.openxmlformats.org/drawingml/2006/main">
            <a:pPr algn="ctr">
              <a:defRPr sz="975" b="1">
                <a:solidFill>
                  <a:srgbClr val="895F3C"/>
                </a:solidFill>
                <a:latin typeface="Lato"/>
                <a:ea typeface="Lato"/>
                <a:cs typeface="Lato"/>
              </a:defRPr>
            </a:pPr>
            <a:r>
              <a:rPr sz="975" b="1">
                <a:solidFill>
                  <a:srgbClr val="895F3C"/>
                </a:solidFill>
                <a:latin typeface="Lato"/>
                <a:ea typeface="Lato"/>
                <a:cs typeface="Lato"/>
              </a:rPr>
              <a:t>ILLUSTRATIVE</a:t>
            </a:r>
          </a:p>
        </p:txBody>
      </p:sp>
      <p:sp>
        <p:nvSpPr>
          <p:cNvPr id="23" name="">
            <a:extLst xmlns:a="http://schemas.openxmlformats.org/drawingml/2006/main">
              <a:ext uri="{FF2B5EF4-FFF2-40B4-BE49-F238E27FC236}">
                <a16:creationId xmlns:a16="http://schemas.microsoft.com/office/drawing/2014/main" id="{EF99F3A0-DBC2-46B2-8098-E4EDF1585D92}"/>
              </a:ext>
            </a:extLst>
          </p:cNvPr>
          <p:cNvSpPr>
            <a:spLocks xmlns:a="http://schemas.openxmlformats.org/drawingml/2006/main" noGrp="1"/>
          </p:cNvSpPr>
          <p:nvPr/>
        </p:nvSpPr>
        <p:spPr>
          <a:xfrm xmlns:a="http://schemas.openxmlformats.org/drawingml/2006/main">
            <a:off x="1847850" y="5905500"/>
            <a:ext cx="6572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5">
                <a:solidFill>
                  <a:srgbClr val="7D5C42"/>
                </a:solidFill>
                <a:latin typeface="Lato"/>
                <a:ea typeface="Lato"/>
                <a:cs typeface="Lato"/>
              </a:defRPr>
            </a:pPr>
            <a:r>
              <a:rPr sz="975">
                <a:solidFill>
                  <a:srgbClr val="7D5C42"/>
                </a:solidFill>
                <a:latin typeface="Lato"/>
                <a:ea typeface="Lato"/>
                <a:cs typeface="Lato"/>
              </a:rPr>
              <a:t>Replace with a real Bataa skill path and learner artifact before the final pitch.</a:t>
            </a:r>
          </a:p>
        </p:txBody>
      </p:sp>
      <p:sp>
        <p:nvSpPr>
          <p:cNvPr id="24" name="">
            <a:extLst xmlns:a="http://schemas.openxmlformats.org/drawingml/2006/main">
              <a:ext uri="{FF2B5EF4-FFF2-40B4-BE49-F238E27FC236}">
                <a16:creationId xmlns:a16="http://schemas.microsoft.com/office/drawing/2014/main" id="{AFD1650B-61AB-4173-8F7B-78FEC811859D}"/>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Product narrative · example journey, not a measured outcome</a:t>
            </a:r>
          </a:p>
        </p:txBody>
      </p:sp>
    </p:spTree>
    <p:extLst>
      <p:ext uri="{BB962C8B-B14F-4D97-AF65-F5344CB8AC3E}">
        <p14:creationId xmlns:p14="http://schemas.microsoft.com/office/powerpoint/2010/main" val="1143870835"/>
      </p:ext>
    </p:extLst>
  </p:cSld>
</p:sld>
</file>

<file path=ppt/slides/slide9.xml><?xml version="1.0" encoding="utf-8"?>
<p:sld xmlns:p="http://schemas.openxmlformats.org/presentationml/2006/main">
  <p:cSld>
    <p:bg>
      <p:bgPr>
        <a:solidFill xmlns:a="http://schemas.openxmlformats.org/drawingml/2006/main">
          <a:srgbClr val="FBEAD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F2B51BD-52BC-4019-8428-142CBBC91D03}"/>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910471E3-BD1C-4F0E-834E-05F4AB69E4F0}"/>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BEGINNER DESIGN</a:t>
            </a:r>
          </a:p>
        </p:txBody>
      </p:sp>
      <p:sp>
        <p:nvSpPr>
          <p:cNvPr id="3" name="">
            <a:extLst xmlns:a="http://schemas.openxmlformats.org/drawingml/2006/main">
              <a:ext uri="{FF2B5EF4-FFF2-40B4-BE49-F238E27FC236}">
                <a16:creationId xmlns:a16="http://schemas.microsoft.com/office/drawing/2014/main" id="{875CAE2A-8ED5-486C-9746-F3F0E74204AF}"/>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09</a:t>
            </a:r>
          </a:p>
        </p:txBody>
      </p:sp>
      <p:sp>
        <p:nvSpPr>
          <p:cNvPr id="4" name="">
            <a:extLst xmlns:a="http://schemas.openxmlformats.org/drawingml/2006/main">
              <a:ext uri="{FF2B5EF4-FFF2-40B4-BE49-F238E27FC236}">
                <a16:creationId xmlns:a16="http://schemas.microsoft.com/office/drawing/2014/main" id="{DDDCB044-4ED3-4FAD-9949-4E1080DAC61C}"/>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F59E79CD-9939-45F4-AFC8-1C0301EEF544}"/>
              </a:ext>
            </a:extLst>
          </p:cNvPr>
          <p:cNvSpPr>
            <a:spLocks xmlns:a="http://schemas.openxmlformats.org/drawingml/2006/main" noGrp="1"/>
          </p:cNvSpPr>
          <p:nvPr/>
        </p:nvSpPr>
        <p:spPr>
          <a:xfrm xmlns:a="http://schemas.openxmlformats.org/drawingml/2006/main">
            <a:off x="609600" y="990600"/>
            <a:ext cx="857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225" b="1">
                <a:solidFill>
                  <a:srgbClr val="2D180B"/>
                </a:solidFill>
                <a:latin typeface="Lato"/>
                <a:ea typeface="Lato"/>
                <a:cs typeface="Lato"/>
              </a:defRPr>
            </a:pPr>
            <a:r>
              <a:rPr sz="3225" b="1">
                <a:solidFill>
                  <a:srgbClr val="2D180B"/>
                </a:solidFill>
                <a:latin typeface="Lato"/>
                <a:ea typeface="Lato"/>
                <a:cs typeface="Lato"/>
              </a:rPr>
              <a:t>The first three days should feel approachable</a:t>
            </a:r>
          </a:p>
        </p:txBody>
      </p:sp>
      <p:sp>
        <p:nvSpPr>
          <p:cNvPr id="6" name="">
            <a:extLst xmlns:a="http://schemas.openxmlformats.org/drawingml/2006/main">
              <a:ext uri="{FF2B5EF4-FFF2-40B4-BE49-F238E27FC236}">
                <a16:creationId xmlns:a16="http://schemas.microsoft.com/office/drawing/2014/main" id="{E5867479-25CC-45FA-BFE6-51DDEA42B687}"/>
              </a:ext>
            </a:extLst>
          </p:cNvPr>
          <p:cNvSpPr>
            <a:spLocks xmlns:a="http://schemas.openxmlformats.org/drawingml/2006/main" noGrp="1"/>
          </p:cNvSpPr>
          <p:nvPr/>
        </p:nvSpPr>
        <p:spPr>
          <a:xfrm xmlns:a="http://schemas.openxmlformats.org/drawingml/2006/main">
            <a:off x="647700" y="1752600"/>
            <a:ext cx="695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17"/>
          </a:bodyPr>
          <a:lstStyle xmlns:a="http://schemas.openxmlformats.org/drawingml/2006/main"/>
          <a:p xmlns:a="http://schemas.openxmlformats.org/drawingml/2006/main">
            <a:pPr>
              <a:defRPr sz="1575">
                <a:solidFill>
                  <a:srgbClr val="895F3C"/>
                </a:solidFill>
                <a:latin typeface="Lato"/>
                <a:ea typeface="Lato"/>
                <a:cs typeface="Lato"/>
              </a:defRPr>
            </a:pPr>
            <a:r>
              <a:rPr sz="1575">
                <a:solidFill>
                  <a:srgbClr val="895F3C"/>
                </a:solidFill>
                <a:latin typeface="Lato"/>
                <a:ea typeface="Lato"/>
                <a:cs typeface="Lato"/>
              </a:rPr>
              <a:t>Recognition first. Typed code comes after the learner understands what the code is doing.</a:t>
            </a:r>
          </a:p>
        </p:txBody>
      </p:sp>
      <p:sp>
        <p:nvSpPr>
          <p:cNvPr id="7" name="">
            <a:extLst xmlns:a="http://schemas.openxmlformats.org/drawingml/2006/main">
              <a:ext uri="{FF2B5EF4-FFF2-40B4-BE49-F238E27FC236}">
                <a16:creationId xmlns:a16="http://schemas.microsoft.com/office/drawing/2014/main" id="{80E04954-3EFE-4ED6-A0BD-32FA1E958F76}"/>
              </a:ext>
            </a:extLst>
          </p:cNvPr>
          <p:cNvSpPr>
            <a:spLocks xmlns:a="http://schemas.openxmlformats.org/drawingml/2006/main" noGrp="1"/>
          </p:cNvSpPr>
          <p:nvPr/>
        </p:nvSpPr>
        <p:spPr>
          <a:xfrm xmlns:a="http://schemas.openxmlformats.org/drawingml/2006/main">
            <a:off x="685800" y="2286000"/>
            <a:ext cx="4286250" cy="3714750"/>
          </a:xfrm>
          <a:prstGeom xmlns:a="http://schemas.openxmlformats.org/drawingml/2006/main" prst="roundRect">
            <a:avLst>
              <a:gd name="adj" fmla="val 6154"/>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65491bd6d7e4768"/>
          <a:stretch xmlns:a="http://schemas.openxmlformats.org/drawingml/2006/main"/>
        </p:blipFill>
        <p:spPr>
          <a:xfrm xmlns:a="http://schemas.openxmlformats.org/drawingml/2006/main">
            <a:off x="2041081" y="2428875"/>
            <a:ext cx="1575688" cy="34099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E9A278E-4CA5-4E25-AEA8-8751C15712E8}"/>
              </a:ext>
            </a:extLst>
          </p:cNvPr>
          <p:cNvSpPr>
            <a:spLocks xmlns:a="http://schemas.openxmlformats.org/drawingml/2006/main" noGrp="1"/>
          </p:cNvSpPr>
          <p:nvPr/>
        </p:nvSpPr>
        <p:spPr>
          <a:xfrm xmlns:a="http://schemas.openxmlformats.org/drawingml/2006/main">
            <a:off x="5810250" y="2647950"/>
            <a:ext cx="742950"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DAY 1</a:t>
            </a:r>
          </a:p>
        </p:txBody>
      </p:sp>
      <p:sp>
        <p:nvSpPr>
          <p:cNvPr id="10" name="">
            <a:extLst xmlns:a="http://schemas.openxmlformats.org/drawingml/2006/main">
              <a:ext uri="{FF2B5EF4-FFF2-40B4-BE49-F238E27FC236}">
                <a16:creationId xmlns:a16="http://schemas.microsoft.com/office/drawing/2014/main" id="{AF6606EE-B123-47A8-8B52-D042F4AFBCB3}"/>
              </a:ext>
            </a:extLst>
          </p:cNvPr>
          <p:cNvSpPr>
            <a:spLocks xmlns:a="http://schemas.openxmlformats.org/drawingml/2006/main" noGrp="1"/>
          </p:cNvSpPr>
          <p:nvPr/>
        </p:nvSpPr>
        <p:spPr>
          <a:xfrm xmlns:a="http://schemas.openxmlformats.org/drawingml/2006/main">
            <a:off x="6858000" y="26670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Choose the right HTML element</a:t>
            </a:r>
          </a:p>
        </p:txBody>
      </p:sp>
      <p:sp>
        <p:nvSpPr>
          <p:cNvPr id="11" name="">
            <a:extLst xmlns:a="http://schemas.openxmlformats.org/drawingml/2006/main">
              <a:ext uri="{FF2B5EF4-FFF2-40B4-BE49-F238E27FC236}">
                <a16:creationId xmlns:a16="http://schemas.microsoft.com/office/drawing/2014/main" id="{175E024C-7C27-4B17-96BC-5BD6553D3A2D}"/>
              </a:ext>
            </a:extLst>
          </p:cNvPr>
          <p:cNvSpPr>
            <a:spLocks xmlns:a="http://schemas.openxmlformats.org/drawingml/2006/main" noGrp="1"/>
          </p:cNvSpPr>
          <p:nvPr/>
        </p:nvSpPr>
        <p:spPr>
          <a:xfrm xmlns:a="http://schemas.openxmlformats.org/drawingml/2006/main">
            <a:off x="5810250" y="3171825"/>
            <a:ext cx="4810125"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12" name="">
            <a:extLst xmlns:a="http://schemas.openxmlformats.org/drawingml/2006/main">
              <a:ext uri="{FF2B5EF4-FFF2-40B4-BE49-F238E27FC236}">
                <a16:creationId xmlns:a16="http://schemas.microsoft.com/office/drawing/2014/main" id="{79723F78-AB6E-438C-B5E3-F10D005C3254}"/>
              </a:ext>
            </a:extLst>
          </p:cNvPr>
          <p:cNvSpPr>
            <a:spLocks xmlns:a="http://schemas.openxmlformats.org/drawingml/2006/main" noGrp="1"/>
          </p:cNvSpPr>
          <p:nvPr/>
        </p:nvSpPr>
        <p:spPr>
          <a:xfrm xmlns:a="http://schemas.openxmlformats.org/drawingml/2006/main">
            <a:off x="5810250" y="3619500"/>
            <a:ext cx="742950" cy="266700"/>
          </a:xfrm>
          <a:prstGeom xmlns:a="http://schemas.openxmlformats.org/drawingml/2006/main" prst="roundRect">
            <a:avLst>
              <a:gd name="adj" fmla="val 50000"/>
            </a:avLst>
          </a:prstGeom>
          <a:solidFill xmlns:a="http://schemas.openxmlformats.org/drawingml/2006/main">
            <a:srgbClr val="6E5BAA"/>
          </a:solidFill>
          <a:ln xmlns:a="http://schemas.openxmlformats.org/drawingml/2006/main" w="0">
            <a:solidFill>
              <a:srgbClr val="6E5BAA"/>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DAY 2</a:t>
            </a:r>
          </a:p>
        </p:txBody>
      </p:sp>
      <p:sp>
        <p:nvSpPr>
          <p:cNvPr id="13" name="">
            <a:extLst xmlns:a="http://schemas.openxmlformats.org/drawingml/2006/main">
              <a:ext uri="{FF2B5EF4-FFF2-40B4-BE49-F238E27FC236}">
                <a16:creationId xmlns:a16="http://schemas.microsoft.com/office/drawing/2014/main" id="{85EAFC89-4416-47E0-8890-0E7386C843EA}"/>
              </a:ext>
            </a:extLst>
          </p:cNvPr>
          <p:cNvSpPr>
            <a:spLocks xmlns:a="http://schemas.openxmlformats.org/drawingml/2006/main" noGrp="1"/>
          </p:cNvSpPr>
          <p:nvPr/>
        </p:nvSpPr>
        <p:spPr>
          <a:xfrm xmlns:a="http://schemas.openxmlformats.org/drawingml/2006/main">
            <a:off x="6858000" y="36385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Match CSS properties to a visual result</a:t>
            </a:r>
          </a:p>
        </p:txBody>
      </p:sp>
      <p:sp>
        <p:nvSpPr>
          <p:cNvPr id="14" name="">
            <a:extLst xmlns:a="http://schemas.openxmlformats.org/drawingml/2006/main">
              <a:ext uri="{FF2B5EF4-FFF2-40B4-BE49-F238E27FC236}">
                <a16:creationId xmlns:a16="http://schemas.microsoft.com/office/drawing/2014/main" id="{AF6A417D-CC53-4A49-ABCB-99CE12314ACA}"/>
              </a:ext>
            </a:extLst>
          </p:cNvPr>
          <p:cNvSpPr>
            <a:spLocks xmlns:a="http://schemas.openxmlformats.org/drawingml/2006/main" noGrp="1"/>
          </p:cNvSpPr>
          <p:nvPr/>
        </p:nvSpPr>
        <p:spPr>
          <a:xfrm xmlns:a="http://schemas.openxmlformats.org/drawingml/2006/main">
            <a:off x="5810250" y="4143375"/>
            <a:ext cx="4810125"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15" name="">
            <a:extLst xmlns:a="http://schemas.openxmlformats.org/drawingml/2006/main">
              <a:ext uri="{FF2B5EF4-FFF2-40B4-BE49-F238E27FC236}">
                <a16:creationId xmlns:a16="http://schemas.microsoft.com/office/drawing/2014/main" id="{202A8B0D-73FF-49E0-BB77-75B5C0A33C6E}"/>
              </a:ext>
            </a:extLst>
          </p:cNvPr>
          <p:cNvSpPr>
            <a:spLocks xmlns:a="http://schemas.openxmlformats.org/drawingml/2006/main" noGrp="1"/>
          </p:cNvSpPr>
          <p:nvPr/>
        </p:nvSpPr>
        <p:spPr>
          <a:xfrm xmlns:a="http://schemas.openxmlformats.org/drawingml/2006/main">
            <a:off x="5810250" y="4591050"/>
            <a:ext cx="742950" cy="266700"/>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DAY 3</a:t>
            </a:r>
          </a:p>
        </p:txBody>
      </p:sp>
      <p:sp>
        <p:nvSpPr>
          <p:cNvPr id="16" name="">
            <a:extLst xmlns:a="http://schemas.openxmlformats.org/drawingml/2006/main">
              <a:ext uri="{FF2B5EF4-FFF2-40B4-BE49-F238E27FC236}">
                <a16:creationId xmlns:a16="http://schemas.microsoft.com/office/drawing/2014/main" id="{D3FF6A0D-6395-4FD6-9DAA-FD304AE5F9E0}"/>
              </a:ext>
            </a:extLst>
          </p:cNvPr>
          <p:cNvSpPr>
            <a:spLocks xmlns:a="http://schemas.openxmlformats.org/drawingml/2006/main" noGrp="1"/>
          </p:cNvSpPr>
          <p:nvPr/>
        </p:nvSpPr>
        <p:spPr>
          <a:xfrm xmlns:a="http://schemas.openxmlformats.org/drawingml/2006/main">
            <a:off x="6858000" y="46101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Predict what a hover state will do</a:t>
            </a:r>
          </a:p>
        </p:txBody>
      </p:sp>
      <p:sp>
        <p:nvSpPr>
          <p:cNvPr id="17" name="">
            <a:extLst xmlns:a="http://schemas.openxmlformats.org/drawingml/2006/main">
              <a:ext uri="{FF2B5EF4-FFF2-40B4-BE49-F238E27FC236}">
                <a16:creationId xmlns:a16="http://schemas.microsoft.com/office/drawing/2014/main" id="{37A00E1B-21C0-49F5-AA79-B05547ED537B}"/>
              </a:ext>
            </a:extLst>
          </p:cNvPr>
          <p:cNvSpPr>
            <a:spLocks xmlns:a="http://schemas.openxmlformats.org/drawingml/2006/main" noGrp="1"/>
          </p:cNvSpPr>
          <p:nvPr/>
        </p:nvSpPr>
        <p:spPr>
          <a:xfrm xmlns:a="http://schemas.openxmlformats.org/drawingml/2006/main">
            <a:off x="5810250" y="5114925"/>
            <a:ext cx="4810125" cy="0"/>
          </a:xfrm>
          <a:prstGeom xmlns:a="http://schemas.openxmlformats.org/drawingml/2006/main" prst="line">
            <a:avLst/>
          </a:prstGeom>
          <a:noFill xmlns:a="http://schemas.openxmlformats.org/drawingml/2006/main"/>
          <a:ln xmlns:a="http://schemas.openxmlformats.org/drawingml/2006/main" w="19050">
            <a:solidFill>
              <a:srgbClr val="EDCFAD"/>
            </a:solidFill>
            <a:prstDash val="solid"/>
          </a:ln>
        </p:spPr>
      </p:sp>
      <p:sp>
        <p:nvSpPr>
          <p:cNvPr id="18" name="">
            <a:extLst xmlns:a="http://schemas.openxmlformats.org/drawingml/2006/main">
              <a:ext uri="{FF2B5EF4-FFF2-40B4-BE49-F238E27FC236}">
                <a16:creationId xmlns:a16="http://schemas.microsoft.com/office/drawing/2014/main" id="{2859B6F9-9530-4F42-BB8F-CEEF4F4B1AE4}"/>
              </a:ext>
            </a:extLst>
          </p:cNvPr>
          <p:cNvSpPr>
            <a:spLocks xmlns:a="http://schemas.openxmlformats.org/drawingml/2006/main" noGrp="1"/>
          </p:cNvSpPr>
          <p:nvPr/>
        </p:nvSpPr>
        <p:spPr>
          <a:xfrm xmlns:a="http://schemas.openxmlformats.org/drawingml/2006/main">
            <a:off x="5810250" y="561975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defRPr sz="1500">
                <a:solidFill>
                  <a:srgbClr val="895F3C"/>
                </a:solidFill>
                <a:latin typeface="Lato"/>
                <a:ea typeface="Lato"/>
                <a:cs typeface="Lato"/>
              </a:defRPr>
            </a:pPr>
            <a:r>
              <a:rPr sz="1500">
                <a:solidFill>
                  <a:srgbClr val="895F3C"/>
                </a:solidFill>
                <a:latin typeface="Lato"/>
                <a:ea typeface="Lato"/>
                <a:cs typeface="Lato"/>
              </a:rPr>
              <a:t>The learner gets a win before they get a keyboard-heavy challenge.</a:t>
            </a:r>
          </a:p>
        </p:txBody>
      </p:sp>
      <p:sp>
        <p:nvSpPr>
          <p:cNvPr id="19" name="">
            <a:extLst xmlns:a="http://schemas.openxmlformats.org/drawingml/2006/main">
              <a:ext uri="{FF2B5EF4-FFF2-40B4-BE49-F238E27FC236}">
                <a16:creationId xmlns:a16="http://schemas.microsoft.com/office/drawing/2014/main" id="{360A2B4B-7A97-4FF9-B245-6CB74EA891B5}"/>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Demonstrated · first lesson uses three-choice recognition</a:t>
            </a:r>
          </a:p>
        </p:txBody>
      </p:sp>
    </p:spTree>
    <p:extLst>
      <p:ext uri="{BB962C8B-B14F-4D97-AF65-F5344CB8AC3E}">
        <p14:creationId xmlns:p14="http://schemas.microsoft.com/office/powerpoint/2010/main" val="1950537737"/>
      </p:ext>
    </p:extLst>
  </p:cSld>
</p:sld>
</file>

<file path=ppt/slides/slide10.xml><?xml version="1.0" encoding="utf-8"?>
<p:sld xmlns:p="http://schemas.openxmlformats.org/presentationml/2006/main">
  <p:cSld>
    <p:bg>
      <p:bgPr>
        <a:solidFill xmlns:a="http://schemas.openxmlformats.org/drawingml/2006/main">
          <a:srgbClr val="FFD5A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1B9DA67-C37C-47E0-820A-FF724B1104AB}"/>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9A2AC61C-F757-4A83-AF25-63E984519AC2}"/>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LEARNING LOOP</a:t>
            </a:r>
          </a:p>
        </p:txBody>
      </p:sp>
      <p:sp>
        <p:nvSpPr>
          <p:cNvPr id="3" name="">
            <a:extLst xmlns:a="http://schemas.openxmlformats.org/drawingml/2006/main">
              <a:ext uri="{FF2B5EF4-FFF2-40B4-BE49-F238E27FC236}">
                <a16:creationId xmlns:a16="http://schemas.microsoft.com/office/drawing/2014/main" id="{583048F1-A4C7-49F7-A9D0-A39DFB0D0867}"/>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10</a:t>
            </a:r>
          </a:p>
        </p:txBody>
      </p:sp>
      <p:sp>
        <p:nvSpPr>
          <p:cNvPr id="4" name="">
            <a:extLst xmlns:a="http://schemas.openxmlformats.org/drawingml/2006/main">
              <a:ext uri="{FF2B5EF4-FFF2-40B4-BE49-F238E27FC236}">
                <a16:creationId xmlns:a16="http://schemas.microsoft.com/office/drawing/2014/main" id="{C3976E33-99EA-481F-ACD2-AB471BA4C078}"/>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104243FF-F2C4-491A-AFA1-F47CAC7C979D}"/>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0687"/>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Bataa closes the gap between attempt and understanding</a:t>
            </a:r>
          </a:p>
        </p:txBody>
      </p:sp>
      <p:sp>
        <p:nvSpPr>
          <p:cNvPr id="6" name="">
            <a:extLst xmlns:a="http://schemas.openxmlformats.org/drawingml/2006/main">
              <a:ext uri="{FF2B5EF4-FFF2-40B4-BE49-F238E27FC236}">
                <a16:creationId xmlns:a16="http://schemas.microsoft.com/office/drawing/2014/main" id="{E602BF5F-B343-435D-9D29-40B97D9AB38B}"/>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Every attempt returns a useful next step.</a:t>
            </a:r>
          </a:p>
        </p:txBody>
      </p:sp>
      <p:sp>
        <p:nvSpPr>
          <p:cNvPr id="7" name="">
            <a:extLst xmlns:a="http://schemas.openxmlformats.org/drawingml/2006/main">
              <a:ext uri="{FF2B5EF4-FFF2-40B4-BE49-F238E27FC236}">
                <a16:creationId xmlns:a16="http://schemas.microsoft.com/office/drawing/2014/main" id="{4392703E-4943-4461-9ACD-A02ED2C06B87}"/>
              </a:ext>
            </a:extLst>
          </p:cNvPr>
          <p:cNvSpPr>
            <a:spLocks xmlns:a="http://schemas.openxmlformats.org/drawingml/2006/main" noGrp="1"/>
          </p:cNvSpPr>
          <p:nvPr/>
        </p:nvSpPr>
        <p:spPr>
          <a:xfrm xmlns:a="http://schemas.openxmlformats.org/drawingml/2006/main">
            <a:off x="647700" y="2333625"/>
            <a:ext cx="1352550" cy="285750"/>
          </a:xfrm>
          <a:prstGeom xmlns:a="http://schemas.openxmlformats.org/drawingml/2006/main" prst="roundRect">
            <a:avLst>
              <a:gd name="adj" fmla="val 50000"/>
            </a:avLst>
          </a:prstGeom>
          <a:solidFill xmlns:a="http://schemas.openxmlformats.org/drawingml/2006/main">
            <a:srgbClr val="2D180B"/>
          </a:solidFill>
          <a:ln xmlns:a="http://schemas.openxmlformats.org/drawingml/2006/main" w="0">
            <a:solidFill>
              <a:srgbClr val="2D180B"/>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THE BATAA LOOP</a:t>
            </a:r>
          </a:p>
        </p:txBody>
      </p:sp>
      <p:sp>
        <p:nvSpPr>
          <p:cNvPr id="8" name="">
            <a:extLst xmlns:a="http://schemas.openxmlformats.org/drawingml/2006/main">
              <a:ext uri="{FF2B5EF4-FFF2-40B4-BE49-F238E27FC236}">
                <a16:creationId xmlns:a16="http://schemas.microsoft.com/office/drawing/2014/main" id="{F82B54E8-7913-461D-A367-52EB2C5BF53C}"/>
              </a:ext>
            </a:extLst>
          </p:cNvPr>
          <p:cNvSpPr>
            <a:spLocks xmlns:a="http://schemas.openxmlformats.org/drawingml/2006/main" noGrp="1"/>
          </p:cNvSpPr>
          <p:nvPr/>
        </p:nvSpPr>
        <p:spPr>
          <a:xfrm xmlns:a="http://schemas.openxmlformats.org/drawingml/2006/main">
            <a:off x="685800" y="2857500"/>
            <a:ext cx="2095500" cy="1352550"/>
          </a:xfrm>
          <a:prstGeom xmlns:a="http://schemas.openxmlformats.org/drawingml/2006/main" prst="roundRect">
            <a:avLst>
              <a:gd name="adj" fmla="val 11268"/>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0FB963DC-74C0-4811-972B-FA1019FB95E2}"/>
              </a:ext>
            </a:extLst>
          </p:cNvPr>
          <p:cNvSpPr>
            <a:spLocks xmlns:a="http://schemas.openxmlformats.org/drawingml/2006/main" noGrp="1"/>
          </p:cNvSpPr>
          <p:nvPr/>
        </p:nvSpPr>
        <p:spPr>
          <a:xfrm xmlns:a="http://schemas.openxmlformats.org/drawingml/2006/main">
            <a:off x="876300" y="3048000"/>
            <a:ext cx="304800" cy="3048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FFF6E9"/>
                </a:solidFill>
                <a:latin typeface="Lato"/>
                <a:ea typeface="Lato"/>
                <a:cs typeface="Lato"/>
              </a:defRPr>
            </a:pPr>
            <a:r>
              <a:rPr sz="900" b="1">
                <a:solidFill>
                  <a:srgbClr val="FFF6E9"/>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29B36FCF-C97C-4248-80C5-0AA13692D286}"/>
              </a:ext>
            </a:extLst>
          </p:cNvPr>
          <p:cNvSpPr>
            <a:spLocks xmlns:a="http://schemas.openxmlformats.org/drawingml/2006/main" noGrp="1"/>
          </p:cNvSpPr>
          <p:nvPr/>
        </p:nvSpPr>
        <p:spPr>
          <a:xfrm xmlns:a="http://schemas.openxmlformats.org/drawingml/2006/main">
            <a:off x="1314450" y="3076575"/>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C45300"/>
                </a:solidFill>
                <a:latin typeface="Lato"/>
                <a:ea typeface="Lato"/>
                <a:cs typeface="Lato"/>
              </a:defRPr>
            </a:pPr>
            <a:r>
              <a:rPr sz="1050" b="1">
                <a:solidFill>
                  <a:srgbClr val="C45300"/>
                </a:solidFill>
                <a:latin typeface="Lato"/>
                <a:ea typeface="Lato"/>
                <a:cs typeface="Lato"/>
              </a:rPr>
              <a:t>ATTEMPT</a:t>
            </a:r>
          </a:p>
        </p:txBody>
      </p:sp>
      <p:sp>
        <p:nvSpPr>
          <p:cNvPr id="11" name="">
            <a:extLst xmlns:a="http://schemas.openxmlformats.org/drawingml/2006/main">
              <a:ext uri="{FF2B5EF4-FFF2-40B4-BE49-F238E27FC236}">
                <a16:creationId xmlns:a16="http://schemas.microsoft.com/office/drawing/2014/main" id="{E1718F0C-768E-45B8-973F-42B6790227D8}"/>
              </a:ext>
            </a:extLst>
          </p:cNvPr>
          <p:cNvSpPr>
            <a:spLocks xmlns:a="http://schemas.openxmlformats.org/drawingml/2006/main" noGrp="1"/>
          </p:cNvSpPr>
          <p:nvPr/>
        </p:nvSpPr>
        <p:spPr>
          <a:xfrm xmlns:a="http://schemas.openxmlformats.org/drawingml/2006/main">
            <a:off x="876300" y="36004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2D180B"/>
                </a:solidFill>
                <a:latin typeface="Lato"/>
                <a:ea typeface="Lato"/>
                <a:cs typeface="Lato"/>
              </a:defRPr>
            </a:pPr>
            <a:r>
              <a:rPr sz="1575" b="1">
                <a:solidFill>
                  <a:srgbClr val="2D180B"/>
                </a:solidFill>
                <a:latin typeface="Lato"/>
                <a:ea typeface="Lato"/>
                <a:cs typeface="Lato"/>
              </a:rPr>
              <a:t>Make one move</a:t>
            </a:r>
          </a:p>
        </p:txBody>
      </p:sp>
      <p:sp>
        <p:nvSpPr>
          <p:cNvPr id="12" name="">
            <a:extLst xmlns:a="http://schemas.openxmlformats.org/drawingml/2006/main">
              <a:ext uri="{FF2B5EF4-FFF2-40B4-BE49-F238E27FC236}">
                <a16:creationId xmlns:a16="http://schemas.microsoft.com/office/drawing/2014/main" id="{7E42248A-B66F-4029-8A6E-DD0226FC5B30}"/>
              </a:ext>
            </a:extLst>
          </p:cNvPr>
          <p:cNvSpPr>
            <a:spLocks xmlns:a="http://schemas.openxmlformats.org/drawingml/2006/main" noGrp="1"/>
          </p:cNvSpPr>
          <p:nvPr/>
        </p:nvSpPr>
        <p:spPr>
          <a:xfrm xmlns:a="http://schemas.openxmlformats.org/drawingml/2006/main">
            <a:off x="3429000" y="2857500"/>
            <a:ext cx="2095500" cy="1352550"/>
          </a:xfrm>
          <a:prstGeom xmlns:a="http://schemas.openxmlformats.org/drawingml/2006/main" prst="roundRect">
            <a:avLst>
              <a:gd name="adj" fmla="val 11268"/>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18C351F1-3894-416F-814E-BEA141DEE577}"/>
              </a:ext>
            </a:extLst>
          </p:cNvPr>
          <p:cNvSpPr>
            <a:spLocks xmlns:a="http://schemas.openxmlformats.org/drawingml/2006/main" noGrp="1"/>
          </p:cNvSpPr>
          <p:nvPr/>
        </p:nvSpPr>
        <p:spPr>
          <a:xfrm xmlns:a="http://schemas.openxmlformats.org/drawingml/2006/main">
            <a:off x="3619500" y="3048000"/>
            <a:ext cx="304800" cy="3048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FFF6E9"/>
                </a:solidFill>
                <a:latin typeface="Lato"/>
                <a:ea typeface="Lato"/>
                <a:cs typeface="Lato"/>
              </a:defRPr>
            </a:pPr>
            <a:r>
              <a:rPr sz="900" b="1">
                <a:solidFill>
                  <a:srgbClr val="FFF6E9"/>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D1B68E4A-EC64-4DD2-91FF-2BEFFA833C9F}"/>
              </a:ext>
            </a:extLst>
          </p:cNvPr>
          <p:cNvSpPr>
            <a:spLocks xmlns:a="http://schemas.openxmlformats.org/drawingml/2006/main" noGrp="1"/>
          </p:cNvSpPr>
          <p:nvPr/>
        </p:nvSpPr>
        <p:spPr>
          <a:xfrm xmlns:a="http://schemas.openxmlformats.org/drawingml/2006/main">
            <a:off x="4057650" y="3076575"/>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C45300"/>
                </a:solidFill>
                <a:latin typeface="Lato"/>
                <a:ea typeface="Lato"/>
                <a:cs typeface="Lato"/>
              </a:defRPr>
            </a:pPr>
            <a:r>
              <a:rPr sz="1050" b="1">
                <a:solidFill>
                  <a:srgbClr val="C45300"/>
                </a:solidFill>
                <a:latin typeface="Lato"/>
                <a:ea typeface="Lato"/>
                <a:cs typeface="Lato"/>
              </a:rPr>
              <a:t>FEEDBACK</a:t>
            </a:r>
          </a:p>
        </p:txBody>
      </p:sp>
      <p:sp>
        <p:nvSpPr>
          <p:cNvPr id="15" name="">
            <a:extLst xmlns:a="http://schemas.openxmlformats.org/drawingml/2006/main">
              <a:ext uri="{FF2B5EF4-FFF2-40B4-BE49-F238E27FC236}">
                <a16:creationId xmlns:a16="http://schemas.microsoft.com/office/drawing/2014/main" id="{0E76DF72-9E23-47CF-9EF4-E69DB1A3C6C1}"/>
              </a:ext>
            </a:extLst>
          </p:cNvPr>
          <p:cNvSpPr>
            <a:spLocks xmlns:a="http://schemas.openxmlformats.org/drawingml/2006/main" noGrp="1"/>
          </p:cNvSpPr>
          <p:nvPr/>
        </p:nvSpPr>
        <p:spPr>
          <a:xfrm xmlns:a="http://schemas.openxmlformats.org/drawingml/2006/main">
            <a:off x="3619500" y="36004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2D180B"/>
                </a:solidFill>
                <a:latin typeface="Lato"/>
                <a:ea typeface="Lato"/>
                <a:cs typeface="Lato"/>
              </a:defRPr>
            </a:pPr>
            <a:r>
              <a:rPr sz="1575" b="1">
                <a:solidFill>
                  <a:srgbClr val="2D180B"/>
                </a:solidFill>
                <a:latin typeface="Lato"/>
                <a:ea typeface="Lato"/>
                <a:cs typeface="Lato"/>
              </a:rPr>
              <a:t>See what changed</a:t>
            </a:r>
          </a:p>
        </p:txBody>
      </p:sp>
      <p:sp>
        <p:nvSpPr>
          <p:cNvPr id="16" name="">
            <a:extLst xmlns:a="http://schemas.openxmlformats.org/drawingml/2006/main">
              <a:ext uri="{FF2B5EF4-FFF2-40B4-BE49-F238E27FC236}">
                <a16:creationId xmlns:a16="http://schemas.microsoft.com/office/drawing/2014/main" id="{70BEB687-F494-46ED-A146-8F3F0E3A3746}"/>
              </a:ext>
            </a:extLst>
          </p:cNvPr>
          <p:cNvSpPr>
            <a:spLocks xmlns:a="http://schemas.openxmlformats.org/drawingml/2006/main" noGrp="1"/>
          </p:cNvSpPr>
          <p:nvPr/>
        </p:nvSpPr>
        <p:spPr>
          <a:xfrm xmlns:a="http://schemas.openxmlformats.org/drawingml/2006/main">
            <a:off x="6172200" y="2857500"/>
            <a:ext cx="2095500" cy="1352550"/>
          </a:xfrm>
          <a:prstGeom xmlns:a="http://schemas.openxmlformats.org/drawingml/2006/main" prst="roundRect">
            <a:avLst>
              <a:gd name="adj" fmla="val 11268"/>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D2FF90D9-E119-439C-AAAB-1E1FDE60A340}"/>
              </a:ext>
            </a:extLst>
          </p:cNvPr>
          <p:cNvSpPr>
            <a:spLocks xmlns:a="http://schemas.openxmlformats.org/drawingml/2006/main" noGrp="1"/>
          </p:cNvSpPr>
          <p:nvPr/>
        </p:nvSpPr>
        <p:spPr>
          <a:xfrm xmlns:a="http://schemas.openxmlformats.org/drawingml/2006/main">
            <a:off x="6362700" y="3048000"/>
            <a:ext cx="304800" cy="3048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03</a:t>
            </a:r>
          </a:p>
        </p:txBody>
      </p:sp>
      <p:sp>
        <p:nvSpPr>
          <p:cNvPr id="18" name="">
            <a:extLst xmlns:a="http://schemas.openxmlformats.org/drawingml/2006/main">
              <a:ext uri="{FF2B5EF4-FFF2-40B4-BE49-F238E27FC236}">
                <a16:creationId xmlns:a16="http://schemas.microsoft.com/office/drawing/2014/main" id="{EAA38E52-76F3-46B9-A586-E2859BBC5980}"/>
              </a:ext>
            </a:extLst>
          </p:cNvPr>
          <p:cNvSpPr>
            <a:spLocks xmlns:a="http://schemas.openxmlformats.org/drawingml/2006/main" noGrp="1"/>
          </p:cNvSpPr>
          <p:nvPr/>
        </p:nvSpPr>
        <p:spPr>
          <a:xfrm xmlns:a="http://schemas.openxmlformats.org/drawingml/2006/main">
            <a:off x="6800850" y="3076575"/>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FFF6E9"/>
                </a:solidFill>
                <a:latin typeface="Lato"/>
                <a:ea typeface="Lato"/>
                <a:cs typeface="Lato"/>
              </a:defRPr>
            </a:pPr>
            <a:r>
              <a:rPr sz="1050" b="1">
                <a:solidFill>
                  <a:srgbClr val="FFF6E9"/>
                </a:solidFill>
                <a:latin typeface="Lato"/>
                <a:ea typeface="Lato"/>
                <a:cs typeface="Lato"/>
              </a:rPr>
              <a:t>UNDERSTAND</a:t>
            </a:r>
          </a:p>
        </p:txBody>
      </p:sp>
      <p:sp>
        <p:nvSpPr>
          <p:cNvPr id="19" name="">
            <a:extLst xmlns:a="http://schemas.openxmlformats.org/drawingml/2006/main">
              <a:ext uri="{FF2B5EF4-FFF2-40B4-BE49-F238E27FC236}">
                <a16:creationId xmlns:a16="http://schemas.microsoft.com/office/drawing/2014/main" id="{D8546876-FD49-41B3-9608-986E72ABDD5D}"/>
              </a:ext>
            </a:extLst>
          </p:cNvPr>
          <p:cNvSpPr>
            <a:spLocks xmlns:a="http://schemas.openxmlformats.org/drawingml/2006/main" noGrp="1"/>
          </p:cNvSpPr>
          <p:nvPr/>
        </p:nvSpPr>
        <p:spPr>
          <a:xfrm xmlns:a="http://schemas.openxmlformats.org/drawingml/2006/main">
            <a:off x="6362700" y="36004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Name the why</a:t>
            </a:r>
          </a:p>
        </p:txBody>
      </p:sp>
      <p:sp>
        <p:nvSpPr>
          <p:cNvPr id="20" name="">
            <a:extLst xmlns:a="http://schemas.openxmlformats.org/drawingml/2006/main">
              <a:ext uri="{FF2B5EF4-FFF2-40B4-BE49-F238E27FC236}">
                <a16:creationId xmlns:a16="http://schemas.microsoft.com/office/drawing/2014/main" id="{281A87CE-79EB-424A-9C97-E608FC1A31B1}"/>
              </a:ext>
            </a:extLst>
          </p:cNvPr>
          <p:cNvSpPr>
            <a:spLocks xmlns:a="http://schemas.openxmlformats.org/drawingml/2006/main" noGrp="1"/>
          </p:cNvSpPr>
          <p:nvPr/>
        </p:nvSpPr>
        <p:spPr>
          <a:xfrm xmlns:a="http://schemas.openxmlformats.org/drawingml/2006/main">
            <a:off x="8915400" y="2857500"/>
            <a:ext cx="2095500" cy="1352550"/>
          </a:xfrm>
          <a:prstGeom xmlns:a="http://schemas.openxmlformats.org/drawingml/2006/main" prst="roundRect">
            <a:avLst>
              <a:gd name="adj" fmla="val 11268"/>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FE061890-866D-4E89-AA12-741E11ABAB30}"/>
              </a:ext>
            </a:extLst>
          </p:cNvPr>
          <p:cNvSpPr>
            <a:spLocks xmlns:a="http://schemas.openxmlformats.org/drawingml/2006/main" noGrp="1"/>
          </p:cNvSpPr>
          <p:nvPr/>
        </p:nvSpPr>
        <p:spPr>
          <a:xfrm xmlns:a="http://schemas.openxmlformats.org/drawingml/2006/main">
            <a:off x="9105900" y="3048000"/>
            <a:ext cx="304800" cy="3048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FFF6E9"/>
                </a:solidFill>
                <a:latin typeface="Lato"/>
                <a:ea typeface="Lato"/>
                <a:cs typeface="Lato"/>
              </a:defRPr>
            </a:pPr>
            <a:r>
              <a:rPr sz="900" b="1">
                <a:solidFill>
                  <a:srgbClr val="FFF6E9"/>
                </a:solidFill>
                <a:latin typeface="Lato"/>
                <a:ea typeface="Lato"/>
                <a:cs typeface="Lato"/>
              </a:rPr>
              <a:t>04</a:t>
            </a:r>
          </a:p>
        </p:txBody>
      </p:sp>
      <p:sp>
        <p:nvSpPr>
          <p:cNvPr id="22" name="">
            <a:extLst xmlns:a="http://schemas.openxmlformats.org/drawingml/2006/main">
              <a:ext uri="{FF2B5EF4-FFF2-40B4-BE49-F238E27FC236}">
                <a16:creationId xmlns:a16="http://schemas.microsoft.com/office/drawing/2014/main" id="{79214480-8846-4A57-889C-D845C483D921}"/>
              </a:ext>
            </a:extLst>
          </p:cNvPr>
          <p:cNvSpPr>
            <a:spLocks xmlns:a="http://schemas.openxmlformats.org/drawingml/2006/main" noGrp="1"/>
          </p:cNvSpPr>
          <p:nvPr/>
        </p:nvSpPr>
        <p:spPr>
          <a:xfrm xmlns:a="http://schemas.openxmlformats.org/drawingml/2006/main">
            <a:off x="9544050" y="3076575"/>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C45300"/>
                </a:solidFill>
                <a:latin typeface="Lato"/>
                <a:ea typeface="Lato"/>
                <a:cs typeface="Lato"/>
              </a:defRPr>
            </a:pPr>
            <a:r>
              <a:rPr sz="1050" b="1">
                <a:solidFill>
                  <a:srgbClr val="C45300"/>
                </a:solidFill>
                <a:latin typeface="Lato"/>
                <a:ea typeface="Lato"/>
                <a:cs typeface="Lato"/>
              </a:rPr>
              <a:t>NEXT ATTEMPT</a:t>
            </a:r>
          </a:p>
        </p:txBody>
      </p:sp>
      <p:sp>
        <p:nvSpPr>
          <p:cNvPr id="23" name="">
            <a:extLst xmlns:a="http://schemas.openxmlformats.org/drawingml/2006/main">
              <a:ext uri="{FF2B5EF4-FFF2-40B4-BE49-F238E27FC236}">
                <a16:creationId xmlns:a16="http://schemas.microsoft.com/office/drawing/2014/main" id="{9A221C7A-5A0C-410E-BA31-4C7941D87F1D}"/>
              </a:ext>
            </a:extLst>
          </p:cNvPr>
          <p:cNvSpPr>
            <a:spLocks xmlns:a="http://schemas.openxmlformats.org/drawingml/2006/main" noGrp="1"/>
          </p:cNvSpPr>
          <p:nvPr/>
        </p:nvSpPr>
        <p:spPr>
          <a:xfrm xmlns:a="http://schemas.openxmlformats.org/drawingml/2006/main">
            <a:off x="9105900" y="36004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940"/>
          </a:bodyPr>
          <a:lstStyle xmlns:a="http://schemas.openxmlformats.org/drawingml/2006/main"/>
          <a:p xmlns:a="http://schemas.openxmlformats.org/drawingml/2006/main">
            <a:pPr>
              <a:defRPr sz="1575" b="1">
                <a:solidFill>
                  <a:srgbClr val="2D180B"/>
                </a:solidFill>
                <a:latin typeface="Lato"/>
                <a:ea typeface="Lato"/>
                <a:cs typeface="Lato"/>
              </a:defRPr>
            </a:pPr>
            <a:r>
              <a:rPr sz="1575" b="1">
                <a:solidFill>
                  <a:srgbClr val="2D180B"/>
                </a:solidFill>
                <a:latin typeface="Lato"/>
                <a:ea typeface="Lato"/>
                <a:cs typeface="Lato"/>
              </a:rPr>
              <a:t>Apply the idea again</a:t>
            </a:r>
          </a:p>
        </p:txBody>
      </p:sp>
      <p:cxnSp>
        <p:nvCxnSpPr>
          <p:cNvPr id="54" name=""/>
          <p:cNvCxnSpPr>
            <a:stCxn xmlns:a="http://schemas.openxmlformats.org/drawingml/2006/main" id="8" idx="3"/>
            <a:endCxn xmlns:a="http://schemas.openxmlformats.org/drawingml/2006/main" id="12" idx="1"/>
          </p:cNvCxnSpPr>
          <p:nvPr/>
        </p:nvCxnSpPr>
        <p:spPr>
          <a:xfrm xmlns:a="http://schemas.openxmlformats.org/drawingml/2006/main">
            <a:off x="2781300" y="3533775"/>
            <a:ext cx="647700" cy="0"/>
          </a:xfrm>
          <a:prstGeom xmlns:a="http://schemas.openxmlformats.org/drawingml/2006/main" prst="straightConnector1">
            <a:avLst/>
          </a:prstGeom>
          <a:ln xmlns:a="http://schemas.openxmlformats.org/drawingml/2006/main" w="28575">
            <a:solidFill>
              <a:srgbClr val="C45300"/>
            </a:solidFill>
            <a:prstDash val="solid"/>
            <a:tailEnd type="arrow" w="sm" len="sm"/>
          </a:ln>
        </p:spPr>
      </p:cxnSp>
      <p:cxnSp>
        <p:nvCxnSpPr>
          <p:cNvPr id="55" name=""/>
          <p:cNvCxnSpPr>
            <a:stCxn xmlns:a="http://schemas.openxmlformats.org/drawingml/2006/main" id="12" idx="3"/>
            <a:endCxn xmlns:a="http://schemas.openxmlformats.org/drawingml/2006/main" id="16" idx="1"/>
          </p:cNvCxnSpPr>
          <p:nvPr/>
        </p:nvCxnSpPr>
        <p:spPr>
          <a:xfrm xmlns:a="http://schemas.openxmlformats.org/drawingml/2006/main">
            <a:off x="5524500" y="3533775"/>
            <a:ext cx="647700" cy="0"/>
          </a:xfrm>
          <a:prstGeom xmlns:a="http://schemas.openxmlformats.org/drawingml/2006/main" prst="straightConnector1">
            <a:avLst/>
          </a:prstGeom>
          <a:ln xmlns:a="http://schemas.openxmlformats.org/drawingml/2006/main" w="28575">
            <a:solidFill>
              <a:srgbClr val="C45300"/>
            </a:solidFill>
            <a:prstDash val="solid"/>
            <a:tailEnd type="arrow" w="sm" len="sm"/>
          </a:ln>
        </p:spPr>
      </p:cxnSp>
      <p:cxnSp>
        <p:nvCxnSpPr>
          <p:cNvPr id="56" name=""/>
          <p:cNvCxnSpPr>
            <a:stCxn xmlns:a="http://schemas.openxmlformats.org/drawingml/2006/main" id="16" idx="3"/>
            <a:endCxn xmlns:a="http://schemas.openxmlformats.org/drawingml/2006/main" id="20" idx="1"/>
          </p:cNvCxnSpPr>
          <p:nvPr/>
        </p:nvCxnSpPr>
        <p:spPr>
          <a:xfrm xmlns:a="http://schemas.openxmlformats.org/drawingml/2006/main">
            <a:off x="8267700" y="3533775"/>
            <a:ext cx="647700" cy="0"/>
          </a:xfrm>
          <a:prstGeom xmlns:a="http://schemas.openxmlformats.org/drawingml/2006/main" prst="straightConnector1">
            <a:avLst/>
          </a:prstGeom>
          <a:ln xmlns:a="http://schemas.openxmlformats.org/drawingml/2006/main" w="28575">
            <a:solidFill>
              <a:srgbClr val="C45300"/>
            </a:solidFill>
            <a:prstDash val="solid"/>
            <a:tailEnd type="arrow" w="sm" len="sm"/>
          </a:ln>
        </p:spPr>
      </p:cxnSp>
      <p:sp>
        <p:nvSpPr>
          <p:cNvPr id="27" name="">
            <a:extLst xmlns:a="http://schemas.openxmlformats.org/drawingml/2006/main">
              <a:ext uri="{FF2B5EF4-FFF2-40B4-BE49-F238E27FC236}">
                <a16:creationId xmlns:a16="http://schemas.microsoft.com/office/drawing/2014/main" id="{EC878A4D-A73E-4C52-BDD6-2A8ADA8CB044}"/>
              </a:ext>
            </a:extLst>
          </p:cNvPr>
          <p:cNvSpPr>
            <a:spLocks xmlns:a="http://schemas.openxmlformats.org/drawingml/2006/main" noGrp="1"/>
          </p:cNvSpPr>
          <p:nvPr/>
        </p:nvSpPr>
        <p:spPr>
          <a:xfrm xmlns:a="http://schemas.openxmlformats.org/drawingml/2006/main">
            <a:off x="685800" y="4953000"/>
            <a:ext cx="10820400" cy="819150"/>
          </a:xfrm>
          <a:prstGeom xmlns:a="http://schemas.openxmlformats.org/drawingml/2006/main" prst="roundRect">
            <a:avLst>
              <a:gd name="adj" fmla="val 18605"/>
            </a:avLst>
          </a:prstGeom>
          <a:solidFill xmlns:a="http://schemas.openxmlformats.org/drawingml/2006/main">
            <a:srgbClr val="1B100B"/>
          </a:solidFill>
          <a:ln xmlns:a="http://schemas.openxmlformats.org/drawingml/2006/main" w="9525">
            <a:solidFill>
              <a:srgbClr val="1B100B"/>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
            <a:extLst xmlns:a="http://schemas.openxmlformats.org/drawingml/2006/main">
              <a:ext uri="{FF2B5EF4-FFF2-40B4-BE49-F238E27FC236}">
                <a16:creationId xmlns:a16="http://schemas.microsoft.com/office/drawing/2014/main" id="{EEA1E0D8-8C51-47DD-BCC1-6952530FB841}"/>
              </a:ext>
            </a:extLst>
          </p:cNvPr>
          <p:cNvSpPr>
            <a:spLocks xmlns:a="http://schemas.openxmlformats.org/drawingml/2006/main" noGrp="1"/>
          </p:cNvSpPr>
          <p:nvPr/>
        </p:nvSpPr>
        <p:spPr>
          <a:xfrm xmlns:a="http://schemas.openxmlformats.org/drawingml/2006/main">
            <a:off x="990600" y="51625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Attempt  →  feedback  →  understanding  →  next attempt</a:t>
            </a:r>
          </a:p>
        </p:txBody>
      </p:sp>
      <p:sp>
        <p:nvSpPr>
          <p:cNvPr id="29" name="">
            <a:extLst xmlns:a="http://schemas.openxmlformats.org/drawingml/2006/main">
              <a:ext uri="{FF2B5EF4-FFF2-40B4-BE49-F238E27FC236}">
                <a16:creationId xmlns:a16="http://schemas.microsoft.com/office/drawing/2014/main" id="{DF78B287-CBD0-4D26-B063-3C29C0E1D995}"/>
              </a:ext>
            </a:extLst>
          </p:cNvPr>
          <p:cNvSpPr>
            <a:spLocks xmlns:a="http://schemas.openxmlformats.org/drawingml/2006/main" noGrp="1"/>
          </p:cNvSpPr>
          <p:nvPr/>
        </p:nvSpPr>
        <p:spPr>
          <a:xfrm xmlns:a="http://schemas.openxmlformats.org/drawingml/2006/main">
            <a:off x="990600" y="54673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D8BBA4"/>
                </a:solidFill>
                <a:latin typeface="Lato"/>
                <a:ea typeface="Lato"/>
                <a:cs typeface="Lato"/>
              </a:defRPr>
            </a:pPr>
            <a:r>
              <a:rPr sz="1125">
                <a:solidFill>
                  <a:srgbClr val="D8BBA4"/>
                </a:solidFill>
                <a:latin typeface="Lato"/>
                <a:ea typeface="Lato"/>
                <a:cs typeface="Lato"/>
              </a:rPr>
              <a:t>The learner keeps the work. Bataa makes the next move legible.</a:t>
            </a:r>
          </a:p>
        </p:txBody>
      </p:sp>
      <p:sp>
        <p:nvSpPr>
          <p:cNvPr id="30" name="">
            <a:extLst xmlns:a="http://schemas.openxmlformats.org/drawingml/2006/main">
              <a:ext uri="{FF2B5EF4-FFF2-40B4-BE49-F238E27FC236}">
                <a16:creationId xmlns:a16="http://schemas.microsoft.com/office/drawing/2014/main" id="{DB2F5607-8008-4B00-B6A4-2F59D74005D4}"/>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Editable diagram · product hypothesis to validate in pilot</a:t>
            </a:r>
          </a:p>
        </p:txBody>
      </p:sp>
    </p:spTree>
    <p:extLst>
      <p:ext uri="{BB962C8B-B14F-4D97-AF65-F5344CB8AC3E}">
        <p14:creationId xmlns:p14="http://schemas.microsoft.com/office/powerpoint/2010/main" val="405859152"/>
      </p:ext>
    </p:extLst>
  </p:cSld>
</p:sld>
</file>

<file path=ppt/slides/slide11.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A37FEBD-2172-419C-91BE-5238C3EB8CA5}"/>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FBBA33F2-ADD5-496E-9E03-EE2C41937E02}"/>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POSITIONING</a:t>
            </a:r>
          </a:p>
        </p:txBody>
      </p:sp>
      <p:sp>
        <p:nvSpPr>
          <p:cNvPr id="3" name="">
            <a:extLst xmlns:a="http://schemas.openxmlformats.org/drawingml/2006/main">
              <a:ext uri="{FF2B5EF4-FFF2-40B4-BE49-F238E27FC236}">
                <a16:creationId xmlns:a16="http://schemas.microsoft.com/office/drawing/2014/main" id="{75A306ED-3EF5-4A99-84CB-AB2D4DD1FF09}"/>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11</a:t>
            </a:r>
          </a:p>
        </p:txBody>
      </p:sp>
      <p:sp>
        <p:nvSpPr>
          <p:cNvPr id="4" name="">
            <a:extLst xmlns:a="http://schemas.openxmlformats.org/drawingml/2006/main">
              <a:ext uri="{FF2B5EF4-FFF2-40B4-BE49-F238E27FC236}">
                <a16:creationId xmlns:a16="http://schemas.microsoft.com/office/drawing/2014/main" id="{88490ABE-D846-433F-83CB-CDE83B3AE6F4}"/>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23FE444C-CA34-474A-893A-C61A02D0D6FA}"/>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5593"/>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Bataa sits between content and the moment of action</a:t>
            </a:r>
          </a:p>
        </p:txBody>
      </p:sp>
      <p:sp>
        <p:nvSpPr>
          <p:cNvPr id="6" name="">
            <a:extLst xmlns:a="http://schemas.openxmlformats.org/drawingml/2006/main">
              <a:ext uri="{FF2B5EF4-FFF2-40B4-BE49-F238E27FC236}">
                <a16:creationId xmlns:a16="http://schemas.microsoft.com/office/drawing/2014/main" id="{8013EC17-4C59-46E5-AF09-B2337573F7C3}"/>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A positioning hypothesis, not a claim that competitors lack AI.</a:t>
            </a:r>
          </a:p>
        </p:txBody>
      </p:sp>
      <p:sp>
        <p:nvSpPr>
          <p:cNvPr id="7" name="">
            <a:extLst xmlns:a="http://schemas.openxmlformats.org/drawingml/2006/main">
              <a:ext uri="{FF2B5EF4-FFF2-40B4-BE49-F238E27FC236}">
                <a16:creationId xmlns:a16="http://schemas.microsoft.com/office/drawing/2014/main" id="{7D38E700-222D-4E54-A8BE-6F42E0DCBF05}"/>
              </a:ext>
            </a:extLst>
          </p:cNvPr>
          <p:cNvSpPr>
            <a:spLocks xmlns:a="http://schemas.openxmlformats.org/drawingml/2006/main" noGrp="1"/>
          </p:cNvSpPr>
          <p:nvPr/>
        </p:nvSpPr>
        <p:spPr>
          <a:xfrm xmlns:a="http://schemas.openxmlformats.org/drawingml/2006/main">
            <a:off x="1143000" y="2333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FD5A3"/>
                </a:solidFill>
                <a:latin typeface="Lato"/>
                <a:ea typeface="Lato"/>
                <a:cs typeface="Lato"/>
              </a:defRPr>
            </a:pPr>
            <a:r>
              <a:rPr sz="975" b="1">
                <a:solidFill>
                  <a:srgbClr val="FFD5A3"/>
                </a:solidFill>
                <a:latin typeface="Lato"/>
                <a:ea typeface="Lato"/>
                <a:cs typeface="Lato"/>
              </a:rPr>
              <a:t>GUIDANCE IN CONTEXT</a:t>
            </a:r>
          </a:p>
        </p:txBody>
      </p:sp>
      <p:sp>
        <p:nvSpPr>
          <p:cNvPr id="8" name="">
            <a:extLst xmlns:a="http://schemas.openxmlformats.org/drawingml/2006/main">
              <a:ext uri="{FF2B5EF4-FFF2-40B4-BE49-F238E27FC236}">
                <a16:creationId xmlns:a16="http://schemas.microsoft.com/office/drawing/2014/main" id="{19291D2B-18F9-4F61-AFBE-A2E95CB44368}"/>
              </a:ext>
            </a:extLst>
          </p:cNvPr>
          <p:cNvSpPr>
            <a:spLocks xmlns:a="http://schemas.openxmlformats.org/drawingml/2006/main" noGrp="1"/>
          </p:cNvSpPr>
          <p:nvPr/>
        </p:nvSpPr>
        <p:spPr>
          <a:xfrm xmlns:a="http://schemas.openxmlformats.org/drawingml/2006/main">
            <a:off x="2724150" y="5715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C9A98C"/>
                </a:solidFill>
                <a:latin typeface="Lato"/>
                <a:ea typeface="Lato"/>
                <a:cs typeface="Lato"/>
              </a:defRPr>
            </a:pPr>
            <a:r>
              <a:rPr sz="900" b="1">
                <a:solidFill>
                  <a:srgbClr val="C9A98C"/>
                </a:solidFill>
                <a:latin typeface="Lato"/>
                <a:ea typeface="Lato"/>
                <a:cs typeface="Lato"/>
              </a:rPr>
              <a:t>LOW</a:t>
            </a:r>
          </a:p>
        </p:txBody>
      </p:sp>
      <p:sp>
        <p:nvSpPr>
          <p:cNvPr id="9" name="">
            <a:extLst xmlns:a="http://schemas.openxmlformats.org/drawingml/2006/main">
              <a:ext uri="{FF2B5EF4-FFF2-40B4-BE49-F238E27FC236}">
                <a16:creationId xmlns:a16="http://schemas.microsoft.com/office/drawing/2014/main" id="{0FBE618D-0D2C-49C6-B073-43C1CAFD85CD}"/>
              </a:ext>
            </a:extLst>
          </p:cNvPr>
          <p:cNvSpPr>
            <a:spLocks xmlns:a="http://schemas.openxmlformats.org/drawingml/2006/main" noGrp="1"/>
          </p:cNvSpPr>
          <p:nvPr/>
        </p:nvSpPr>
        <p:spPr>
          <a:xfrm xmlns:a="http://schemas.openxmlformats.org/drawingml/2006/main">
            <a:off x="9620250" y="5715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C9A98C"/>
                </a:solidFill>
                <a:latin typeface="Lato"/>
                <a:ea typeface="Lato"/>
                <a:cs typeface="Lato"/>
              </a:defRPr>
            </a:pPr>
            <a:r>
              <a:rPr sz="900" b="1">
                <a:solidFill>
                  <a:srgbClr val="C9A98C"/>
                </a:solidFill>
                <a:latin typeface="Lato"/>
                <a:ea typeface="Lato"/>
                <a:cs typeface="Lato"/>
              </a:rPr>
              <a:t>HIGH</a:t>
            </a:r>
          </a:p>
        </p:txBody>
      </p:sp>
      <p:sp>
        <p:nvSpPr>
          <p:cNvPr id="10" name="">
            <a:extLst xmlns:a="http://schemas.openxmlformats.org/drawingml/2006/main">
              <a:ext uri="{FF2B5EF4-FFF2-40B4-BE49-F238E27FC236}">
                <a16:creationId xmlns:a16="http://schemas.microsoft.com/office/drawing/2014/main" id="{42305BFB-4AB5-4240-B76A-B7922DDE7131}"/>
              </a:ext>
            </a:extLst>
          </p:cNvPr>
          <p:cNvSpPr>
            <a:spLocks xmlns:a="http://schemas.openxmlformats.org/drawingml/2006/main" noGrp="1"/>
          </p:cNvSpPr>
          <p:nvPr/>
        </p:nvSpPr>
        <p:spPr>
          <a:xfrm xmlns:a="http://schemas.openxmlformats.org/drawingml/2006/main">
            <a:off x="1714500" y="5381625"/>
            <a:ext cx="8763000" cy="0"/>
          </a:xfrm>
          <a:prstGeom xmlns:a="http://schemas.openxmlformats.org/drawingml/2006/main" prst="line">
            <a:avLst/>
          </a:prstGeom>
          <a:noFill xmlns:a="http://schemas.openxmlformats.org/drawingml/2006/main"/>
          <a:ln xmlns:a="http://schemas.openxmlformats.org/drawingml/2006/main" w="19050">
            <a:solidFill>
              <a:srgbClr val="6B4730"/>
            </a:solidFill>
            <a:prstDash val="solid"/>
          </a:ln>
        </p:spPr>
      </p:sp>
      <p:sp>
        <p:nvSpPr>
          <p:cNvPr id="11" name="">
            <a:extLst xmlns:a="http://schemas.openxmlformats.org/drawingml/2006/main">
              <a:ext uri="{FF2B5EF4-FFF2-40B4-BE49-F238E27FC236}">
                <a16:creationId xmlns:a16="http://schemas.microsoft.com/office/drawing/2014/main" id="{4EA95C67-D151-4430-9F58-4E59CC81A0EB}"/>
              </a:ext>
            </a:extLst>
          </p:cNvPr>
          <p:cNvSpPr>
            <a:spLocks xmlns:a="http://schemas.openxmlformats.org/drawingml/2006/main" noGrp="1"/>
          </p:cNvSpPr>
          <p:nvPr/>
        </p:nvSpPr>
        <p:spPr>
          <a:xfrm xmlns:a="http://schemas.openxmlformats.org/drawingml/2006/main">
            <a:off x="1714500" y="2476500"/>
            <a:ext cx="0" cy="2905125"/>
          </a:xfrm>
          <a:prstGeom xmlns:a="http://schemas.openxmlformats.org/drawingml/2006/main" prst="line">
            <a:avLst/>
          </a:prstGeom>
          <a:noFill xmlns:a="http://schemas.openxmlformats.org/drawingml/2006/main"/>
          <a:ln xmlns:a="http://schemas.openxmlformats.org/drawingml/2006/main" w="19050">
            <a:solidFill>
              <a:srgbClr val="6B4730"/>
            </a:solidFill>
            <a:prstDash val="solid"/>
          </a:ln>
        </p:spPr>
      </p:sp>
      <p:sp>
        <p:nvSpPr>
          <p:cNvPr id="12" name="">
            <a:extLst xmlns:a="http://schemas.openxmlformats.org/drawingml/2006/main">
              <a:ext uri="{FF2B5EF4-FFF2-40B4-BE49-F238E27FC236}">
                <a16:creationId xmlns:a16="http://schemas.microsoft.com/office/drawing/2014/main" id="{8802D651-BAF4-4B13-8EE4-902F362C27BC}"/>
              </a:ext>
            </a:extLst>
          </p:cNvPr>
          <p:cNvSpPr>
            <a:spLocks xmlns:a="http://schemas.openxmlformats.org/drawingml/2006/main" noGrp="1"/>
          </p:cNvSpPr>
          <p:nvPr/>
        </p:nvSpPr>
        <p:spPr>
          <a:xfrm xmlns:a="http://schemas.openxmlformats.org/drawingml/2006/main">
            <a:off x="733425" y="3381375"/>
            <a:ext cx="762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FD5A3"/>
                </a:solidFill>
                <a:latin typeface="Lato"/>
                <a:ea typeface="Lato"/>
                <a:cs typeface="Lato"/>
              </a:defRPr>
            </a:pPr>
            <a:r>
              <a:rPr sz="975" b="1">
                <a:solidFill>
                  <a:srgbClr val="FFD5A3"/>
                </a:solidFill>
                <a:latin typeface="Lato"/>
                <a:ea typeface="Lato"/>
                <a:cs typeface="Lato"/>
              </a:rPr>
              <a:t>DAILY PRACTICE</a:t>
            </a:r>
          </a:p>
        </p:txBody>
      </p:sp>
      <p:sp>
        <p:nvSpPr>
          <p:cNvPr id="13" name="">
            <a:extLst xmlns:a="http://schemas.openxmlformats.org/drawingml/2006/main">
              <a:ext uri="{FF2B5EF4-FFF2-40B4-BE49-F238E27FC236}">
                <a16:creationId xmlns:a16="http://schemas.microsoft.com/office/drawing/2014/main" id="{A7F0EAEC-50B1-4DA7-A103-764615F6D12B}"/>
              </a:ext>
            </a:extLst>
          </p:cNvPr>
          <p:cNvSpPr>
            <a:spLocks xmlns:a="http://schemas.openxmlformats.org/drawingml/2006/main" noGrp="1"/>
          </p:cNvSpPr>
          <p:nvPr/>
        </p:nvSpPr>
        <p:spPr>
          <a:xfrm xmlns:a="http://schemas.openxmlformats.org/drawingml/2006/main">
            <a:off x="2933700" y="4457700"/>
            <a:ext cx="419100" cy="419100"/>
          </a:xfrm>
          <a:prstGeom xmlns:a="http://schemas.openxmlformats.org/drawingml/2006/main" prst="ellipse">
            <a:avLst/>
          </a:prstGeom>
          <a:solidFill xmlns:a="http://schemas.openxmlformats.org/drawingml/2006/main">
            <a:srgbClr val="FBEAD4"/>
          </a:solidFill>
          <a:ln xmlns:a="http://schemas.openxmlformats.org/drawingml/2006/main" w="0">
            <a:solidFill>
              <a:srgbClr val="FBEAD4"/>
            </a:solidFill>
          </a:ln>
        </p:spPr>
      </p:sp>
      <p:sp>
        <p:nvSpPr>
          <p:cNvPr id="14" name="">
            <a:extLst xmlns:a="http://schemas.openxmlformats.org/drawingml/2006/main">
              <a:ext uri="{FF2B5EF4-FFF2-40B4-BE49-F238E27FC236}">
                <a16:creationId xmlns:a16="http://schemas.microsoft.com/office/drawing/2014/main" id="{378F6549-C827-41EB-B409-D7FE409A71EF}"/>
              </a:ext>
            </a:extLst>
          </p:cNvPr>
          <p:cNvSpPr>
            <a:spLocks xmlns:a="http://schemas.openxmlformats.org/drawingml/2006/main" noGrp="1"/>
          </p:cNvSpPr>
          <p:nvPr/>
        </p:nvSpPr>
        <p:spPr>
          <a:xfrm xmlns:a="http://schemas.openxmlformats.org/drawingml/2006/main">
            <a:off x="2400300" y="4972050"/>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FFF6E9"/>
                </a:solidFill>
                <a:latin typeface="Lato"/>
                <a:ea typeface="Lato"/>
                <a:cs typeface="Lato"/>
              </a:defRPr>
            </a:pPr>
            <a:r>
              <a:rPr sz="1050" b="0">
                <a:solidFill>
                  <a:srgbClr val="FFF6E9"/>
                </a:solidFill>
                <a:latin typeface="Lato"/>
                <a:ea typeface="Lato"/>
                <a:cs typeface="Lato"/>
              </a:rPr>
              <a:t>Khan Academy</a:t>
            </a:r>
          </a:p>
        </p:txBody>
      </p:sp>
      <p:sp>
        <p:nvSpPr>
          <p:cNvPr id="15" name="">
            <a:extLst xmlns:a="http://schemas.openxmlformats.org/drawingml/2006/main">
              <a:ext uri="{FF2B5EF4-FFF2-40B4-BE49-F238E27FC236}">
                <a16:creationId xmlns:a16="http://schemas.microsoft.com/office/drawing/2014/main" id="{E227B9BC-C6A3-4301-AAED-CCDEECFED69C}"/>
              </a:ext>
            </a:extLst>
          </p:cNvPr>
          <p:cNvSpPr>
            <a:spLocks xmlns:a="http://schemas.openxmlformats.org/drawingml/2006/main" noGrp="1"/>
          </p:cNvSpPr>
          <p:nvPr/>
        </p:nvSpPr>
        <p:spPr>
          <a:xfrm xmlns:a="http://schemas.openxmlformats.org/drawingml/2006/main">
            <a:off x="3933825" y="3790950"/>
            <a:ext cx="419100" cy="419100"/>
          </a:xfrm>
          <a:prstGeom xmlns:a="http://schemas.openxmlformats.org/drawingml/2006/main" prst="ellipse">
            <a:avLst/>
          </a:prstGeom>
          <a:solidFill xmlns:a="http://schemas.openxmlformats.org/drawingml/2006/main">
            <a:srgbClr val="BBA9E4"/>
          </a:solidFill>
          <a:ln xmlns:a="http://schemas.openxmlformats.org/drawingml/2006/main" w="0">
            <a:solidFill>
              <a:srgbClr val="BBA9E4"/>
            </a:solidFill>
          </a:ln>
        </p:spPr>
      </p:sp>
      <p:sp>
        <p:nvSpPr>
          <p:cNvPr id="16" name="">
            <a:extLst xmlns:a="http://schemas.openxmlformats.org/drawingml/2006/main">
              <a:ext uri="{FF2B5EF4-FFF2-40B4-BE49-F238E27FC236}">
                <a16:creationId xmlns:a16="http://schemas.microsoft.com/office/drawing/2014/main" id="{5DB7D6A5-CB77-43FA-921C-F71EA5694358}"/>
              </a:ext>
            </a:extLst>
          </p:cNvPr>
          <p:cNvSpPr>
            <a:spLocks xmlns:a="http://schemas.openxmlformats.org/drawingml/2006/main" noGrp="1"/>
          </p:cNvSpPr>
          <p:nvPr/>
        </p:nvSpPr>
        <p:spPr>
          <a:xfrm xmlns:a="http://schemas.openxmlformats.org/drawingml/2006/main">
            <a:off x="3400425" y="4305300"/>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FFF6E9"/>
                </a:solidFill>
                <a:latin typeface="Lato"/>
                <a:ea typeface="Lato"/>
                <a:cs typeface="Lato"/>
              </a:defRPr>
            </a:pPr>
            <a:r>
              <a:rPr sz="1050" b="0">
                <a:solidFill>
                  <a:srgbClr val="FFF6E9"/>
                </a:solidFill>
                <a:latin typeface="Lato"/>
                <a:ea typeface="Lato"/>
                <a:cs typeface="Lato"/>
              </a:rPr>
              <a:t>iSchool</a:t>
            </a:r>
          </a:p>
        </p:txBody>
      </p:sp>
      <p:sp>
        <p:nvSpPr>
          <p:cNvPr id="17" name="">
            <a:extLst xmlns:a="http://schemas.openxmlformats.org/drawingml/2006/main">
              <a:ext uri="{FF2B5EF4-FFF2-40B4-BE49-F238E27FC236}">
                <a16:creationId xmlns:a16="http://schemas.microsoft.com/office/drawing/2014/main" id="{E02316D7-CFED-41AF-B04C-FF4A496FF2F3}"/>
              </a:ext>
            </a:extLst>
          </p:cNvPr>
          <p:cNvSpPr>
            <a:spLocks xmlns:a="http://schemas.openxmlformats.org/drawingml/2006/main" noGrp="1"/>
          </p:cNvSpPr>
          <p:nvPr/>
        </p:nvSpPr>
        <p:spPr>
          <a:xfrm xmlns:a="http://schemas.openxmlformats.org/drawingml/2006/main">
            <a:off x="5029200" y="4267200"/>
            <a:ext cx="419100" cy="419100"/>
          </a:xfrm>
          <a:prstGeom xmlns:a="http://schemas.openxmlformats.org/drawingml/2006/main" prst="ellipse">
            <a:avLst/>
          </a:prstGeom>
          <a:solidFill xmlns:a="http://schemas.openxmlformats.org/drawingml/2006/main">
            <a:srgbClr val="B9D8C5"/>
          </a:solidFill>
          <a:ln xmlns:a="http://schemas.openxmlformats.org/drawingml/2006/main" w="0">
            <a:solidFill>
              <a:srgbClr val="B9D8C5"/>
            </a:solidFill>
          </a:ln>
        </p:spPr>
      </p:sp>
      <p:sp>
        <p:nvSpPr>
          <p:cNvPr id="18" name="">
            <a:extLst xmlns:a="http://schemas.openxmlformats.org/drawingml/2006/main">
              <a:ext uri="{FF2B5EF4-FFF2-40B4-BE49-F238E27FC236}">
                <a16:creationId xmlns:a16="http://schemas.microsoft.com/office/drawing/2014/main" id="{877E704A-9D50-4411-8FA2-8940FA72E6CD}"/>
              </a:ext>
            </a:extLst>
          </p:cNvPr>
          <p:cNvSpPr>
            <a:spLocks xmlns:a="http://schemas.openxmlformats.org/drawingml/2006/main" noGrp="1"/>
          </p:cNvSpPr>
          <p:nvPr/>
        </p:nvSpPr>
        <p:spPr>
          <a:xfrm xmlns:a="http://schemas.openxmlformats.org/drawingml/2006/main">
            <a:off x="4495800" y="4781550"/>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FFF6E9"/>
                </a:solidFill>
                <a:latin typeface="Lato"/>
                <a:ea typeface="Lato"/>
                <a:cs typeface="Lato"/>
              </a:defRPr>
            </a:pPr>
            <a:r>
              <a:rPr sz="1050" b="0">
                <a:solidFill>
                  <a:srgbClr val="FFF6E9"/>
                </a:solidFill>
                <a:latin typeface="Lato"/>
                <a:ea typeface="Lato"/>
                <a:cs typeface="Lato"/>
              </a:rPr>
              <a:t>Yanfaa / Nafham</a:t>
            </a:r>
          </a:p>
        </p:txBody>
      </p:sp>
      <p:sp>
        <p:nvSpPr>
          <p:cNvPr id="19" name="">
            <a:extLst xmlns:a="http://schemas.openxmlformats.org/drawingml/2006/main">
              <a:ext uri="{FF2B5EF4-FFF2-40B4-BE49-F238E27FC236}">
                <a16:creationId xmlns:a16="http://schemas.microsoft.com/office/drawing/2014/main" id="{08D43B07-FCF4-46F6-ADB1-BABA26F9BE32}"/>
              </a:ext>
            </a:extLst>
          </p:cNvPr>
          <p:cNvSpPr>
            <a:spLocks xmlns:a="http://schemas.openxmlformats.org/drawingml/2006/main" noGrp="1"/>
          </p:cNvSpPr>
          <p:nvPr/>
        </p:nvSpPr>
        <p:spPr>
          <a:xfrm xmlns:a="http://schemas.openxmlformats.org/drawingml/2006/main">
            <a:off x="8648700" y="2790825"/>
            <a:ext cx="419100" cy="41910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sp>
      <p:sp>
        <p:nvSpPr>
          <p:cNvPr id="20" name="">
            <a:extLst xmlns:a="http://schemas.openxmlformats.org/drawingml/2006/main">
              <a:ext uri="{FF2B5EF4-FFF2-40B4-BE49-F238E27FC236}">
                <a16:creationId xmlns:a16="http://schemas.microsoft.com/office/drawing/2014/main" id="{85E271F0-E62E-4F9E-A7F5-655BAB8B5EF2}"/>
              </a:ext>
            </a:extLst>
          </p:cNvPr>
          <p:cNvSpPr>
            <a:spLocks xmlns:a="http://schemas.openxmlformats.org/drawingml/2006/main" noGrp="1"/>
          </p:cNvSpPr>
          <p:nvPr/>
        </p:nvSpPr>
        <p:spPr>
          <a:xfrm xmlns:a="http://schemas.openxmlformats.org/drawingml/2006/main">
            <a:off x="8115300" y="3305175"/>
            <a:ext cx="1485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D5A3"/>
                </a:solidFill>
                <a:latin typeface="Lato"/>
                <a:ea typeface="Lato"/>
                <a:cs typeface="Lato"/>
              </a:defRPr>
            </a:pPr>
            <a:r>
              <a:rPr sz="1050" b="1">
                <a:solidFill>
                  <a:srgbClr val="FFD5A3"/>
                </a:solidFill>
                <a:latin typeface="Lato"/>
                <a:ea typeface="Lato"/>
                <a:cs typeface="Lato"/>
              </a:rPr>
              <a:t>Bataa</a:t>
            </a:r>
          </a:p>
        </p:txBody>
      </p:sp>
      <p:sp>
        <p:nvSpPr>
          <p:cNvPr id="21" name="">
            <a:extLst xmlns:a="http://schemas.openxmlformats.org/drawingml/2006/main">
              <a:ext uri="{FF2B5EF4-FFF2-40B4-BE49-F238E27FC236}">
                <a16:creationId xmlns:a16="http://schemas.microsoft.com/office/drawing/2014/main" id="{6923D267-37AD-4419-A9C1-20BFB495F18E}"/>
              </a:ext>
            </a:extLst>
          </p:cNvPr>
          <p:cNvSpPr>
            <a:spLocks xmlns:a="http://schemas.openxmlformats.org/drawingml/2006/main" noGrp="1"/>
          </p:cNvSpPr>
          <p:nvPr/>
        </p:nvSpPr>
        <p:spPr>
          <a:xfrm xmlns:a="http://schemas.openxmlformats.org/drawingml/2006/main">
            <a:off x="7429500" y="1476375"/>
            <a:ext cx="3333750" cy="781050"/>
          </a:xfrm>
          <a:prstGeom xmlns:a="http://schemas.openxmlformats.org/drawingml/2006/main" prst="roundRect">
            <a:avLst>
              <a:gd name="adj" fmla="val 19512"/>
            </a:avLst>
          </a:prstGeom>
          <a:solidFill xmlns:a="http://schemas.openxmlformats.org/drawingml/2006/main">
            <a:srgbClr val="2B1910"/>
          </a:solidFill>
          <a:ln xmlns:a="http://schemas.openxmlformats.org/drawingml/2006/main" w="9525">
            <a:solidFill>
              <a:srgbClr val="6B473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EEB2C8A2-38FA-446D-B46C-5DE4BD916602}"/>
              </a:ext>
            </a:extLst>
          </p:cNvPr>
          <p:cNvSpPr>
            <a:spLocks xmlns:a="http://schemas.openxmlformats.org/drawingml/2006/main" noGrp="1"/>
          </p:cNvSpPr>
          <p:nvPr/>
        </p:nvSpPr>
        <p:spPr>
          <a:xfrm xmlns:a="http://schemas.openxmlformats.org/drawingml/2006/main">
            <a:off x="7715250" y="171450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704"/>
          </a:bodyPr>
          <a:lstStyle xmlns:a="http://schemas.openxmlformats.org/drawingml/2006/main"/>
          <a:p xmlns:a="http://schemas.openxmlformats.org/drawingml/2006/main">
            <a:pPr algn="ctr">
              <a:defRPr sz="1350" b="1">
                <a:solidFill>
                  <a:srgbClr val="FFF6E9"/>
                </a:solidFill>
                <a:latin typeface="Lato"/>
                <a:ea typeface="Lato"/>
                <a:cs typeface="Lato"/>
              </a:defRPr>
            </a:pPr>
            <a:r>
              <a:rPr sz="1350" b="1">
                <a:solidFill>
                  <a:srgbClr val="FFF6E9"/>
                </a:solidFill>
                <a:latin typeface="Lato"/>
                <a:ea typeface="Lato"/>
                <a:cs typeface="Lato"/>
              </a:rPr>
              <a:t>Bataa combines daily practice with help inside the work.</a:t>
            </a:r>
          </a:p>
        </p:txBody>
      </p:sp>
      <p:sp>
        <p:nvSpPr>
          <p:cNvPr id="23" name="">
            <a:extLst xmlns:a="http://schemas.openxmlformats.org/drawingml/2006/main">
              <a:ext uri="{FF2B5EF4-FFF2-40B4-BE49-F238E27FC236}">
                <a16:creationId xmlns:a16="http://schemas.microsoft.com/office/drawing/2014/main" id="{86445384-097E-43FE-910D-0CA86630D627}"/>
              </a:ext>
            </a:extLst>
          </p:cNvPr>
          <p:cNvSpPr>
            <a:spLocks xmlns:a="http://schemas.openxmlformats.org/drawingml/2006/main" noGrp="1"/>
          </p:cNvSpPr>
          <p:nvPr/>
        </p:nvSpPr>
        <p:spPr>
          <a:xfrm xmlns:a="http://schemas.openxmlformats.org/drawingml/2006/main">
            <a:off x="647700" y="6048375"/>
            <a:ext cx="1762125"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86904"/>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VERIFY BEFORE PRESENTING</a:t>
            </a:r>
          </a:p>
        </p:txBody>
      </p:sp>
      <p:sp>
        <p:nvSpPr>
          <p:cNvPr id="24" name="">
            <a:extLst xmlns:a="http://schemas.openxmlformats.org/drawingml/2006/main">
              <a:ext uri="{FF2B5EF4-FFF2-40B4-BE49-F238E27FC236}">
                <a16:creationId xmlns:a16="http://schemas.microsoft.com/office/drawing/2014/main" id="{398D5489-1152-4E89-9096-8837245448B4}"/>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Qualitative positioning hypothesis · verify competitor names and feature claims</a:t>
            </a:r>
          </a:p>
        </p:txBody>
      </p:sp>
    </p:spTree>
    <p:extLst>
      <p:ext uri="{BB962C8B-B14F-4D97-AF65-F5344CB8AC3E}">
        <p14:creationId xmlns:p14="http://schemas.microsoft.com/office/powerpoint/2010/main" val="2045213994"/>
      </p:ext>
    </p:extLst>
  </p:cSld>
</p:sld>
</file>

<file path=ppt/slides/slide12.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33F8264-0EBA-4A9F-B603-4C61C793420B}"/>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9047F3DB-9584-4DA1-AD89-EF05221409E0}"/>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BUSINESS MODEL</a:t>
            </a:r>
          </a:p>
        </p:txBody>
      </p:sp>
      <p:sp>
        <p:nvSpPr>
          <p:cNvPr id="3" name="">
            <a:extLst xmlns:a="http://schemas.openxmlformats.org/drawingml/2006/main">
              <a:ext uri="{FF2B5EF4-FFF2-40B4-BE49-F238E27FC236}">
                <a16:creationId xmlns:a16="http://schemas.microsoft.com/office/drawing/2014/main" id="{B9FD11F4-3565-41E6-B563-C7DAF5EAD045}"/>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12</a:t>
            </a:r>
          </a:p>
        </p:txBody>
      </p:sp>
      <p:sp>
        <p:nvSpPr>
          <p:cNvPr id="4" name="">
            <a:extLst xmlns:a="http://schemas.openxmlformats.org/drawingml/2006/main">
              <a:ext uri="{FF2B5EF4-FFF2-40B4-BE49-F238E27FC236}">
                <a16:creationId xmlns:a16="http://schemas.microsoft.com/office/drawing/2014/main" id="{7414CD35-7007-4354-BF30-7C8836E4242D}"/>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C99EB5FE-C4BD-475A-AB89-6804CF2AD900}"/>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Start with one clear revenue engine</a:t>
            </a:r>
          </a:p>
        </p:txBody>
      </p:sp>
      <p:sp>
        <p:nvSpPr>
          <p:cNvPr id="6" name="">
            <a:extLst xmlns:a="http://schemas.openxmlformats.org/drawingml/2006/main">
              <a:ext uri="{FF2B5EF4-FFF2-40B4-BE49-F238E27FC236}">
                <a16:creationId xmlns:a16="http://schemas.microsoft.com/office/drawing/2014/main" id="{BB6BC644-A9CE-48E6-B80E-04B5BCA23C4A}"/>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Paid learning first. Optional AI usage and platform licensing expand the model later.</a:t>
            </a:r>
          </a:p>
        </p:txBody>
      </p:sp>
      <p:sp>
        <p:nvSpPr>
          <p:cNvPr id="7" name="">
            <a:extLst xmlns:a="http://schemas.openxmlformats.org/drawingml/2006/main">
              <a:ext uri="{FF2B5EF4-FFF2-40B4-BE49-F238E27FC236}">
                <a16:creationId xmlns:a16="http://schemas.microsoft.com/office/drawing/2014/main" id="{37F779C2-8315-4C39-A09D-D541D646290B}"/>
              </a:ext>
            </a:extLst>
          </p:cNvPr>
          <p:cNvSpPr>
            <a:spLocks xmlns:a="http://schemas.openxmlformats.org/drawingml/2006/main" noGrp="1"/>
          </p:cNvSpPr>
          <p:nvPr/>
        </p:nvSpPr>
        <p:spPr>
          <a:xfrm xmlns:a="http://schemas.openxmlformats.org/drawingml/2006/main">
            <a:off x="704850" y="2476500"/>
            <a:ext cx="4953000" cy="2762250"/>
          </a:xfrm>
          <a:prstGeom xmlns:a="http://schemas.openxmlformats.org/drawingml/2006/main" prst="roundRect">
            <a:avLst>
              <a:gd name="adj" fmla="val 8276"/>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A34CA18A-EA4E-497D-9B70-77F70DA2C0A4}"/>
              </a:ext>
            </a:extLst>
          </p:cNvPr>
          <p:cNvSpPr>
            <a:spLocks xmlns:a="http://schemas.openxmlformats.org/drawingml/2006/main" noGrp="1"/>
          </p:cNvSpPr>
          <p:nvPr/>
        </p:nvSpPr>
        <p:spPr>
          <a:xfrm xmlns:a="http://schemas.openxmlformats.org/drawingml/2006/main">
            <a:off x="1028700" y="2857500"/>
            <a:ext cx="1381125" cy="285750"/>
          </a:xfrm>
          <a:prstGeom xmlns:a="http://schemas.openxmlformats.org/drawingml/2006/main" prst="roundRect">
            <a:avLst>
              <a:gd name="adj" fmla="val 50000"/>
            </a:avLst>
          </a:prstGeom>
          <a:solidFill xmlns:a="http://schemas.openxmlformats.org/drawingml/2006/main">
            <a:srgbClr val="FFF6E9"/>
          </a:solidFill>
          <a:ln xmlns:a="http://schemas.openxmlformats.org/drawingml/2006/main" w="0">
            <a:solidFill>
              <a:srgbClr val="FFF6E9"/>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C45300"/>
                </a:solidFill>
                <a:latin typeface="Lato"/>
                <a:ea typeface="Lato"/>
                <a:cs typeface="Lato"/>
              </a:defRPr>
            </a:pPr>
            <a:r>
              <a:rPr sz="975" b="1">
                <a:solidFill>
                  <a:srgbClr val="C45300"/>
                </a:solidFill>
                <a:latin typeface="Lato"/>
                <a:ea typeface="Lato"/>
                <a:cs typeface="Lato"/>
              </a:rPr>
              <a:t>LAUNCH PRIORITY</a:t>
            </a:r>
          </a:p>
        </p:txBody>
      </p:sp>
      <p:sp>
        <p:nvSpPr>
          <p:cNvPr id="9" name="">
            <a:extLst xmlns:a="http://schemas.openxmlformats.org/drawingml/2006/main">
              <a:ext uri="{FF2B5EF4-FFF2-40B4-BE49-F238E27FC236}">
                <a16:creationId xmlns:a16="http://schemas.microsoft.com/office/drawing/2014/main" id="{CED9DCF5-F0AB-4B36-A508-10C587975BD4}"/>
              </a:ext>
            </a:extLst>
          </p:cNvPr>
          <p:cNvSpPr>
            <a:spLocks xmlns:a="http://schemas.openxmlformats.org/drawingml/2006/main" noGrp="1"/>
          </p:cNvSpPr>
          <p:nvPr/>
        </p:nvSpPr>
        <p:spPr>
          <a:xfrm xmlns:a="http://schemas.openxmlformats.org/drawingml/2006/main">
            <a:off x="1028700" y="3390900"/>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000" b="1">
                <a:solidFill>
                  <a:srgbClr val="2D180B"/>
                </a:solidFill>
                <a:latin typeface="Lato"/>
                <a:ea typeface="Lato"/>
                <a:cs typeface="Lato"/>
              </a:defRPr>
            </a:pPr>
            <a:r>
              <a:rPr sz="3000" b="1">
                <a:solidFill>
                  <a:srgbClr val="2D180B"/>
                </a:solidFill>
                <a:latin typeface="Lato"/>
                <a:ea typeface="Lato"/>
                <a:cs typeface="Lato"/>
              </a:rPr>
              <a:t>Course purchase</a:t>
            </a:r>
          </a:p>
        </p:txBody>
      </p:sp>
      <p:sp>
        <p:nvSpPr>
          <p:cNvPr id="10" name="">
            <a:extLst xmlns:a="http://schemas.openxmlformats.org/drawingml/2006/main">
              <a:ext uri="{FF2B5EF4-FFF2-40B4-BE49-F238E27FC236}">
                <a16:creationId xmlns:a16="http://schemas.microsoft.com/office/drawing/2014/main" id="{20B45319-848F-497F-B1D6-672BB5EF61E5}"/>
              </a:ext>
            </a:extLst>
          </p:cNvPr>
          <p:cNvSpPr>
            <a:spLocks xmlns:a="http://schemas.openxmlformats.org/drawingml/2006/main" noGrp="1"/>
          </p:cNvSpPr>
          <p:nvPr/>
        </p:nvSpPr>
        <p:spPr>
          <a:xfrm xmlns:a="http://schemas.openxmlformats.org/drawingml/2006/main">
            <a:off x="1047750" y="4095750"/>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a:solidFill>
                  <a:srgbClr val="2D180B"/>
                </a:solidFill>
                <a:latin typeface="Lato"/>
                <a:ea typeface="Lato"/>
                <a:cs typeface="Lato"/>
              </a:defRPr>
            </a:pPr>
            <a:r>
              <a:rPr sz="1500">
                <a:solidFill>
                  <a:srgbClr val="2D180B"/>
                </a:solidFill>
                <a:latin typeface="Lato"/>
                <a:ea typeface="Lato"/>
                <a:cs typeface="Lato"/>
              </a:rPr>
              <a:t>Learners pay for a structured path that turns practice into a finished skill.</a:t>
            </a:r>
          </a:p>
        </p:txBody>
      </p:sp>
      <p:sp>
        <p:nvSpPr>
          <p:cNvPr id="11" name="">
            <a:extLst xmlns:a="http://schemas.openxmlformats.org/drawingml/2006/main">
              <a:ext uri="{FF2B5EF4-FFF2-40B4-BE49-F238E27FC236}">
                <a16:creationId xmlns:a16="http://schemas.microsoft.com/office/drawing/2014/main" id="{5153314E-534D-496F-BCC1-E5316B087CB9}"/>
              </a:ext>
            </a:extLst>
          </p:cNvPr>
          <p:cNvSpPr>
            <a:spLocks xmlns:a="http://schemas.openxmlformats.org/drawingml/2006/main" noGrp="1"/>
          </p:cNvSpPr>
          <p:nvPr/>
        </p:nvSpPr>
        <p:spPr>
          <a:xfrm xmlns:a="http://schemas.openxmlformats.org/drawingml/2006/main">
            <a:off x="6191250" y="2476500"/>
            <a:ext cx="2428875" cy="2762250"/>
          </a:xfrm>
          <a:prstGeom xmlns:a="http://schemas.openxmlformats.org/drawingml/2006/main" prst="roundRect">
            <a:avLst>
              <a:gd name="adj" fmla="val 9412"/>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DEF35D80-105E-4B7A-9D2F-3045673F8465}"/>
              </a:ext>
            </a:extLst>
          </p:cNvPr>
          <p:cNvSpPr>
            <a:spLocks xmlns:a="http://schemas.openxmlformats.org/drawingml/2006/main" noGrp="1"/>
          </p:cNvSpPr>
          <p:nvPr/>
        </p:nvSpPr>
        <p:spPr>
          <a:xfrm xmlns:a="http://schemas.openxmlformats.org/drawingml/2006/main">
            <a:off x="6496050" y="2857500"/>
            <a:ext cx="904875" cy="266700"/>
          </a:xfrm>
          <a:prstGeom xmlns:a="http://schemas.openxmlformats.org/drawingml/2006/main" prst="roundRect">
            <a:avLst>
              <a:gd name="adj" fmla="val 50000"/>
            </a:avLst>
          </a:prstGeom>
          <a:solidFill xmlns:a="http://schemas.openxmlformats.org/drawingml/2006/main">
            <a:srgbClr val="FBEAD4"/>
          </a:solidFill>
          <a:ln xmlns:a="http://schemas.openxmlformats.org/drawingml/2006/main" w="0">
            <a:solidFill>
              <a:srgbClr val="FBEAD4"/>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895F3C"/>
                </a:solidFill>
                <a:latin typeface="Lato"/>
                <a:ea typeface="Lato"/>
                <a:cs typeface="Lato"/>
              </a:defRPr>
            </a:pPr>
            <a:r>
              <a:rPr sz="975" b="1">
                <a:solidFill>
                  <a:srgbClr val="895F3C"/>
                </a:solidFill>
                <a:latin typeface="Lato"/>
                <a:ea typeface="Lato"/>
                <a:cs typeface="Lato"/>
              </a:rPr>
              <a:t>OPTIONAL</a:t>
            </a:r>
          </a:p>
        </p:txBody>
      </p:sp>
      <p:sp>
        <p:nvSpPr>
          <p:cNvPr id="13" name="">
            <a:extLst xmlns:a="http://schemas.openxmlformats.org/drawingml/2006/main">
              <a:ext uri="{FF2B5EF4-FFF2-40B4-BE49-F238E27FC236}">
                <a16:creationId xmlns:a16="http://schemas.microsoft.com/office/drawing/2014/main" id="{908A942C-2E0B-4159-BE8C-C88CE2E28036}"/>
              </a:ext>
            </a:extLst>
          </p:cNvPr>
          <p:cNvSpPr>
            <a:spLocks xmlns:a="http://schemas.openxmlformats.org/drawingml/2006/main" noGrp="1"/>
          </p:cNvSpPr>
          <p:nvPr/>
        </p:nvSpPr>
        <p:spPr>
          <a:xfrm xmlns:a="http://schemas.openxmlformats.org/drawingml/2006/main">
            <a:off x="6496050" y="33718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2D180B"/>
                </a:solidFill>
                <a:latin typeface="Lato"/>
                <a:ea typeface="Lato"/>
                <a:cs typeface="Lato"/>
              </a:defRPr>
            </a:pPr>
            <a:r>
              <a:rPr sz="2100" b="1">
                <a:solidFill>
                  <a:srgbClr val="2D180B"/>
                </a:solidFill>
                <a:latin typeface="Lato"/>
                <a:ea typeface="Lato"/>
                <a:cs typeface="Lato"/>
              </a:rPr>
              <a:t>AI tokens</a:t>
            </a:r>
          </a:p>
        </p:txBody>
      </p:sp>
      <p:sp>
        <p:nvSpPr>
          <p:cNvPr id="14" name="">
            <a:extLst xmlns:a="http://schemas.openxmlformats.org/drawingml/2006/main">
              <a:ext uri="{FF2B5EF4-FFF2-40B4-BE49-F238E27FC236}">
                <a16:creationId xmlns:a16="http://schemas.microsoft.com/office/drawing/2014/main" id="{8E442368-F301-46C9-B612-D24AE98FA686}"/>
              </a:ext>
            </a:extLst>
          </p:cNvPr>
          <p:cNvSpPr>
            <a:spLocks xmlns:a="http://schemas.openxmlformats.org/drawingml/2006/main" noGrp="1"/>
          </p:cNvSpPr>
          <p:nvPr/>
        </p:nvSpPr>
        <p:spPr>
          <a:xfrm xmlns:a="http://schemas.openxmlformats.org/drawingml/2006/main">
            <a:off x="6496050" y="4000500"/>
            <a:ext cx="1666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895F3C"/>
                </a:solidFill>
                <a:latin typeface="Lato"/>
                <a:ea typeface="Lato"/>
                <a:cs typeface="Lato"/>
              </a:defRPr>
            </a:pPr>
            <a:r>
              <a:rPr sz="1275">
                <a:solidFill>
                  <a:srgbClr val="895F3C"/>
                </a:solidFill>
                <a:latin typeface="Lato"/>
                <a:ea typeface="Lato"/>
                <a:cs typeface="Lato"/>
              </a:rPr>
              <a:t>Extra attempts, deeper explanations, or advanced model usage.</a:t>
            </a:r>
          </a:p>
        </p:txBody>
      </p:sp>
      <p:sp>
        <p:nvSpPr>
          <p:cNvPr id="15" name="">
            <a:extLst xmlns:a="http://schemas.openxmlformats.org/drawingml/2006/main">
              <a:ext uri="{FF2B5EF4-FFF2-40B4-BE49-F238E27FC236}">
                <a16:creationId xmlns:a16="http://schemas.microsoft.com/office/drawing/2014/main" id="{4A48A72A-4ECD-413D-B2D4-B66FB13FD795}"/>
              </a:ext>
            </a:extLst>
          </p:cNvPr>
          <p:cNvSpPr>
            <a:spLocks xmlns:a="http://schemas.openxmlformats.org/drawingml/2006/main" noGrp="1"/>
          </p:cNvSpPr>
          <p:nvPr/>
        </p:nvSpPr>
        <p:spPr>
          <a:xfrm xmlns:a="http://schemas.openxmlformats.org/drawingml/2006/main">
            <a:off x="9001125" y="2476500"/>
            <a:ext cx="2476500" cy="2762250"/>
          </a:xfrm>
          <a:prstGeom xmlns:a="http://schemas.openxmlformats.org/drawingml/2006/main" prst="roundRect">
            <a:avLst>
              <a:gd name="adj" fmla="val 9231"/>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C79F0EA1-A27B-47FE-A91A-B9A75145146A}"/>
              </a:ext>
            </a:extLst>
          </p:cNvPr>
          <p:cNvSpPr>
            <a:spLocks xmlns:a="http://schemas.openxmlformats.org/drawingml/2006/main" noGrp="1"/>
          </p:cNvSpPr>
          <p:nvPr/>
        </p:nvSpPr>
        <p:spPr>
          <a:xfrm xmlns:a="http://schemas.openxmlformats.org/drawingml/2006/main">
            <a:off x="9296400" y="2857500"/>
            <a:ext cx="714375" cy="266700"/>
          </a:xfrm>
          <a:prstGeom xmlns:a="http://schemas.openxmlformats.org/drawingml/2006/main" prst="roundRect">
            <a:avLst>
              <a:gd name="adj" fmla="val 50000"/>
            </a:avLst>
          </a:prstGeom>
          <a:solidFill xmlns:a="http://schemas.openxmlformats.org/drawingml/2006/main">
            <a:srgbClr val="DFF2E5"/>
          </a:solidFill>
          <a:ln xmlns:a="http://schemas.openxmlformats.org/drawingml/2006/main" w="0">
            <a:solidFill>
              <a:srgbClr val="DFF2E5"/>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2E9B62"/>
                </a:solidFill>
                <a:latin typeface="Lato"/>
                <a:ea typeface="Lato"/>
                <a:cs typeface="Lato"/>
              </a:defRPr>
            </a:pPr>
            <a:r>
              <a:rPr sz="975" b="1">
                <a:solidFill>
                  <a:srgbClr val="2E9B62"/>
                </a:solidFill>
                <a:latin typeface="Lato"/>
                <a:ea typeface="Lato"/>
                <a:cs typeface="Lato"/>
              </a:rPr>
              <a:t>LATER</a:t>
            </a:r>
          </a:p>
        </p:txBody>
      </p:sp>
      <p:sp>
        <p:nvSpPr>
          <p:cNvPr id="17" name="">
            <a:extLst xmlns:a="http://schemas.openxmlformats.org/drawingml/2006/main">
              <a:ext uri="{FF2B5EF4-FFF2-40B4-BE49-F238E27FC236}">
                <a16:creationId xmlns:a16="http://schemas.microsoft.com/office/drawing/2014/main" id="{3F927818-3B73-4DB1-AF10-4ACB9D1656D1}"/>
              </a:ext>
            </a:extLst>
          </p:cNvPr>
          <p:cNvSpPr>
            <a:spLocks xmlns:a="http://schemas.openxmlformats.org/drawingml/2006/main" noGrp="1"/>
          </p:cNvSpPr>
          <p:nvPr/>
        </p:nvSpPr>
        <p:spPr>
          <a:xfrm xmlns:a="http://schemas.openxmlformats.org/drawingml/2006/main">
            <a:off x="9296400" y="33718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2D180B"/>
                </a:solidFill>
                <a:latin typeface="Lato"/>
                <a:ea typeface="Lato"/>
                <a:cs typeface="Lato"/>
              </a:defRPr>
            </a:pPr>
            <a:r>
              <a:rPr sz="2100" b="1">
                <a:solidFill>
                  <a:srgbClr val="2D180B"/>
                </a:solidFill>
                <a:latin typeface="Lato"/>
                <a:ea typeface="Lato"/>
                <a:cs typeface="Lato"/>
              </a:rPr>
              <a:t>Platform fees</a:t>
            </a:r>
          </a:p>
        </p:txBody>
      </p:sp>
      <p:sp>
        <p:nvSpPr>
          <p:cNvPr id="18" name="">
            <a:extLst xmlns:a="http://schemas.openxmlformats.org/drawingml/2006/main">
              <a:ext uri="{FF2B5EF4-FFF2-40B4-BE49-F238E27FC236}">
                <a16:creationId xmlns:a16="http://schemas.microsoft.com/office/drawing/2014/main" id="{404B20D0-6C3E-4DC5-8E0D-C82E9FCE4334}"/>
              </a:ext>
            </a:extLst>
          </p:cNvPr>
          <p:cNvSpPr>
            <a:spLocks xmlns:a="http://schemas.openxmlformats.org/drawingml/2006/main" noGrp="1"/>
          </p:cNvSpPr>
          <p:nvPr/>
        </p:nvSpPr>
        <p:spPr>
          <a:xfrm xmlns:a="http://schemas.openxmlformats.org/drawingml/2006/main">
            <a:off x="9296400" y="4000500"/>
            <a:ext cx="1714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895F3C"/>
                </a:solidFill>
                <a:latin typeface="Lato"/>
                <a:ea typeface="Lato"/>
                <a:cs typeface="Lato"/>
              </a:defRPr>
            </a:pPr>
            <a:r>
              <a:rPr sz="1275">
                <a:solidFill>
                  <a:srgbClr val="895F3C"/>
                </a:solidFill>
                <a:latin typeface="Lato"/>
                <a:ea typeface="Lato"/>
                <a:cs typeface="Lato"/>
              </a:rPr>
              <a:t>Commission from creator and institution courses.</a:t>
            </a:r>
          </a:p>
        </p:txBody>
      </p:sp>
      <p:sp>
        <p:nvSpPr>
          <p:cNvPr id="19" name="">
            <a:extLst xmlns:a="http://schemas.openxmlformats.org/drawingml/2006/main">
              <a:ext uri="{FF2B5EF4-FFF2-40B4-BE49-F238E27FC236}">
                <a16:creationId xmlns:a16="http://schemas.microsoft.com/office/drawing/2014/main" id="{82D6EA76-CC9C-45C2-A9FB-75C92A406AD5}"/>
              </a:ext>
            </a:extLst>
          </p:cNvPr>
          <p:cNvSpPr>
            <a:spLocks xmlns:a="http://schemas.openxmlformats.org/drawingml/2006/main" noGrp="1"/>
          </p:cNvSpPr>
          <p:nvPr/>
        </p:nvSpPr>
        <p:spPr>
          <a:xfrm xmlns:a="http://schemas.openxmlformats.org/drawingml/2006/main">
            <a:off x="704850" y="575310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Keep the first story simple: one learner pays for one useful outcome.</a:t>
            </a:r>
          </a:p>
        </p:txBody>
      </p:sp>
      <p:sp>
        <p:nvSpPr>
          <p:cNvPr id="20" name="">
            <a:extLst xmlns:a="http://schemas.openxmlformats.org/drawingml/2006/main">
              <a:ext uri="{FF2B5EF4-FFF2-40B4-BE49-F238E27FC236}">
                <a16:creationId xmlns:a16="http://schemas.microsoft.com/office/drawing/2014/main" id="{919A9822-2E29-46DB-AC6D-F19271DC5EC3}"/>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Business model · planned streams, launch priority shown</a:t>
            </a:r>
          </a:p>
        </p:txBody>
      </p:sp>
    </p:spTree>
    <p:extLst>
      <p:ext uri="{BB962C8B-B14F-4D97-AF65-F5344CB8AC3E}">
        <p14:creationId xmlns:p14="http://schemas.microsoft.com/office/powerpoint/2010/main" val="354528489"/>
      </p:ext>
    </p:extLst>
  </p:cSld>
</p:sld>
</file>

<file path=ppt/slides/slide13.xml><?xml version="1.0" encoding="utf-8"?>
<p:sld xmlns:p="http://schemas.openxmlformats.org/presentationml/2006/main">
  <p:cSld>
    <p:bg>
      <p:bgPr>
        <a:solidFill xmlns:a="http://schemas.openxmlformats.org/drawingml/2006/main">
          <a:srgbClr val="2B191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663C216-E84E-45D8-A648-6719688DD6DD}"/>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A0C4B11D-524C-415E-9E78-245CB107B518}"/>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PLATFORM EXPANSION</a:t>
            </a:r>
          </a:p>
        </p:txBody>
      </p:sp>
      <p:sp>
        <p:nvSpPr>
          <p:cNvPr id="3" name="">
            <a:extLst xmlns:a="http://schemas.openxmlformats.org/drawingml/2006/main">
              <a:ext uri="{FF2B5EF4-FFF2-40B4-BE49-F238E27FC236}">
                <a16:creationId xmlns:a16="http://schemas.microsoft.com/office/drawing/2014/main" id="{5D22AFA1-0252-448F-8D0D-1E20F31C2903}"/>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13</a:t>
            </a:r>
          </a:p>
        </p:txBody>
      </p:sp>
      <p:sp>
        <p:nvSpPr>
          <p:cNvPr id="4" name="">
            <a:extLst xmlns:a="http://schemas.openxmlformats.org/drawingml/2006/main">
              <a:ext uri="{FF2B5EF4-FFF2-40B4-BE49-F238E27FC236}">
                <a16:creationId xmlns:a16="http://schemas.microsoft.com/office/drawing/2014/main" id="{C015D981-3D86-4A06-9A44-2F51B6F68BCB}"/>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E2169052-36A7-4AB8-BB22-CA3ECB45F9F6}"/>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8333"/>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The same learning engine can serve creators and institutions</a:t>
            </a:r>
          </a:p>
        </p:txBody>
      </p:sp>
      <p:sp>
        <p:nvSpPr>
          <p:cNvPr id="6" name="">
            <a:extLst xmlns:a="http://schemas.openxmlformats.org/drawingml/2006/main">
              <a:ext uri="{FF2B5EF4-FFF2-40B4-BE49-F238E27FC236}">
                <a16:creationId xmlns:a16="http://schemas.microsoft.com/office/drawing/2014/main" id="{08833EB4-C291-42D8-BA68-F9F541254D0F}"/>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Bataa can become the infrastructure behind guided practice, not only a destination app.</a:t>
            </a:r>
          </a:p>
        </p:txBody>
      </p:sp>
      <p:sp>
        <p:nvSpPr>
          <p:cNvPr id="7" name="">
            <a:extLst xmlns:a="http://schemas.openxmlformats.org/drawingml/2006/main">
              <a:ext uri="{FF2B5EF4-FFF2-40B4-BE49-F238E27FC236}">
                <a16:creationId xmlns:a16="http://schemas.microsoft.com/office/drawing/2014/main" id="{863DD11E-19F8-46CB-ADCC-1BD4F4901C47}"/>
              </a:ext>
            </a:extLst>
          </p:cNvPr>
          <p:cNvSpPr>
            <a:spLocks xmlns:a="http://schemas.openxmlformats.org/drawingml/2006/main" noGrp="1"/>
          </p:cNvSpPr>
          <p:nvPr/>
        </p:nvSpPr>
        <p:spPr>
          <a:xfrm xmlns:a="http://schemas.openxmlformats.org/drawingml/2006/main">
            <a:off x="819150" y="3000375"/>
            <a:ext cx="2857500" cy="1333500"/>
          </a:xfrm>
          <a:prstGeom xmlns:a="http://schemas.openxmlformats.org/drawingml/2006/main" prst="roundRect">
            <a:avLst>
              <a:gd name="adj" fmla="val 11429"/>
            </a:avLst>
          </a:prstGeom>
          <a:solidFill xmlns:a="http://schemas.openxmlformats.org/drawingml/2006/main">
            <a:srgbClr val="FBEAD4"/>
          </a:solidFill>
          <a:ln xmlns:a="http://schemas.openxmlformats.org/drawingml/2006/main" w="9525">
            <a:solidFill>
              <a:srgbClr val="FBEAD4"/>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008252C7-76C3-4DD5-9995-85BB7A35811D}"/>
              </a:ext>
            </a:extLst>
          </p:cNvPr>
          <p:cNvSpPr>
            <a:spLocks xmlns:a="http://schemas.openxmlformats.org/drawingml/2006/main" noGrp="1"/>
          </p:cNvSpPr>
          <p:nvPr/>
        </p:nvSpPr>
        <p:spPr>
          <a:xfrm xmlns:a="http://schemas.openxmlformats.org/drawingml/2006/main">
            <a:off x="1028700" y="3238500"/>
            <a:ext cx="2438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CREATORS + INSTITUTIONS</a:t>
            </a:r>
          </a:p>
        </p:txBody>
      </p:sp>
      <p:sp>
        <p:nvSpPr>
          <p:cNvPr id="9" name="">
            <a:extLst xmlns:a="http://schemas.openxmlformats.org/drawingml/2006/main">
              <a:ext uri="{FF2B5EF4-FFF2-40B4-BE49-F238E27FC236}">
                <a16:creationId xmlns:a16="http://schemas.microsoft.com/office/drawing/2014/main" id="{C0BAC8DC-8B56-4ED2-B1FC-74D68778E245}"/>
              </a:ext>
            </a:extLst>
          </p:cNvPr>
          <p:cNvSpPr>
            <a:spLocks xmlns:a="http://schemas.openxmlformats.org/drawingml/2006/main" noGrp="1"/>
          </p:cNvSpPr>
          <p:nvPr/>
        </p:nvSpPr>
        <p:spPr>
          <a:xfrm xmlns:a="http://schemas.openxmlformats.org/drawingml/2006/main">
            <a:off x="1028700" y="3590925"/>
            <a:ext cx="243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Publish a course or training path</a:t>
            </a:r>
          </a:p>
        </p:txBody>
      </p:sp>
      <p:sp>
        <p:nvSpPr>
          <p:cNvPr id="10" name="">
            <a:extLst xmlns:a="http://schemas.openxmlformats.org/drawingml/2006/main">
              <a:ext uri="{FF2B5EF4-FFF2-40B4-BE49-F238E27FC236}">
                <a16:creationId xmlns:a16="http://schemas.microsoft.com/office/drawing/2014/main" id="{A83A05C1-58F1-4386-8033-EDD405E60D21}"/>
              </a:ext>
            </a:extLst>
          </p:cNvPr>
          <p:cNvSpPr>
            <a:spLocks xmlns:a="http://schemas.openxmlformats.org/drawingml/2006/main" noGrp="1"/>
          </p:cNvSpPr>
          <p:nvPr/>
        </p:nvSpPr>
        <p:spPr>
          <a:xfrm xmlns:a="http://schemas.openxmlformats.org/drawingml/2006/main">
            <a:off x="4667250" y="2714625"/>
            <a:ext cx="2952750" cy="1905000"/>
          </a:xfrm>
          <a:prstGeom xmlns:a="http://schemas.openxmlformats.org/drawingml/2006/main" prst="roundRect">
            <a:avLst>
              <a:gd name="adj" fmla="val 8000"/>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FB23C666-0B1D-4ADC-9AC6-838416A637C7}"/>
              </a:ext>
            </a:extLst>
          </p:cNvPr>
          <p:cNvSpPr>
            <a:spLocks xmlns:a="http://schemas.openxmlformats.org/drawingml/2006/main" noGrp="1"/>
          </p:cNvSpPr>
          <p:nvPr/>
        </p:nvSpPr>
        <p:spPr>
          <a:xfrm xmlns:a="http://schemas.openxmlformats.org/drawingml/2006/main">
            <a:off x="4876800" y="2952750"/>
            <a:ext cx="25336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BATAA ENGINE</a:t>
            </a:r>
          </a:p>
        </p:txBody>
      </p:sp>
      <p:sp>
        <p:nvSpPr>
          <p:cNvPr id="12" name="">
            <a:extLst xmlns:a="http://schemas.openxmlformats.org/drawingml/2006/main">
              <a:ext uri="{FF2B5EF4-FFF2-40B4-BE49-F238E27FC236}">
                <a16:creationId xmlns:a16="http://schemas.microsoft.com/office/drawing/2014/main" id="{FA0E4F30-3E9C-4E01-AB42-8A01E8A67692}"/>
              </a:ext>
            </a:extLst>
          </p:cNvPr>
          <p:cNvSpPr>
            <a:spLocks xmlns:a="http://schemas.openxmlformats.org/drawingml/2006/main" noGrp="1"/>
          </p:cNvSpPr>
          <p:nvPr/>
        </p:nvSpPr>
        <p:spPr>
          <a:xfrm xmlns:a="http://schemas.openxmlformats.org/drawingml/2006/main">
            <a:off x="4876800" y="3305175"/>
            <a:ext cx="25336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Guided tasks, feedback, progress, AI context</a:t>
            </a:r>
          </a:p>
        </p:txBody>
      </p:sp>
      <p:sp>
        <p:nvSpPr>
          <p:cNvPr id="13" name="">
            <a:extLst xmlns:a="http://schemas.openxmlformats.org/drawingml/2006/main">
              <a:ext uri="{FF2B5EF4-FFF2-40B4-BE49-F238E27FC236}">
                <a16:creationId xmlns:a16="http://schemas.microsoft.com/office/drawing/2014/main" id="{881E26FD-AB38-439B-9D38-AC930ABB56F7}"/>
              </a:ext>
            </a:extLst>
          </p:cNvPr>
          <p:cNvSpPr>
            <a:spLocks xmlns:a="http://schemas.openxmlformats.org/drawingml/2006/main" noGrp="1"/>
          </p:cNvSpPr>
          <p:nvPr/>
        </p:nvSpPr>
        <p:spPr>
          <a:xfrm xmlns:a="http://schemas.openxmlformats.org/drawingml/2006/main">
            <a:off x="8572500" y="2333625"/>
            <a:ext cx="2667000" cy="1333500"/>
          </a:xfrm>
          <a:prstGeom xmlns:a="http://schemas.openxmlformats.org/drawingml/2006/main" prst="roundRect">
            <a:avLst>
              <a:gd name="adj" fmla="val 11429"/>
            </a:avLst>
          </a:prstGeom>
          <a:solidFill xmlns:a="http://schemas.openxmlformats.org/drawingml/2006/main">
            <a:srgbClr val="FBEAD4"/>
          </a:solidFill>
          <a:ln xmlns:a="http://schemas.openxmlformats.org/drawingml/2006/main" w="9525">
            <a:solidFill>
              <a:srgbClr val="FBEAD4"/>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873ADE50-710F-4D71-90F2-21E2AE3E4A97}"/>
              </a:ext>
            </a:extLst>
          </p:cNvPr>
          <p:cNvSpPr>
            <a:spLocks xmlns:a="http://schemas.openxmlformats.org/drawingml/2006/main" noGrp="1"/>
          </p:cNvSpPr>
          <p:nvPr/>
        </p:nvSpPr>
        <p:spPr>
          <a:xfrm xmlns:a="http://schemas.openxmlformats.org/drawingml/2006/main">
            <a:off x="8782050" y="2571750"/>
            <a:ext cx="2247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LEARNERS</a:t>
            </a:r>
          </a:p>
        </p:txBody>
      </p:sp>
      <p:sp>
        <p:nvSpPr>
          <p:cNvPr id="15" name="">
            <a:extLst xmlns:a="http://schemas.openxmlformats.org/drawingml/2006/main">
              <a:ext uri="{FF2B5EF4-FFF2-40B4-BE49-F238E27FC236}">
                <a16:creationId xmlns:a16="http://schemas.microsoft.com/office/drawing/2014/main" id="{EA43DBE2-715F-4914-920E-D5EE262D8C89}"/>
              </a:ext>
            </a:extLst>
          </p:cNvPr>
          <p:cNvSpPr>
            <a:spLocks xmlns:a="http://schemas.openxmlformats.org/drawingml/2006/main" noGrp="1"/>
          </p:cNvSpPr>
          <p:nvPr/>
        </p:nvSpPr>
        <p:spPr>
          <a:xfrm xmlns:a="http://schemas.openxmlformats.org/drawingml/2006/main">
            <a:off x="8782050" y="2924175"/>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Buy, practice, and finish the skill</a:t>
            </a:r>
          </a:p>
        </p:txBody>
      </p:sp>
      <p:sp>
        <p:nvSpPr>
          <p:cNvPr id="16" name="">
            <a:extLst xmlns:a="http://schemas.openxmlformats.org/drawingml/2006/main">
              <a:ext uri="{FF2B5EF4-FFF2-40B4-BE49-F238E27FC236}">
                <a16:creationId xmlns:a16="http://schemas.microsoft.com/office/drawing/2014/main" id="{D6B31F50-A304-4BB6-86B8-5AC645407C5E}"/>
              </a:ext>
            </a:extLst>
          </p:cNvPr>
          <p:cNvSpPr>
            <a:spLocks xmlns:a="http://schemas.openxmlformats.org/drawingml/2006/main" noGrp="1"/>
          </p:cNvSpPr>
          <p:nvPr/>
        </p:nvSpPr>
        <p:spPr>
          <a:xfrm xmlns:a="http://schemas.openxmlformats.org/drawingml/2006/main">
            <a:off x="8572500" y="4238625"/>
            <a:ext cx="2667000" cy="1333500"/>
          </a:xfrm>
          <a:prstGeom xmlns:a="http://schemas.openxmlformats.org/drawingml/2006/main" prst="roundRect">
            <a:avLst>
              <a:gd name="adj" fmla="val 11429"/>
            </a:avLst>
          </a:prstGeom>
          <a:solidFill xmlns:a="http://schemas.openxmlformats.org/drawingml/2006/main">
            <a:srgbClr val="BBA9E4"/>
          </a:solidFill>
          <a:ln xmlns:a="http://schemas.openxmlformats.org/drawingml/2006/main" w="9525">
            <a:solidFill>
              <a:srgbClr val="BBA9E4"/>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40B5D978-034D-4191-A86A-B13EB9339C9F}"/>
              </a:ext>
            </a:extLst>
          </p:cNvPr>
          <p:cNvSpPr>
            <a:spLocks xmlns:a="http://schemas.openxmlformats.org/drawingml/2006/main" noGrp="1"/>
          </p:cNvSpPr>
          <p:nvPr/>
        </p:nvSpPr>
        <p:spPr>
          <a:xfrm xmlns:a="http://schemas.openxmlformats.org/drawingml/2006/main">
            <a:off x="8782050" y="4476750"/>
            <a:ext cx="2247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IDE / PRODUCT API</a:t>
            </a:r>
          </a:p>
        </p:txBody>
      </p:sp>
      <p:sp>
        <p:nvSpPr>
          <p:cNvPr id="18" name="">
            <a:extLst xmlns:a="http://schemas.openxmlformats.org/drawingml/2006/main">
              <a:ext uri="{FF2B5EF4-FFF2-40B4-BE49-F238E27FC236}">
                <a16:creationId xmlns:a16="http://schemas.microsoft.com/office/drawing/2014/main" id="{028041C0-69B5-4790-BAD2-5A86504C69D9}"/>
              </a:ext>
            </a:extLst>
          </p:cNvPr>
          <p:cNvSpPr>
            <a:spLocks xmlns:a="http://schemas.openxmlformats.org/drawingml/2006/main" noGrp="1"/>
          </p:cNvSpPr>
          <p:nvPr/>
        </p:nvSpPr>
        <p:spPr>
          <a:xfrm xmlns:a="http://schemas.openxmlformats.org/drawingml/2006/main">
            <a:off x="8782050" y="4829175"/>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2D180B"/>
                </a:solidFill>
                <a:latin typeface="Lato"/>
                <a:ea typeface="Lato"/>
                <a:cs typeface="Lato"/>
              </a:defRPr>
            </a:pPr>
            <a:r>
              <a:rPr sz="1650" b="1">
                <a:solidFill>
                  <a:srgbClr val="2D180B"/>
                </a:solidFill>
                <a:latin typeface="Lato"/>
                <a:ea typeface="Lato"/>
                <a:cs typeface="Lato"/>
              </a:rPr>
              <a:t>Bring the tutor into another workflow</a:t>
            </a:r>
          </a:p>
        </p:txBody>
      </p:sp>
      <p:sp>
        <p:nvSpPr>
          <p:cNvPr id="19" name="">
            <a:extLst xmlns:a="http://schemas.openxmlformats.org/drawingml/2006/main">
              <a:ext uri="{FF2B5EF4-FFF2-40B4-BE49-F238E27FC236}">
                <a16:creationId xmlns:a16="http://schemas.microsoft.com/office/drawing/2014/main" id="{766F7436-34A3-4A8D-B223-2FC9D65C1237}"/>
              </a:ext>
            </a:extLst>
          </p:cNvPr>
          <p:cNvSpPr>
            <a:spLocks xmlns:a="http://schemas.openxmlformats.org/drawingml/2006/main" noGrp="1"/>
          </p:cNvSpPr>
          <p:nvPr/>
        </p:nvSpPr>
        <p:spPr>
          <a:xfrm xmlns:a="http://schemas.openxmlformats.org/drawingml/2006/main">
            <a:off x="3676650" y="3667125"/>
            <a:ext cx="990600" cy="0"/>
          </a:xfrm>
          <a:prstGeom xmlns:a="http://schemas.openxmlformats.org/drawingml/2006/main" prst="line">
            <a:avLst/>
          </a:prstGeom>
          <a:noFill xmlns:a="http://schemas.openxmlformats.org/drawingml/2006/main"/>
          <a:ln xmlns:a="http://schemas.openxmlformats.org/drawingml/2006/main" w="38100">
            <a:solidFill>
              <a:srgbClr val="FFD5A3"/>
            </a:solidFill>
            <a:prstDash val="solid"/>
          </a:ln>
        </p:spPr>
      </p:sp>
      <p:sp>
        <p:nvSpPr>
          <p:cNvPr id="20" name="">
            <a:extLst xmlns:a="http://schemas.openxmlformats.org/drawingml/2006/main">
              <a:ext uri="{FF2B5EF4-FFF2-40B4-BE49-F238E27FC236}">
                <a16:creationId xmlns:a16="http://schemas.microsoft.com/office/drawing/2014/main" id="{1D3E2424-A2CE-4E56-80EB-8C69FB7BD131}"/>
              </a:ext>
            </a:extLst>
          </p:cNvPr>
          <p:cNvSpPr>
            <a:spLocks xmlns:a="http://schemas.openxmlformats.org/drawingml/2006/main" noGrp="1"/>
          </p:cNvSpPr>
          <p:nvPr/>
        </p:nvSpPr>
        <p:spPr>
          <a:xfrm xmlns:a="http://schemas.openxmlformats.org/drawingml/2006/main">
            <a:off x="7620000" y="3000375"/>
            <a:ext cx="952500" cy="666750"/>
          </a:xfrm>
          <a:prstGeom xmlns:a="http://schemas.openxmlformats.org/drawingml/2006/main" prst="line">
            <a:avLst/>
          </a:prstGeom>
          <a:noFill xmlns:a="http://schemas.openxmlformats.org/drawingml/2006/main"/>
          <a:ln xmlns:a="http://schemas.openxmlformats.org/drawingml/2006/main" w="38100">
            <a:solidFill>
              <a:srgbClr val="FFD5A3"/>
            </a:solidFill>
            <a:prstDash val="solid"/>
          </a:ln>
        </p:spPr>
      </p:sp>
      <p:sp>
        <p:nvSpPr>
          <p:cNvPr id="21" name="">
            <a:extLst xmlns:a="http://schemas.openxmlformats.org/drawingml/2006/main">
              <a:ext uri="{FF2B5EF4-FFF2-40B4-BE49-F238E27FC236}">
                <a16:creationId xmlns:a16="http://schemas.microsoft.com/office/drawing/2014/main" id="{4AD8C569-15DE-4B3A-B924-D5B389BABD6B}"/>
              </a:ext>
            </a:extLst>
          </p:cNvPr>
          <p:cNvSpPr>
            <a:spLocks xmlns:a="http://schemas.openxmlformats.org/drawingml/2006/main" noGrp="1"/>
          </p:cNvSpPr>
          <p:nvPr/>
        </p:nvSpPr>
        <p:spPr>
          <a:xfrm xmlns:a="http://schemas.openxmlformats.org/drawingml/2006/main">
            <a:off x="7620000" y="3667125"/>
            <a:ext cx="952500" cy="1238250"/>
          </a:xfrm>
          <a:prstGeom xmlns:a="http://schemas.openxmlformats.org/drawingml/2006/main" prst="line">
            <a:avLst/>
          </a:prstGeom>
          <a:noFill xmlns:a="http://schemas.openxmlformats.org/drawingml/2006/main"/>
          <a:ln xmlns:a="http://schemas.openxmlformats.org/drawingml/2006/main" w="38100">
            <a:solidFill>
              <a:srgbClr val="FFD5A3"/>
            </a:solidFill>
            <a:prstDash val="solid"/>
          </a:ln>
        </p:spPr>
      </p:sp>
      <p:sp>
        <p:nvSpPr>
          <p:cNvPr id="22" name="">
            <a:extLst xmlns:a="http://schemas.openxmlformats.org/drawingml/2006/main">
              <a:ext uri="{FF2B5EF4-FFF2-40B4-BE49-F238E27FC236}">
                <a16:creationId xmlns:a16="http://schemas.microsoft.com/office/drawing/2014/main" id="{9C06EC14-B0FF-4B4D-8480-6792435A6B0D}"/>
              </a:ext>
            </a:extLst>
          </p:cNvPr>
          <p:cNvSpPr>
            <a:spLocks xmlns:a="http://schemas.openxmlformats.org/drawingml/2006/main" noGrp="1"/>
          </p:cNvSpPr>
          <p:nvPr/>
        </p:nvSpPr>
        <p:spPr>
          <a:xfrm xmlns:a="http://schemas.openxmlformats.org/drawingml/2006/main">
            <a:off x="647700" y="6000750"/>
            <a:ext cx="1571625"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98796"/>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PLANNED EXPANSION</a:t>
            </a:r>
          </a:p>
        </p:txBody>
      </p:sp>
      <p:sp>
        <p:nvSpPr>
          <p:cNvPr id="23" name="">
            <a:extLst xmlns:a="http://schemas.openxmlformats.org/drawingml/2006/main">
              <a:ext uri="{FF2B5EF4-FFF2-40B4-BE49-F238E27FC236}">
                <a16:creationId xmlns:a16="http://schemas.microsoft.com/office/drawing/2014/main" id="{C0E2297D-8616-491F-AD65-1518EBA72FAD}"/>
              </a:ext>
            </a:extLst>
          </p:cNvPr>
          <p:cNvSpPr>
            <a:spLocks xmlns:a="http://schemas.openxmlformats.org/drawingml/2006/main" noGrp="1"/>
          </p:cNvSpPr>
          <p:nvPr/>
        </p:nvSpPr>
        <p:spPr>
          <a:xfrm xmlns:a="http://schemas.openxmlformats.org/drawingml/2006/main">
            <a:off x="2400300" y="6038850"/>
            <a:ext cx="7429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D8BBA4"/>
                </a:solidFill>
                <a:latin typeface="Lato"/>
                <a:ea typeface="Lato"/>
                <a:cs typeface="Lato"/>
              </a:defRPr>
            </a:pPr>
            <a:r>
              <a:rPr sz="1050">
                <a:solidFill>
                  <a:srgbClr val="D8BBA4"/>
                </a:solidFill>
                <a:latin typeface="Lato"/>
                <a:ea typeface="Lato"/>
                <a:cs typeface="Lato"/>
              </a:rPr>
              <a:t>Commission on course sales plus API licensing for organizations and tools.</a:t>
            </a:r>
          </a:p>
        </p:txBody>
      </p:sp>
      <p:sp>
        <p:nvSpPr>
          <p:cNvPr id="24" name="">
            <a:extLst xmlns:a="http://schemas.openxmlformats.org/drawingml/2006/main">
              <a:ext uri="{FF2B5EF4-FFF2-40B4-BE49-F238E27FC236}">
                <a16:creationId xmlns:a16="http://schemas.microsoft.com/office/drawing/2014/main" id="{448812E3-2373-4F2D-AE26-8BF46E460078}"/>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Platform architecture · future revenue paths</a:t>
            </a:r>
          </a:p>
        </p:txBody>
      </p:sp>
    </p:spTree>
    <p:extLst>
      <p:ext uri="{BB962C8B-B14F-4D97-AF65-F5344CB8AC3E}">
        <p14:creationId xmlns:p14="http://schemas.microsoft.com/office/powerpoint/2010/main" val="2064050478"/>
      </p:ext>
    </p:extLst>
  </p:cSld>
</p:sld>
</file>

<file path=ppt/slides/slide14.xml><?xml version="1.0" encoding="utf-8"?>
<p:sld xmlns:p="http://schemas.openxmlformats.org/presentationml/2006/main">
  <p:cSld>
    <p:bg>
      <p:bgPr>
        <a:solidFill xmlns:a="http://schemas.openxmlformats.org/drawingml/2006/main">
          <a:srgbClr val="FFF6E9"/>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FD5C31C-4699-45EE-8442-C94E8FD9E7AF}"/>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68EAF439-A870-4BF9-B53D-BDA632876885}"/>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895F3C"/>
                </a:solidFill>
                <a:latin typeface="Lato"/>
                <a:ea typeface="Lato"/>
                <a:cs typeface="Lato"/>
              </a:defRPr>
            </a:pPr>
            <a:r>
              <a:rPr sz="900" b="1">
                <a:solidFill>
                  <a:srgbClr val="895F3C"/>
                </a:solidFill>
                <a:latin typeface="Lato"/>
                <a:ea typeface="Lato"/>
                <a:cs typeface="Lato"/>
              </a:rPr>
              <a:t>VALIDATION</a:t>
            </a:r>
          </a:p>
        </p:txBody>
      </p:sp>
      <p:sp>
        <p:nvSpPr>
          <p:cNvPr id="3" name="">
            <a:extLst xmlns:a="http://schemas.openxmlformats.org/drawingml/2006/main">
              <a:ext uri="{FF2B5EF4-FFF2-40B4-BE49-F238E27FC236}">
                <a16:creationId xmlns:a16="http://schemas.microsoft.com/office/drawing/2014/main" id="{5D50FC6C-39FB-420B-B925-5BACB79E8E3A}"/>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D180B"/>
                </a:solidFill>
                <a:latin typeface="Lato"/>
                <a:ea typeface="Lato"/>
                <a:cs typeface="Lato"/>
              </a:defRPr>
            </a:pPr>
            <a:r>
              <a:rPr sz="1050" b="1">
                <a:solidFill>
                  <a:srgbClr val="2D180B"/>
                </a:solidFill>
                <a:latin typeface="Lato"/>
                <a:ea typeface="Lato"/>
                <a:cs typeface="Lato"/>
              </a:rPr>
              <a:t>14</a:t>
            </a:r>
          </a:p>
        </p:txBody>
      </p:sp>
      <p:sp>
        <p:nvSpPr>
          <p:cNvPr id="4" name="">
            <a:extLst xmlns:a="http://schemas.openxmlformats.org/drawingml/2006/main">
              <a:ext uri="{FF2B5EF4-FFF2-40B4-BE49-F238E27FC236}">
                <a16:creationId xmlns:a16="http://schemas.microsoft.com/office/drawing/2014/main" id="{EB76ED73-0C1B-4628-B3DF-04F3699FF224}"/>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EDCFAD"/>
            </a:solidFill>
            <a:prstDash val="solid"/>
          </a:ln>
        </p:spPr>
      </p:sp>
      <p:sp>
        <p:nvSpPr>
          <p:cNvPr id="5" name="">
            <a:extLst xmlns:a="http://schemas.openxmlformats.org/drawingml/2006/main">
              <a:ext uri="{FF2B5EF4-FFF2-40B4-BE49-F238E27FC236}">
                <a16:creationId xmlns:a16="http://schemas.microsoft.com/office/drawing/2014/main" id="{DE2E74CF-4E17-4E79-9FCE-FD41B9381F34}"/>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2D180B"/>
                </a:solidFill>
                <a:latin typeface="Lato"/>
                <a:ea typeface="Lato"/>
                <a:cs typeface="Lato"/>
              </a:defRPr>
            </a:pPr>
            <a:r>
              <a:rPr sz="3750" b="1">
                <a:solidFill>
                  <a:srgbClr val="2D180B"/>
                </a:solidFill>
                <a:latin typeface="Lato"/>
                <a:ea typeface="Lato"/>
                <a:cs typeface="Lato"/>
              </a:rPr>
              <a:t>The first wedge is close to the learner</a:t>
            </a:r>
          </a:p>
        </p:txBody>
      </p:sp>
      <p:sp>
        <p:nvSpPr>
          <p:cNvPr id="6" name="">
            <a:extLst xmlns:a="http://schemas.openxmlformats.org/drawingml/2006/main">
              <a:ext uri="{FF2B5EF4-FFF2-40B4-BE49-F238E27FC236}">
                <a16:creationId xmlns:a16="http://schemas.microsoft.com/office/drawing/2014/main" id="{C33538A6-295D-44DD-8230-2122DE47EBC3}"/>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85"/>
          </a:bodyPr>
          <a:lstStyle xmlns:a="http://schemas.openxmlformats.org/drawingml/2006/main"/>
          <a:p xmlns:a="http://schemas.openxmlformats.org/drawingml/2006/main">
            <a:pPr>
              <a:defRPr sz="1650">
                <a:solidFill>
                  <a:srgbClr val="895F3C"/>
                </a:solidFill>
                <a:latin typeface="Lato"/>
                <a:ea typeface="Lato"/>
                <a:cs typeface="Lato"/>
              </a:defRPr>
            </a:pPr>
            <a:r>
              <a:rPr sz="1650">
                <a:solidFill>
                  <a:srgbClr val="895F3C"/>
                </a:solidFill>
                <a:latin typeface="Lato"/>
                <a:ea typeface="Lato"/>
                <a:cs typeface="Lato"/>
              </a:rPr>
              <a:t>Start with campus communities, prove the learning loop, then widen the platform.</a:t>
            </a:r>
          </a:p>
        </p:txBody>
      </p:sp>
      <p:sp>
        <p:nvSpPr>
          <p:cNvPr id="7" name="">
            <a:extLst xmlns:a="http://schemas.openxmlformats.org/drawingml/2006/main">
              <a:ext uri="{FF2B5EF4-FFF2-40B4-BE49-F238E27FC236}">
                <a16:creationId xmlns:a16="http://schemas.microsoft.com/office/drawing/2014/main" id="{3109D9DE-A5CA-4B89-BCC0-5AC81BFB1455}"/>
              </a:ext>
            </a:extLst>
          </p:cNvPr>
          <p:cNvSpPr>
            <a:spLocks xmlns:a="http://schemas.openxmlformats.org/drawingml/2006/main" noGrp="1"/>
          </p:cNvSpPr>
          <p:nvPr/>
        </p:nvSpPr>
        <p:spPr>
          <a:xfrm xmlns:a="http://schemas.openxmlformats.org/drawingml/2006/main">
            <a:off x="666750"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C0785EEE-D0F4-448B-8539-52F5201C5118}"/>
              </a:ext>
            </a:extLst>
          </p:cNvPr>
          <p:cNvSpPr>
            <a:spLocks xmlns:a="http://schemas.openxmlformats.org/drawingml/2006/main" noGrp="1"/>
          </p:cNvSpPr>
          <p:nvPr/>
        </p:nvSpPr>
        <p:spPr>
          <a:xfrm xmlns:a="http://schemas.openxmlformats.org/drawingml/2006/main">
            <a:off x="857250" y="3000375"/>
            <a:ext cx="952500" cy="266700"/>
          </a:xfrm>
          <a:prstGeom xmlns:a="http://schemas.openxmlformats.org/drawingml/2006/main" prst="roundRect">
            <a:avLst>
              <a:gd name="adj" fmla="val 50000"/>
            </a:avLst>
          </a:prstGeom>
          <a:solidFill xmlns:a="http://schemas.openxmlformats.org/drawingml/2006/main">
            <a:srgbClr val="2E9B62"/>
          </a:solidFill>
          <a:ln xmlns:a="http://schemas.openxmlformats.org/drawingml/2006/main" w="0">
            <a:solidFill>
              <a:srgbClr val="2E9B62"/>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OBSERVED</a:t>
            </a:r>
          </a:p>
        </p:txBody>
      </p:sp>
      <p:sp>
        <p:nvSpPr>
          <p:cNvPr id="9" name="">
            <a:extLst xmlns:a="http://schemas.openxmlformats.org/drawingml/2006/main">
              <a:ext uri="{FF2B5EF4-FFF2-40B4-BE49-F238E27FC236}">
                <a16:creationId xmlns:a16="http://schemas.microsoft.com/office/drawing/2014/main" id="{D9AD67D2-FB5E-42D6-86B8-C53B0E780FD2}"/>
              </a:ext>
            </a:extLst>
          </p:cNvPr>
          <p:cNvSpPr>
            <a:spLocks xmlns:a="http://schemas.openxmlformats.org/drawingml/2006/main" noGrp="1"/>
          </p:cNvSpPr>
          <p:nvPr/>
        </p:nvSpPr>
        <p:spPr>
          <a:xfrm xmlns:a="http://schemas.openxmlformats.org/drawingml/2006/main">
            <a:off x="857250"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306"/>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Campus conversations</a:t>
            </a:r>
          </a:p>
        </p:txBody>
      </p:sp>
      <p:sp>
        <p:nvSpPr>
          <p:cNvPr id="10" name="">
            <a:extLst xmlns:a="http://schemas.openxmlformats.org/drawingml/2006/main">
              <a:ext uri="{FF2B5EF4-FFF2-40B4-BE49-F238E27FC236}">
                <a16:creationId xmlns:a16="http://schemas.microsoft.com/office/drawing/2014/main" id="{9B15BAE8-0256-45B2-963E-78739947E11B}"/>
              </a:ext>
            </a:extLst>
          </p:cNvPr>
          <p:cNvSpPr>
            <a:spLocks xmlns:a="http://schemas.openxmlformats.org/drawingml/2006/main" noGrp="1"/>
          </p:cNvSpPr>
          <p:nvPr/>
        </p:nvSpPr>
        <p:spPr>
          <a:xfrm xmlns:a="http://schemas.openxmlformats.org/drawingml/2006/main">
            <a:off x="857250"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Students described the support gap.</a:t>
            </a:r>
          </a:p>
        </p:txBody>
      </p:sp>
      <p:sp>
        <p:nvSpPr>
          <p:cNvPr id="11" name="">
            <a:extLst xmlns:a="http://schemas.openxmlformats.org/drawingml/2006/main">
              <a:ext uri="{FF2B5EF4-FFF2-40B4-BE49-F238E27FC236}">
                <a16:creationId xmlns:a16="http://schemas.microsoft.com/office/drawing/2014/main" id="{4FD000D1-2679-4EC5-83C5-FA7618931BEA}"/>
              </a:ext>
            </a:extLst>
          </p:cNvPr>
          <p:cNvSpPr>
            <a:spLocks xmlns:a="http://schemas.openxmlformats.org/drawingml/2006/main" noGrp="1"/>
          </p:cNvSpPr>
          <p:nvPr/>
        </p:nvSpPr>
        <p:spPr>
          <a:xfrm xmlns:a="http://schemas.openxmlformats.org/drawingml/2006/main">
            <a:off x="3095625" y="3810000"/>
            <a:ext cx="361950" cy="0"/>
          </a:xfrm>
          <a:prstGeom xmlns:a="http://schemas.openxmlformats.org/drawingml/2006/main" prst="line">
            <a:avLst/>
          </a:prstGeom>
          <a:noFill xmlns:a="http://schemas.openxmlformats.org/drawingml/2006/main"/>
          <a:ln xmlns:a="http://schemas.openxmlformats.org/drawingml/2006/main" w="28575">
            <a:solidFill>
              <a:srgbClr val="FF8500"/>
            </a:solidFill>
            <a:prstDash val="solid"/>
          </a:ln>
        </p:spPr>
      </p:sp>
      <p:sp>
        <p:nvSpPr>
          <p:cNvPr id="12" name="">
            <a:extLst xmlns:a="http://schemas.openxmlformats.org/drawingml/2006/main">
              <a:ext uri="{FF2B5EF4-FFF2-40B4-BE49-F238E27FC236}">
                <a16:creationId xmlns:a16="http://schemas.microsoft.com/office/drawing/2014/main" id="{26284312-7C6E-49B8-9756-6CD7C72BC7C7}"/>
              </a:ext>
            </a:extLst>
          </p:cNvPr>
          <p:cNvSpPr>
            <a:spLocks xmlns:a="http://schemas.openxmlformats.org/drawingml/2006/main" noGrp="1"/>
          </p:cNvSpPr>
          <p:nvPr/>
        </p:nvSpPr>
        <p:spPr>
          <a:xfrm xmlns:a="http://schemas.openxmlformats.org/drawingml/2006/main">
            <a:off x="3457575"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E2DAC6D-8DD8-420F-9C61-479660167C31}"/>
              </a:ext>
            </a:extLst>
          </p:cNvPr>
          <p:cNvSpPr>
            <a:spLocks xmlns:a="http://schemas.openxmlformats.org/drawingml/2006/main" noGrp="1"/>
          </p:cNvSpPr>
          <p:nvPr/>
        </p:nvSpPr>
        <p:spPr>
          <a:xfrm xmlns:a="http://schemas.openxmlformats.org/drawingml/2006/main">
            <a:off x="3648075" y="3000375"/>
            <a:ext cx="1190625" cy="266700"/>
          </a:xfrm>
          <a:prstGeom xmlns:a="http://schemas.openxmlformats.org/drawingml/2006/main" prst="roundRect">
            <a:avLst>
              <a:gd name="adj" fmla="val 50000"/>
            </a:avLst>
          </a:prstGeom>
          <a:solidFill xmlns:a="http://schemas.openxmlformats.org/drawingml/2006/main">
            <a:srgbClr val="6E5BAA"/>
          </a:solidFill>
          <a:ln xmlns:a="http://schemas.openxmlformats.org/drawingml/2006/main" w="0">
            <a:solidFill>
              <a:srgbClr val="6E5BAA"/>
            </a:solidFill>
            <a:prstDash val="solid"/>
          </a:ln>
        </p:spPr>
        <p:txBody>
          <a:bodyPr xmlns:a="http://schemas.openxmlformats.org/drawingml/2006/main" lIns="95250" tIns="0" rIns="95250" bIns="0" anchor="ctr">
            <a:normAutofit fontScale="90742"/>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DEMONSTRATED</a:t>
            </a:r>
          </a:p>
        </p:txBody>
      </p:sp>
      <p:sp>
        <p:nvSpPr>
          <p:cNvPr id="14" name="">
            <a:extLst xmlns:a="http://schemas.openxmlformats.org/drawingml/2006/main">
              <a:ext uri="{FF2B5EF4-FFF2-40B4-BE49-F238E27FC236}">
                <a16:creationId xmlns:a16="http://schemas.microsoft.com/office/drawing/2014/main" id="{6BAF981D-1DB3-4CAF-8CEF-06C6704459F0}"/>
              </a:ext>
            </a:extLst>
          </p:cNvPr>
          <p:cNvSpPr>
            <a:spLocks xmlns:a="http://schemas.openxmlformats.org/drawingml/2006/main" noGrp="1"/>
          </p:cNvSpPr>
          <p:nvPr/>
        </p:nvSpPr>
        <p:spPr>
          <a:xfrm xmlns:a="http://schemas.openxmlformats.org/drawingml/2006/main">
            <a:off x="3648075"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Working surfaces</a:t>
            </a:r>
          </a:p>
        </p:txBody>
      </p:sp>
      <p:sp>
        <p:nvSpPr>
          <p:cNvPr id="15" name="">
            <a:extLst xmlns:a="http://schemas.openxmlformats.org/drawingml/2006/main">
              <a:ext uri="{FF2B5EF4-FFF2-40B4-BE49-F238E27FC236}">
                <a16:creationId xmlns:a16="http://schemas.microsoft.com/office/drawing/2014/main" id="{2B563607-8734-463D-BCFE-D78AA2E59D82}"/>
              </a:ext>
            </a:extLst>
          </p:cNvPr>
          <p:cNvSpPr>
            <a:spLocks xmlns:a="http://schemas.openxmlformats.org/drawingml/2006/main" noGrp="1"/>
          </p:cNvSpPr>
          <p:nvPr/>
        </p:nvSpPr>
        <p:spPr>
          <a:xfrm xmlns:a="http://schemas.openxmlformats.org/drawingml/2006/main">
            <a:off x="3648075"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59"/>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Mobile lesson flow and desktop guidance visuals exist.</a:t>
            </a:r>
          </a:p>
        </p:txBody>
      </p:sp>
      <p:sp>
        <p:nvSpPr>
          <p:cNvPr id="16" name="">
            <a:extLst xmlns:a="http://schemas.openxmlformats.org/drawingml/2006/main">
              <a:ext uri="{FF2B5EF4-FFF2-40B4-BE49-F238E27FC236}">
                <a16:creationId xmlns:a16="http://schemas.microsoft.com/office/drawing/2014/main" id="{70D3F648-45C9-4586-BA20-B7A3E5BA5802}"/>
              </a:ext>
            </a:extLst>
          </p:cNvPr>
          <p:cNvSpPr>
            <a:spLocks xmlns:a="http://schemas.openxmlformats.org/drawingml/2006/main" noGrp="1"/>
          </p:cNvSpPr>
          <p:nvPr/>
        </p:nvSpPr>
        <p:spPr>
          <a:xfrm xmlns:a="http://schemas.openxmlformats.org/drawingml/2006/main">
            <a:off x="5886450" y="3810000"/>
            <a:ext cx="361950" cy="0"/>
          </a:xfrm>
          <a:prstGeom xmlns:a="http://schemas.openxmlformats.org/drawingml/2006/main" prst="line">
            <a:avLst/>
          </a:prstGeom>
          <a:noFill xmlns:a="http://schemas.openxmlformats.org/drawingml/2006/main"/>
          <a:ln xmlns:a="http://schemas.openxmlformats.org/drawingml/2006/main" w="28575">
            <a:solidFill>
              <a:srgbClr val="FF8500"/>
            </a:solidFill>
            <a:prstDash val="solid"/>
          </a:ln>
        </p:spPr>
      </p:sp>
      <p:sp>
        <p:nvSpPr>
          <p:cNvPr id="17" name="">
            <a:extLst xmlns:a="http://schemas.openxmlformats.org/drawingml/2006/main">
              <a:ext uri="{FF2B5EF4-FFF2-40B4-BE49-F238E27FC236}">
                <a16:creationId xmlns:a16="http://schemas.microsoft.com/office/drawing/2014/main" id="{BA8606C0-FE94-4343-B3F4-3FF119D7F7F0}"/>
              </a:ext>
            </a:extLst>
          </p:cNvPr>
          <p:cNvSpPr>
            <a:spLocks xmlns:a="http://schemas.openxmlformats.org/drawingml/2006/main" noGrp="1"/>
          </p:cNvSpPr>
          <p:nvPr/>
        </p:nvSpPr>
        <p:spPr>
          <a:xfrm xmlns:a="http://schemas.openxmlformats.org/drawingml/2006/main">
            <a:off x="6248400"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47B5EB74-3753-4DC6-95FD-39D249792E5A}"/>
              </a:ext>
            </a:extLst>
          </p:cNvPr>
          <p:cNvSpPr>
            <a:spLocks xmlns:a="http://schemas.openxmlformats.org/drawingml/2006/main" noGrp="1"/>
          </p:cNvSpPr>
          <p:nvPr/>
        </p:nvSpPr>
        <p:spPr>
          <a:xfrm xmlns:a="http://schemas.openxmlformats.org/drawingml/2006/main">
            <a:off x="6438900" y="3000375"/>
            <a:ext cx="952500"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NEXT TEST</a:t>
            </a:r>
          </a:p>
        </p:txBody>
      </p:sp>
      <p:sp>
        <p:nvSpPr>
          <p:cNvPr id="19" name="">
            <a:extLst xmlns:a="http://schemas.openxmlformats.org/drawingml/2006/main">
              <a:ext uri="{FF2B5EF4-FFF2-40B4-BE49-F238E27FC236}">
                <a16:creationId xmlns:a16="http://schemas.microsoft.com/office/drawing/2014/main" id="{1D892BC7-7F3E-47B0-81D7-BDF4DDE38D02}"/>
              </a:ext>
            </a:extLst>
          </p:cNvPr>
          <p:cNvSpPr>
            <a:spLocks xmlns:a="http://schemas.openxmlformats.org/drawingml/2006/main" noGrp="1"/>
          </p:cNvSpPr>
          <p:nvPr/>
        </p:nvSpPr>
        <p:spPr>
          <a:xfrm xmlns:a="http://schemas.openxmlformats.org/drawingml/2006/main">
            <a:off x="6438900"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Pilot cohort</a:t>
            </a:r>
          </a:p>
        </p:txBody>
      </p:sp>
      <p:sp>
        <p:nvSpPr>
          <p:cNvPr id="20" name="">
            <a:extLst xmlns:a="http://schemas.openxmlformats.org/drawingml/2006/main">
              <a:ext uri="{FF2B5EF4-FFF2-40B4-BE49-F238E27FC236}">
                <a16:creationId xmlns:a16="http://schemas.microsoft.com/office/drawing/2014/main" id="{150A50C7-E67E-4387-BAE9-CA5E3E160B84}"/>
              </a:ext>
            </a:extLst>
          </p:cNvPr>
          <p:cNvSpPr>
            <a:spLocks xmlns:a="http://schemas.openxmlformats.org/drawingml/2006/main" noGrp="1"/>
          </p:cNvSpPr>
          <p:nvPr/>
        </p:nvSpPr>
        <p:spPr>
          <a:xfrm xmlns:a="http://schemas.openxmlformats.org/drawingml/2006/main">
            <a:off x="6438900"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Measure task completion, return rate, and confidence.</a:t>
            </a:r>
          </a:p>
        </p:txBody>
      </p:sp>
      <p:sp>
        <p:nvSpPr>
          <p:cNvPr id="21" name="">
            <a:extLst xmlns:a="http://schemas.openxmlformats.org/drawingml/2006/main">
              <a:ext uri="{FF2B5EF4-FFF2-40B4-BE49-F238E27FC236}">
                <a16:creationId xmlns:a16="http://schemas.microsoft.com/office/drawing/2014/main" id="{C9462848-7159-4B95-BA20-4A31DCE7C54D}"/>
              </a:ext>
            </a:extLst>
          </p:cNvPr>
          <p:cNvSpPr>
            <a:spLocks xmlns:a="http://schemas.openxmlformats.org/drawingml/2006/main" noGrp="1"/>
          </p:cNvSpPr>
          <p:nvPr/>
        </p:nvSpPr>
        <p:spPr>
          <a:xfrm xmlns:a="http://schemas.openxmlformats.org/drawingml/2006/main">
            <a:off x="8677275" y="3810000"/>
            <a:ext cx="361950" cy="0"/>
          </a:xfrm>
          <a:prstGeom xmlns:a="http://schemas.openxmlformats.org/drawingml/2006/main" prst="line">
            <a:avLst/>
          </a:prstGeom>
          <a:noFill xmlns:a="http://schemas.openxmlformats.org/drawingml/2006/main"/>
          <a:ln xmlns:a="http://schemas.openxmlformats.org/drawingml/2006/main" w="28575">
            <a:solidFill>
              <a:srgbClr val="FF8500"/>
            </a:solidFill>
            <a:prstDash val="solid"/>
          </a:ln>
        </p:spPr>
      </p:sp>
      <p:sp>
        <p:nvSpPr>
          <p:cNvPr id="22" name="">
            <a:extLst xmlns:a="http://schemas.openxmlformats.org/drawingml/2006/main">
              <a:ext uri="{FF2B5EF4-FFF2-40B4-BE49-F238E27FC236}">
                <a16:creationId xmlns:a16="http://schemas.microsoft.com/office/drawing/2014/main" id="{532F0DE9-85CB-4AB9-81C1-38B98D68C90A}"/>
              </a:ext>
            </a:extLst>
          </p:cNvPr>
          <p:cNvSpPr>
            <a:spLocks xmlns:a="http://schemas.openxmlformats.org/drawingml/2006/main" noGrp="1"/>
          </p:cNvSpPr>
          <p:nvPr/>
        </p:nvSpPr>
        <p:spPr>
          <a:xfrm xmlns:a="http://schemas.openxmlformats.org/drawingml/2006/main">
            <a:off x="9039225" y="2762250"/>
            <a:ext cx="2428875" cy="2095500"/>
          </a:xfrm>
          <a:prstGeom xmlns:a="http://schemas.openxmlformats.org/drawingml/2006/main" prst="roundRect">
            <a:avLst>
              <a:gd name="adj" fmla="val 7273"/>
            </a:avLst>
          </a:prstGeom>
          <a:solidFill xmlns:a="http://schemas.openxmlformats.org/drawingml/2006/main">
            <a:srgbClr val="FFFDF8"/>
          </a:solidFill>
          <a:ln xmlns:a="http://schemas.openxmlformats.org/drawingml/2006/main" w="9525">
            <a:solidFill>
              <a:srgbClr val="EDCFA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A6A3E29E-CF12-4533-ADED-81A80EE4933E}"/>
              </a:ext>
            </a:extLst>
          </p:cNvPr>
          <p:cNvSpPr>
            <a:spLocks xmlns:a="http://schemas.openxmlformats.org/drawingml/2006/main" noGrp="1"/>
          </p:cNvSpPr>
          <p:nvPr/>
        </p:nvSpPr>
        <p:spPr>
          <a:xfrm xmlns:a="http://schemas.openxmlformats.org/drawingml/2006/main">
            <a:off x="9229725" y="3000375"/>
            <a:ext cx="952500" cy="266700"/>
          </a:xfrm>
          <a:prstGeom xmlns:a="http://schemas.openxmlformats.org/drawingml/2006/main" prst="roundRect">
            <a:avLst>
              <a:gd name="adj" fmla="val 50000"/>
            </a:avLst>
          </a:prstGeom>
          <a:solidFill xmlns:a="http://schemas.openxmlformats.org/drawingml/2006/main">
            <a:srgbClr val="895F3C"/>
          </a:solidFill>
          <a:ln xmlns:a="http://schemas.openxmlformats.org/drawingml/2006/main" w="0">
            <a:solidFill>
              <a:srgbClr val="895F3C"/>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NEXT TEST</a:t>
            </a:r>
          </a:p>
        </p:txBody>
      </p:sp>
      <p:sp>
        <p:nvSpPr>
          <p:cNvPr id="24" name="">
            <a:extLst xmlns:a="http://schemas.openxmlformats.org/drawingml/2006/main">
              <a:ext uri="{FF2B5EF4-FFF2-40B4-BE49-F238E27FC236}">
                <a16:creationId xmlns:a16="http://schemas.microsoft.com/office/drawing/2014/main" id="{C0F0104B-ADF2-4951-8D47-C5BA53E652FE}"/>
              </a:ext>
            </a:extLst>
          </p:cNvPr>
          <p:cNvSpPr>
            <a:spLocks xmlns:a="http://schemas.openxmlformats.org/drawingml/2006/main" noGrp="1"/>
          </p:cNvSpPr>
          <p:nvPr/>
        </p:nvSpPr>
        <p:spPr>
          <a:xfrm xmlns:a="http://schemas.openxmlformats.org/drawingml/2006/main">
            <a:off x="9229725" y="34766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2D180B"/>
                </a:solidFill>
                <a:latin typeface="Lato"/>
                <a:ea typeface="Lato"/>
                <a:cs typeface="Lato"/>
              </a:defRPr>
            </a:pPr>
            <a:r>
              <a:rPr sz="1725" b="1">
                <a:solidFill>
                  <a:srgbClr val="2D180B"/>
                </a:solidFill>
                <a:latin typeface="Lato"/>
                <a:ea typeface="Lato"/>
                <a:cs typeface="Lato"/>
              </a:rPr>
              <a:t>Partners</a:t>
            </a:r>
          </a:p>
        </p:txBody>
      </p:sp>
      <p:sp>
        <p:nvSpPr>
          <p:cNvPr id="25" name="">
            <a:extLst xmlns:a="http://schemas.openxmlformats.org/drawingml/2006/main">
              <a:ext uri="{FF2B5EF4-FFF2-40B4-BE49-F238E27FC236}">
                <a16:creationId xmlns:a16="http://schemas.microsoft.com/office/drawing/2014/main" id="{D3769017-4437-4482-B5EB-75F2AF1331F7}"/>
              </a:ext>
            </a:extLst>
          </p:cNvPr>
          <p:cNvSpPr>
            <a:spLocks xmlns:a="http://schemas.openxmlformats.org/drawingml/2006/main" noGrp="1"/>
          </p:cNvSpPr>
          <p:nvPr/>
        </p:nvSpPr>
        <p:spPr>
          <a:xfrm xmlns:a="http://schemas.openxmlformats.org/drawingml/2006/main">
            <a:off x="9229725" y="4095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a:solidFill>
                  <a:srgbClr val="895F3C"/>
                </a:solidFill>
                <a:latin typeface="Lato"/>
                <a:ea typeface="Lato"/>
                <a:cs typeface="Lato"/>
              </a:defRPr>
            </a:pPr>
            <a:r>
              <a:rPr sz="1200">
                <a:solidFill>
                  <a:srgbClr val="895F3C"/>
                </a:solidFill>
                <a:latin typeface="Lato"/>
                <a:ea typeface="Lato"/>
                <a:cs typeface="Lato"/>
              </a:rPr>
              <a:t>Recruit one creator and one training institution.</a:t>
            </a:r>
          </a:p>
        </p:txBody>
      </p:sp>
      <p:sp>
        <p:nvSpPr>
          <p:cNvPr id="26" name="">
            <a:extLst xmlns:a="http://schemas.openxmlformats.org/drawingml/2006/main">
              <a:ext uri="{FF2B5EF4-FFF2-40B4-BE49-F238E27FC236}">
                <a16:creationId xmlns:a16="http://schemas.microsoft.com/office/drawing/2014/main" id="{FF63B7F4-EFBA-4E73-BFFE-972F7A154F78}"/>
              </a:ext>
            </a:extLst>
          </p:cNvPr>
          <p:cNvSpPr>
            <a:spLocks xmlns:a="http://schemas.openxmlformats.org/drawingml/2006/main" noGrp="1"/>
          </p:cNvSpPr>
          <p:nvPr/>
        </p:nvSpPr>
        <p:spPr>
          <a:xfrm xmlns:a="http://schemas.openxmlformats.org/drawingml/2006/main">
            <a:off x="666750" y="542925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1">
                <a:solidFill>
                  <a:srgbClr val="2D180B"/>
                </a:solidFill>
                <a:latin typeface="Lato"/>
                <a:ea typeface="Lato"/>
                <a:cs typeface="Lato"/>
              </a:defRPr>
            </a:pPr>
            <a:r>
              <a:rPr sz="1800" b="1">
                <a:solidFill>
                  <a:srgbClr val="2D180B"/>
                </a:solidFill>
                <a:latin typeface="Lato"/>
                <a:ea typeface="Lato"/>
                <a:cs typeface="Lato"/>
              </a:rPr>
              <a:t>The next proof point is not reach. It is whether a learner returns because the next step felt doable.</a:t>
            </a:r>
          </a:p>
        </p:txBody>
      </p:sp>
      <p:sp>
        <p:nvSpPr>
          <p:cNvPr id="27" name="">
            <a:extLst xmlns:a="http://schemas.openxmlformats.org/drawingml/2006/main">
              <a:ext uri="{FF2B5EF4-FFF2-40B4-BE49-F238E27FC236}">
                <a16:creationId xmlns:a16="http://schemas.microsoft.com/office/drawing/2014/main" id="{794DCFE0-B9C7-40A0-96B3-9E4EA82F3C8B}"/>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7D5C42"/>
                </a:solidFill>
                <a:latin typeface="Lato"/>
                <a:ea typeface="Lato"/>
                <a:cs typeface="Lato"/>
              </a:defRPr>
            </a:pPr>
            <a:r>
              <a:rPr sz="825">
                <a:solidFill>
                  <a:srgbClr val="7D5C42"/>
                </a:solidFill>
                <a:latin typeface="Lato"/>
                <a:ea typeface="Lato"/>
                <a:cs typeface="Lato"/>
              </a:rPr>
              <a:t>Go-to-market sequence · observed → demonstrated → next test</a:t>
            </a:r>
          </a:p>
        </p:txBody>
      </p:sp>
    </p:spTree>
    <p:extLst>
      <p:ext uri="{BB962C8B-B14F-4D97-AF65-F5344CB8AC3E}">
        <p14:creationId xmlns:p14="http://schemas.microsoft.com/office/powerpoint/2010/main" val="228293063"/>
      </p:ext>
    </p:extLst>
  </p:cSld>
</p:sld>
</file>

<file path=ppt/slides/slide15.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CBD80E9-6456-4D81-9D60-70B23A90F143}"/>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7DD041B7-B867-46C0-8325-F36F71FE3B0C}"/>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TEAM</a:t>
            </a:r>
          </a:p>
        </p:txBody>
      </p:sp>
      <p:sp>
        <p:nvSpPr>
          <p:cNvPr id="3" name="">
            <a:extLst xmlns:a="http://schemas.openxmlformats.org/drawingml/2006/main">
              <a:ext uri="{FF2B5EF4-FFF2-40B4-BE49-F238E27FC236}">
                <a16:creationId xmlns:a16="http://schemas.microsoft.com/office/drawing/2014/main" id="{6255627B-EC3D-432C-9D55-D914FEB8ED9B}"/>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15</a:t>
            </a:r>
          </a:p>
        </p:txBody>
      </p:sp>
      <p:sp>
        <p:nvSpPr>
          <p:cNvPr id="4" name="">
            <a:extLst xmlns:a="http://schemas.openxmlformats.org/drawingml/2006/main">
              <a:ext uri="{FF2B5EF4-FFF2-40B4-BE49-F238E27FC236}">
                <a16:creationId xmlns:a16="http://schemas.microsoft.com/office/drawing/2014/main" id="{5A8969FF-73B6-4265-9669-CF1360BE773A}"/>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0CE07A13-BB9F-4681-9853-232CEB2021BB}"/>
              </a:ext>
            </a:extLst>
          </p:cNvPr>
          <p:cNvSpPr>
            <a:spLocks xmlns:a="http://schemas.openxmlformats.org/drawingml/2006/main" noGrp="1"/>
          </p:cNvSpPr>
          <p:nvPr/>
        </p:nvSpPr>
        <p:spPr>
          <a:xfrm xmlns:a="http://schemas.openxmlformats.org/drawingml/2006/main">
            <a:off x="609600" y="990600"/>
            <a:ext cx="857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750" b="1">
                <a:solidFill>
                  <a:srgbClr val="FFF6E9"/>
                </a:solidFill>
                <a:latin typeface="Lato"/>
                <a:ea typeface="Lato"/>
                <a:cs typeface="Lato"/>
              </a:defRPr>
            </a:pPr>
            <a:r>
              <a:rPr sz="3750" b="1">
                <a:solidFill>
                  <a:srgbClr val="FFF6E9"/>
                </a:solidFill>
                <a:latin typeface="Lato"/>
                <a:ea typeface="Lato"/>
                <a:cs typeface="Lato"/>
              </a:rPr>
              <a:t>The team built the core surfaces</a:t>
            </a:r>
          </a:p>
        </p:txBody>
      </p:sp>
      <p:sp>
        <p:nvSpPr>
          <p:cNvPr id="6" name="">
            <a:extLst xmlns:a="http://schemas.openxmlformats.org/drawingml/2006/main">
              <a:ext uri="{FF2B5EF4-FFF2-40B4-BE49-F238E27FC236}">
                <a16:creationId xmlns:a16="http://schemas.microsoft.com/office/drawing/2014/main" id="{0AD19091-8D6C-43AC-AB04-3FFEF8F255C0}"/>
              </a:ext>
            </a:extLst>
          </p:cNvPr>
          <p:cNvSpPr>
            <a:spLocks xmlns:a="http://schemas.openxmlformats.org/drawingml/2006/main" noGrp="1"/>
          </p:cNvSpPr>
          <p:nvPr/>
        </p:nvSpPr>
        <p:spPr>
          <a:xfrm xmlns:a="http://schemas.openxmlformats.org/drawingml/2006/main">
            <a:off x="647700" y="186690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a:solidFill>
                  <a:srgbClr val="E3CDBB"/>
                </a:solidFill>
                <a:latin typeface="Lato"/>
                <a:ea typeface="Lato"/>
                <a:cs typeface="Lato"/>
              </a:defRPr>
            </a:pPr>
            <a:r>
              <a:rPr sz="1650">
                <a:solidFill>
                  <a:srgbClr val="E3CDBB"/>
                </a:solidFill>
                <a:latin typeface="Lato"/>
                <a:ea typeface="Lato"/>
                <a:cs typeface="Lato"/>
              </a:rPr>
              <a:t>The product is split across the places where the learner meets Bataa.</a:t>
            </a:r>
          </a:p>
        </p:txBody>
      </p:sp>
      <p:sp>
        <p:nvSpPr>
          <p:cNvPr id="7" name="">
            <a:extLst xmlns:a="http://schemas.openxmlformats.org/drawingml/2006/main">
              <a:ext uri="{FF2B5EF4-FFF2-40B4-BE49-F238E27FC236}">
                <a16:creationId xmlns:a16="http://schemas.microsoft.com/office/drawing/2014/main" id="{C88E224B-DA82-4888-924D-FDA7030D9DC2}"/>
              </a:ext>
            </a:extLst>
          </p:cNvPr>
          <p:cNvSpPr>
            <a:spLocks xmlns:a="http://schemas.openxmlformats.org/drawingml/2006/main" noGrp="1"/>
          </p:cNvSpPr>
          <p:nvPr/>
        </p:nvSpPr>
        <p:spPr>
          <a:xfrm xmlns:a="http://schemas.openxmlformats.org/drawingml/2006/main">
            <a:off x="666750" y="2714625"/>
            <a:ext cx="3286125" cy="247650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F43A9F3C-601E-4B65-AD0D-F2099D3018F5}"/>
              </a:ext>
            </a:extLst>
          </p:cNvPr>
          <p:cNvSpPr>
            <a:spLocks xmlns:a="http://schemas.openxmlformats.org/drawingml/2006/main" noGrp="1"/>
          </p:cNvSpPr>
          <p:nvPr/>
        </p:nvSpPr>
        <p:spPr>
          <a:xfrm xmlns:a="http://schemas.openxmlformats.org/drawingml/2006/main">
            <a:off x="914400" y="3000375"/>
            <a:ext cx="476250" cy="476250"/>
          </a:xfrm>
          <a:prstGeom xmlns:a="http://schemas.openxmlformats.org/drawingml/2006/main" prst="ellipse">
            <a:avLst/>
          </a:prstGeom>
          <a:solidFill xmlns:a="http://schemas.openxmlformats.org/drawingml/2006/main">
            <a:srgbClr val="FF8500"/>
          </a:solidFill>
          <a:ln xmlns:a="http://schemas.openxmlformats.org/drawingml/2006/main" w="0">
            <a:solidFill>
              <a:srgbClr val="FF8500"/>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1</a:t>
            </a:r>
          </a:p>
        </p:txBody>
      </p:sp>
      <p:sp>
        <p:nvSpPr>
          <p:cNvPr id="9" name="">
            <a:extLst xmlns:a="http://schemas.openxmlformats.org/drawingml/2006/main">
              <a:ext uri="{FF2B5EF4-FFF2-40B4-BE49-F238E27FC236}">
                <a16:creationId xmlns:a16="http://schemas.microsoft.com/office/drawing/2014/main" id="{EF033F25-2C96-429B-84AA-68574C469A58}"/>
              </a:ext>
            </a:extLst>
          </p:cNvPr>
          <p:cNvSpPr>
            <a:spLocks xmlns:a="http://schemas.openxmlformats.org/drawingml/2006/main" noGrp="1"/>
          </p:cNvSpPr>
          <p:nvPr/>
        </p:nvSpPr>
        <p:spPr>
          <a:xfrm xmlns:a="http://schemas.openxmlformats.org/drawingml/2006/main">
            <a:off x="1562100" y="30289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Abdelrahman Mohsen</a:t>
            </a:r>
          </a:p>
        </p:txBody>
      </p:sp>
      <p:sp>
        <p:nvSpPr>
          <p:cNvPr id="10" name="">
            <a:extLst xmlns:a="http://schemas.openxmlformats.org/drawingml/2006/main">
              <a:ext uri="{FF2B5EF4-FFF2-40B4-BE49-F238E27FC236}">
                <a16:creationId xmlns:a16="http://schemas.microsoft.com/office/drawing/2014/main" id="{50128BFD-52E6-4A29-AF08-C4D387F1BA0A}"/>
              </a:ext>
            </a:extLst>
          </p:cNvPr>
          <p:cNvSpPr>
            <a:spLocks xmlns:a="http://schemas.openxmlformats.org/drawingml/2006/main" noGrp="1"/>
          </p:cNvSpPr>
          <p:nvPr/>
        </p:nvSpPr>
        <p:spPr>
          <a:xfrm xmlns:a="http://schemas.openxmlformats.org/drawingml/2006/main">
            <a:off x="1562100" y="33813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FF8500"/>
                </a:solidFill>
                <a:latin typeface="Lato"/>
                <a:ea typeface="Lato"/>
                <a:cs typeface="Lato"/>
              </a:defRPr>
            </a:pPr>
            <a:r>
              <a:rPr sz="900" b="1">
                <a:solidFill>
                  <a:srgbClr val="FF8500"/>
                </a:solidFill>
                <a:latin typeface="Lato"/>
                <a:ea typeface="Lato"/>
                <a:cs typeface="Lato"/>
              </a:rPr>
              <a:t>DESKTOP APP</a:t>
            </a:r>
          </a:p>
        </p:txBody>
      </p:sp>
      <p:sp>
        <p:nvSpPr>
          <p:cNvPr id="11" name="">
            <a:extLst xmlns:a="http://schemas.openxmlformats.org/drawingml/2006/main">
              <a:ext uri="{FF2B5EF4-FFF2-40B4-BE49-F238E27FC236}">
                <a16:creationId xmlns:a16="http://schemas.microsoft.com/office/drawing/2014/main" id="{D869DA6C-AA4B-415E-B96E-43934FBCF33B}"/>
              </a:ext>
            </a:extLst>
          </p:cNvPr>
          <p:cNvSpPr>
            <a:spLocks xmlns:a="http://schemas.openxmlformats.org/drawingml/2006/main" noGrp="1"/>
          </p:cNvSpPr>
          <p:nvPr/>
        </p:nvSpPr>
        <p:spPr>
          <a:xfrm xmlns:a="http://schemas.openxmlformats.org/drawingml/2006/main">
            <a:off x="914400" y="4000500"/>
            <a:ext cx="2724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Builds the guided workspace where the AI can meet the learner inside real software.</a:t>
            </a:r>
          </a:p>
        </p:txBody>
      </p:sp>
      <p:sp>
        <p:nvSpPr>
          <p:cNvPr id="12" name="">
            <a:extLst xmlns:a="http://schemas.openxmlformats.org/drawingml/2006/main">
              <a:ext uri="{FF2B5EF4-FFF2-40B4-BE49-F238E27FC236}">
                <a16:creationId xmlns:a16="http://schemas.microsoft.com/office/drawing/2014/main" id="{4D2A41D3-B3CB-431D-A8D9-F99160446595}"/>
              </a:ext>
            </a:extLst>
          </p:cNvPr>
          <p:cNvSpPr>
            <a:spLocks xmlns:a="http://schemas.openxmlformats.org/drawingml/2006/main" noGrp="1"/>
          </p:cNvSpPr>
          <p:nvPr/>
        </p:nvSpPr>
        <p:spPr>
          <a:xfrm xmlns:a="http://schemas.openxmlformats.org/drawingml/2006/main">
            <a:off x="4381500" y="2714625"/>
            <a:ext cx="3286125" cy="247650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9A02E774-8E80-4969-8EB9-BF31211EC1E1}"/>
              </a:ext>
            </a:extLst>
          </p:cNvPr>
          <p:cNvSpPr>
            <a:spLocks xmlns:a="http://schemas.openxmlformats.org/drawingml/2006/main" noGrp="1"/>
          </p:cNvSpPr>
          <p:nvPr/>
        </p:nvSpPr>
        <p:spPr>
          <a:xfrm xmlns:a="http://schemas.openxmlformats.org/drawingml/2006/main">
            <a:off x="4629150" y="3000375"/>
            <a:ext cx="476250" cy="476250"/>
          </a:xfrm>
          <a:prstGeom xmlns:a="http://schemas.openxmlformats.org/drawingml/2006/main" prst="ellipse">
            <a:avLst/>
          </a:prstGeom>
          <a:solidFill xmlns:a="http://schemas.openxmlformats.org/drawingml/2006/main">
            <a:srgbClr val="6E5BAA"/>
          </a:solidFill>
          <a:ln xmlns:a="http://schemas.openxmlformats.org/drawingml/2006/main" w="0">
            <a:solidFill>
              <a:srgbClr val="6E5BAA"/>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2</a:t>
            </a:r>
          </a:p>
        </p:txBody>
      </p:sp>
      <p:sp>
        <p:nvSpPr>
          <p:cNvPr id="14" name="">
            <a:extLst xmlns:a="http://schemas.openxmlformats.org/drawingml/2006/main">
              <a:ext uri="{FF2B5EF4-FFF2-40B4-BE49-F238E27FC236}">
                <a16:creationId xmlns:a16="http://schemas.microsoft.com/office/drawing/2014/main" id="{38DF5ECE-BB8C-43F4-9A31-14A9A0823E42}"/>
              </a:ext>
            </a:extLst>
          </p:cNvPr>
          <p:cNvSpPr>
            <a:spLocks xmlns:a="http://schemas.openxmlformats.org/drawingml/2006/main" noGrp="1"/>
          </p:cNvSpPr>
          <p:nvPr/>
        </p:nvSpPr>
        <p:spPr>
          <a:xfrm xmlns:a="http://schemas.openxmlformats.org/drawingml/2006/main">
            <a:off x="5276850" y="30289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Yousef</a:t>
            </a:r>
          </a:p>
        </p:txBody>
      </p:sp>
      <p:sp>
        <p:nvSpPr>
          <p:cNvPr id="15" name="">
            <a:extLst xmlns:a="http://schemas.openxmlformats.org/drawingml/2006/main">
              <a:ext uri="{FF2B5EF4-FFF2-40B4-BE49-F238E27FC236}">
                <a16:creationId xmlns:a16="http://schemas.microsoft.com/office/drawing/2014/main" id="{2C561257-19B7-46A9-BE00-BD13705855EC}"/>
              </a:ext>
            </a:extLst>
          </p:cNvPr>
          <p:cNvSpPr>
            <a:spLocks xmlns:a="http://schemas.openxmlformats.org/drawingml/2006/main" noGrp="1"/>
          </p:cNvSpPr>
          <p:nvPr/>
        </p:nvSpPr>
        <p:spPr>
          <a:xfrm xmlns:a="http://schemas.openxmlformats.org/drawingml/2006/main">
            <a:off x="5276850" y="33813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6E5BAA"/>
                </a:solidFill>
                <a:latin typeface="Lato"/>
                <a:ea typeface="Lato"/>
                <a:cs typeface="Lato"/>
              </a:defRPr>
            </a:pPr>
            <a:r>
              <a:rPr sz="900" b="1">
                <a:solidFill>
                  <a:srgbClr val="6E5BAA"/>
                </a:solidFill>
                <a:latin typeface="Lato"/>
                <a:ea typeface="Lato"/>
                <a:cs typeface="Lato"/>
              </a:rPr>
              <a:t>MOBILE APP</a:t>
            </a:r>
          </a:p>
        </p:txBody>
      </p:sp>
      <p:sp>
        <p:nvSpPr>
          <p:cNvPr id="16" name="">
            <a:extLst xmlns:a="http://schemas.openxmlformats.org/drawingml/2006/main">
              <a:ext uri="{FF2B5EF4-FFF2-40B4-BE49-F238E27FC236}">
                <a16:creationId xmlns:a16="http://schemas.microsoft.com/office/drawing/2014/main" id="{921A493B-93B3-4733-B05E-A1B10322EF05}"/>
              </a:ext>
            </a:extLst>
          </p:cNvPr>
          <p:cNvSpPr>
            <a:spLocks xmlns:a="http://schemas.openxmlformats.org/drawingml/2006/main" noGrp="1"/>
          </p:cNvSpPr>
          <p:nvPr/>
        </p:nvSpPr>
        <p:spPr>
          <a:xfrm xmlns:a="http://schemas.openxmlformats.org/drawingml/2006/main">
            <a:off x="4629150" y="4000500"/>
            <a:ext cx="2724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Builds the daily lesson loop for small, approachable practice sessions.</a:t>
            </a:r>
          </a:p>
        </p:txBody>
      </p:sp>
      <p:sp>
        <p:nvSpPr>
          <p:cNvPr id="17" name="">
            <a:extLst xmlns:a="http://schemas.openxmlformats.org/drawingml/2006/main">
              <a:ext uri="{FF2B5EF4-FFF2-40B4-BE49-F238E27FC236}">
                <a16:creationId xmlns:a16="http://schemas.microsoft.com/office/drawing/2014/main" id="{9ECC55DB-B49A-4AEA-A52C-2879E573D2B1}"/>
              </a:ext>
            </a:extLst>
          </p:cNvPr>
          <p:cNvSpPr>
            <a:spLocks xmlns:a="http://schemas.openxmlformats.org/drawingml/2006/main" noGrp="1"/>
          </p:cNvSpPr>
          <p:nvPr/>
        </p:nvSpPr>
        <p:spPr>
          <a:xfrm xmlns:a="http://schemas.openxmlformats.org/drawingml/2006/main">
            <a:off x="8096250" y="2714625"/>
            <a:ext cx="3286125" cy="2476500"/>
          </a:xfrm>
          <a:prstGeom xmlns:a="http://schemas.openxmlformats.org/drawingml/2006/main" prst="roundRect">
            <a:avLst>
              <a:gd name="adj" fmla="val 6154"/>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8B9EA3CE-9A90-4FDB-B199-F2B618E25F42}"/>
              </a:ext>
            </a:extLst>
          </p:cNvPr>
          <p:cNvSpPr>
            <a:spLocks xmlns:a="http://schemas.openxmlformats.org/drawingml/2006/main" noGrp="1"/>
          </p:cNvSpPr>
          <p:nvPr/>
        </p:nvSpPr>
        <p:spPr>
          <a:xfrm xmlns:a="http://schemas.openxmlformats.org/drawingml/2006/main">
            <a:off x="8343900" y="3000375"/>
            <a:ext cx="476250" cy="476250"/>
          </a:xfrm>
          <a:prstGeom xmlns:a="http://schemas.openxmlformats.org/drawingml/2006/main" prst="ellipse">
            <a:avLst/>
          </a:prstGeom>
          <a:solidFill xmlns:a="http://schemas.openxmlformats.org/drawingml/2006/main">
            <a:srgbClr val="2E9B62"/>
          </a:solidFill>
          <a:ln xmlns:a="http://schemas.openxmlformats.org/drawingml/2006/main" w="0">
            <a:solidFill>
              <a:srgbClr val="2E9B62"/>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6E9"/>
                </a:solidFill>
                <a:latin typeface="Lato"/>
                <a:ea typeface="Lato"/>
                <a:cs typeface="Lato"/>
              </a:defRPr>
            </a:pPr>
            <a:r>
              <a:rPr sz="1500" b="1">
                <a:solidFill>
                  <a:srgbClr val="FFF6E9"/>
                </a:solidFill>
                <a:latin typeface="Lato"/>
                <a:ea typeface="Lato"/>
                <a:cs typeface="Lato"/>
              </a:rPr>
              <a:t>3</a:t>
            </a:r>
          </a:p>
        </p:txBody>
      </p:sp>
      <p:sp>
        <p:nvSpPr>
          <p:cNvPr id="19" name="">
            <a:extLst xmlns:a="http://schemas.openxmlformats.org/drawingml/2006/main">
              <a:ext uri="{FF2B5EF4-FFF2-40B4-BE49-F238E27FC236}">
                <a16:creationId xmlns:a16="http://schemas.microsoft.com/office/drawing/2014/main" id="{2E3E09C6-A63E-4242-9362-B2CDC2460CAF}"/>
              </a:ext>
            </a:extLst>
          </p:cNvPr>
          <p:cNvSpPr>
            <a:spLocks xmlns:a="http://schemas.openxmlformats.org/drawingml/2006/main" noGrp="1"/>
          </p:cNvSpPr>
          <p:nvPr/>
        </p:nvSpPr>
        <p:spPr>
          <a:xfrm xmlns:a="http://schemas.openxmlformats.org/drawingml/2006/main">
            <a:off x="8991600" y="30289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b="1">
                <a:solidFill>
                  <a:srgbClr val="FFF6E9"/>
                </a:solidFill>
                <a:latin typeface="Lato"/>
                <a:ea typeface="Lato"/>
                <a:cs typeface="Lato"/>
              </a:defRPr>
            </a:pPr>
            <a:r>
              <a:rPr sz="1575" b="1">
                <a:solidFill>
                  <a:srgbClr val="FFF6E9"/>
                </a:solidFill>
                <a:latin typeface="Lato"/>
                <a:ea typeface="Lato"/>
                <a:cs typeface="Lato"/>
              </a:rPr>
              <a:t>Mostafa</a:t>
            </a:r>
          </a:p>
        </p:txBody>
      </p:sp>
      <p:sp>
        <p:nvSpPr>
          <p:cNvPr id="20" name="">
            <a:extLst xmlns:a="http://schemas.openxmlformats.org/drawingml/2006/main">
              <a:ext uri="{FF2B5EF4-FFF2-40B4-BE49-F238E27FC236}">
                <a16:creationId xmlns:a16="http://schemas.microsoft.com/office/drawing/2014/main" id="{40FC86E6-6CDE-4131-8B5C-3FE32B7EEDA7}"/>
              </a:ext>
            </a:extLst>
          </p:cNvPr>
          <p:cNvSpPr>
            <a:spLocks xmlns:a="http://schemas.openxmlformats.org/drawingml/2006/main" noGrp="1"/>
          </p:cNvSpPr>
          <p:nvPr/>
        </p:nvSpPr>
        <p:spPr>
          <a:xfrm xmlns:a="http://schemas.openxmlformats.org/drawingml/2006/main">
            <a:off x="8991600" y="33813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E9B62"/>
                </a:solidFill>
                <a:latin typeface="Lato"/>
                <a:ea typeface="Lato"/>
                <a:cs typeface="Lato"/>
              </a:defRPr>
            </a:pPr>
            <a:r>
              <a:rPr sz="900" b="1">
                <a:solidFill>
                  <a:srgbClr val="2E9B62"/>
                </a:solidFill>
                <a:latin typeface="Lato"/>
                <a:ea typeface="Lato"/>
                <a:cs typeface="Lato"/>
              </a:rPr>
              <a:t>LANDING PAGE</a:t>
            </a:r>
          </a:p>
        </p:txBody>
      </p:sp>
      <p:sp>
        <p:nvSpPr>
          <p:cNvPr id="21" name="">
            <a:extLst xmlns:a="http://schemas.openxmlformats.org/drawingml/2006/main">
              <a:ext uri="{FF2B5EF4-FFF2-40B4-BE49-F238E27FC236}">
                <a16:creationId xmlns:a16="http://schemas.microsoft.com/office/drawing/2014/main" id="{C64790BD-15F6-44B8-962A-345313F89724}"/>
              </a:ext>
            </a:extLst>
          </p:cNvPr>
          <p:cNvSpPr>
            <a:spLocks xmlns:a="http://schemas.openxmlformats.org/drawingml/2006/main" noGrp="1"/>
          </p:cNvSpPr>
          <p:nvPr/>
        </p:nvSpPr>
        <p:spPr>
          <a:xfrm xmlns:a="http://schemas.openxmlformats.org/drawingml/2006/main">
            <a:off x="8343900" y="4000500"/>
            <a:ext cx="2724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D8BBA4"/>
                </a:solidFill>
                <a:latin typeface="Lato"/>
                <a:ea typeface="Lato"/>
                <a:cs typeface="Lato"/>
              </a:defRPr>
            </a:pPr>
            <a:r>
              <a:rPr sz="1275">
                <a:solidFill>
                  <a:srgbClr val="D8BBA4"/>
                </a:solidFill>
                <a:latin typeface="Lato"/>
                <a:ea typeface="Lato"/>
                <a:cs typeface="Lato"/>
              </a:rPr>
              <a:t>Shapes the public story, visual identity, and first touchpoint for Bataa.</a:t>
            </a:r>
          </a:p>
        </p:txBody>
      </p:sp>
      <p:sp>
        <p:nvSpPr>
          <p:cNvPr id="22" name="">
            <a:extLst xmlns:a="http://schemas.openxmlformats.org/drawingml/2006/main">
              <a:ext uri="{FF2B5EF4-FFF2-40B4-BE49-F238E27FC236}">
                <a16:creationId xmlns:a16="http://schemas.microsoft.com/office/drawing/2014/main" id="{A82C386E-35B1-4ED9-B243-9E0B14C64FF6}"/>
              </a:ext>
            </a:extLst>
          </p:cNvPr>
          <p:cNvSpPr>
            <a:spLocks xmlns:a="http://schemas.openxmlformats.org/drawingml/2006/main" noGrp="1"/>
          </p:cNvSpPr>
          <p:nvPr/>
        </p:nvSpPr>
        <p:spPr>
          <a:xfrm xmlns:a="http://schemas.openxmlformats.org/drawingml/2006/main">
            <a:off x="666750" y="5715000"/>
            <a:ext cx="1190625" cy="26670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TEAM PROOF</a:t>
            </a:r>
          </a:p>
        </p:txBody>
      </p:sp>
      <p:sp>
        <p:nvSpPr>
          <p:cNvPr id="23" name="">
            <a:extLst xmlns:a="http://schemas.openxmlformats.org/drawingml/2006/main">
              <a:ext uri="{FF2B5EF4-FFF2-40B4-BE49-F238E27FC236}">
                <a16:creationId xmlns:a16="http://schemas.microsoft.com/office/drawing/2014/main" id="{B98C7EB8-9632-4C6A-8ED4-4E3DE9720BAF}"/>
              </a:ext>
            </a:extLst>
          </p:cNvPr>
          <p:cNvSpPr>
            <a:spLocks xmlns:a="http://schemas.openxmlformats.org/drawingml/2006/main" noGrp="1"/>
          </p:cNvSpPr>
          <p:nvPr/>
        </p:nvSpPr>
        <p:spPr>
          <a:xfrm xmlns:a="http://schemas.openxmlformats.org/drawingml/2006/main">
            <a:off x="1885950" y="575310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D8BBA4"/>
                </a:solidFill>
                <a:latin typeface="Lato"/>
                <a:ea typeface="Lato"/>
                <a:cs typeface="Lato"/>
              </a:defRPr>
            </a:pPr>
            <a:r>
              <a:rPr sz="1125">
                <a:solidFill>
                  <a:srgbClr val="D8BBA4"/>
                </a:solidFill>
                <a:latin typeface="Lato"/>
                <a:ea typeface="Lato"/>
                <a:cs typeface="Lato"/>
              </a:rPr>
              <a:t>Each role maps to a working surface already visible in the product.</a:t>
            </a:r>
          </a:p>
        </p:txBody>
      </p:sp>
      <p:sp>
        <p:nvSpPr>
          <p:cNvPr id="24" name="">
            <a:extLst xmlns:a="http://schemas.openxmlformats.org/drawingml/2006/main">
              <a:ext uri="{FF2B5EF4-FFF2-40B4-BE49-F238E27FC236}">
                <a16:creationId xmlns:a16="http://schemas.microsoft.com/office/drawing/2014/main" id="{12208802-E07B-464B-B1D7-C975A02C4694}"/>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Team roles · supplied in the Bataa brief</a:t>
            </a:r>
          </a:p>
        </p:txBody>
      </p:sp>
    </p:spTree>
    <p:extLst>
      <p:ext uri="{BB962C8B-B14F-4D97-AF65-F5344CB8AC3E}">
        <p14:creationId xmlns:p14="http://schemas.microsoft.com/office/powerpoint/2010/main" val="1386711111"/>
      </p:ext>
    </p:extLst>
  </p:cSld>
</p:sld>
</file>

<file path=ppt/slides/slide16.xml><?xml version="1.0" encoding="utf-8"?>
<p:sld xmlns:p="http://schemas.openxmlformats.org/presentationml/2006/main">
  <p:cSld>
    <p:bg>
      <p:bgPr>
        <a:solidFill xmlns:a="http://schemas.openxmlformats.org/drawingml/2006/main">
          <a:srgbClr val="FF850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3D011CD-5EB7-49D6-8CC1-8AF8A91863F3}"/>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C7E83B8C-AE11-4FD9-B657-06D8BA849421}"/>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NEXT MILESTONE</a:t>
            </a:r>
          </a:p>
        </p:txBody>
      </p:sp>
      <p:sp>
        <p:nvSpPr>
          <p:cNvPr id="3" name="">
            <a:extLst xmlns:a="http://schemas.openxmlformats.org/drawingml/2006/main">
              <a:ext uri="{FF2B5EF4-FFF2-40B4-BE49-F238E27FC236}">
                <a16:creationId xmlns:a16="http://schemas.microsoft.com/office/drawing/2014/main" id="{70D0B1FB-0494-4260-95D0-A056DF41BAF3}"/>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16</a:t>
            </a:r>
          </a:p>
        </p:txBody>
      </p:sp>
      <p:sp>
        <p:nvSpPr>
          <p:cNvPr id="4" name="">
            <a:extLst xmlns:a="http://schemas.openxmlformats.org/drawingml/2006/main">
              <a:ext uri="{FF2B5EF4-FFF2-40B4-BE49-F238E27FC236}">
                <a16:creationId xmlns:a16="http://schemas.microsoft.com/office/drawing/2014/main" id="{820F6F36-17DE-4AF6-BE82-D0503891293A}"/>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45FCC61B-46A4-4290-A1D3-B5C633BC115B}"/>
              </a:ext>
            </a:extLst>
          </p:cNvPr>
          <p:cNvSpPr>
            <a:spLocks xmlns:a="http://schemas.openxmlformats.org/drawingml/2006/main" noGrp="1"/>
          </p:cNvSpPr>
          <p:nvPr/>
        </p:nvSpPr>
        <p:spPr>
          <a:xfrm xmlns:a="http://schemas.openxmlformats.org/drawingml/2006/main">
            <a:off x="609600" y="1066800"/>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108"/>
          </a:bodyPr>
          <a:lstStyle xmlns:a="http://schemas.openxmlformats.org/drawingml/2006/main"/>
          <a:p xmlns:a="http://schemas.openxmlformats.org/drawingml/2006/main">
            <a:pPr>
              <a:defRPr sz="4200" b="1">
                <a:solidFill>
                  <a:srgbClr val="2D180B"/>
                </a:solidFill>
                <a:latin typeface="Lato"/>
                <a:ea typeface="Lato"/>
                <a:cs typeface="Lato"/>
              </a:defRPr>
            </a:pPr>
            <a:r>
              <a:rPr sz="4200" b="1">
                <a:solidFill>
                  <a:srgbClr val="2D180B"/>
                </a:solidFill>
                <a:latin typeface="Lato"/>
                <a:ea typeface="Lato"/>
                <a:cs typeface="Lato"/>
              </a:rPr>
              <a:t>The next milestone is a real pilot.</a:t>
            </a:r>
          </a:p>
        </p:txBody>
      </p:sp>
      <p:sp>
        <p:nvSpPr>
          <p:cNvPr id="6" name="">
            <a:extLst xmlns:a="http://schemas.openxmlformats.org/drawingml/2006/main">
              <a:ext uri="{FF2B5EF4-FFF2-40B4-BE49-F238E27FC236}">
                <a16:creationId xmlns:a16="http://schemas.microsoft.com/office/drawing/2014/main" id="{67ADF5D2-C620-4433-A342-230C7982E925}"/>
              </a:ext>
            </a:extLst>
          </p:cNvPr>
          <p:cNvSpPr>
            <a:spLocks xmlns:a="http://schemas.openxmlformats.org/drawingml/2006/main" noGrp="1"/>
          </p:cNvSpPr>
          <p:nvPr/>
        </p:nvSpPr>
        <p:spPr>
          <a:xfrm xmlns:a="http://schemas.openxmlformats.org/drawingml/2006/main">
            <a:off x="647700" y="1952625"/>
            <a:ext cx="609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276"/>
          </a:bodyPr>
          <a:lstStyle xmlns:a="http://schemas.openxmlformats.org/drawingml/2006/main"/>
          <a:p xmlns:a="http://schemas.openxmlformats.org/drawingml/2006/main">
            <a:pPr>
              <a:defRPr sz="1725">
                <a:solidFill>
                  <a:srgbClr val="2D180B"/>
                </a:solidFill>
                <a:latin typeface="Lato"/>
                <a:ea typeface="Lato"/>
                <a:cs typeface="Lato"/>
              </a:defRPr>
            </a:pPr>
            <a:r>
              <a:rPr sz="1725">
                <a:solidFill>
                  <a:srgbClr val="2D180B"/>
                </a:solidFill>
                <a:latin typeface="Lato"/>
                <a:ea typeface="Lato"/>
                <a:cs typeface="Lato"/>
              </a:rPr>
              <a:t>Prove that one doable action can become a habit and a finished skill.</a:t>
            </a:r>
          </a:p>
        </p:txBody>
      </p:sp>
      <p:sp>
        <p:nvSpPr>
          <p:cNvPr id="7" name="">
            <a:extLst xmlns:a="http://schemas.openxmlformats.org/drawingml/2006/main">
              <a:ext uri="{FF2B5EF4-FFF2-40B4-BE49-F238E27FC236}">
                <a16:creationId xmlns:a16="http://schemas.microsoft.com/office/drawing/2014/main" id="{9B4F809D-6C7A-4113-9043-96264879387B}"/>
              </a:ext>
            </a:extLst>
          </p:cNvPr>
          <p:cNvSpPr>
            <a:spLocks xmlns:a="http://schemas.openxmlformats.org/drawingml/2006/main" noGrp="1"/>
          </p:cNvSpPr>
          <p:nvPr/>
        </p:nvSpPr>
        <p:spPr>
          <a:xfrm xmlns:a="http://schemas.openxmlformats.org/drawingml/2006/main">
            <a:off x="666750" y="3048000"/>
            <a:ext cx="6572250" cy="2238375"/>
          </a:xfrm>
          <a:prstGeom xmlns:a="http://schemas.openxmlformats.org/drawingml/2006/main" prst="roundRect">
            <a:avLst>
              <a:gd name="adj" fmla="val 10213"/>
            </a:avLst>
          </a:prstGeom>
          <a:solidFill xmlns:a="http://schemas.openxmlformats.org/drawingml/2006/main">
            <a:srgbClr val="F78A17"/>
          </a:solidFill>
          <a:ln xmlns:a="http://schemas.openxmlformats.org/drawingml/2006/main" w="9525">
            <a:solidFill>
              <a:srgbClr val="FFB55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F22B8E12-D5E2-4C9B-9019-7449E05768A5}"/>
              </a:ext>
            </a:extLst>
          </p:cNvPr>
          <p:cNvSpPr>
            <a:spLocks xmlns:a="http://schemas.openxmlformats.org/drawingml/2006/main" noGrp="1"/>
          </p:cNvSpPr>
          <p:nvPr/>
        </p:nvSpPr>
        <p:spPr>
          <a:xfrm xmlns:a="http://schemas.openxmlformats.org/drawingml/2006/main">
            <a:off x="952500" y="3314700"/>
            <a:ext cx="304800" cy="3048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01</a:t>
            </a:r>
          </a:p>
        </p:txBody>
      </p:sp>
      <p:sp>
        <p:nvSpPr>
          <p:cNvPr id="9" name="">
            <a:extLst xmlns:a="http://schemas.openxmlformats.org/drawingml/2006/main">
              <a:ext uri="{FF2B5EF4-FFF2-40B4-BE49-F238E27FC236}">
                <a16:creationId xmlns:a16="http://schemas.microsoft.com/office/drawing/2014/main" id="{29905777-40AD-4432-AF13-0437F2DCBB20}"/>
              </a:ext>
            </a:extLst>
          </p:cNvPr>
          <p:cNvSpPr>
            <a:spLocks xmlns:a="http://schemas.openxmlformats.org/drawingml/2006/main" noGrp="1"/>
          </p:cNvSpPr>
          <p:nvPr/>
        </p:nvSpPr>
        <p:spPr>
          <a:xfrm xmlns:a="http://schemas.openxmlformats.org/drawingml/2006/main">
            <a:off x="1428750" y="332422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Beginner mobile path</a:t>
            </a:r>
          </a:p>
        </p:txBody>
      </p:sp>
      <p:sp>
        <p:nvSpPr>
          <p:cNvPr id="10" name="">
            <a:extLst xmlns:a="http://schemas.openxmlformats.org/drawingml/2006/main">
              <a:ext uri="{FF2B5EF4-FFF2-40B4-BE49-F238E27FC236}">
                <a16:creationId xmlns:a16="http://schemas.microsoft.com/office/drawing/2014/main" id="{F607FA5C-CBE6-4B0A-9DA8-E30A31B38825}"/>
              </a:ext>
            </a:extLst>
          </p:cNvPr>
          <p:cNvSpPr>
            <a:spLocks xmlns:a="http://schemas.openxmlformats.org/drawingml/2006/main" noGrp="1"/>
          </p:cNvSpPr>
          <p:nvPr/>
        </p:nvSpPr>
        <p:spPr>
          <a:xfrm xmlns:a="http://schemas.openxmlformats.org/drawingml/2006/main">
            <a:off x="3952875" y="3333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Ship the first week of simple daily tasks</a:t>
            </a:r>
          </a:p>
        </p:txBody>
      </p:sp>
      <p:sp>
        <p:nvSpPr>
          <p:cNvPr id="11" name="">
            <a:extLst xmlns:a="http://schemas.openxmlformats.org/drawingml/2006/main">
              <a:ext uri="{FF2B5EF4-FFF2-40B4-BE49-F238E27FC236}">
                <a16:creationId xmlns:a16="http://schemas.microsoft.com/office/drawing/2014/main" id="{80E71F87-D195-450D-8347-B65E8DBE5562}"/>
              </a:ext>
            </a:extLst>
          </p:cNvPr>
          <p:cNvSpPr>
            <a:spLocks xmlns:a="http://schemas.openxmlformats.org/drawingml/2006/main" noGrp="1"/>
          </p:cNvSpPr>
          <p:nvPr/>
        </p:nvSpPr>
        <p:spPr>
          <a:xfrm xmlns:a="http://schemas.openxmlformats.org/drawingml/2006/main">
            <a:off x="952500" y="3943350"/>
            <a:ext cx="304800" cy="3048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02</a:t>
            </a:r>
          </a:p>
        </p:txBody>
      </p:sp>
      <p:sp>
        <p:nvSpPr>
          <p:cNvPr id="12" name="">
            <a:extLst xmlns:a="http://schemas.openxmlformats.org/drawingml/2006/main">
              <a:ext uri="{FF2B5EF4-FFF2-40B4-BE49-F238E27FC236}">
                <a16:creationId xmlns:a16="http://schemas.microsoft.com/office/drawing/2014/main" id="{2B4DC60B-6200-4304-A096-794A8D64BB4A}"/>
              </a:ext>
            </a:extLst>
          </p:cNvPr>
          <p:cNvSpPr>
            <a:spLocks xmlns:a="http://schemas.openxmlformats.org/drawingml/2006/main" noGrp="1"/>
          </p:cNvSpPr>
          <p:nvPr/>
        </p:nvSpPr>
        <p:spPr>
          <a:xfrm xmlns:a="http://schemas.openxmlformats.org/drawingml/2006/main">
            <a:off x="1428750" y="395287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Desktop agent pilot</a:t>
            </a:r>
          </a:p>
        </p:txBody>
      </p:sp>
      <p:sp>
        <p:nvSpPr>
          <p:cNvPr id="13" name="">
            <a:extLst xmlns:a="http://schemas.openxmlformats.org/drawingml/2006/main">
              <a:ext uri="{FF2B5EF4-FFF2-40B4-BE49-F238E27FC236}">
                <a16:creationId xmlns:a16="http://schemas.microsoft.com/office/drawing/2014/main" id="{5A67969B-D51A-4A19-84AF-A67C4BFDB0E3}"/>
              </a:ext>
            </a:extLst>
          </p:cNvPr>
          <p:cNvSpPr>
            <a:spLocks xmlns:a="http://schemas.openxmlformats.org/drawingml/2006/main" noGrp="1"/>
          </p:cNvSpPr>
          <p:nvPr/>
        </p:nvSpPr>
        <p:spPr>
          <a:xfrm xmlns:a="http://schemas.openxmlformats.org/drawingml/2006/main">
            <a:off x="3952875" y="39624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03"/>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Guide one real workflow with safe user control</a:t>
            </a:r>
          </a:p>
        </p:txBody>
      </p:sp>
      <p:sp>
        <p:nvSpPr>
          <p:cNvPr id="14" name="">
            <a:extLst xmlns:a="http://schemas.openxmlformats.org/drawingml/2006/main">
              <a:ext uri="{FF2B5EF4-FFF2-40B4-BE49-F238E27FC236}">
                <a16:creationId xmlns:a16="http://schemas.microsoft.com/office/drawing/2014/main" id="{5CF78CB4-EB7A-44FD-B87C-18A1FD27372E}"/>
              </a:ext>
            </a:extLst>
          </p:cNvPr>
          <p:cNvSpPr>
            <a:spLocks xmlns:a="http://schemas.openxmlformats.org/drawingml/2006/main" noGrp="1"/>
          </p:cNvSpPr>
          <p:nvPr/>
        </p:nvSpPr>
        <p:spPr>
          <a:xfrm xmlns:a="http://schemas.openxmlformats.org/drawingml/2006/main">
            <a:off x="952500" y="4572000"/>
            <a:ext cx="304800" cy="3048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C45300"/>
                </a:solidFill>
                <a:latin typeface="Lato"/>
                <a:ea typeface="Lato"/>
                <a:cs typeface="Lato"/>
              </a:defRPr>
            </a:pPr>
            <a:r>
              <a:rPr sz="900" b="1">
                <a:solidFill>
                  <a:srgbClr val="C45300"/>
                </a:solidFill>
                <a:latin typeface="Lato"/>
                <a:ea typeface="Lato"/>
                <a:cs typeface="Lato"/>
              </a:rPr>
              <a:t>03</a:t>
            </a:r>
          </a:p>
        </p:txBody>
      </p:sp>
      <p:sp>
        <p:nvSpPr>
          <p:cNvPr id="15" name="">
            <a:extLst xmlns:a="http://schemas.openxmlformats.org/drawingml/2006/main">
              <a:ext uri="{FF2B5EF4-FFF2-40B4-BE49-F238E27FC236}">
                <a16:creationId xmlns:a16="http://schemas.microsoft.com/office/drawing/2014/main" id="{F04F7EE9-D7E4-44D7-ABAD-FD3359C5B7DC}"/>
              </a:ext>
            </a:extLst>
          </p:cNvPr>
          <p:cNvSpPr>
            <a:spLocks xmlns:a="http://schemas.openxmlformats.org/drawingml/2006/main" noGrp="1"/>
          </p:cNvSpPr>
          <p:nvPr/>
        </p:nvSpPr>
        <p:spPr>
          <a:xfrm xmlns:a="http://schemas.openxmlformats.org/drawingml/2006/main">
            <a:off x="1428750" y="458152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defRPr sz="1425" b="1">
                <a:solidFill>
                  <a:srgbClr val="2D180B"/>
                </a:solidFill>
                <a:latin typeface="Lato"/>
                <a:ea typeface="Lato"/>
                <a:cs typeface="Lato"/>
              </a:defRPr>
            </a:pPr>
            <a:r>
              <a:rPr sz="1425" b="1">
                <a:solidFill>
                  <a:srgbClr val="2D180B"/>
                </a:solidFill>
                <a:latin typeface="Lato"/>
                <a:ea typeface="Lato"/>
                <a:cs typeface="Lato"/>
              </a:rPr>
              <a:t>Partner pilots</a:t>
            </a:r>
          </a:p>
        </p:txBody>
      </p:sp>
      <p:sp>
        <p:nvSpPr>
          <p:cNvPr id="16" name="">
            <a:extLst xmlns:a="http://schemas.openxmlformats.org/drawingml/2006/main">
              <a:ext uri="{FF2B5EF4-FFF2-40B4-BE49-F238E27FC236}">
                <a16:creationId xmlns:a16="http://schemas.microsoft.com/office/drawing/2014/main" id="{4CAEC50E-6BDC-47B9-8490-87188628878D}"/>
              </a:ext>
            </a:extLst>
          </p:cNvPr>
          <p:cNvSpPr>
            <a:spLocks xmlns:a="http://schemas.openxmlformats.org/drawingml/2006/main" noGrp="1"/>
          </p:cNvSpPr>
          <p:nvPr/>
        </p:nvSpPr>
        <p:spPr>
          <a:xfrm xmlns:a="http://schemas.openxmlformats.org/drawingml/2006/main">
            <a:off x="3952875" y="45910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a:solidFill>
                  <a:srgbClr val="2D180B"/>
                </a:solidFill>
                <a:latin typeface="Lato"/>
                <a:ea typeface="Lato"/>
                <a:cs typeface="Lato"/>
              </a:defRPr>
            </a:pPr>
            <a:r>
              <a:rPr sz="1125">
                <a:solidFill>
                  <a:srgbClr val="2D180B"/>
                </a:solidFill>
                <a:latin typeface="Lato"/>
                <a:ea typeface="Lato"/>
                <a:cs typeface="Lato"/>
              </a:rPr>
              <a:t>Test a creator course and an institutional path</a:t>
            </a:r>
          </a:p>
        </p:txBody>
      </p:sp>
      <p:sp>
        <p:nvSpPr>
          <p:cNvPr id="17" name="">
            <a:extLst xmlns:a="http://schemas.openxmlformats.org/drawingml/2006/main">
              <a:ext uri="{FF2B5EF4-FFF2-40B4-BE49-F238E27FC236}">
                <a16:creationId xmlns:a16="http://schemas.microsoft.com/office/drawing/2014/main" id="{6FDE820A-92CF-4487-9A47-86B5C49E6A23}"/>
              </a:ext>
            </a:extLst>
          </p:cNvPr>
          <p:cNvSpPr>
            <a:spLocks xmlns:a="http://schemas.openxmlformats.org/drawingml/2006/main" noGrp="1"/>
          </p:cNvSpPr>
          <p:nvPr/>
        </p:nvSpPr>
        <p:spPr>
          <a:xfrm xmlns:a="http://schemas.openxmlformats.org/drawingml/2006/main">
            <a:off x="7810500" y="3048000"/>
            <a:ext cx="3524250" cy="2238375"/>
          </a:xfrm>
          <a:prstGeom xmlns:a="http://schemas.openxmlformats.org/drawingml/2006/main" prst="roundRect">
            <a:avLst>
              <a:gd name="adj" fmla="val 10213"/>
            </a:avLst>
          </a:prstGeom>
          <a:solidFill xmlns:a="http://schemas.openxmlformats.org/drawingml/2006/main">
            <a:srgbClr val="FFF6E9"/>
          </a:solidFill>
          <a:ln xmlns:a="http://schemas.openxmlformats.org/drawingml/2006/main" w="9525">
            <a:solidFill>
              <a:srgbClr val="FFF6E9"/>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E39E2881-CD0E-4C26-91C9-B7D705835FBB}"/>
              </a:ext>
            </a:extLst>
          </p:cNvPr>
          <p:cNvSpPr>
            <a:spLocks xmlns:a="http://schemas.openxmlformats.org/drawingml/2006/main" noGrp="1"/>
          </p:cNvSpPr>
          <p:nvPr/>
        </p:nvSpPr>
        <p:spPr>
          <a:xfrm xmlns:a="http://schemas.openxmlformats.org/drawingml/2006/main">
            <a:off x="8143875" y="3352800"/>
            <a:ext cx="857250" cy="266700"/>
          </a:xfrm>
          <a:prstGeom xmlns:a="http://schemas.openxmlformats.org/drawingml/2006/main" prst="roundRect">
            <a:avLst>
              <a:gd name="adj" fmla="val 50000"/>
            </a:avLst>
          </a:prstGeom>
          <a:solidFill xmlns:a="http://schemas.openxmlformats.org/drawingml/2006/main">
            <a:srgbClr val="2D180B"/>
          </a:solidFill>
          <a:ln xmlns:a="http://schemas.openxmlformats.org/drawingml/2006/main" w="0">
            <a:solidFill>
              <a:srgbClr val="2D180B"/>
            </a:solidFill>
            <a:prstDash val="solid"/>
          </a:ln>
        </p:spPr>
        <p:txBody>
          <a:bodyPr xmlns:a="http://schemas.openxmlformats.org/drawingml/2006/main" lIns="95250" tIns="0" rIns="95250" bIns="0" anchor="ctr">
            <a:normAutofit fontScale="100000"/>
          </a:bodyPr>
          <a:lstStyle xmlns:a="http://schemas.openxmlformats.org/drawingml/2006/main"/>
          <a:p xmlns:a="http://schemas.openxmlformats.org/drawingml/2006/main">
            <a:pPr algn="ctr">
              <a:defRPr sz="975" b="1">
                <a:solidFill>
                  <a:srgbClr val="FFF6E9"/>
                </a:solidFill>
                <a:latin typeface="Lato"/>
                <a:ea typeface="Lato"/>
                <a:cs typeface="Lato"/>
              </a:defRPr>
            </a:pPr>
            <a:r>
              <a:rPr sz="975" b="1">
                <a:solidFill>
                  <a:srgbClr val="FFF6E9"/>
                </a:solidFill>
                <a:latin typeface="Lato"/>
                <a:ea typeface="Lato"/>
                <a:cs typeface="Lato"/>
              </a:rPr>
              <a:t>OUR ASK</a:t>
            </a:r>
          </a:p>
        </p:txBody>
      </p:sp>
      <p:sp>
        <p:nvSpPr>
          <p:cNvPr id="19" name="">
            <a:extLst xmlns:a="http://schemas.openxmlformats.org/drawingml/2006/main">
              <a:ext uri="{FF2B5EF4-FFF2-40B4-BE49-F238E27FC236}">
                <a16:creationId xmlns:a16="http://schemas.microsoft.com/office/drawing/2014/main" id="{36239B02-4478-4CEE-8C4C-128E8806379C}"/>
              </a:ext>
            </a:extLst>
          </p:cNvPr>
          <p:cNvSpPr>
            <a:spLocks xmlns:a="http://schemas.openxmlformats.org/drawingml/2006/main" noGrp="1"/>
          </p:cNvSpPr>
          <p:nvPr/>
        </p:nvSpPr>
        <p:spPr>
          <a:xfrm xmlns:a="http://schemas.openxmlformats.org/drawingml/2006/main">
            <a:off x="8143875" y="385762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2D180B"/>
                </a:solidFill>
                <a:latin typeface="Lato"/>
                <a:ea typeface="Lato"/>
                <a:cs typeface="Lato"/>
              </a:defRPr>
            </a:pPr>
            <a:r>
              <a:rPr sz="2325" b="1">
                <a:solidFill>
                  <a:srgbClr val="2D180B"/>
                </a:solidFill>
                <a:latin typeface="Lato"/>
                <a:ea typeface="Lato"/>
                <a:cs typeface="Lato"/>
              </a:rPr>
              <a:t>Pilot partners</a:t>
            </a:r>
          </a:p>
        </p:txBody>
      </p:sp>
      <p:sp>
        <p:nvSpPr>
          <p:cNvPr id="20" name="">
            <a:extLst xmlns:a="http://schemas.openxmlformats.org/drawingml/2006/main">
              <a:ext uri="{FF2B5EF4-FFF2-40B4-BE49-F238E27FC236}">
                <a16:creationId xmlns:a16="http://schemas.microsoft.com/office/drawing/2014/main" id="{B4F0FE5E-AC9D-4109-B1AC-800617B76559}"/>
              </a:ext>
            </a:extLst>
          </p:cNvPr>
          <p:cNvSpPr>
            <a:spLocks xmlns:a="http://schemas.openxmlformats.org/drawingml/2006/main" noGrp="1"/>
          </p:cNvSpPr>
          <p:nvPr/>
        </p:nvSpPr>
        <p:spPr>
          <a:xfrm xmlns:a="http://schemas.openxmlformats.org/drawingml/2006/main">
            <a:off x="8143875" y="4457700"/>
            <a:ext cx="2619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506"/>
          </a:bodyPr>
          <a:lstStyle xmlns:a="http://schemas.openxmlformats.org/drawingml/2006/main"/>
          <a:p xmlns:a="http://schemas.openxmlformats.org/drawingml/2006/main">
            <a:pPr>
              <a:defRPr sz="1350">
                <a:solidFill>
                  <a:srgbClr val="895F3C"/>
                </a:solidFill>
                <a:latin typeface="Lato"/>
                <a:ea typeface="Lato"/>
                <a:cs typeface="Lato"/>
              </a:defRPr>
            </a:pPr>
            <a:r>
              <a:rPr sz="1350">
                <a:solidFill>
                  <a:srgbClr val="895F3C"/>
                </a:solidFill>
                <a:latin typeface="Lato"/>
                <a:ea typeface="Lato"/>
                <a:cs typeface="Lato"/>
              </a:rPr>
              <a:t>One campus, one creator, and one training team willing to measure the loop with us.</a:t>
            </a:r>
          </a:p>
        </p:txBody>
      </p:sp>
      <p:sp>
        <p:nvSpPr>
          <p:cNvPr id="21" name="">
            <a:extLst xmlns:a="http://schemas.openxmlformats.org/drawingml/2006/main">
              <a:ext uri="{FF2B5EF4-FFF2-40B4-BE49-F238E27FC236}">
                <a16:creationId xmlns:a16="http://schemas.microsoft.com/office/drawing/2014/main" id="{DAF7FD70-824D-4A80-AE0C-DEBC257DEB8A}"/>
              </a:ext>
            </a:extLst>
          </p:cNvPr>
          <p:cNvSpPr>
            <a:spLocks xmlns:a="http://schemas.openxmlformats.org/drawingml/2006/main" noGrp="1"/>
          </p:cNvSpPr>
          <p:nvPr/>
        </p:nvSpPr>
        <p:spPr>
          <a:xfrm xmlns:a="http://schemas.openxmlformats.org/drawingml/2006/main">
            <a:off x="666750" y="5953125"/>
            <a:ext cx="762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2D180B"/>
                </a:solidFill>
                <a:latin typeface="Lato"/>
                <a:ea typeface="Lato"/>
                <a:cs typeface="Lato"/>
              </a:defRPr>
            </a:pPr>
            <a:r>
              <a:rPr sz="2100" b="1">
                <a:solidFill>
                  <a:srgbClr val="2D180B"/>
                </a:solidFill>
                <a:latin typeface="Lato"/>
                <a:ea typeface="Lato"/>
                <a:cs typeface="Lato"/>
              </a:rPr>
              <a:t>Bataa gives every learner a next step.</a:t>
            </a:r>
          </a:p>
        </p:txBody>
      </p:sp>
      <p:sp>
        <p:nvSpPr>
          <p:cNvPr id="22" name="">
            <a:extLst xmlns:a="http://schemas.openxmlformats.org/drawingml/2006/main">
              <a:ext uri="{FF2B5EF4-FFF2-40B4-BE49-F238E27FC236}">
                <a16:creationId xmlns:a16="http://schemas.microsoft.com/office/drawing/2014/main" id="{09E3CD7A-E39A-4790-B881-9589C69D2F9A}"/>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Close with a specific pilot ask · replace with contact details before presenting</a:t>
            </a:r>
          </a:p>
        </p:txBody>
      </p:sp>
    </p:spTree>
    <p:extLst>
      <p:ext uri="{BB962C8B-B14F-4D97-AF65-F5344CB8AC3E}">
        <p14:creationId xmlns:p14="http://schemas.microsoft.com/office/powerpoint/2010/main" val="692466798"/>
      </p:ext>
    </p:extLst>
  </p:cSld>
</p:sld>
</file>

<file path=ppt/slides/slide17.xml><?xml version="1.0" encoding="utf-8"?>
<p:sld xmlns:p="http://schemas.openxmlformats.org/presentationml/2006/main">
  <p:cSld>
    <p:bg>
      <p:bgPr>
        <a:solidFill xmlns:a="http://schemas.openxmlformats.org/drawingml/2006/main">
          <a:srgbClr val="1B100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05BF88B-F3EF-4F07-A8E3-0081B3FC26A0}"/>
              </a:ext>
            </a:extLst>
          </p:cNvPr>
          <p:cNvSpPr>
            <a:spLocks xmlns:a="http://schemas.openxmlformats.org/drawingml/2006/main" noGrp="1"/>
          </p:cNvSpPr>
          <p:nvPr/>
        </p:nvSpPr>
        <p:spPr>
          <a:xfrm xmlns:a="http://schemas.openxmlformats.org/drawingml/2006/main">
            <a:off x="609600" y="26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FF8500"/>
                </a:solidFill>
                <a:latin typeface="Lato"/>
                <a:ea typeface="Lato"/>
                <a:cs typeface="Lato"/>
              </a:defRPr>
            </a:pPr>
            <a:r>
              <a:rPr sz="1725" b="1">
                <a:solidFill>
                  <a:srgbClr val="FF8500"/>
                </a:solidFill>
                <a:latin typeface="Lato"/>
                <a:ea typeface="Lato"/>
                <a:cs typeface="Lato"/>
              </a:rPr>
              <a:t>bataa</a:t>
            </a:r>
          </a:p>
        </p:txBody>
      </p:sp>
      <p:sp>
        <p:nvSpPr>
          <p:cNvPr id="2" name="">
            <a:extLst xmlns:a="http://schemas.openxmlformats.org/drawingml/2006/main">
              <a:ext uri="{FF2B5EF4-FFF2-40B4-BE49-F238E27FC236}">
                <a16:creationId xmlns:a16="http://schemas.microsoft.com/office/drawing/2014/main" id="{D2568E0C-9ACF-4CE1-8487-34EE551E66F8}"/>
              </a:ext>
            </a:extLst>
          </p:cNvPr>
          <p:cNvSpPr>
            <a:spLocks xmlns:a="http://schemas.openxmlformats.org/drawingml/2006/main" noGrp="1"/>
          </p:cNvSpPr>
          <p:nvPr/>
        </p:nvSpPr>
        <p:spPr>
          <a:xfrm xmlns:a="http://schemas.openxmlformats.org/drawingml/2006/main">
            <a:off x="2114550" y="314325"/>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D7BDA9"/>
                </a:solidFill>
                <a:latin typeface="Lato"/>
                <a:ea typeface="Lato"/>
                <a:cs typeface="Lato"/>
              </a:defRPr>
            </a:pPr>
            <a:r>
              <a:rPr sz="900" b="1">
                <a:solidFill>
                  <a:srgbClr val="D7BDA9"/>
                </a:solidFill>
                <a:latin typeface="Lato"/>
                <a:ea typeface="Lato"/>
                <a:cs typeface="Lato"/>
              </a:rPr>
              <a:t>STAY CONNECTED</a:t>
            </a:r>
          </a:p>
        </p:txBody>
      </p:sp>
      <p:sp>
        <p:nvSpPr>
          <p:cNvPr id="3" name="">
            <a:extLst xmlns:a="http://schemas.openxmlformats.org/drawingml/2006/main">
              <a:ext uri="{FF2B5EF4-FFF2-40B4-BE49-F238E27FC236}">
                <a16:creationId xmlns:a16="http://schemas.microsoft.com/office/drawing/2014/main" id="{43DF6607-93BA-428E-AB7A-7E0FADFA3B6C}"/>
              </a:ext>
            </a:extLst>
          </p:cNvPr>
          <p:cNvSpPr>
            <a:spLocks xmlns:a="http://schemas.openxmlformats.org/drawingml/2006/main" noGrp="1"/>
          </p:cNvSpPr>
          <p:nvPr/>
        </p:nvSpPr>
        <p:spPr>
          <a:xfrm xmlns:a="http://schemas.openxmlformats.org/drawingml/2006/main">
            <a:off x="11239500" y="295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FF6E9"/>
                </a:solidFill>
                <a:latin typeface="Lato"/>
                <a:ea typeface="Lato"/>
                <a:cs typeface="Lato"/>
              </a:defRPr>
            </a:pPr>
            <a:r>
              <a:rPr sz="1050" b="1">
                <a:solidFill>
                  <a:srgbClr val="FFF6E9"/>
                </a:solidFill>
                <a:latin typeface="Lato"/>
                <a:ea typeface="Lato"/>
                <a:cs typeface="Lato"/>
              </a:rPr>
              <a:t>17</a:t>
            </a:r>
          </a:p>
        </p:txBody>
      </p:sp>
      <p:sp>
        <p:nvSpPr>
          <p:cNvPr id="4" name="">
            <a:extLst xmlns:a="http://schemas.openxmlformats.org/drawingml/2006/main">
              <a:ext uri="{FF2B5EF4-FFF2-40B4-BE49-F238E27FC236}">
                <a16:creationId xmlns:a16="http://schemas.microsoft.com/office/drawing/2014/main" id="{F5FEE14C-D96A-4F08-B985-8B5E5FD51596}"/>
              </a:ext>
            </a:extLst>
          </p:cNvPr>
          <p:cNvSpPr>
            <a:spLocks xmlns:a="http://schemas.openxmlformats.org/drawingml/2006/main" noGrp="1"/>
          </p:cNvSpPr>
          <p:nvPr/>
        </p:nvSpPr>
        <p:spPr>
          <a:xfrm xmlns:a="http://schemas.openxmlformats.org/drawingml/2006/main">
            <a:off x="609600" y="657225"/>
            <a:ext cx="10972800" cy="0"/>
          </a:xfrm>
          <a:prstGeom xmlns:a="http://schemas.openxmlformats.org/drawingml/2006/main" prst="line">
            <a:avLst/>
          </a:prstGeom>
          <a:noFill xmlns:a="http://schemas.openxmlformats.org/drawingml/2006/main"/>
          <a:ln xmlns:a="http://schemas.openxmlformats.org/drawingml/2006/main" w="9525">
            <a:solidFill>
              <a:srgbClr val="5D3B27"/>
            </a:solidFill>
            <a:prstDash val="solid"/>
          </a:ln>
        </p:spPr>
      </p:sp>
      <p:sp>
        <p:nvSpPr>
          <p:cNvPr id="5" name="">
            <a:extLst xmlns:a="http://schemas.openxmlformats.org/drawingml/2006/main">
              <a:ext uri="{FF2B5EF4-FFF2-40B4-BE49-F238E27FC236}">
                <a16:creationId xmlns:a16="http://schemas.microsoft.com/office/drawing/2014/main" id="{FA367130-C90F-4EFE-B736-DE7C1B655928}"/>
              </a:ext>
            </a:extLst>
          </p:cNvPr>
          <p:cNvSpPr>
            <a:spLocks xmlns:a="http://schemas.openxmlformats.org/drawingml/2006/main" noGrp="1"/>
          </p:cNvSpPr>
          <p:nvPr/>
        </p:nvSpPr>
        <p:spPr>
          <a:xfrm xmlns:a="http://schemas.openxmlformats.org/drawingml/2006/main">
            <a:off x="647700" y="1123950"/>
            <a:ext cx="1447800" cy="285750"/>
          </a:xfrm>
          <a:prstGeom xmlns:a="http://schemas.openxmlformats.org/drawingml/2006/main" prst="roundRect">
            <a:avLst>
              <a:gd name="adj" fmla="val 50000"/>
            </a:avLst>
          </a:prstGeom>
          <a:solidFill xmlns:a="http://schemas.openxmlformats.org/drawingml/2006/main">
            <a:srgbClr val="FF8500"/>
          </a:solidFill>
          <a:ln xmlns:a="http://schemas.openxmlformats.org/drawingml/2006/main" w="0">
            <a:solidFill>
              <a:srgbClr val="FF8500"/>
            </a:solidFill>
            <a:prstDash val="solid"/>
          </a:ln>
        </p:spPr>
        <p:txBody>
          <a:bodyPr xmlns:a="http://schemas.openxmlformats.org/drawingml/2006/main" lIns="95250" tIns="0" rIns="95250" bIns="0" anchor="ctr">
            <a:normAutofit fontScale="98196"/>
          </a:bodyPr>
          <a:lstStyle xmlns:a="http://schemas.openxmlformats.org/drawingml/2006/main"/>
          <a:p xmlns:a="http://schemas.openxmlformats.org/drawingml/2006/main">
            <a:pPr algn="ctr">
              <a:defRPr sz="975" b="1">
                <a:solidFill>
                  <a:srgbClr val="FFFFFF"/>
                </a:solidFill>
                <a:latin typeface="Lato"/>
                <a:ea typeface="Lato"/>
                <a:cs typeface="Lato"/>
              </a:defRPr>
            </a:pPr>
            <a:r>
              <a:rPr sz="975" b="1">
                <a:solidFill>
                  <a:srgbClr val="FFFFFF"/>
                </a:solidFill>
                <a:latin typeface="Lato"/>
                <a:ea typeface="Lato"/>
                <a:cs typeface="Lato"/>
              </a:rPr>
              <a:t>FOLLOW THE BUILD</a:t>
            </a:r>
          </a:p>
        </p:txBody>
      </p:sp>
      <p:sp>
        <p:nvSpPr>
          <p:cNvPr id="6" name="">
            <a:extLst xmlns:a="http://schemas.openxmlformats.org/drawingml/2006/main">
              <a:ext uri="{FF2B5EF4-FFF2-40B4-BE49-F238E27FC236}">
                <a16:creationId xmlns:a16="http://schemas.microsoft.com/office/drawing/2014/main" id="{ED18E66A-67E3-4E54-AB9A-AF8D54046BC2}"/>
              </a:ext>
            </a:extLst>
          </p:cNvPr>
          <p:cNvSpPr>
            <a:spLocks xmlns:a="http://schemas.openxmlformats.org/drawingml/2006/main" noGrp="1"/>
          </p:cNvSpPr>
          <p:nvPr/>
        </p:nvSpPr>
        <p:spPr>
          <a:xfrm xmlns:a="http://schemas.openxmlformats.org/drawingml/2006/main">
            <a:off x="647700" y="1638300"/>
            <a:ext cx="5810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136"/>
          </a:bodyPr>
          <a:lstStyle xmlns:a="http://schemas.openxmlformats.org/drawingml/2006/main"/>
          <a:p xmlns:a="http://schemas.openxmlformats.org/drawingml/2006/main">
            <a:pPr>
              <a:defRPr sz="4050" b="1">
                <a:solidFill>
                  <a:srgbClr val="FFF6E9"/>
                </a:solidFill>
                <a:latin typeface="Lato"/>
                <a:ea typeface="Lato"/>
                <a:cs typeface="Lato"/>
              </a:defRPr>
            </a:pPr>
            <a:r>
              <a:rPr sz="4050" b="1">
                <a:solidFill>
                  <a:srgbClr val="FFF6E9"/>
                </a:solidFill>
                <a:latin typeface="Lato"/>
                <a:ea typeface="Lato"/>
                <a:cs typeface="Lato"/>
              </a:rPr>
              <a:t>Keep building</a:t>
            </a:r>
          </a:p>
          <a:p xmlns:a="http://schemas.openxmlformats.org/drawingml/2006/main">
            <a:pPr>
              <a:defRPr sz="4050" b="1">
                <a:solidFill>
                  <a:srgbClr val="FFF6E9"/>
                </a:solidFill>
                <a:latin typeface="Lato"/>
                <a:ea typeface="Lato"/>
                <a:cs typeface="Lato"/>
              </a:defRPr>
            </a:pPr>
            <a:r>
              <a:rPr sz="4050" b="1">
                <a:solidFill>
                  <a:srgbClr val="FFF6E9"/>
                </a:solidFill>
                <a:latin typeface="Lato"/>
                <a:ea typeface="Lato"/>
                <a:cs typeface="Lato"/>
              </a:rPr>
              <a:t>with Bataa</a:t>
            </a:r>
          </a:p>
        </p:txBody>
      </p:sp>
      <p:sp>
        <p:nvSpPr>
          <p:cNvPr id="7" name="">
            <a:extLst xmlns:a="http://schemas.openxmlformats.org/drawingml/2006/main">
              <a:ext uri="{FF2B5EF4-FFF2-40B4-BE49-F238E27FC236}">
                <a16:creationId xmlns:a16="http://schemas.microsoft.com/office/drawing/2014/main" id="{05A9E5E5-59FF-4257-AEBB-F0D8AE09ABC2}"/>
              </a:ext>
            </a:extLst>
          </p:cNvPr>
          <p:cNvSpPr>
            <a:spLocks xmlns:a="http://schemas.openxmlformats.org/drawingml/2006/main" noGrp="1"/>
          </p:cNvSpPr>
          <p:nvPr/>
        </p:nvSpPr>
        <p:spPr>
          <a:xfrm xmlns:a="http://schemas.openxmlformats.org/drawingml/2006/main">
            <a:off x="666750" y="2971800"/>
            <a:ext cx="5286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75">
                <a:solidFill>
                  <a:srgbClr val="E3CDBB"/>
                </a:solidFill>
                <a:latin typeface="Lato"/>
                <a:ea typeface="Lato"/>
                <a:cs typeface="Lato"/>
              </a:defRPr>
            </a:pPr>
            <a:r>
              <a:rPr sz="1575">
                <a:solidFill>
                  <a:srgbClr val="E3CDBB"/>
                </a:solidFill>
                <a:latin typeface="Lato"/>
                <a:ea typeface="Lato"/>
                <a:cs typeface="Lato"/>
              </a:rPr>
              <a:t>Follow product updates, new lessons, and the next Bataa launch.</a:t>
            </a:r>
          </a:p>
        </p:txBody>
      </p:sp>
      <p:sp>
        <p:nvSpPr>
          <p:cNvPr id="8" name="">
            <a:extLst xmlns:a="http://schemas.openxmlformats.org/drawingml/2006/main">
              <a:ext uri="{FF2B5EF4-FFF2-40B4-BE49-F238E27FC236}">
                <a16:creationId xmlns:a16="http://schemas.microsoft.com/office/drawing/2014/main" id="{3D37A4AD-2966-436A-B21C-5549DDE30268}"/>
              </a:ext>
            </a:extLst>
          </p:cNvPr>
          <p:cNvSpPr>
            <a:spLocks xmlns:a="http://schemas.openxmlformats.org/drawingml/2006/main" noGrp="1"/>
          </p:cNvSpPr>
          <p:nvPr/>
        </p:nvSpPr>
        <p:spPr>
          <a:xfrm xmlns:a="http://schemas.openxmlformats.org/drawingml/2006/main">
            <a:off x="647700" y="4000500"/>
            <a:ext cx="5619750" cy="1409700"/>
          </a:xfrm>
          <a:prstGeom xmlns:a="http://schemas.openxmlformats.org/drawingml/2006/main" prst="roundRect">
            <a:avLst>
              <a:gd name="adj" fmla="val 16216"/>
            </a:avLst>
          </a:prstGeom>
          <a:solidFill xmlns:a="http://schemas.openxmlformats.org/drawingml/2006/main">
            <a:srgbClr val="FF8500"/>
          </a:solidFill>
          <a:ln xmlns:a="http://schemas.openxmlformats.org/drawingml/2006/main" w="9525">
            <a:solidFill>
              <a:srgbClr val="FF850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A13EB41-0729-4D27-8D93-53B9B7FB572B}"/>
              </a:ext>
            </a:extLst>
          </p:cNvPr>
          <p:cNvSpPr>
            <a:spLocks xmlns:a="http://schemas.openxmlformats.org/drawingml/2006/main" noGrp="1"/>
          </p:cNvSpPr>
          <p:nvPr/>
        </p:nvSpPr>
        <p:spPr>
          <a:xfrm xmlns:a="http://schemas.openxmlformats.org/drawingml/2006/main">
            <a:off x="952500" y="4286250"/>
            <a:ext cx="1066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00" b="1">
                <a:solidFill>
                  <a:srgbClr val="2D180B"/>
                </a:solidFill>
                <a:latin typeface="Lato"/>
                <a:ea typeface="Lato"/>
                <a:cs typeface="Lato"/>
              </a:defRPr>
            </a:pPr>
            <a:r>
              <a:rPr sz="900" b="1">
                <a:solidFill>
                  <a:srgbClr val="2D180B"/>
                </a:solidFill>
                <a:latin typeface="Lato"/>
                <a:ea typeface="Lato"/>
                <a:cs typeface="Lato"/>
              </a:rPr>
              <a:t>START HERE</a:t>
            </a:r>
          </a:p>
        </p:txBody>
      </p:sp>
      <p:sp>
        <p:nvSpPr>
          <p:cNvPr id="10" name="">
            <a:extLst xmlns:a="http://schemas.openxmlformats.org/drawingml/2006/main">
              <a:ext uri="{FF2B5EF4-FFF2-40B4-BE49-F238E27FC236}">
                <a16:creationId xmlns:a16="http://schemas.microsoft.com/office/drawing/2014/main" id="{763994EB-B0AD-4735-99BE-A92FA6D76AFE}"/>
              </a:ext>
            </a:extLst>
          </p:cNvPr>
          <p:cNvSpPr>
            <a:spLocks xmlns:a="http://schemas.openxmlformats.org/drawingml/2006/main" noGrp="1"/>
          </p:cNvSpPr>
          <p:nvPr/>
        </p:nvSpPr>
        <p:spPr>
          <a:xfrm xmlns:a="http://schemas.openxmlformats.org/drawingml/2006/main">
            <a:off x="952500" y="4610100"/>
            <a:ext cx="4000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225" b="1">
                <a:solidFill>
                  <a:srgbClr val="2D180B"/>
                </a:solidFill>
                <a:latin typeface="Lato"/>
                <a:ea typeface="Lato"/>
                <a:cs typeface="Lato"/>
              </a:defRPr>
            </a:pPr>
            <a:r>
              <a:rPr sz="3225" b="1">
                <a:solidFill>
                  <a:srgbClr val="2D180B"/>
                </a:solidFill>
                <a:latin typeface="Lato"/>
                <a:ea typeface="Lato"/>
                <a:cs typeface="Lato"/>
              </a:rPr>
              <a:t>bataa.app</a:t>
            </a:r>
          </a:p>
        </p:txBody>
      </p:sp>
      <p:sp>
        <p:nvSpPr>
          <p:cNvPr id="11" name="">
            <a:extLst xmlns:a="http://schemas.openxmlformats.org/drawingml/2006/main">
              <a:ext uri="{FF2B5EF4-FFF2-40B4-BE49-F238E27FC236}">
                <a16:creationId xmlns:a16="http://schemas.microsoft.com/office/drawing/2014/main" id="{844970D2-3F49-4166-A845-8F39B0944C80}"/>
              </a:ext>
            </a:extLst>
          </p:cNvPr>
          <p:cNvSpPr>
            <a:spLocks xmlns:a="http://schemas.openxmlformats.org/drawingml/2006/main" noGrp="1"/>
          </p:cNvSpPr>
          <p:nvPr/>
        </p:nvSpPr>
        <p:spPr>
          <a:xfrm xmlns:a="http://schemas.openxmlformats.org/drawingml/2006/main">
            <a:off x="5429250" y="4457700"/>
            <a:ext cx="495300" cy="4953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75" b="1">
                <a:solidFill>
                  <a:srgbClr val="C45300"/>
                </a:solidFill>
                <a:latin typeface="Lato"/>
                <a:ea typeface="Lato"/>
                <a:cs typeface="Lato"/>
              </a:defRPr>
            </a:pPr>
            <a:r>
              <a:rPr sz="1875" b="1">
                <a:solidFill>
                  <a:srgbClr val="C45300"/>
                </a:solidFill>
                <a:latin typeface="Lato"/>
                <a:ea typeface="Lato"/>
                <a:cs typeface="Lato"/>
              </a:rPr>
              <a:t>→</a:t>
            </a:r>
          </a:p>
        </p:txBody>
      </p:sp>
      <p:sp>
        <p:nvSpPr>
          <p:cNvPr id="12" name="">
            <a:extLst xmlns:a="http://schemas.openxmlformats.org/drawingml/2006/main">
              <a:ext uri="{FF2B5EF4-FFF2-40B4-BE49-F238E27FC236}">
                <a16:creationId xmlns:a16="http://schemas.microsoft.com/office/drawing/2014/main" id="{1C9EAD92-A865-4EB0-8808-4061260C61C2}"/>
              </a:ext>
            </a:extLst>
          </p:cNvPr>
          <p:cNvSpPr>
            <a:spLocks xmlns:a="http://schemas.openxmlformats.org/drawingml/2006/main" noGrp="1"/>
          </p:cNvSpPr>
          <p:nvPr/>
        </p:nvSpPr>
        <p:spPr>
          <a:xfrm xmlns:a="http://schemas.openxmlformats.org/drawingml/2006/main">
            <a:off x="7124700" y="1123950"/>
            <a:ext cx="4457700" cy="4286250"/>
          </a:xfrm>
          <a:prstGeom xmlns:a="http://schemas.openxmlformats.org/drawingml/2006/main" prst="roundRect">
            <a:avLst>
              <a:gd name="adj" fmla="val 5333"/>
            </a:avLst>
          </a:prstGeom>
          <a:solidFill xmlns:a="http://schemas.openxmlformats.org/drawingml/2006/main">
            <a:srgbClr val="2B1910"/>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94CF31FD-437F-4EAD-91B9-9BB2FDD1896F}"/>
              </a:ext>
            </a:extLst>
          </p:cNvPr>
          <p:cNvSpPr>
            <a:spLocks xmlns:a="http://schemas.openxmlformats.org/drawingml/2006/main" noGrp="1"/>
          </p:cNvSpPr>
          <p:nvPr/>
        </p:nvSpPr>
        <p:spPr>
          <a:xfrm xmlns:a="http://schemas.openxmlformats.org/drawingml/2006/main">
            <a:off x="7505700" y="14954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FFF6E9"/>
                </a:solidFill>
                <a:latin typeface="Lato"/>
                <a:ea typeface="Lato"/>
                <a:cs typeface="Lato"/>
              </a:defRPr>
            </a:pPr>
            <a:r>
              <a:rPr sz="1875" b="1">
                <a:solidFill>
                  <a:srgbClr val="FFF6E9"/>
                </a:solidFill>
                <a:latin typeface="Lato"/>
                <a:ea typeface="Lato"/>
                <a:cs typeface="Lato"/>
              </a:rPr>
              <a:t>Follow us on social</a:t>
            </a:r>
          </a:p>
        </p:txBody>
      </p:sp>
      <p:sp>
        <p:nvSpPr>
          <p:cNvPr id="14" name="">
            <a:extLst xmlns:a="http://schemas.openxmlformats.org/drawingml/2006/main">
              <a:ext uri="{FF2B5EF4-FFF2-40B4-BE49-F238E27FC236}">
                <a16:creationId xmlns:a16="http://schemas.microsoft.com/office/drawing/2014/main" id="{5F3F1D56-51BB-4AD7-B33D-6C14BA35010E}"/>
              </a:ext>
            </a:extLst>
          </p:cNvPr>
          <p:cNvSpPr>
            <a:spLocks xmlns:a="http://schemas.openxmlformats.org/drawingml/2006/main" noGrp="1"/>
          </p:cNvSpPr>
          <p:nvPr/>
        </p:nvSpPr>
        <p:spPr>
          <a:xfrm xmlns:a="http://schemas.openxmlformats.org/drawingml/2006/main">
            <a:off x="7505700" y="1838325"/>
            <a:ext cx="285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a:solidFill>
                  <a:srgbClr val="C9A98C"/>
                </a:solidFill>
                <a:latin typeface="Lato"/>
                <a:ea typeface="Lato"/>
                <a:cs typeface="Lato"/>
              </a:defRPr>
            </a:pPr>
            <a:r>
              <a:rPr sz="1050">
                <a:solidFill>
                  <a:srgbClr val="C9A98C"/>
                </a:solidFill>
                <a:latin typeface="Lato"/>
                <a:ea typeface="Lato"/>
                <a:cs typeface="Lato"/>
              </a:rPr>
              <a:t>Find Bataa on every platform</a:t>
            </a:r>
          </a:p>
        </p:txBody>
      </p:sp>
      <p:sp>
        <p:nvSpPr>
          <p:cNvPr id="15" name="">
            <a:extLst xmlns:a="http://schemas.openxmlformats.org/drawingml/2006/main">
              <a:ext uri="{FF2B5EF4-FFF2-40B4-BE49-F238E27FC236}">
                <a16:creationId xmlns:a16="http://schemas.microsoft.com/office/drawing/2014/main" id="{397104BB-514C-48E2-B908-3AE0B116175C}"/>
              </a:ext>
            </a:extLst>
          </p:cNvPr>
          <p:cNvSpPr>
            <a:spLocks xmlns:a="http://schemas.openxmlformats.org/drawingml/2006/main" noGrp="1"/>
          </p:cNvSpPr>
          <p:nvPr/>
        </p:nvSpPr>
        <p:spPr>
          <a:xfrm xmlns:a="http://schemas.openxmlformats.org/drawingml/2006/main">
            <a:off x="7505700" y="22098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44EBCFC8-5D7D-4607-83D6-4C0F9040D1B7}"/>
              </a:ext>
            </a:extLst>
          </p:cNvPr>
          <p:cNvSpPr>
            <a:spLocks xmlns:a="http://schemas.openxmlformats.org/drawingml/2006/main" noGrp="1"/>
          </p:cNvSpPr>
          <p:nvPr/>
        </p:nvSpPr>
        <p:spPr>
          <a:xfrm xmlns:a="http://schemas.openxmlformats.org/drawingml/2006/main">
            <a:off x="7677150" y="23050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2b73fab2829847b9"/>
          <a:stretch xmlns:a="http://schemas.openxmlformats.org/drawingml/2006/main"/>
        </p:blipFill>
        <p:spPr>
          <a:xfrm xmlns:a="http://schemas.openxmlformats.org/drawingml/2006/main">
            <a:off x="7772400" y="2400300"/>
            <a:ext cx="190500" cy="1905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D581256F-FC94-4635-ADC2-D6872BEF931B}"/>
              </a:ext>
            </a:extLst>
          </p:cNvPr>
          <p:cNvSpPr>
            <a:spLocks xmlns:a="http://schemas.openxmlformats.org/drawingml/2006/main" noGrp="1"/>
          </p:cNvSpPr>
          <p:nvPr/>
        </p:nvSpPr>
        <p:spPr>
          <a:xfrm xmlns:a="http://schemas.openxmlformats.org/drawingml/2006/main">
            <a:off x="8248650" y="23050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TIKTOK</a:t>
            </a:r>
          </a:p>
        </p:txBody>
      </p:sp>
      <p:sp>
        <p:nvSpPr>
          <p:cNvPr id="19" name="">
            <a:extLst xmlns:a="http://schemas.openxmlformats.org/drawingml/2006/main">
              <a:ext uri="{FF2B5EF4-FFF2-40B4-BE49-F238E27FC236}">
                <a16:creationId xmlns:a16="http://schemas.microsoft.com/office/drawing/2014/main" id="{FA9F26C6-8392-4CCC-9F33-971279CE3379}"/>
              </a:ext>
            </a:extLst>
          </p:cNvPr>
          <p:cNvSpPr>
            <a:spLocks xmlns:a="http://schemas.openxmlformats.org/drawingml/2006/main" noGrp="1"/>
          </p:cNvSpPr>
          <p:nvPr/>
        </p:nvSpPr>
        <p:spPr>
          <a:xfrm xmlns:a="http://schemas.openxmlformats.org/drawingml/2006/main">
            <a:off x="8248650" y="24860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20" name="">
            <a:extLst xmlns:a="http://schemas.openxmlformats.org/drawingml/2006/main">
              <a:ext uri="{FF2B5EF4-FFF2-40B4-BE49-F238E27FC236}">
                <a16:creationId xmlns:a16="http://schemas.microsoft.com/office/drawing/2014/main" id="{87DAF3D6-D716-4502-B343-21113C565A15}"/>
              </a:ext>
            </a:extLst>
          </p:cNvPr>
          <p:cNvSpPr>
            <a:spLocks xmlns:a="http://schemas.openxmlformats.org/drawingml/2006/main" noGrp="1"/>
          </p:cNvSpPr>
          <p:nvPr/>
        </p:nvSpPr>
        <p:spPr>
          <a:xfrm xmlns:a="http://schemas.openxmlformats.org/drawingml/2006/main">
            <a:off x="7505700" y="29337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BBCA1FB3-76A5-455C-A569-0BF5C34F9C0E}"/>
              </a:ext>
            </a:extLst>
          </p:cNvPr>
          <p:cNvSpPr>
            <a:spLocks xmlns:a="http://schemas.openxmlformats.org/drawingml/2006/main" noGrp="1"/>
          </p:cNvSpPr>
          <p:nvPr/>
        </p:nvSpPr>
        <p:spPr>
          <a:xfrm xmlns:a="http://schemas.openxmlformats.org/drawingml/2006/main">
            <a:off x="7677150" y="30289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da8da31b0c4243e3"/>
          <a:stretch xmlns:a="http://schemas.openxmlformats.org/drawingml/2006/main"/>
        </p:blipFill>
        <p:spPr>
          <a:xfrm xmlns:a="http://schemas.openxmlformats.org/drawingml/2006/main">
            <a:off x="7772400" y="3124200"/>
            <a:ext cx="190500" cy="1905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CF041BBB-B4D0-4432-AD8D-81A66EDD2CC5}"/>
              </a:ext>
            </a:extLst>
          </p:cNvPr>
          <p:cNvSpPr>
            <a:spLocks xmlns:a="http://schemas.openxmlformats.org/drawingml/2006/main" noGrp="1"/>
          </p:cNvSpPr>
          <p:nvPr/>
        </p:nvSpPr>
        <p:spPr>
          <a:xfrm xmlns:a="http://schemas.openxmlformats.org/drawingml/2006/main">
            <a:off x="8248650" y="30289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INSTAGRAM</a:t>
            </a:r>
          </a:p>
        </p:txBody>
      </p:sp>
      <p:sp>
        <p:nvSpPr>
          <p:cNvPr id="24" name="">
            <a:extLst xmlns:a="http://schemas.openxmlformats.org/drawingml/2006/main">
              <a:ext uri="{FF2B5EF4-FFF2-40B4-BE49-F238E27FC236}">
                <a16:creationId xmlns:a16="http://schemas.microsoft.com/office/drawing/2014/main" id="{A5619C35-F0EF-4B9D-88B9-6428FB7EE1ED}"/>
              </a:ext>
            </a:extLst>
          </p:cNvPr>
          <p:cNvSpPr>
            <a:spLocks xmlns:a="http://schemas.openxmlformats.org/drawingml/2006/main" noGrp="1"/>
          </p:cNvSpPr>
          <p:nvPr/>
        </p:nvSpPr>
        <p:spPr>
          <a:xfrm xmlns:a="http://schemas.openxmlformats.org/drawingml/2006/main">
            <a:off x="8248650" y="32099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25" name="">
            <a:extLst xmlns:a="http://schemas.openxmlformats.org/drawingml/2006/main">
              <a:ext uri="{FF2B5EF4-FFF2-40B4-BE49-F238E27FC236}">
                <a16:creationId xmlns:a16="http://schemas.microsoft.com/office/drawing/2014/main" id="{F613B085-22F3-4360-A985-1A6C24AD97E7}"/>
              </a:ext>
            </a:extLst>
          </p:cNvPr>
          <p:cNvSpPr>
            <a:spLocks xmlns:a="http://schemas.openxmlformats.org/drawingml/2006/main" noGrp="1"/>
          </p:cNvSpPr>
          <p:nvPr/>
        </p:nvSpPr>
        <p:spPr>
          <a:xfrm xmlns:a="http://schemas.openxmlformats.org/drawingml/2006/main">
            <a:off x="7505700" y="36576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1FFFA585-53EE-45DE-B6B2-04E0FA1AC67F}"/>
              </a:ext>
            </a:extLst>
          </p:cNvPr>
          <p:cNvSpPr>
            <a:spLocks xmlns:a="http://schemas.openxmlformats.org/drawingml/2006/main" noGrp="1"/>
          </p:cNvSpPr>
          <p:nvPr/>
        </p:nvSpPr>
        <p:spPr>
          <a:xfrm xmlns:a="http://schemas.openxmlformats.org/drawingml/2006/main">
            <a:off x="7677150" y="37528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00e526c1f5bb43e5"/>
          <a:stretch xmlns:a="http://schemas.openxmlformats.org/drawingml/2006/main"/>
        </p:blipFill>
        <p:spPr>
          <a:xfrm xmlns:a="http://schemas.openxmlformats.org/drawingml/2006/main">
            <a:off x="7772400" y="3848100"/>
            <a:ext cx="190500" cy="1905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22FFCFAC-B318-4D92-BFD3-9888058C56B4}"/>
              </a:ext>
            </a:extLst>
          </p:cNvPr>
          <p:cNvSpPr>
            <a:spLocks xmlns:a="http://schemas.openxmlformats.org/drawingml/2006/main" noGrp="1"/>
          </p:cNvSpPr>
          <p:nvPr/>
        </p:nvSpPr>
        <p:spPr>
          <a:xfrm xmlns:a="http://schemas.openxmlformats.org/drawingml/2006/main">
            <a:off x="8248650" y="37528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FACEBOOK</a:t>
            </a:r>
          </a:p>
        </p:txBody>
      </p:sp>
      <p:sp>
        <p:nvSpPr>
          <p:cNvPr id="29" name="">
            <a:extLst xmlns:a="http://schemas.openxmlformats.org/drawingml/2006/main">
              <a:ext uri="{FF2B5EF4-FFF2-40B4-BE49-F238E27FC236}">
                <a16:creationId xmlns:a16="http://schemas.microsoft.com/office/drawing/2014/main" id="{D87B3A8D-5207-494C-8320-8927AB18464D}"/>
              </a:ext>
            </a:extLst>
          </p:cNvPr>
          <p:cNvSpPr>
            <a:spLocks xmlns:a="http://schemas.openxmlformats.org/drawingml/2006/main" noGrp="1"/>
          </p:cNvSpPr>
          <p:nvPr/>
        </p:nvSpPr>
        <p:spPr>
          <a:xfrm xmlns:a="http://schemas.openxmlformats.org/drawingml/2006/main">
            <a:off x="8248650" y="39338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30" name="">
            <a:extLst xmlns:a="http://schemas.openxmlformats.org/drawingml/2006/main">
              <a:ext uri="{FF2B5EF4-FFF2-40B4-BE49-F238E27FC236}">
                <a16:creationId xmlns:a16="http://schemas.microsoft.com/office/drawing/2014/main" id="{53CC9B87-A94E-4427-A4EB-34FAA2DCE706}"/>
              </a:ext>
            </a:extLst>
          </p:cNvPr>
          <p:cNvSpPr>
            <a:spLocks xmlns:a="http://schemas.openxmlformats.org/drawingml/2006/main" noGrp="1"/>
          </p:cNvSpPr>
          <p:nvPr/>
        </p:nvSpPr>
        <p:spPr>
          <a:xfrm xmlns:a="http://schemas.openxmlformats.org/drawingml/2006/main">
            <a:off x="7505700" y="4381500"/>
            <a:ext cx="3695700" cy="571500"/>
          </a:xfrm>
          <a:prstGeom xmlns:a="http://schemas.openxmlformats.org/drawingml/2006/main" prst="roundRect">
            <a:avLst>
              <a:gd name="adj" fmla="val 20000"/>
            </a:avLst>
          </a:prstGeom>
          <a:solidFill xmlns:a="http://schemas.openxmlformats.org/drawingml/2006/main">
            <a:srgbClr val="351F14"/>
          </a:solidFill>
          <a:ln xmlns:a="http://schemas.openxmlformats.org/drawingml/2006/main" w="9525">
            <a:solidFill>
              <a:srgbClr val="5D3B2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818888C2-2D0F-4B0C-ACFF-894F3A62B6F1}"/>
              </a:ext>
            </a:extLst>
          </p:cNvPr>
          <p:cNvSpPr>
            <a:spLocks xmlns:a="http://schemas.openxmlformats.org/drawingml/2006/main" noGrp="1"/>
          </p:cNvSpPr>
          <p:nvPr/>
        </p:nvSpPr>
        <p:spPr>
          <a:xfrm xmlns:a="http://schemas.openxmlformats.org/drawingml/2006/main">
            <a:off x="7677150" y="4476750"/>
            <a:ext cx="381000" cy="381000"/>
          </a:xfrm>
          <a:prstGeom xmlns:a="http://schemas.openxmlformats.org/drawingml/2006/main" prst="ellipse">
            <a:avLst/>
          </a:prstGeom>
          <a:solidFill xmlns:a="http://schemas.openxmlformats.org/drawingml/2006/main">
            <a:srgbClr val="FFF6E9"/>
          </a:solidFill>
          <a:ln xmlns:a="http://schemas.openxmlformats.org/drawingml/2006/main" w="0">
            <a:solidFill>
              <a:srgbClr val="FFF6E9"/>
            </a:solidFill>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1bf3ed10b05d4ebc"/>
          <a:stretch xmlns:a="http://schemas.openxmlformats.org/drawingml/2006/main"/>
        </p:blipFill>
        <p:spPr>
          <a:xfrm xmlns:a="http://schemas.openxmlformats.org/drawingml/2006/main">
            <a:off x="7772400" y="4572000"/>
            <a:ext cx="190500" cy="19050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C0A20EA3-2793-4DCB-BD60-2242B1565742}"/>
              </a:ext>
            </a:extLst>
          </p:cNvPr>
          <p:cNvSpPr>
            <a:spLocks xmlns:a="http://schemas.openxmlformats.org/drawingml/2006/main" noGrp="1"/>
          </p:cNvSpPr>
          <p:nvPr/>
        </p:nvSpPr>
        <p:spPr>
          <a:xfrm xmlns:a="http://schemas.openxmlformats.org/drawingml/2006/main">
            <a:off x="8248650" y="4476750"/>
            <a:ext cx="1714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b="1">
                <a:solidFill>
                  <a:srgbClr val="FFD5A3"/>
                </a:solidFill>
                <a:latin typeface="Lato"/>
                <a:ea typeface="Lato"/>
                <a:cs typeface="Lato"/>
              </a:defRPr>
            </a:pPr>
            <a:r>
              <a:rPr sz="825" b="1">
                <a:solidFill>
                  <a:srgbClr val="FFD5A3"/>
                </a:solidFill>
                <a:latin typeface="Lato"/>
                <a:ea typeface="Lato"/>
                <a:cs typeface="Lato"/>
              </a:rPr>
              <a:t>LINKEDIN</a:t>
            </a:r>
          </a:p>
        </p:txBody>
      </p:sp>
      <p:sp>
        <p:nvSpPr>
          <p:cNvPr id="34" name="">
            <a:extLst xmlns:a="http://schemas.openxmlformats.org/drawingml/2006/main">
              <a:ext uri="{FF2B5EF4-FFF2-40B4-BE49-F238E27FC236}">
                <a16:creationId xmlns:a16="http://schemas.microsoft.com/office/drawing/2014/main" id="{3E34E11C-63D7-41EB-9AE0-1E388532A771}"/>
              </a:ext>
            </a:extLst>
          </p:cNvPr>
          <p:cNvSpPr>
            <a:spLocks xmlns:a="http://schemas.openxmlformats.org/drawingml/2006/main" noGrp="1"/>
          </p:cNvSpPr>
          <p:nvPr/>
        </p:nvSpPr>
        <p:spPr>
          <a:xfrm xmlns:a="http://schemas.openxmlformats.org/drawingml/2006/main">
            <a:off x="8248650" y="4657725"/>
            <a:ext cx="2095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b="1">
                <a:solidFill>
                  <a:srgbClr val="FFF6E9"/>
                </a:solidFill>
                <a:latin typeface="Lato"/>
                <a:ea typeface="Lato"/>
                <a:cs typeface="Lato"/>
              </a:defRPr>
            </a:pPr>
            <a:r>
              <a:rPr sz="1350" b="1">
                <a:solidFill>
                  <a:srgbClr val="FFF6E9"/>
                </a:solidFill>
                <a:latin typeface="Lato"/>
                <a:ea typeface="Lato"/>
                <a:cs typeface="Lato"/>
              </a:rPr>
              <a:t>Bataa</a:t>
            </a:r>
          </a:p>
        </p:txBody>
      </p:sp>
      <p:sp>
        <p:nvSpPr>
          <p:cNvPr id="35" name="">
            <a:extLst xmlns:a="http://schemas.openxmlformats.org/drawingml/2006/main">
              <a:ext uri="{FF2B5EF4-FFF2-40B4-BE49-F238E27FC236}">
                <a16:creationId xmlns:a16="http://schemas.microsoft.com/office/drawing/2014/main" id="{C72A7584-C40B-4F33-A5E2-1EFD308C1890}"/>
              </a:ext>
            </a:extLst>
          </p:cNvPr>
          <p:cNvSpPr>
            <a:spLocks xmlns:a="http://schemas.openxmlformats.org/drawingml/2006/main" noGrp="1"/>
          </p:cNvSpPr>
          <p:nvPr/>
        </p:nvSpPr>
        <p:spPr>
          <a:xfrm xmlns:a="http://schemas.openxmlformats.org/drawingml/2006/main">
            <a:off x="609600" y="6496050"/>
            <a:ext cx="876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C9A98C"/>
                </a:solidFill>
                <a:latin typeface="Lato"/>
                <a:ea typeface="Lato"/>
                <a:cs typeface="Lato"/>
              </a:defRPr>
            </a:pPr>
            <a:r>
              <a:rPr sz="825">
                <a:solidFill>
                  <a:srgbClr val="C9A98C"/>
                </a:solidFill>
                <a:latin typeface="Lato"/>
                <a:ea typeface="Lato"/>
                <a:cs typeface="Lato"/>
              </a:rPr>
              <a:t>Social channels · verify live profile handles before publishing</a:t>
            </a:r>
          </a:p>
        </p:txBody>
      </p:sp>
    </p:spTree>
    <p:extLst>
      <p:ext uri="{BB962C8B-B14F-4D97-AF65-F5344CB8AC3E}">
        <p14:creationId xmlns:p14="http://schemas.microsoft.com/office/powerpoint/2010/main" val="20497736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2026-09-20T00:33:08.8550000Z</dcterms:created>
  <dcterms:modified xsi:type="dcterms:W3CDTF">2026-09-20T00:33:08.8550000Z</dcterms:modified>
</coreProperties>
</file>