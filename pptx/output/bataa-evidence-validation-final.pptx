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5d1c6b09564136" /><Relationship Type="http://schemas.openxmlformats.org/officeDocument/2006/relationships/extended-properties" Target="/docProps/app.xml" Id="R293ca45a1da44220" /><Relationship Type="http://schemas.openxmlformats.org/officeDocument/2006/relationships/officeDocument" Target="/ppt/presentation.xml" Id="R882eaf0d2ca74bb3" /></Relationships>
</file>

<file path=ppt/presentation.xml><?xml version="1.0" encoding="utf-8"?>
<p:presentation xmlns:p="http://schemas.openxmlformats.org/presentationml/2006/main">
  <p:sldMasterIdLst>
    <p:sldMasterId xmlns:r="http://schemas.openxmlformats.org/officeDocument/2006/relationships" id="2147483648" r:id="R92f07337ab814ee6"/>
  </p:sldMasterIdLst>
  <p:notesMasterIdLst>
    <p:notesMasterId xmlns:r="http://schemas.openxmlformats.org/officeDocument/2006/relationships" r:id="Rcde0a92b41ff4f27"/>
  </p:notesMasterIdLst>
  <p:sldIdLst>
    <p:sldId xmlns:r="http://schemas.openxmlformats.org/officeDocument/2006/relationships" id="256" r:id="R08dd5b53c2234536"/>
    <p:sldId xmlns:r="http://schemas.openxmlformats.org/officeDocument/2006/relationships" id="257" r:id="Rabbbb2f74e3743cd"/>
    <p:sldId xmlns:r="http://schemas.openxmlformats.org/officeDocument/2006/relationships" id="258" r:id="R26e94887772b4b4e"/>
    <p:sldId xmlns:r="http://schemas.openxmlformats.org/officeDocument/2006/relationships" id="259" r:id="R38007a5504184b9f"/>
    <p:sldId xmlns:r="http://schemas.openxmlformats.org/officeDocument/2006/relationships" id="260" r:id="R3e9d56c94d8a4b3b"/>
    <p:sldId xmlns:r="http://schemas.openxmlformats.org/officeDocument/2006/relationships" id="261" r:id="Ree5519878654416a"/>
    <p:sldId xmlns:r="http://schemas.openxmlformats.org/officeDocument/2006/relationships" id="262" r:id="R0e5cca43eca2430f"/>
    <p:sldId xmlns:r="http://schemas.openxmlformats.org/officeDocument/2006/relationships" id="263" r:id="Rfc90f234ba994cbd"/>
    <p:sldId xmlns:r="http://schemas.openxmlformats.org/officeDocument/2006/relationships" id="264" r:id="Raf1d485465754d89"/>
    <p:sldId xmlns:r="http://schemas.openxmlformats.org/officeDocument/2006/relationships" id="265" r:id="R498e51310514431e"/>
    <p:sldId xmlns:r="http://schemas.openxmlformats.org/officeDocument/2006/relationships" id="266" r:id="Rc6b69fef4ebc4d25"/>
    <p:sldId xmlns:r="http://schemas.openxmlformats.org/officeDocument/2006/relationships" id="267" r:id="R1d788bcb35ec4a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f752fa20514265" /><Relationship Type="http://schemas.openxmlformats.org/officeDocument/2006/relationships/slideMaster" Target="/ppt/slideMasters/slideMaster1.xml" Id="R92f07337ab814ee6" /><Relationship Type="http://schemas.openxmlformats.org/officeDocument/2006/relationships/notesMaster" Target="/ppt/notesMasters/notesMaster1.xml" Id="Rcde0a92b41ff4f27" /><Relationship Type="http://schemas.openxmlformats.org/officeDocument/2006/relationships/presProps" Target="/ppt/presProps.xml" Id="R24beefd500f64605" /><Relationship Type="http://schemas.openxmlformats.org/officeDocument/2006/relationships/tableStyles" Target="/ppt/tableStyles.xml" Id="R1b40d61b3b8646e0" /><Relationship Type="http://schemas.openxmlformats.org/officeDocument/2006/relationships/slide" Target="/ppt/slides/slide1.xml" Id="R08dd5b53c2234536" /><Relationship Type="http://schemas.openxmlformats.org/officeDocument/2006/relationships/slide" Target="/ppt/slides/slide2.xml" Id="Rabbbb2f74e3743cd" /><Relationship Type="http://schemas.openxmlformats.org/officeDocument/2006/relationships/slide" Target="/ppt/slides/slide3.xml" Id="R26e94887772b4b4e" /><Relationship Type="http://schemas.openxmlformats.org/officeDocument/2006/relationships/slide" Target="/ppt/slides/slide4.xml" Id="R38007a5504184b9f" /><Relationship Type="http://schemas.openxmlformats.org/officeDocument/2006/relationships/slide" Target="/ppt/slides/slide5.xml" Id="R3e9d56c94d8a4b3b" /><Relationship Type="http://schemas.openxmlformats.org/officeDocument/2006/relationships/slide" Target="/ppt/slides/slide6.xml" Id="Ree5519878654416a" /><Relationship Type="http://schemas.openxmlformats.org/officeDocument/2006/relationships/slide" Target="/ppt/slides/slide7.xml" Id="R0e5cca43eca2430f" /><Relationship Type="http://schemas.openxmlformats.org/officeDocument/2006/relationships/slide" Target="/ppt/slides/slide8.xml" Id="Rfc90f234ba994cbd" /><Relationship Type="http://schemas.openxmlformats.org/officeDocument/2006/relationships/slide" Target="/ppt/slides/slide9.xml" Id="Raf1d485465754d89" /><Relationship Type="http://schemas.openxmlformats.org/officeDocument/2006/relationships/slide" Target="/ppt/slides/slide10.xml" Id="R498e51310514431e" /><Relationship Type="http://schemas.openxmlformats.org/officeDocument/2006/relationships/slide" Target="/ppt/slides/slide11.xml" Id="Rc6b69fef4ebc4d25" /><Relationship Type="http://schemas.openxmlformats.org/officeDocument/2006/relationships/slide" Target="/ppt/slides/slide12.xml" Id="R1d788bcb35ec4a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4da4c9de004e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11641a338b4386" /><Relationship Type="http://schemas.openxmlformats.org/officeDocument/2006/relationships/notesMaster" Target="/ppt/notesMasters/notesMaster1.xml" Id="R5fa27f20d6404b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f48e13e6a34993" /><Relationship Type="http://schemas.openxmlformats.org/officeDocument/2006/relationships/notesMaster" Target="/ppt/notesMasters/notesMaster1.xml" Id="R98b25075122147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a8e9ffe61344e2" /><Relationship Type="http://schemas.openxmlformats.org/officeDocument/2006/relationships/notesMaster" Target="/ppt/notesMasters/notesMaster1.xml" Id="Rc969c3e5173d42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2e1fe3737b4d61" /><Relationship Type="http://schemas.openxmlformats.org/officeDocument/2006/relationships/notesMaster" Target="/ppt/notesMasters/notesMaster1.xml" Id="R8e305d9999be4a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02c3add8d04765" /><Relationship Type="http://schemas.openxmlformats.org/officeDocument/2006/relationships/notesMaster" Target="/ppt/notesMasters/notesMaster1.xml" Id="R090cb4db91f649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2847683ac940e1" /><Relationship Type="http://schemas.openxmlformats.org/officeDocument/2006/relationships/notesMaster" Target="/ppt/notesMasters/notesMaster1.xml" Id="Re8c3f0a5cc244e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549eda1f4048df" /><Relationship Type="http://schemas.openxmlformats.org/officeDocument/2006/relationships/notesMaster" Target="/ppt/notesMasters/notesMaster1.xml" Id="R5b05e807bbf24a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647dd2b05f4758" /><Relationship Type="http://schemas.openxmlformats.org/officeDocument/2006/relationships/notesMaster" Target="/ppt/notesMasters/notesMaster1.xml" Id="R7b4562616e7148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4807a35ef14563" /><Relationship Type="http://schemas.openxmlformats.org/officeDocument/2006/relationships/notesMaster" Target="/ppt/notesMasters/notesMaster1.xml" Id="R5213602f7b5146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ef7848694a46dd" /><Relationship Type="http://schemas.openxmlformats.org/officeDocument/2006/relationships/notesMaster" Target="/ppt/notesMasters/notesMaster1.xml" Id="R576842520e2f40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a4fa921d2ee42eb" /><Relationship Type="http://schemas.openxmlformats.org/officeDocument/2006/relationships/notesMaster" Target="/ppt/notesMasters/notesMaster1.xml" Id="Rd58df62d7c0c4f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df6e2812a54f5f" /><Relationship Type="http://schemas.openxmlformats.org/officeDocument/2006/relationships/notesMaster" Target="/ppt/notesMasters/notesMaster1.xml" Id="Rddc4dd8692b544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19 September 2026:</a:t>
            </a:r>
          </a:p>
          <a:p xmlns:a="http://schemas.openxmlformats.org/drawingml/2006/main">
            <a:r>
              <a:t/>
            </a:r>
          </a:p>
          <a:p xmlns:a="http://schemas.openxmlformats.org/drawingml/2006/main">
            <a:r>
              <a:t/>
            </a:r>
          </a:p>
          <a:p xmlns:a="http://schemas.openxmlformats.org/drawingml/2006/main">
            <a:r>
              <a:t>Purpose of this appendix: answer the evidence / validation question without presenting unsupported Bataa claims as facts. “Credible problem” means the mechanism is supported by direct discovery plus external evidence. “Unproven Bataa fit” means the team has not yet measured Bataa-specific retention, learning gains, or willingness to pay.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19 September 2026:</a:t>
            </a:r>
          </a:p>
          <a:p xmlns:a="http://schemas.openxmlformats.org/drawingml/2006/main">
            <a:r>
              <a:t>- https://survey.stackoverflow.co/2024/</a:t>
            </a:r>
          </a:p>
          <a:p xmlns:a="http://schemas.openxmlformats.org/drawingml/2006/main">
            <a:r>
              <a:t>- https://pmc.ncbi.nlm.nih.gov/articles/PMC4060654/</a:t>
            </a:r>
          </a:p>
          <a:p xmlns:a="http://schemas.openxmlformats.org/drawingml/2006/main">
            <a:r>
              <a:t>- https://pmc.ncbi.nlm.nih.gov/articles/PMC6987456/</a:t>
            </a:r>
          </a:p>
          <a:p xmlns:a="http://schemas.openxmlformats.org/drawingml/2006/main">
            <a:r>
              <a:t>- https://pmc.ncbi.nlm.nih.gov/articles/PMC8966850/</a:t>
            </a:r>
          </a:p>
          <a:p xmlns:a="http://schemas.openxmlformats.org/drawingml/2006/main">
            <a:r>
              <a:t/>
            </a:r>
          </a:p>
          <a:p xmlns:a="http://schemas.openxmlformats.org/drawingml/2006/main">
            <a:r>
              <a:t>These sources support the behavior, pedagogy, and regional context. None is a randomized test of Bataa, so none proves Bataa retention, learning gains, or willingness to pay.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19 September 2026:</a:t>
            </a:r>
          </a:p>
          <a:p xmlns:a="http://schemas.openxmlformats.org/drawingml/2006/main">
            <a:r>
              <a:t/>
            </a:r>
          </a:p>
          <a:p xmlns:a="http://schemas.openxmlformats.org/drawingml/2006/main">
            <a:r>
              <a:t/>
            </a:r>
          </a:p>
          <a:p xmlns:a="http://schemas.openxmlformats.org/drawingml/2006/main">
            <a:r>
              <a:t>Internal evidence source: user-provided Bataa brief describing conversations at Horus University and the current prototype. The brief did not provide a verified sample size, dates, recruitment method, recordings, transcripts, or coding sheet. This slide intentionally uses “founder-reported” and “surfaced” rather than a percentage or a claim about a “huge number” of students.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19 September 2026:</a:t>
            </a:r>
          </a:p>
          <a:p xmlns:a="http://schemas.openxmlformats.org/drawingml/2006/main">
            <a:r>
              <a:t>- https://pmc.ncbi.nlm.nih.gov/articles/PMC8966850/</a:t>
            </a:r>
          </a:p>
          <a:p xmlns:a="http://schemas.openxmlformats.org/drawingml/2006/main">
            <a:r>
              <a:t>- https://doi.org/10.1186/s12909-022-03249-2</a:t>
            </a:r>
          </a:p>
          <a:p xmlns:a="http://schemas.openxmlformats.org/drawingml/2006/main">
            <a:r>
              <a:t/>
            </a:r>
          </a:p>
          <a:p xmlns:a="http://schemas.openxmlformats.org/drawingml/2006/main">
            <a:r>
              <a:t>Mortagy et al. used a 29-item Google Forms survey distributed through social media, collected 20 Aug–5 Sep 2021. The sample covered 26 Egyptian medical schools. Findings are descriptive and self-reported; the authors caution about representativeness and the abrupt COVID-era transition. The study is relevant regional context, not evidence that Bataa users will activate or pay.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19 September 2026:</a:t>
            </a:r>
          </a:p>
          <a:p xmlns:a="http://schemas.openxmlformats.org/drawingml/2006/main">
            <a:r>
              <a:t>- https://survey.stackoverflow.co/2024/</a:t>
            </a:r>
          </a:p>
          <a:p xmlns:a="http://schemas.openxmlformats.org/drawingml/2006/main">
            <a:r>
              <a:t>- https://survey.stackoverflow.co/2024/developer-profile/#2-online-resources-to-learn-how-to-code</a:t>
            </a:r>
          </a:p>
          <a:p xmlns:a="http://schemas.openxmlformats.org/drawingml/2006/main">
            <a:r>
              <a:t>- https://survey.stackoverflow.co/2024/ai/</a:t>
            </a:r>
          </a:p>
          <a:p xmlns:a="http://schemas.openxmlformats.org/drawingml/2006/main">
            <a:r>
              <a:t>- https://survey.stackoverflow.co/2024/methodology/</a:t>
            </a:r>
          </a:p>
          <a:p xmlns:a="http://schemas.openxmlformats.org/drawingml/2006/main">
            <a:r>
              <a:t/>
            </a:r>
          </a:p>
          <a:p xmlns:a="http://schemas.openxmlformats.org/drawingml/2006/main">
            <a:r>
              <a:t>The survey reports 65,437 responses from 185 countries. It is a self-selected developer survey, not a representative sample of all learners or Egyptian students. Percentages for resources are multi-select descriptive responses. Use this slide as evidence of existing behavior, not a market-size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19 September 2026:</a:t>
            </a:r>
          </a:p>
          <a:p xmlns:a="http://schemas.openxmlformats.org/drawingml/2006/main">
            <a:r>
              <a:t>- https://pmc.ncbi.nlm.nih.gov/articles/PMC4060654/</a:t>
            </a:r>
          </a:p>
          <a:p xmlns:a="http://schemas.openxmlformats.org/drawingml/2006/main">
            <a:r>
              <a:t>- https://doi.org/10.1073/pnas.1319030111</a:t>
            </a:r>
          </a:p>
          <a:p xmlns:a="http://schemas.openxmlformats.org/drawingml/2006/main">
            <a:r>
              <a:t>- https://pmc.ncbi.nlm.nih.gov/articles/PMC6765278/</a:t>
            </a:r>
          </a:p>
          <a:p xmlns:a="http://schemas.openxmlformats.org/drawingml/2006/main">
            <a:r>
              <a:t>- https://doi.org/10.1073/pnas.1821936116</a:t>
            </a:r>
          </a:p>
          <a:p xmlns:a="http://schemas.openxmlformats.org/drawingml/2006/main">
            <a:r>
              <a:t/>
            </a:r>
          </a:p>
          <a:p xmlns:a="http://schemas.openxmlformats.org/drawingml/2006/main">
            <a:r>
              <a:t>Freeman et al. synthesized 225 undergraduate STEM studies; the result supports active-learning pedagogy, not mobile-app demand. Deslauriers et al. studied two introductory physics courses (149 participants) and found a gap between actual learning and perceived learning. Bataa should explain effort and provide clear feedback rather than assuming “easy” feels like progress.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19 September 2026:</a:t>
            </a:r>
          </a:p>
          <a:p xmlns:a="http://schemas.openxmlformats.org/drawingml/2006/main">
            <a:r>
              <a:t>- https://pmc.ncbi.nlm.nih.gov/articles/PMC6987456/</a:t>
            </a:r>
          </a:p>
          <a:p xmlns:a="http://schemas.openxmlformats.org/drawingml/2006/main">
            <a:r>
              <a:t>- https://doi.org/10.3389/fpsyg.2019.03087</a:t>
            </a:r>
          </a:p>
          <a:p xmlns:a="http://schemas.openxmlformats.org/drawingml/2006/main">
            <a:r>
              <a:t>- https://www.jld.edu.au/article/view/293</a:t>
            </a:r>
          </a:p>
          <a:p xmlns:a="http://schemas.openxmlformats.org/drawingml/2006/main">
            <a:r>
              <a:t>- https://doi.org/10.5204/jld.v9i3.293</a:t>
            </a:r>
          </a:p>
          <a:p xmlns:a="http://schemas.openxmlformats.org/drawingml/2006/main">
            <a:r>
              <a:t/>
            </a:r>
          </a:p>
          <a:p xmlns:a="http://schemas.openxmlformats.org/drawingml/2006/main">
            <a:r>
              <a:t>The feedback meta-analysis covered 435 studies, 994 effects, and more than 61,000 participants. It found a medium average effect with high heterogeneity; do not claim every feedback format works. Gillett-Swan’s online-learning article is qualitative/critical commentary about isolation and support, not a prevalence survey. The product implication is a hypothesis to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19 September 2026:</a:t>
            </a:r>
          </a:p>
          <a:p xmlns:a="http://schemas.openxmlformats.org/drawingml/2006/main">
            <a:r>
              <a:t>- https://github.blog/news-insights/research/research-quantifying-github-copilots-impact-on-developer-productivity-and-happiness/</a:t>
            </a:r>
          </a:p>
          <a:p xmlns:a="http://schemas.openxmlformats.org/drawingml/2006/main">
            <a:r>
              <a:t>- https://blog.khanacademy.org/how-khan-academy-is-building-a-better-ai-tutor-our-most-recent-learnings/</a:t>
            </a:r>
          </a:p>
          <a:p xmlns:a="http://schemas.openxmlformats.org/drawingml/2006/main">
            <a:r>
              <a:t/>
            </a:r>
          </a:p>
          <a:p xmlns:a="http://schemas.openxmlformats.org/drawingml/2006/main">
            <a:r>
              <a:t>GitHub’s study randomly assigned 95 professional developers to a JavaScript HTTP-server task; it is GitHub-affiliated and does not establish learning or novice outcomes. Khan Academy’s May 2026 report summarizes product tests from Oct 2025–Apr 2026 across more than 15 million tutoring threads. It reports +3.4% from structured recent problem history, +2.7% from prerequisite review, +6.1% combined, and +5.09% cognitive engagement from relevant prior-24-hour context. It is company-reported, math-focused, and not a Bataa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19 September 2026:</a:t>
            </a:r>
          </a:p>
          <a:p xmlns:a="http://schemas.openxmlformats.org/drawingml/2006/main">
            <a:r>
              <a:t>- https://survey.stackoverflow.co/2024/</a:t>
            </a:r>
          </a:p>
          <a:p xmlns:a="http://schemas.openxmlformats.org/drawingml/2006/main">
            <a:r>
              <a:t>- https://pmc.ncbi.nlm.nih.gov/articles/PMC8966850/</a:t>
            </a:r>
          </a:p>
          <a:p xmlns:a="http://schemas.openxmlformats.org/drawingml/2006/main">
            <a:r>
              <a:t>- https://pmc.ncbi.nlm.nih.gov/articles/PMC4060654/</a:t>
            </a:r>
          </a:p>
          <a:p xmlns:a="http://schemas.openxmlformats.org/drawingml/2006/main">
            <a:r>
              <a:t>- https://pmc.ncbi.nlm.nih.gov/articles/PMC6987456/</a:t>
            </a:r>
          </a:p>
          <a:p xmlns:a="http://schemas.openxmlformats.org/drawingml/2006/main">
            <a:r>
              <a:t>- https://github.blog/news-insights/research/research-quantifying-github-copilots-impact-on-developer-productivity-and-happiness/</a:t>
            </a:r>
          </a:p>
          <a:p xmlns:a="http://schemas.openxmlformats.org/drawingml/2006/main">
            <a:r>
              <a:t>- https://blog.khanacademy.org/how-khan-academy-is-building-a-better-ai-tutor-our-most-recent-learnings/</a:t>
            </a:r>
          </a:p>
          <a:p xmlns:a="http://schemas.openxmlformats.org/drawingml/2006/main">
            <a:r>
              <a:t/>
            </a:r>
          </a:p>
          <a:p xmlns:a="http://schemas.openxmlformats.org/drawingml/2006/main">
            <a:r>
              <a:t>Status labels are an evidence synthesis, not a statistical score. “Supported” means multiple external sources converge on the mechanism. “Promising” means adjacent evidence with meaningful transfer caveats. “Unknown” means Bataa has not yet collected the decisive behavioral or commercial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19 September 2026:</a:t>
            </a:r>
          </a:p>
          <a:p xmlns:a="http://schemas.openxmlformats.org/drawingml/2006/main">
            <a:r>
              <a:t>- https://doi.org/10.1016/j.compedu.2016.03.016</a:t>
            </a:r>
          </a:p>
          <a:p xmlns:a="http://schemas.openxmlformats.org/drawingml/2006/main">
            <a:r>
              <a:t>- https://doi.org/10.19173/irrodl.v16i3.2112</a:t>
            </a:r>
          </a:p>
          <a:p xmlns:a="http://schemas.openxmlformats.org/drawingml/2006/main">
            <a:r>
              <a:t/>
            </a:r>
          </a:p>
          <a:p xmlns:a="http://schemas.openxmlformats.org/drawingml/2006/main">
            <a:r>
              <a:t>This slide is a proposed measurement plan, not reported evidence. The suggested sample sizes are practical pilot targets, not statistical power claims. A Cairo MOOC retention study (Hone &amp; El Said, 2016) and MOOC completion research motivate measuring early engagement and support, but neither predicts Bataa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19 September 2026:</a:t>
            </a:r>
          </a:p>
          <a:p xmlns:a="http://schemas.openxmlformats.org/drawingml/2006/main">
            <a:r>
              <a:t>- https://survey.stackoverflow.co/2024/</a:t>
            </a:r>
          </a:p>
          <a:p xmlns:a="http://schemas.openxmlformats.org/drawingml/2006/main">
            <a:r>
              <a:t>- https://pmc.ncbi.nlm.nih.gov/articles/PMC8966850/</a:t>
            </a:r>
          </a:p>
          <a:p xmlns:a="http://schemas.openxmlformats.org/drawingml/2006/main">
            <a:r>
              <a:t>- https://pmc.ncbi.nlm.nih.gov/articles/PMC4060654/</a:t>
            </a:r>
          </a:p>
          <a:p xmlns:a="http://schemas.openxmlformats.org/drawingml/2006/main">
            <a:r>
              <a:t>- https://pmc.ncbi.nlm.nih.gov/articles/PMC6987456/</a:t>
            </a:r>
          </a:p>
          <a:p xmlns:a="http://schemas.openxmlformats.org/drawingml/2006/main">
            <a:r>
              <a:t>- https://github.blog/news-insights/research/research-quantifying-github-copilots-impact-on-developer-productivity-and-happiness/</a:t>
            </a:r>
          </a:p>
          <a:p xmlns:a="http://schemas.openxmlformats.org/drawingml/2006/main">
            <a:r>
              <a:t>- https://blog.khanacademy.org/how-khan-academy-is-building-a-better-ai-tutor-our-most-recent-learnings/</a:t>
            </a:r>
          </a:p>
          <a:p xmlns:a="http://schemas.openxmlformats.org/drawingml/2006/main">
            <a:r>
              <a:t/>
            </a:r>
          </a:p>
          <a:p xmlns:a="http://schemas.openxmlformats.org/drawingml/2006/main">
            <a:r>
              <a:t>This is the defensible conclusion from the evidence assembled. It intentionally avoids claiming a large Horus sample, retention, learning gains, or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19 September 2026:</a:t>
            </a:r>
          </a:p>
          <a:p xmlns:a="http://schemas.openxmlformats.org/drawingml/2006/main">
            <a:r>
              <a:t>- https://pmc.ncbi.nlm.nih.gov/articles/PMC4060654/</a:t>
            </a:r>
          </a:p>
          <a:p xmlns:a="http://schemas.openxmlformats.org/drawingml/2006/main">
            <a:r>
              <a:t>- https://pmc.ncbi.nlm.nih.gov/articles/PMC6765278/</a:t>
            </a:r>
          </a:p>
          <a:p xmlns:a="http://schemas.openxmlformats.org/drawingml/2006/main">
            <a:r>
              <a:t>- https://pmc.ncbi.nlm.nih.gov/articles/PMC6987456/</a:t>
            </a:r>
          </a:p>
          <a:p xmlns:a="http://schemas.openxmlformats.org/drawingml/2006/main">
            <a:r>
              <a:t>- https://pmc.ncbi.nlm.nih.gov/articles/PMC8966850/</a:t>
            </a:r>
          </a:p>
          <a:p xmlns:a="http://schemas.openxmlformats.org/drawingml/2006/main">
            <a:r>
              <a:t>- https://www.jld.edu.au/article/view/293</a:t>
            </a:r>
          </a:p>
          <a:p xmlns:a="http://schemas.openxmlformats.org/drawingml/2006/main">
            <a:r>
              <a:t>- https://survey.stackoverflow.co/2024/</a:t>
            </a:r>
          </a:p>
          <a:p xmlns:a="http://schemas.openxmlformats.org/drawingml/2006/main">
            <a:r>
              <a:t>- https://github.blog/news-insights/research/research-quantifying-github-copilots-impact-on-developer-productivity-and-happiness/</a:t>
            </a:r>
          </a:p>
          <a:p xmlns:a="http://schemas.openxmlformats.org/drawingml/2006/main">
            <a:r>
              <a:t>- https://blog.khanacademy.org/how-khan-academy-is-building-a-better-ai-tutor-our-most-recent-learnings/</a:t>
            </a:r>
          </a:p>
          <a:p xmlns:a="http://schemas.openxmlformats.org/drawingml/2006/main">
            <a:r>
              <a:t>- https://mimo.org/</a:t>
            </a:r>
          </a:p>
          <a:p xmlns:a="http://schemas.openxmlformats.org/drawingml/2006/main">
            <a:r>
              <a:t>- https://www.freecodecamp.org/news/about/</a:t>
            </a:r>
          </a:p>
          <a:p xmlns:a="http://schemas.openxmlformats.org/drawingml/2006/main">
            <a:r>
              <a:t>- https://www.codecademy.com/about</a:t>
            </a:r>
          </a:p>
          <a:p xmlns:a="http://schemas.openxmlformats.org/drawingml/2006/main">
            <a:r>
              <a:t/>
            </a:r>
          </a:p>
          <a:p xmlns:a="http://schemas.openxmlformats.org/drawingml/2006/main">
            <a:r>
              <a:t>The appendix distinguishes internal evidence, external behavior, learning-science evidence, and adjacent product experiments. The deck does not treat vendor-reported learner counts as independent validation and does not claim a verified size for the Horus discovery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bc49ac919e45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1d000f34a848e8" /><Relationship Type="http://schemas.openxmlformats.org/officeDocument/2006/relationships/slideLayout" Target="/ppt/slideLayouts/slideLayout1.xml" Id="Rf7bcf21ff8df48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bcf21ff8df48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6b73680ca8491d" /><Relationship Type="http://schemas.openxmlformats.org/officeDocument/2006/relationships/notesSlide" Target="/ppt/notesSlides/notesSlide1.xml" Id="Rd003c0149b964f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bf8f28103945ad" /><Relationship Type="http://schemas.openxmlformats.org/officeDocument/2006/relationships/notesSlide" Target="/ppt/notesSlides/notesSlide2.xml" Id="Rc097510633d540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2beb0004e44a89" /><Relationship Type="http://schemas.openxmlformats.org/officeDocument/2006/relationships/notesSlide" Target="/ppt/notesSlides/notesSlide3.xml" Id="R1177a0d8affc45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fcf52a353a4303" /><Relationship Type="http://schemas.openxmlformats.org/officeDocument/2006/relationships/notesSlide" Target="/ppt/notesSlides/notesSlide4.xml" Id="Recd91f8efceb44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5f93187659409e" /><Relationship Type="http://schemas.openxmlformats.org/officeDocument/2006/relationships/notesSlide" Target="/ppt/notesSlides/notesSlide5.xml" Id="Rd771aeea938d43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5e83abbd2c7476e" /><Relationship Type="http://schemas.openxmlformats.org/officeDocument/2006/relationships/notesSlide" Target="/ppt/notesSlides/notesSlide6.xml" Id="Rc09986341e4d4a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083ef173c04b72" /><Relationship Type="http://schemas.openxmlformats.org/officeDocument/2006/relationships/notesSlide" Target="/ppt/notesSlides/notesSlide7.xml" Id="R442c37ace1574a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25e0365a1b4b67" /><Relationship Type="http://schemas.openxmlformats.org/officeDocument/2006/relationships/notesSlide" Target="/ppt/notesSlides/notesSlide8.xml" Id="R159df65271624f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402b007c7d49d0" /><Relationship Type="http://schemas.openxmlformats.org/officeDocument/2006/relationships/notesSlide" Target="/ppt/notesSlides/notesSlide9.xml" Id="R40462021722149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30770e5bd34747" /><Relationship Type="http://schemas.openxmlformats.org/officeDocument/2006/relationships/notesSlide" Target="/ppt/notesSlides/notesSlide10.xml" Id="Rd0081171dd9c43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622cd71ccab466e" /><Relationship Type="http://schemas.openxmlformats.org/officeDocument/2006/relationships/notesSlide" Target="/ppt/notesSlides/notesSlide11.xml" Id="R8f6c4f33f0fb4b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5c55f26267d4b27" /><Relationship Type="http://schemas.openxmlformats.org/officeDocument/2006/relationships/notesSlide" Target="/ppt/notesSlides/notesSlide12.xml" Id="R4163928a987f410d" /></Relationships>
</file>

<file path=ppt/slides/slide1.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BD2B6D6-7C64-488A-B796-F5862F1BCDE3}"/>
              </a:ext>
            </a:extLst>
          </p:cNvPr>
          <p:cNvSpPr>
            <a:spLocks xmlns:a="http://schemas.openxmlformats.org/drawingml/2006/main" noGrp="1"/>
          </p:cNvSpPr>
          <p:nvPr/>
        </p:nvSpPr>
        <p:spPr>
          <a:xfrm xmlns:a="http://schemas.openxmlformats.org/drawingml/2006/main">
            <a:off x="609600" y="4000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F8500"/>
                </a:solidFill>
                <a:latin typeface="Lato"/>
                <a:ea typeface="Lato"/>
                <a:cs typeface="Lato"/>
              </a:defRPr>
            </a:pPr>
            <a:r>
              <a:rPr sz="23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C61CEA96-E862-4369-B3C1-5E240919CC73}"/>
              </a:ext>
            </a:extLst>
          </p:cNvPr>
          <p:cNvSpPr>
            <a:spLocks xmlns:a="http://schemas.openxmlformats.org/drawingml/2006/main" noGrp="1"/>
          </p:cNvSpPr>
          <p:nvPr/>
        </p:nvSpPr>
        <p:spPr>
          <a:xfrm xmlns:a="http://schemas.openxmlformats.org/drawingml/2006/main">
            <a:off x="609600" y="1200150"/>
            <a:ext cx="1638300" cy="295275"/>
          </a:xfrm>
          <a:prstGeom xmlns:a="http://schemas.openxmlformats.org/drawingml/2006/main" prst="roundRect">
            <a:avLst>
              <a:gd name="adj" fmla="val 50000"/>
            </a:avLst>
          </a:prstGeom>
          <a:solidFill xmlns:a="http://schemas.openxmlformats.org/drawingml/2006/main">
            <a:srgbClr val="FFD5A3"/>
          </a:solidFill>
          <a:ln xmlns:a="http://schemas.openxmlformats.org/drawingml/2006/main" w="0">
            <a:solidFill>
              <a:srgbClr val="FFD5A3"/>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EVIDENCE APPENDIX</a:t>
            </a:r>
          </a:p>
        </p:txBody>
      </p:sp>
      <p:sp>
        <p:nvSpPr>
          <p:cNvPr id="3" name="">
            <a:extLst xmlns:a="http://schemas.openxmlformats.org/drawingml/2006/main">
              <a:ext uri="{FF2B5EF4-FFF2-40B4-BE49-F238E27FC236}">
                <a16:creationId xmlns:a16="http://schemas.microsoft.com/office/drawing/2014/main" id="{4720EC05-D66E-4FBC-8CD6-B903394CF683}"/>
              </a:ext>
            </a:extLst>
          </p:cNvPr>
          <p:cNvSpPr>
            <a:spLocks xmlns:a="http://schemas.openxmlformats.org/drawingml/2006/main" noGrp="1"/>
          </p:cNvSpPr>
          <p:nvPr/>
        </p:nvSpPr>
        <p:spPr>
          <a:xfrm xmlns:a="http://schemas.openxmlformats.org/drawingml/2006/main">
            <a:off x="609600" y="1790700"/>
            <a:ext cx="666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275" b="1">
                <a:solidFill>
                  <a:srgbClr val="2D180B"/>
                </a:solidFill>
                <a:latin typeface="Lato"/>
                <a:ea typeface="Lato"/>
                <a:cs typeface="Lato"/>
              </a:defRPr>
            </a:pPr>
            <a:r>
              <a:rPr sz="4275" b="1">
                <a:solidFill>
                  <a:srgbClr val="2D180B"/>
                </a:solidFill>
                <a:latin typeface="Lato"/>
                <a:ea typeface="Lato"/>
                <a:cs typeface="Lato"/>
              </a:rPr>
              <a:t>Is the problem real?</a:t>
            </a:r>
          </a:p>
        </p:txBody>
      </p:sp>
      <p:sp>
        <p:nvSpPr>
          <p:cNvPr id="4" name="">
            <a:extLst xmlns:a="http://schemas.openxmlformats.org/drawingml/2006/main">
              <a:ext uri="{FF2B5EF4-FFF2-40B4-BE49-F238E27FC236}">
                <a16:creationId xmlns:a16="http://schemas.microsoft.com/office/drawing/2014/main" id="{BA45A95D-EB24-4187-B004-3D87825929F5}"/>
              </a:ext>
            </a:extLst>
          </p:cNvPr>
          <p:cNvSpPr>
            <a:spLocks xmlns:a="http://schemas.openxmlformats.org/drawingml/2006/main" noGrp="1"/>
          </p:cNvSpPr>
          <p:nvPr/>
        </p:nvSpPr>
        <p:spPr>
          <a:xfrm xmlns:a="http://schemas.openxmlformats.org/drawingml/2006/main">
            <a:off x="647700" y="2724150"/>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a:solidFill>
                  <a:srgbClr val="895F3C"/>
                </a:solidFill>
                <a:latin typeface="Lato"/>
                <a:ea typeface="Lato"/>
                <a:cs typeface="Lato"/>
              </a:defRPr>
            </a:pPr>
            <a:r>
              <a:rPr sz="1875">
                <a:solidFill>
                  <a:srgbClr val="895F3C"/>
                </a:solidFill>
                <a:latin typeface="Lato"/>
                <a:ea typeface="Lato"/>
                <a:cs typeface="Lato"/>
              </a:rPr>
              <a:t>Evidence and validation so far</a:t>
            </a:r>
          </a:p>
        </p:txBody>
      </p:sp>
      <p:sp>
        <p:nvSpPr>
          <p:cNvPr id="5" name="">
            <a:extLst xmlns:a="http://schemas.openxmlformats.org/drawingml/2006/main">
              <a:ext uri="{FF2B5EF4-FFF2-40B4-BE49-F238E27FC236}">
                <a16:creationId xmlns:a16="http://schemas.microsoft.com/office/drawing/2014/main" id="{8A37014D-BD26-4EFC-BA2C-ED28611641EE}"/>
              </a:ext>
            </a:extLst>
          </p:cNvPr>
          <p:cNvSpPr>
            <a:spLocks xmlns:a="http://schemas.openxmlformats.org/drawingml/2006/main" noGrp="1"/>
          </p:cNvSpPr>
          <p:nvPr/>
        </p:nvSpPr>
        <p:spPr>
          <a:xfrm xmlns:a="http://schemas.openxmlformats.org/drawingml/2006/main">
            <a:off x="647700" y="3695700"/>
            <a:ext cx="5753100" cy="1257300"/>
          </a:xfrm>
          <a:prstGeom xmlns:a="http://schemas.openxmlformats.org/drawingml/2006/main" prst="roundRect">
            <a:avLst>
              <a:gd name="adj" fmla="val 18182"/>
            </a:avLst>
          </a:prstGeom>
          <a:solidFill xmlns:a="http://schemas.openxmlformats.org/drawingml/2006/main">
            <a:srgbClr val="1B100B"/>
          </a:solidFill>
          <a:ln xmlns:a="http://schemas.openxmlformats.org/drawingml/2006/main" w="9525">
            <a:solidFill>
              <a:srgbClr val="1B100B"/>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E23BF58F-5E52-4D62-9525-9F5AD588284F}"/>
              </a:ext>
            </a:extLst>
          </p:cNvPr>
          <p:cNvSpPr>
            <a:spLocks xmlns:a="http://schemas.openxmlformats.org/drawingml/2006/main" noGrp="1"/>
          </p:cNvSpPr>
          <p:nvPr/>
        </p:nvSpPr>
        <p:spPr>
          <a:xfrm xmlns:a="http://schemas.openxmlformats.org/drawingml/2006/main">
            <a:off x="952500" y="3962400"/>
            <a:ext cx="1352550"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FFFFFF"/>
                </a:solidFill>
                <a:latin typeface="Lato"/>
                <a:ea typeface="Lato"/>
                <a:cs typeface="Lato"/>
              </a:defRPr>
            </a:pPr>
            <a:r>
              <a:rPr sz="900" b="1">
                <a:solidFill>
                  <a:srgbClr val="FFFFFF"/>
                </a:solidFill>
                <a:latin typeface="Lato"/>
                <a:ea typeface="Lato"/>
                <a:cs typeface="Lato"/>
              </a:rPr>
              <a:t>CURRENT VERDICT</a:t>
            </a:r>
          </a:p>
        </p:txBody>
      </p:sp>
      <p:sp>
        <p:nvSpPr>
          <p:cNvPr id="7" name="">
            <a:extLst xmlns:a="http://schemas.openxmlformats.org/drawingml/2006/main">
              <a:ext uri="{FF2B5EF4-FFF2-40B4-BE49-F238E27FC236}">
                <a16:creationId xmlns:a16="http://schemas.microsoft.com/office/drawing/2014/main" id="{0A20B4E1-A6E2-4366-97D9-ECFE955E3005}"/>
              </a:ext>
            </a:extLst>
          </p:cNvPr>
          <p:cNvSpPr>
            <a:spLocks xmlns:a="http://schemas.openxmlformats.org/drawingml/2006/main" noGrp="1"/>
          </p:cNvSpPr>
          <p:nvPr/>
        </p:nvSpPr>
        <p:spPr>
          <a:xfrm xmlns:a="http://schemas.openxmlformats.org/drawingml/2006/main">
            <a:off x="952500" y="43434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defRPr sz="2100" b="1">
                <a:solidFill>
                  <a:srgbClr val="FFF6E9"/>
                </a:solidFill>
                <a:latin typeface="Lato"/>
                <a:ea typeface="Lato"/>
                <a:cs typeface="Lato"/>
              </a:defRPr>
            </a:pPr>
            <a:r>
              <a:rPr sz="2100" b="1">
                <a:solidFill>
                  <a:srgbClr val="FFF6E9"/>
                </a:solidFill>
                <a:latin typeface="Lato"/>
                <a:ea typeface="Lato"/>
                <a:cs typeface="Lato"/>
              </a:rPr>
              <a:t>Credible problem.</a:t>
            </a:r>
          </a:p>
          <a:p xmlns:a="http://schemas.openxmlformats.org/drawingml/2006/main">
            <a:pPr>
              <a:defRPr sz="2100" b="1">
                <a:solidFill>
                  <a:srgbClr val="FFF6E9"/>
                </a:solidFill>
                <a:latin typeface="Lato"/>
                <a:ea typeface="Lato"/>
                <a:cs typeface="Lato"/>
              </a:defRPr>
            </a:pPr>
            <a:r>
              <a:rPr sz="2100" b="1">
                <a:solidFill>
                  <a:srgbClr val="FFF6E9"/>
                </a:solidFill>
                <a:latin typeface="Lato"/>
                <a:ea typeface="Lato"/>
                <a:cs typeface="Lato"/>
              </a:rPr>
              <a:t>Unproven Bataa fit.</a:t>
            </a:r>
          </a:p>
        </p:txBody>
      </p:sp>
      <p:sp>
        <p:nvSpPr>
          <p:cNvPr id="8" name="">
            <a:extLst xmlns:a="http://schemas.openxmlformats.org/drawingml/2006/main">
              <a:ext uri="{FF2B5EF4-FFF2-40B4-BE49-F238E27FC236}">
                <a16:creationId xmlns:a16="http://schemas.microsoft.com/office/drawing/2014/main" id="{39F64363-5866-4A63-987B-AAE810EA0DD7}"/>
              </a:ext>
            </a:extLst>
          </p:cNvPr>
          <p:cNvSpPr>
            <a:spLocks xmlns:a="http://schemas.openxmlformats.org/drawingml/2006/main" noGrp="1"/>
          </p:cNvSpPr>
          <p:nvPr/>
        </p:nvSpPr>
        <p:spPr>
          <a:xfrm xmlns:a="http://schemas.openxmlformats.org/drawingml/2006/main">
            <a:off x="7334250" y="1143000"/>
            <a:ext cx="3810000" cy="4171950"/>
          </a:xfrm>
          <a:prstGeom xmlns:a="http://schemas.openxmlformats.org/drawingml/2006/main" prst="roundRect">
            <a:avLst>
              <a:gd name="adj" fmla="val 6000"/>
            </a:avLst>
          </a:prstGeom>
          <a:solidFill xmlns:a="http://schemas.openxmlformats.org/drawingml/2006/main">
            <a:srgbClr val="FFFDF8"/>
          </a:solidFill>
          <a:ln xmlns:a="http://schemas.openxmlformats.org/drawingml/2006/main" w="9525">
            <a:solidFill>
              <a:srgbClr val="E7C9A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CB10D834-50B8-4DA2-8CEC-FC0BB8BBECDC}"/>
              </a:ext>
            </a:extLst>
          </p:cNvPr>
          <p:cNvSpPr>
            <a:spLocks xmlns:a="http://schemas.openxmlformats.org/drawingml/2006/main" noGrp="1"/>
          </p:cNvSpPr>
          <p:nvPr/>
        </p:nvSpPr>
        <p:spPr>
          <a:xfrm xmlns:a="http://schemas.openxmlformats.org/drawingml/2006/main">
            <a:off x="77343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EVIDENCE LADDER</a:t>
            </a:r>
          </a:p>
        </p:txBody>
      </p:sp>
      <p:sp>
        <p:nvSpPr>
          <p:cNvPr id="10" name="">
            <a:extLst xmlns:a="http://schemas.openxmlformats.org/drawingml/2006/main">
              <a:ext uri="{FF2B5EF4-FFF2-40B4-BE49-F238E27FC236}">
                <a16:creationId xmlns:a16="http://schemas.microsoft.com/office/drawing/2014/main" id="{F2E48F8A-C82A-4615-ADE4-1B4FF565DB7D}"/>
              </a:ext>
            </a:extLst>
          </p:cNvPr>
          <p:cNvSpPr>
            <a:spLocks xmlns:a="http://schemas.openxmlformats.org/drawingml/2006/main" noGrp="1"/>
          </p:cNvSpPr>
          <p:nvPr/>
        </p:nvSpPr>
        <p:spPr>
          <a:xfrm xmlns:a="http://schemas.openxmlformats.org/drawingml/2006/main">
            <a:off x="7734300" y="2076450"/>
            <a:ext cx="400050" cy="4000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FFFFFF"/>
                </a:solidFill>
                <a:latin typeface="Lato"/>
                <a:ea typeface="Lato"/>
                <a:cs typeface="Lato"/>
              </a:defRPr>
            </a:pPr>
            <a:r>
              <a:rPr sz="825" b="1">
                <a:solidFill>
                  <a:srgbClr val="FFFFFF"/>
                </a:solidFill>
                <a:latin typeface="Lato"/>
                <a:ea typeface="Lato"/>
                <a:cs typeface="Lato"/>
              </a:rPr>
              <a:t>01</a:t>
            </a:r>
          </a:p>
        </p:txBody>
      </p:sp>
      <p:sp>
        <p:nvSpPr>
          <p:cNvPr id="11" name="">
            <a:extLst xmlns:a="http://schemas.openxmlformats.org/drawingml/2006/main">
              <a:ext uri="{FF2B5EF4-FFF2-40B4-BE49-F238E27FC236}">
                <a16:creationId xmlns:a16="http://schemas.microsoft.com/office/drawing/2014/main" id="{C7B900CD-EEC6-4898-A804-0154849EEA75}"/>
              </a:ext>
            </a:extLst>
          </p:cNvPr>
          <p:cNvSpPr>
            <a:spLocks xmlns:a="http://schemas.openxmlformats.org/drawingml/2006/main" noGrp="1"/>
          </p:cNvSpPr>
          <p:nvPr/>
        </p:nvSpPr>
        <p:spPr>
          <a:xfrm xmlns:a="http://schemas.openxmlformats.org/drawingml/2006/main">
            <a:off x="8324850" y="208597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33"/>
          </a:bodyPr>
          <a:lstStyle xmlns:a="http://schemas.openxmlformats.org/drawingml/2006/main"/>
          <a:p xmlns:a="http://schemas.openxmlformats.org/drawingml/2006/main">
            <a:pPr>
              <a:defRPr sz="1500" b="1">
                <a:solidFill>
                  <a:srgbClr val="2D180B"/>
                </a:solidFill>
                <a:latin typeface="Lato"/>
                <a:ea typeface="Lato"/>
                <a:cs typeface="Lato"/>
              </a:defRPr>
            </a:pPr>
            <a:r>
              <a:rPr sz="1500" b="1">
                <a:solidFill>
                  <a:srgbClr val="2D180B"/>
                </a:solidFill>
                <a:latin typeface="Lato"/>
                <a:ea typeface="Lato"/>
                <a:cs typeface="Lato"/>
              </a:rPr>
              <a:t>Direct</a:t>
            </a:r>
          </a:p>
        </p:txBody>
      </p:sp>
      <p:sp>
        <p:nvSpPr>
          <p:cNvPr id="12" name="">
            <a:extLst xmlns:a="http://schemas.openxmlformats.org/drawingml/2006/main">
              <a:ext uri="{FF2B5EF4-FFF2-40B4-BE49-F238E27FC236}">
                <a16:creationId xmlns:a16="http://schemas.microsoft.com/office/drawing/2014/main" id="{B58A5EC5-D741-4EA1-94FE-E3165ACB9668}"/>
              </a:ext>
            </a:extLst>
          </p:cNvPr>
          <p:cNvSpPr>
            <a:spLocks xmlns:a="http://schemas.openxmlformats.org/drawingml/2006/main" noGrp="1"/>
          </p:cNvSpPr>
          <p:nvPr/>
        </p:nvSpPr>
        <p:spPr>
          <a:xfrm xmlns:a="http://schemas.openxmlformats.org/drawingml/2006/main">
            <a:off x="8324850" y="23431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Bataa conversations + prototype</a:t>
            </a:r>
          </a:p>
        </p:txBody>
      </p:sp>
      <p:sp>
        <p:nvSpPr>
          <p:cNvPr id="13" name="">
            <a:extLst xmlns:a="http://schemas.openxmlformats.org/drawingml/2006/main">
              <a:ext uri="{FF2B5EF4-FFF2-40B4-BE49-F238E27FC236}">
                <a16:creationId xmlns:a16="http://schemas.microsoft.com/office/drawing/2014/main" id="{7162668A-EC4F-4F5B-B84E-CFC6051FD3AC}"/>
              </a:ext>
            </a:extLst>
          </p:cNvPr>
          <p:cNvSpPr>
            <a:spLocks xmlns:a="http://schemas.openxmlformats.org/drawingml/2006/main" noGrp="1"/>
          </p:cNvSpPr>
          <p:nvPr/>
        </p:nvSpPr>
        <p:spPr>
          <a:xfrm xmlns:a="http://schemas.openxmlformats.org/drawingml/2006/main">
            <a:off x="7924800" y="2571750"/>
            <a:ext cx="0" cy="323850"/>
          </a:xfrm>
          <a:prstGeom xmlns:a="http://schemas.openxmlformats.org/drawingml/2006/main" prst="line">
            <a:avLst/>
          </a:prstGeom>
          <a:noFill xmlns:a="http://schemas.openxmlformats.org/drawingml/2006/main"/>
          <a:ln xmlns:a="http://schemas.openxmlformats.org/drawingml/2006/main" w="19050">
            <a:solidFill>
              <a:srgbClr val="E7C9A7"/>
            </a:solidFill>
            <a:prstDash val="solid"/>
          </a:ln>
        </p:spPr>
      </p:sp>
      <p:sp>
        <p:nvSpPr>
          <p:cNvPr id="14" name="">
            <a:extLst xmlns:a="http://schemas.openxmlformats.org/drawingml/2006/main">
              <a:ext uri="{FF2B5EF4-FFF2-40B4-BE49-F238E27FC236}">
                <a16:creationId xmlns:a16="http://schemas.microsoft.com/office/drawing/2014/main" id="{8D89AE04-1895-4949-88DA-A8BD009ECEDE}"/>
              </a:ext>
            </a:extLst>
          </p:cNvPr>
          <p:cNvSpPr>
            <a:spLocks xmlns:a="http://schemas.openxmlformats.org/drawingml/2006/main" noGrp="1"/>
          </p:cNvSpPr>
          <p:nvPr/>
        </p:nvSpPr>
        <p:spPr>
          <a:xfrm xmlns:a="http://schemas.openxmlformats.org/drawingml/2006/main">
            <a:off x="7734300" y="2952750"/>
            <a:ext cx="400050" cy="40005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FFFFFF"/>
                </a:solidFill>
                <a:latin typeface="Lato"/>
                <a:ea typeface="Lato"/>
                <a:cs typeface="Lato"/>
              </a:defRPr>
            </a:pPr>
            <a:r>
              <a:rPr sz="825" b="1">
                <a:solidFill>
                  <a:srgbClr val="FFFFFF"/>
                </a:solidFill>
                <a:latin typeface="Lato"/>
                <a:ea typeface="Lato"/>
                <a:cs typeface="Lato"/>
              </a:rPr>
              <a:t>02</a:t>
            </a:r>
          </a:p>
        </p:txBody>
      </p:sp>
      <p:sp>
        <p:nvSpPr>
          <p:cNvPr id="15" name="">
            <a:extLst xmlns:a="http://schemas.openxmlformats.org/drawingml/2006/main">
              <a:ext uri="{FF2B5EF4-FFF2-40B4-BE49-F238E27FC236}">
                <a16:creationId xmlns:a16="http://schemas.microsoft.com/office/drawing/2014/main" id="{5F511ABF-6654-442B-8B5B-92B8D41B7826}"/>
              </a:ext>
            </a:extLst>
          </p:cNvPr>
          <p:cNvSpPr>
            <a:spLocks xmlns:a="http://schemas.openxmlformats.org/drawingml/2006/main" noGrp="1"/>
          </p:cNvSpPr>
          <p:nvPr/>
        </p:nvSpPr>
        <p:spPr>
          <a:xfrm xmlns:a="http://schemas.openxmlformats.org/drawingml/2006/main">
            <a:off x="8324850" y="296227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33"/>
          </a:bodyPr>
          <a:lstStyle xmlns:a="http://schemas.openxmlformats.org/drawingml/2006/main"/>
          <a:p xmlns:a="http://schemas.openxmlformats.org/drawingml/2006/main">
            <a:pPr>
              <a:defRPr sz="1500" b="1">
                <a:solidFill>
                  <a:srgbClr val="2D180B"/>
                </a:solidFill>
                <a:latin typeface="Lato"/>
                <a:ea typeface="Lato"/>
                <a:cs typeface="Lato"/>
              </a:defRPr>
            </a:pPr>
            <a:r>
              <a:rPr sz="1500" b="1">
                <a:solidFill>
                  <a:srgbClr val="2D180B"/>
                </a:solidFill>
                <a:latin typeface="Lato"/>
                <a:ea typeface="Lato"/>
                <a:cs typeface="Lato"/>
              </a:rPr>
              <a:t>External</a:t>
            </a:r>
          </a:p>
        </p:txBody>
      </p:sp>
      <p:sp>
        <p:nvSpPr>
          <p:cNvPr id="16" name="">
            <a:extLst xmlns:a="http://schemas.openxmlformats.org/drawingml/2006/main">
              <a:ext uri="{FF2B5EF4-FFF2-40B4-BE49-F238E27FC236}">
                <a16:creationId xmlns:a16="http://schemas.microsoft.com/office/drawing/2014/main" id="{C8DA7F7D-1C6E-4773-A311-A02C1A241049}"/>
              </a:ext>
            </a:extLst>
          </p:cNvPr>
          <p:cNvSpPr>
            <a:spLocks xmlns:a="http://schemas.openxmlformats.org/drawingml/2006/main" noGrp="1"/>
          </p:cNvSpPr>
          <p:nvPr/>
        </p:nvSpPr>
        <p:spPr>
          <a:xfrm xmlns:a="http://schemas.openxmlformats.org/drawingml/2006/main">
            <a:off x="8324850" y="32194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Research and market behavior</a:t>
            </a:r>
          </a:p>
        </p:txBody>
      </p:sp>
      <p:sp>
        <p:nvSpPr>
          <p:cNvPr id="17" name="">
            <a:extLst xmlns:a="http://schemas.openxmlformats.org/drawingml/2006/main">
              <a:ext uri="{FF2B5EF4-FFF2-40B4-BE49-F238E27FC236}">
                <a16:creationId xmlns:a16="http://schemas.microsoft.com/office/drawing/2014/main" id="{8EC6BB03-0B2D-418B-93DB-D8E02967DE3E}"/>
              </a:ext>
            </a:extLst>
          </p:cNvPr>
          <p:cNvSpPr>
            <a:spLocks xmlns:a="http://schemas.openxmlformats.org/drawingml/2006/main" noGrp="1"/>
          </p:cNvSpPr>
          <p:nvPr/>
        </p:nvSpPr>
        <p:spPr>
          <a:xfrm xmlns:a="http://schemas.openxmlformats.org/drawingml/2006/main">
            <a:off x="7924800" y="3448050"/>
            <a:ext cx="0" cy="323850"/>
          </a:xfrm>
          <a:prstGeom xmlns:a="http://schemas.openxmlformats.org/drawingml/2006/main" prst="line">
            <a:avLst/>
          </a:prstGeom>
          <a:noFill xmlns:a="http://schemas.openxmlformats.org/drawingml/2006/main"/>
          <a:ln xmlns:a="http://schemas.openxmlformats.org/drawingml/2006/main" w="19050">
            <a:solidFill>
              <a:srgbClr val="E7C9A7"/>
            </a:solidFill>
            <a:prstDash val="solid"/>
          </a:ln>
        </p:spPr>
      </p:sp>
      <p:sp>
        <p:nvSpPr>
          <p:cNvPr id="18" name="">
            <a:extLst xmlns:a="http://schemas.openxmlformats.org/drawingml/2006/main">
              <a:ext uri="{FF2B5EF4-FFF2-40B4-BE49-F238E27FC236}">
                <a16:creationId xmlns:a16="http://schemas.microsoft.com/office/drawing/2014/main" id="{F5F71ABB-4537-4C1A-BE83-107F1E180F06}"/>
              </a:ext>
            </a:extLst>
          </p:cNvPr>
          <p:cNvSpPr>
            <a:spLocks xmlns:a="http://schemas.openxmlformats.org/drawingml/2006/main" noGrp="1"/>
          </p:cNvSpPr>
          <p:nvPr/>
        </p:nvSpPr>
        <p:spPr>
          <a:xfrm xmlns:a="http://schemas.openxmlformats.org/drawingml/2006/main">
            <a:off x="7734300" y="3829050"/>
            <a:ext cx="400050" cy="400050"/>
          </a:xfrm>
          <a:prstGeom xmlns:a="http://schemas.openxmlformats.org/drawingml/2006/main" prst="ellipse">
            <a:avLst/>
          </a:prstGeom>
          <a:solidFill xmlns:a="http://schemas.openxmlformats.org/drawingml/2006/main">
            <a:srgbClr val="2E9B62"/>
          </a:solidFill>
          <a:ln xmlns:a="http://schemas.openxmlformats.org/drawingml/2006/main" w="0">
            <a:solidFill>
              <a:srgbClr val="2E9B62"/>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FFFFFF"/>
                </a:solidFill>
                <a:latin typeface="Lato"/>
                <a:ea typeface="Lato"/>
                <a:cs typeface="Lato"/>
              </a:defRPr>
            </a:pPr>
            <a:r>
              <a:rPr sz="825" b="1">
                <a:solidFill>
                  <a:srgbClr val="FFFFFF"/>
                </a:solidFill>
                <a:latin typeface="Lato"/>
                <a:ea typeface="Lato"/>
                <a:cs typeface="Lato"/>
              </a:rPr>
              <a:t>03</a:t>
            </a:r>
          </a:p>
        </p:txBody>
      </p:sp>
      <p:sp>
        <p:nvSpPr>
          <p:cNvPr id="19" name="">
            <a:extLst xmlns:a="http://schemas.openxmlformats.org/drawingml/2006/main">
              <a:ext uri="{FF2B5EF4-FFF2-40B4-BE49-F238E27FC236}">
                <a16:creationId xmlns:a16="http://schemas.microsoft.com/office/drawing/2014/main" id="{453DBC8F-C02E-4B96-BD78-2A9F4D65B5C7}"/>
              </a:ext>
            </a:extLst>
          </p:cNvPr>
          <p:cNvSpPr>
            <a:spLocks xmlns:a="http://schemas.openxmlformats.org/drawingml/2006/main" noGrp="1"/>
          </p:cNvSpPr>
          <p:nvPr/>
        </p:nvSpPr>
        <p:spPr>
          <a:xfrm xmlns:a="http://schemas.openxmlformats.org/drawingml/2006/main">
            <a:off x="8324850" y="383857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33"/>
          </a:bodyPr>
          <a:lstStyle xmlns:a="http://schemas.openxmlformats.org/drawingml/2006/main"/>
          <a:p xmlns:a="http://schemas.openxmlformats.org/drawingml/2006/main">
            <a:pPr>
              <a:defRPr sz="1500" b="1">
                <a:solidFill>
                  <a:srgbClr val="2D180B"/>
                </a:solidFill>
                <a:latin typeface="Lato"/>
                <a:ea typeface="Lato"/>
                <a:cs typeface="Lato"/>
              </a:defRPr>
            </a:pPr>
            <a:r>
              <a:rPr sz="1500" b="1">
                <a:solidFill>
                  <a:srgbClr val="2D180B"/>
                </a:solidFill>
                <a:latin typeface="Lato"/>
                <a:ea typeface="Lato"/>
                <a:cs typeface="Lato"/>
              </a:rPr>
              <a:t>Unproven</a:t>
            </a:r>
          </a:p>
        </p:txBody>
      </p:sp>
      <p:sp>
        <p:nvSpPr>
          <p:cNvPr id="20" name="">
            <a:extLst xmlns:a="http://schemas.openxmlformats.org/drawingml/2006/main">
              <a:ext uri="{FF2B5EF4-FFF2-40B4-BE49-F238E27FC236}">
                <a16:creationId xmlns:a16="http://schemas.microsoft.com/office/drawing/2014/main" id="{981B3239-3684-4064-8577-1EC834CD08EE}"/>
              </a:ext>
            </a:extLst>
          </p:cNvPr>
          <p:cNvSpPr>
            <a:spLocks xmlns:a="http://schemas.openxmlformats.org/drawingml/2006/main" noGrp="1"/>
          </p:cNvSpPr>
          <p:nvPr/>
        </p:nvSpPr>
        <p:spPr>
          <a:xfrm xmlns:a="http://schemas.openxmlformats.org/drawingml/2006/main">
            <a:off x="8324850" y="40957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Retention, outcomes, payment</a:t>
            </a:r>
          </a:p>
        </p:txBody>
      </p:sp>
      <p:sp>
        <p:nvSpPr>
          <p:cNvPr id="21" name="">
            <a:extLst xmlns:a="http://schemas.openxmlformats.org/drawingml/2006/main">
              <a:ext uri="{FF2B5EF4-FFF2-40B4-BE49-F238E27FC236}">
                <a16:creationId xmlns:a16="http://schemas.microsoft.com/office/drawing/2014/main" id="{F3E73936-F6D0-4B8D-A60B-B9EE0B30ABC3}"/>
              </a:ext>
            </a:extLst>
          </p:cNvPr>
          <p:cNvSpPr>
            <a:spLocks xmlns:a="http://schemas.openxmlformats.org/drawingml/2006/main" noGrp="1"/>
          </p:cNvSpPr>
          <p:nvPr/>
        </p:nvSpPr>
        <p:spPr>
          <a:xfrm xmlns:a="http://schemas.openxmlformats.org/drawingml/2006/main">
            <a:off x="609600" y="640080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Prepared 19 September 2026  ·  external sources cited in notes</a:t>
            </a:r>
          </a:p>
        </p:txBody>
      </p:sp>
    </p:spTree>
    <p:extLst>
      <p:ext uri="{BB962C8B-B14F-4D97-AF65-F5344CB8AC3E}">
        <p14:creationId xmlns:p14="http://schemas.microsoft.com/office/powerpoint/2010/main" val="1702711985"/>
      </p:ext>
    </p:extLst>
  </p:cSld>
</p:sld>
</file>

<file path=ppt/slides/slide2.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DDD2A8D-EACC-403F-B391-BC2B8C913836}"/>
              </a:ext>
            </a:extLst>
          </p:cNvPr>
          <p:cNvSpPr>
            <a:spLocks xmlns:a="http://schemas.openxmlformats.org/drawingml/2006/main" noGrp="1"/>
          </p:cNvSpPr>
          <p:nvPr/>
        </p:nvSpPr>
        <p:spPr>
          <a:xfrm xmlns:a="http://schemas.openxmlformats.org/drawingml/2006/main">
            <a:off x="609600" y="2476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EE31C63B-AAA5-47FD-BCB5-4F67FE724621}"/>
              </a:ext>
            </a:extLst>
          </p:cNvPr>
          <p:cNvSpPr>
            <a:spLocks xmlns:a="http://schemas.openxmlformats.org/drawingml/2006/main" noGrp="1"/>
          </p:cNvSpPr>
          <p:nvPr/>
        </p:nvSpPr>
        <p:spPr>
          <a:xfrm xmlns:a="http://schemas.openxmlformats.org/drawingml/2006/main">
            <a:off x="2114550" y="2952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D7BDA9"/>
                </a:solidFill>
                <a:latin typeface="Lato"/>
                <a:ea typeface="Lato"/>
                <a:cs typeface="Lato"/>
              </a:defRPr>
            </a:pPr>
            <a:r>
              <a:rPr sz="825" b="1">
                <a:solidFill>
                  <a:srgbClr val="D7BDA9"/>
                </a:solidFill>
                <a:latin typeface="Lato"/>
                <a:ea typeface="Lato"/>
                <a:cs typeface="Lato"/>
              </a:rPr>
              <a:t>EXECUTIVE VERDICT</a:t>
            </a:r>
          </a:p>
        </p:txBody>
      </p:sp>
      <p:sp>
        <p:nvSpPr>
          <p:cNvPr id="3" name="">
            <a:extLst xmlns:a="http://schemas.openxmlformats.org/drawingml/2006/main">
              <a:ext uri="{FF2B5EF4-FFF2-40B4-BE49-F238E27FC236}">
                <a16:creationId xmlns:a16="http://schemas.microsoft.com/office/drawing/2014/main" id="{C56F2A3E-8B70-4933-A1AD-4B3725BFADD3}"/>
              </a:ext>
            </a:extLst>
          </p:cNvPr>
          <p:cNvSpPr>
            <a:spLocks xmlns:a="http://schemas.openxmlformats.org/drawingml/2006/main" noGrp="1"/>
          </p:cNvSpPr>
          <p:nvPr/>
        </p:nvSpPr>
        <p:spPr>
          <a:xfrm xmlns:a="http://schemas.openxmlformats.org/drawingml/2006/main">
            <a:off x="11201400" y="2762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FF6E9"/>
                </a:solidFill>
                <a:latin typeface="Lato"/>
                <a:ea typeface="Lato"/>
                <a:cs typeface="Lato"/>
              </a:defRPr>
            </a:pPr>
            <a:r>
              <a:rPr sz="975" b="1">
                <a:solidFill>
                  <a:srgbClr val="FFF6E9"/>
                </a:solidFill>
                <a:latin typeface="Lato"/>
                <a:ea typeface="Lato"/>
                <a:cs typeface="Lato"/>
              </a:rPr>
              <a:t>02</a:t>
            </a:r>
          </a:p>
        </p:txBody>
      </p:sp>
      <p:sp>
        <p:nvSpPr>
          <p:cNvPr id="4" name="">
            <a:extLst xmlns:a="http://schemas.openxmlformats.org/drawingml/2006/main">
              <a:ext uri="{FF2B5EF4-FFF2-40B4-BE49-F238E27FC236}">
                <a16:creationId xmlns:a16="http://schemas.microsoft.com/office/drawing/2014/main" id="{8B1F7C1B-E87D-4108-99B6-17C97D0DC583}"/>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DB234044-2F53-4B60-89E6-9BEE42EB1601}"/>
              </a:ext>
            </a:extLst>
          </p:cNvPr>
          <p:cNvSpPr>
            <a:spLocks xmlns:a="http://schemas.openxmlformats.org/drawingml/2006/main" noGrp="1"/>
          </p:cNvSpPr>
          <p:nvPr/>
        </p:nvSpPr>
        <p:spPr>
          <a:xfrm xmlns:a="http://schemas.openxmlformats.org/drawingml/2006/main">
            <a:off x="609600" y="971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300" b="1">
                <a:solidFill>
                  <a:srgbClr val="FFF6E9"/>
                </a:solidFill>
                <a:latin typeface="Lato"/>
                <a:ea typeface="Lato"/>
                <a:cs typeface="Lato"/>
              </a:defRPr>
            </a:pPr>
            <a:r>
              <a:rPr sz="3300" b="1">
                <a:solidFill>
                  <a:srgbClr val="FFF6E9"/>
                </a:solidFill>
                <a:latin typeface="Lato"/>
                <a:ea typeface="Lato"/>
                <a:cs typeface="Lato"/>
              </a:rPr>
              <a:t>The honest answer has two parts</a:t>
            </a:r>
          </a:p>
        </p:txBody>
      </p:sp>
      <p:sp>
        <p:nvSpPr>
          <p:cNvPr id="6" name="">
            <a:extLst xmlns:a="http://schemas.openxmlformats.org/drawingml/2006/main">
              <a:ext uri="{FF2B5EF4-FFF2-40B4-BE49-F238E27FC236}">
                <a16:creationId xmlns:a16="http://schemas.microsoft.com/office/drawing/2014/main" id="{EB9B62A0-70A5-4C49-B236-F2F1C7DD189A}"/>
              </a:ext>
            </a:extLst>
          </p:cNvPr>
          <p:cNvSpPr>
            <a:spLocks xmlns:a="http://schemas.openxmlformats.org/drawingml/2006/main" noGrp="1"/>
          </p:cNvSpPr>
          <p:nvPr/>
        </p:nvSpPr>
        <p:spPr>
          <a:xfrm xmlns:a="http://schemas.openxmlformats.org/drawingml/2006/main">
            <a:off x="647700" y="1638300"/>
            <a:ext cx="923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E3CDBB"/>
                </a:solidFill>
                <a:latin typeface="Lato"/>
                <a:ea typeface="Lato"/>
                <a:cs typeface="Lato"/>
              </a:defRPr>
            </a:pPr>
            <a:r>
              <a:rPr sz="1425">
                <a:solidFill>
                  <a:srgbClr val="E3CDBB"/>
                </a:solidFill>
                <a:latin typeface="Lato"/>
                <a:ea typeface="Lato"/>
                <a:cs typeface="Lato"/>
              </a:rPr>
              <a:t>External evidence supports the problem and mechanism. Bataa-specific proof is still ahead.</a:t>
            </a:r>
          </a:p>
        </p:txBody>
      </p:sp>
      <p:sp>
        <p:nvSpPr>
          <p:cNvPr id="7" name="">
            <a:extLst xmlns:a="http://schemas.openxmlformats.org/drawingml/2006/main">
              <a:ext uri="{FF2B5EF4-FFF2-40B4-BE49-F238E27FC236}">
                <a16:creationId xmlns:a16="http://schemas.microsoft.com/office/drawing/2014/main" id="{877A6ADE-1C45-48CC-A753-B56B1457D625}"/>
              </a:ext>
            </a:extLst>
          </p:cNvPr>
          <p:cNvSpPr>
            <a:spLocks xmlns:a="http://schemas.openxmlformats.org/drawingml/2006/main" noGrp="1"/>
          </p:cNvSpPr>
          <p:nvPr/>
        </p:nvSpPr>
        <p:spPr>
          <a:xfrm xmlns:a="http://schemas.openxmlformats.org/drawingml/2006/main">
            <a:off x="647700" y="2400300"/>
            <a:ext cx="5143500" cy="3000375"/>
          </a:xfrm>
          <a:prstGeom xmlns:a="http://schemas.openxmlformats.org/drawingml/2006/main" prst="roundRect">
            <a:avLst>
              <a:gd name="adj" fmla="val 7619"/>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A27E35A3-4B78-4A92-8532-D619C636551C}"/>
              </a:ext>
            </a:extLst>
          </p:cNvPr>
          <p:cNvSpPr>
            <a:spLocks xmlns:a="http://schemas.openxmlformats.org/drawingml/2006/main" noGrp="1"/>
          </p:cNvSpPr>
          <p:nvPr/>
        </p:nvSpPr>
        <p:spPr>
          <a:xfrm xmlns:a="http://schemas.openxmlformats.org/drawingml/2006/main">
            <a:off x="971550" y="2705100"/>
            <a:ext cx="1333500" cy="26670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FFFFFF"/>
                </a:solidFill>
                <a:latin typeface="Lato"/>
                <a:ea typeface="Lato"/>
                <a:cs typeface="Lato"/>
              </a:defRPr>
            </a:pPr>
            <a:r>
              <a:rPr sz="900" b="1">
                <a:solidFill>
                  <a:srgbClr val="FFFFFF"/>
                </a:solidFill>
                <a:latin typeface="Lato"/>
                <a:ea typeface="Lato"/>
                <a:cs typeface="Lato"/>
              </a:rPr>
              <a:t>WE CAN DEFEND</a:t>
            </a:r>
          </a:p>
        </p:txBody>
      </p:sp>
      <p:sp>
        <p:nvSpPr>
          <p:cNvPr id="9" name="">
            <a:extLst xmlns:a="http://schemas.openxmlformats.org/drawingml/2006/main">
              <a:ext uri="{FF2B5EF4-FFF2-40B4-BE49-F238E27FC236}">
                <a16:creationId xmlns:a16="http://schemas.microsoft.com/office/drawing/2014/main" id="{2571869A-D8B4-4CDF-ACEA-BBF92CF131ED}"/>
              </a:ext>
            </a:extLst>
          </p:cNvPr>
          <p:cNvSpPr>
            <a:spLocks xmlns:a="http://schemas.openxmlformats.org/drawingml/2006/main" noGrp="1"/>
          </p:cNvSpPr>
          <p:nvPr/>
        </p:nvSpPr>
        <p:spPr>
          <a:xfrm xmlns:a="http://schemas.openxmlformats.org/drawingml/2006/main">
            <a:off x="971550" y="31623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FF6E9"/>
                </a:solidFill>
                <a:latin typeface="Lato"/>
                <a:ea typeface="Lato"/>
                <a:cs typeface="Lato"/>
              </a:defRPr>
            </a:pPr>
            <a:r>
              <a:rPr sz="2100" b="1">
                <a:solidFill>
                  <a:srgbClr val="FFF6E9"/>
                </a:solidFill>
                <a:latin typeface="Lato"/>
                <a:ea typeface="Lato"/>
                <a:cs typeface="Lato"/>
              </a:rPr>
              <a:t>The problem mechanism</a:t>
            </a:r>
          </a:p>
        </p:txBody>
      </p:sp>
      <p:sp>
        <p:nvSpPr>
          <p:cNvPr id="10" name="">
            <a:extLst xmlns:a="http://schemas.openxmlformats.org/drawingml/2006/main">
              <a:ext uri="{FF2B5EF4-FFF2-40B4-BE49-F238E27FC236}">
                <a16:creationId xmlns:a16="http://schemas.microsoft.com/office/drawing/2014/main" id="{BB70C1C2-61D3-4091-9F05-829B42955145}"/>
              </a:ext>
            </a:extLst>
          </p:cNvPr>
          <p:cNvSpPr>
            <a:spLocks xmlns:a="http://schemas.openxmlformats.org/drawingml/2006/main" noGrp="1"/>
          </p:cNvSpPr>
          <p:nvPr/>
        </p:nvSpPr>
        <p:spPr>
          <a:xfrm xmlns:a="http://schemas.openxmlformats.org/drawingml/2006/main">
            <a:off x="971550" y="3752850"/>
            <a:ext cx="266700" cy="2667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FFFFFF"/>
                </a:solidFill>
                <a:latin typeface="Lato"/>
                <a:ea typeface="Lato"/>
                <a:cs typeface="Lato"/>
              </a:defRPr>
            </a:pPr>
            <a:r>
              <a:rPr sz="825" b="1">
                <a:solidFill>
                  <a:srgbClr val="FFFFFF"/>
                </a:solidFill>
                <a:latin typeface="Lato"/>
                <a:ea typeface="Lato"/>
                <a:cs typeface="Lato"/>
              </a:rPr>
              <a:t>1</a:t>
            </a:r>
          </a:p>
        </p:txBody>
      </p:sp>
      <p:sp>
        <p:nvSpPr>
          <p:cNvPr id="11" name="">
            <a:extLst xmlns:a="http://schemas.openxmlformats.org/drawingml/2006/main">
              <a:ext uri="{FF2B5EF4-FFF2-40B4-BE49-F238E27FC236}">
                <a16:creationId xmlns:a16="http://schemas.microsoft.com/office/drawing/2014/main" id="{7C48C6B3-D852-4BEB-A0DF-1C0A19F6E009}"/>
              </a:ext>
            </a:extLst>
          </p:cNvPr>
          <p:cNvSpPr>
            <a:spLocks xmlns:a="http://schemas.openxmlformats.org/drawingml/2006/main" noGrp="1"/>
          </p:cNvSpPr>
          <p:nvPr/>
        </p:nvSpPr>
        <p:spPr>
          <a:xfrm xmlns:a="http://schemas.openxmlformats.org/drawingml/2006/main">
            <a:off x="1371600" y="3733800"/>
            <a:ext cx="39338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FF8500"/>
                </a:solidFill>
                <a:latin typeface="Lato"/>
                <a:ea typeface="Lato"/>
                <a:cs typeface="Lato"/>
              </a:defRPr>
            </a:pPr>
            <a:r>
              <a:rPr sz="975" b="1">
                <a:solidFill>
                  <a:srgbClr val="FF8500"/>
                </a:solidFill>
                <a:latin typeface="Lato"/>
                <a:ea typeface="Lato"/>
                <a:cs typeface="Lato"/>
              </a:rPr>
              <a:t>BEHAVIOR</a:t>
            </a:r>
          </a:p>
        </p:txBody>
      </p:sp>
      <p:sp>
        <p:nvSpPr>
          <p:cNvPr id="12" name="">
            <a:extLst xmlns:a="http://schemas.openxmlformats.org/drawingml/2006/main">
              <a:ext uri="{FF2B5EF4-FFF2-40B4-BE49-F238E27FC236}">
                <a16:creationId xmlns:a16="http://schemas.microsoft.com/office/drawing/2014/main" id="{3AC10D3C-4230-410C-8422-DBD1A3BF603E}"/>
              </a:ext>
            </a:extLst>
          </p:cNvPr>
          <p:cNvSpPr>
            <a:spLocks xmlns:a="http://schemas.openxmlformats.org/drawingml/2006/main" noGrp="1"/>
          </p:cNvSpPr>
          <p:nvPr/>
        </p:nvSpPr>
        <p:spPr>
          <a:xfrm xmlns:a="http://schemas.openxmlformats.org/drawingml/2006/main">
            <a:off x="1371600" y="3971925"/>
            <a:ext cx="3933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FFF6E9"/>
                </a:solidFill>
                <a:latin typeface="Lato"/>
                <a:ea typeface="Lato"/>
                <a:cs typeface="Lato"/>
              </a:defRPr>
            </a:pPr>
            <a:r>
              <a:rPr sz="1275">
                <a:solidFill>
                  <a:srgbClr val="FFF6E9"/>
                </a:solidFill>
                <a:latin typeface="Lato"/>
                <a:ea typeface="Lato"/>
                <a:cs typeface="Lato"/>
              </a:rPr>
              <a:t>Learners already use on-demand online resources.</a:t>
            </a:r>
          </a:p>
        </p:txBody>
      </p:sp>
      <p:sp>
        <p:nvSpPr>
          <p:cNvPr id="13" name="">
            <a:extLst xmlns:a="http://schemas.openxmlformats.org/drawingml/2006/main">
              <a:ext uri="{FF2B5EF4-FFF2-40B4-BE49-F238E27FC236}">
                <a16:creationId xmlns:a16="http://schemas.microsoft.com/office/drawing/2014/main" id="{3C8E9742-1587-44BF-A72E-8B09F82858A8}"/>
              </a:ext>
            </a:extLst>
          </p:cNvPr>
          <p:cNvSpPr>
            <a:spLocks xmlns:a="http://schemas.openxmlformats.org/drawingml/2006/main" noGrp="1"/>
          </p:cNvSpPr>
          <p:nvPr/>
        </p:nvSpPr>
        <p:spPr>
          <a:xfrm xmlns:a="http://schemas.openxmlformats.org/drawingml/2006/main">
            <a:off x="971550" y="4476750"/>
            <a:ext cx="266700" cy="26670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FFFFFF"/>
                </a:solidFill>
                <a:latin typeface="Lato"/>
                <a:ea typeface="Lato"/>
                <a:cs typeface="Lato"/>
              </a:defRPr>
            </a:pPr>
            <a:r>
              <a:rPr sz="825" b="1">
                <a:solidFill>
                  <a:srgbClr val="FFFFFF"/>
                </a:solidFill>
                <a:latin typeface="Lato"/>
                <a:ea typeface="Lato"/>
                <a:cs typeface="Lato"/>
              </a:rPr>
              <a:t>2</a:t>
            </a:r>
          </a:p>
        </p:txBody>
      </p:sp>
      <p:sp>
        <p:nvSpPr>
          <p:cNvPr id="14" name="">
            <a:extLst xmlns:a="http://schemas.openxmlformats.org/drawingml/2006/main">
              <a:ext uri="{FF2B5EF4-FFF2-40B4-BE49-F238E27FC236}">
                <a16:creationId xmlns:a16="http://schemas.microsoft.com/office/drawing/2014/main" id="{E3A332A9-BA2E-4FD2-852D-00149E8A6999}"/>
              </a:ext>
            </a:extLst>
          </p:cNvPr>
          <p:cNvSpPr>
            <a:spLocks xmlns:a="http://schemas.openxmlformats.org/drawingml/2006/main" noGrp="1"/>
          </p:cNvSpPr>
          <p:nvPr/>
        </p:nvSpPr>
        <p:spPr>
          <a:xfrm xmlns:a="http://schemas.openxmlformats.org/drawingml/2006/main">
            <a:off x="1371600" y="4457700"/>
            <a:ext cx="39338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6E5BAA"/>
                </a:solidFill>
                <a:latin typeface="Lato"/>
                <a:ea typeface="Lato"/>
                <a:cs typeface="Lato"/>
              </a:defRPr>
            </a:pPr>
            <a:r>
              <a:rPr sz="975" b="1">
                <a:solidFill>
                  <a:srgbClr val="6E5BAA"/>
                </a:solidFill>
                <a:latin typeface="Lato"/>
                <a:ea typeface="Lato"/>
                <a:cs typeface="Lato"/>
              </a:rPr>
              <a:t>PEDAGOGY</a:t>
            </a:r>
          </a:p>
        </p:txBody>
      </p:sp>
      <p:sp>
        <p:nvSpPr>
          <p:cNvPr id="15" name="">
            <a:extLst xmlns:a="http://schemas.openxmlformats.org/drawingml/2006/main">
              <a:ext uri="{FF2B5EF4-FFF2-40B4-BE49-F238E27FC236}">
                <a16:creationId xmlns:a16="http://schemas.microsoft.com/office/drawing/2014/main" id="{5B090989-085A-41FA-A390-FCF6CBBF02C1}"/>
              </a:ext>
            </a:extLst>
          </p:cNvPr>
          <p:cNvSpPr>
            <a:spLocks xmlns:a="http://schemas.openxmlformats.org/drawingml/2006/main" noGrp="1"/>
          </p:cNvSpPr>
          <p:nvPr/>
        </p:nvSpPr>
        <p:spPr>
          <a:xfrm xmlns:a="http://schemas.openxmlformats.org/drawingml/2006/main">
            <a:off x="1371600" y="4695825"/>
            <a:ext cx="3933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FFF6E9"/>
                </a:solidFill>
                <a:latin typeface="Lato"/>
                <a:ea typeface="Lato"/>
                <a:cs typeface="Lato"/>
              </a:defRPr>
            </a:pPr>
            <a:r>
              <a:rPr sz="1275">
                <a:solidFill>
                  <a:srgbClr val="FFF6E9"/>
                </a:solidFill>
                <a:latin typeface="Lato"/>
                <a:ea typeface="Lato"/>
                <a:cs typeface="Lato"/>
              </a:rPr>
              <a:t>Practice and informative feedback improve learning.</a:t>
            </a:r>
          </a:p>
        </p:txBody>
      </p:sp>
      <p:sp>
        <p:nvSpPr>
          <p:cNvPr id="16" name="">
            <a:extLst xmlns:a="http://schemas.openxmlformats.org/drawingml/2006/main">
              <a:ext uri="{FF2B5EF4-FFF2-40B4-BE49-F238E27FC236}">
                <a16:creationId xmlns:a16="http://schemas.microsoft.com/office/drawing/2014/main" id="{F21EDCDE-4044-4C63-92FD-01FFE4E45672}"/>
              </a:ext>
            </a:extLst>
          </p:cNvPr>
          <p:cNvSpPr>
            <a:spLocks xmlns:a="http://schemas.openxmlformats.org/drawingml/2006/main" noGrp="1"/>
          </p:cNvSpPr>
          <p:nvPr/>
        </p:nvSpPr>
        <p:spPr>
          <a:xfrm xmlns:a="http://schemas.openxmlformats.org/drawingml/2006/main">
            <a:off x="6286500" y="2400300"/>
            <a:ext cx="5143500" cy="3000375"/>
          </a:xfrm>
          <a:prstGeom xmlns:a="http://schemas.openxmlformats.org/drawingml/2006/main" prst="roundRect">
            <a:avLst>
              <a:gd name="adj" fmla="val 7619"/>
            </a:avLst>
          </a:prstGeom>
          <a:solidFill xmlns:a="http://schemas.openxmlformats.org/drawingml/2006/main">
            <a:srgbClr val="FFF6E9"/>
          </a:solidFill>
          <a:ln xmlns:a="http://schemas.openxmlformats.org/drawingml/2006/main" w="9525">
            <a:solidFill>
              <a:srgbClr val="FFF6E9"/>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5D4CDD50-F6E3-402E-87A3-03392021B551}"/>
              </a:ext>
            </a:extLst>
          </p:cNvPr>
          <p:cNvSpPr>
            <a:spLocks xmlns:a="http://schemas.openxmlformats.org/drawingml/2006/main" noGrp="1"/>
          </p:cNvSpPr>
          <p:nvPr/>
        </p:nvSpPr>
        <p:spPr>
          <a:xfrm xmlns:a="http://schemas.openxmlformats.org/drawingml/2006/main">
            <a:off x="6610350" y="2705100"/>
            <a:ext cx="1504950" cy="266700"/>
          </a:xfrm>
          <a:prstGeom xmlns:a="http://schemas.openxmlformats.org/drawingml/2006/main" prst="roundRect">
            <a:avLst>
              <a:gd name="adj" fmla="val 50000"/>
            </a:avLst>
          </a:prstGeom>
          <a:solidFill xmlns:a="http://schemas.openxmlformats.org/drawingml/2006/main">
            <a:srgbClr val="C64A39"/>
          </a:solidFill>
          <a:ln xmlns:a="http://schemas.openxmlformats.org/drawingml/2006/main" w="0">
            <a:solidFill>
              <a:srgbClr val="C64A39"/>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FFFFFF"/>
                </a:solidFill>
                <a:latin typeface="Lato"/>
                <a:ea typeface="Lato"/>
                <a:cs typeface="Lato"/>
              </a:defRPr>
            </a:pPr>
            <a:r>
              <a:rPr sz="900" b="1">
                <a:solidFill>
                  <a:srgbClr val="FFFFFF"/>
                </a:solidFill>
                <a:latin typeface="Lato"/>
                <a:ea typeface="Lato"/>
                <a:cs typeface="Lato"/>
              </a:rPr>
              <a:t>WE CANNOT CLAIM</a:t>
            </a:r>
          </a:p>
        </p:txBody>
      </p:sp>
      <p:sp>
        <p:nvSpPr>
          <p:cNvPr id="18" name="">
            <a:extLst xmlns:a="http://schemas.openxmlformats.org/drawingml/2006/main">
              <a:ext uri="{FF2B5EF4-FFF2-40B4-BE49-F238E27FC236}">
                <a16:creationId xmlns:a16="http://schemas.microsoft.com/office/drawing/2014/main" id="{A77C92E5-4EF6-42C0-9F4B-DF93FBEED063}"/>
              </a:ext>
            </a:extLst>
          </p:cNvPr>
          <p:cNvSpPr>
            <a:spLocks xmlns:a="http://schemas.openxmlformats.org/drawingml/2006/main" noGrp="1"/>
          </p:cNvSpPr>
          <p:nvPr/>
        </p:nvSpPr>
        <p:spPr>
          <a:xfrm xmlns:a="http://schemas.openxmlformats.org/drawingml/2006/main">
            <a:off x="6610350" y="316230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2D180B"/>
                </a:solidFill>
                <a:latin typeface="Lato"/>
                <a:ea typeface="Lato"/>
                <a:cs typeface="Lato"/>
              </a:defRPr>
            </a:pPr>
            <a:r>
              <a:rPr sz="2100" b="1">
                <a:solidFill>
                  <a:srgbClr val="2D180B"/>
                </a:solidFill>
                <a:latin typeface="Lato"/>
                <a:ea typeface="Lato"/>
                <a:cs typeface="Lato"/>
              </a:rPr>
              <a:t>Bataa product–market fit</a:t>
            </a:r>
          </a:p>
        </p:txBody>
      </p:sp>
      <p:sp>
        <p:nvSpPr>
          <p:cNvPr id="19" name="">
            <a:extLst xmlns:a="http://schemas.openxmlformats.org/drawingml/2006/main">
              <a:ext uri="{FF2B5EF4-FFF2-40B4-BE49-F238E27FC236}">
                <a16:creationId xmlns:a16="http://schemas.microsoft.com/office/drawing/2014/main" id="{FBD2A1E5-74E6-4078-88EF-86D337CB2216}"/>
              </a:ext>
            </a:extLst>
          </p:cNvPr>
          <p:cNvSpPr>
            <a:spLocks xmlns:a="http://schemas.openxmlformats.org/drawingml/2006/main" noGrp="1"/>
          </p:cNvSpPr>
          <p:nvPr/>
        </p:nvSpPr>
        <p:spPr>
          <a:xfrm xmlns:a="http://schemas.openxmlformats.org/drawingml/2006/main">
            <a:off x="6610350" y="3752850"/>
            <a:ext cx="266700" cy="266700"/>
          </a:xfrm>
          <a:prstGeom xmlns:a="http://schemas.openxmlformats.org/drawingml/2006/main" prst="ellipse">
            <a:avLst/>
          </a:prstGeom>
          <a:solidFill xmlns:a="http://schemas.openxmlformats.org/drawingml/2006/main">
            <a:srgbClr val="C64A39"/>
          </a:solidFill>
          <a:ln xmlns:a="http://schemas.openxmlformats.org/drawingml/2006/main" w="0">
            <a:solidFill>
              <a:srgbClr val="C64A3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FFFFFF"/>
                </a:solidFill>
                <a:latin typeface="Lato"/>
                <a:ea typeface="Lato"/>
                <a:cs typeface="Lato"/>
              </a:defRPr>
            </a:pPr>
            <a:r>
              <a:rPr sz="825" b="1">
                <a:solidFill>
                  <a:srgbClr val="FFFFFF"/>
                </a:solidFill>
                <a:latin typeface="Lato"/>
                <a:ea typeface="Lato"/>
                <a:cs typeface="Lato"/>
              </a:rPr>
              <a:t>1</a:t>
            </a:r>
          </a:p>
        </p:txBody>
      </p:sp>
      <p:sp>
        <p:nvSpPr>
          <p:cNvPr id="20" name="">
            <a:extLst xmlns:a="http://schemas.openxmlformats.org/drawingml/2006/main">
              <a:ext uri="{FF2B5EF4-FFF2-40B4-BE49-F238E27FC236}">
                <a16:creationId xmlns:a16="http://schemas.microsoft.com/office/drawing/2014/main" id="{FD47078A-D8B2-4D72-ADCD-19D9A9AF4AA2}"/>
              </a:ext>
            </a:extLst>
          </p:cNvPr>
          <p:cNvSpPr>
            <a:spLocks xmlns:a="http://schemas.openxmlformats.org/drawingml/2006/main" noGrp="1"/>
          </p:cNvSpPr>
          <p:nvPr/>
        </p:nvSpPr>
        <p:spPr>
          <a:xfrm xmlns:a="http://schemas.openxmlformats.org/drawingml/2006/main">
            <a:off x="7010400" y="3733800"/>
            <a:ext cx="39338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C64A39"/>
                </a:solidFill>
                <a:latin typeface="Lato"/>
                <a:ea typeface="Lato"/>
                <a:cs typeface="Lato"/>
              </a:defRPr>
            </a:pPr>
            <a:r>
              <a:rPr sz="975" b="1">
                <a:solidFill>
                  <a:srgbClr val="C64A39"/>
                </a:solidFill>
                <a:latin typeface="Lato"/>
                <a:ea typeface="Lato"/>
                <a:cs typeface="Lato"/>
              </a:rPr>
              <a:t>UNKNOWN</a:t>
            </a:r>
          </a:p>
        </p:txBody>
      </p:sp>
      <p:sp>
        <p:nvSpPr>
          <p:cNvPr id="21" name="">
            <a:extLst xmlns:a="http://schemas.openxmlformats.org/drawingml/2006/main">
              <a:ext uri="{FF2B5EF4-FFF2-40B4-BE49-F238E27FC236}">
                <a16:creationId xmlns:a16="http://schemas.microsoft.com/office/drawing/2014/main" id="{F563601F-57FE-4F84-AD8F-7F8E592B3BF6}"/>
              </a:ext>
            </a:extLst>
          </p:cNvPr>
          <p:cNvSpPr>
            <a:spLocks xmlns:a="http://schemas.openxmlformats.org/drawingml/2006/main" noGrp="1"/>
          </p:cNvSpPr>
          <p:nvPr/>
        </p:nvSpPr>
        <p:spPr>
          <a:xfrm xmlns:a="http://schemas.openxmlformats.org/drawingml/2006/main">
            <a:off x="7010400" y="3971925"/>
            <a:ext cx="3933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2D180B"/>
                </a:solidFill>
                <a:latin typeface="Lato"/>
                <a:ea typeface="Lato"/>
                <a:cs typeface="Lato"/>
              </a:defRPr>
            </a:pPr>
            <a:r>
              <a:rPr sz="1275">
                <a:solidFill>
                  <a:srgbClr val="2D180B"/>
                </a:solidFill>
                <a:latin typeface="Lato"/>
                <a:ea typeface="Lato"/>
                <a:cs typeface="Lato"/>
              </a:rPr>
              <a:t>How many learners feel this pain often enough.</a:t>
            </a:r>
          </a:p>
        </p:txBody>
      </p:sp>
      <p:sp>
        <p:nvSpPr>
          <p:cNvPr id="22" name="">
            <a:extLst xmlns:a="http://schemas.openxmlformats.org/drawingml/2006/main">
              <a:ext uri="{FF2B5EF4-FFF2-40B4-BE49-F238E27FC236}">
                <a16:creationId xmlns:a16="http://schemas.microsoft.com/office/drawing/2014/main" id="{2460932A-16C8-48B1-88A0-09A280822C2E}"/>
              </a:ext>
            </a:extLst>
          </p:cNvPr>
          <p:cNvSpPr>
            <a:spLocks xmlns:a="http://schemas.openxmlformats.org/drawingml/2006/main" noGrp="1"/>
          </p:cNvSpPr>
          <p:nvPr/>
        </p:nvSpPr>
        <p:spPr>
          <a:xfrm xmlns:a="http://schemas.openxmlformats.org/drawingml/2006/main">
            <a:off x="6610350" y="4476750"/>
            <a:ext cx="266700" cy="266700"/>
          </a:xfrm>
          <a:prstGeom xmlns:a="http://schemas.openxmlformats.org/drawingml/2006/main" prst="ellipse">
            <a:avLst/>
          </a:prstGeom>
          <a:solidFill xmlns:a="http://schemas.openxmlformats.org/drawingml/2006/main">
            <a:srgbClr val="C64A39"/>
          </a:solidFill>
          <a:ln xmlns:a="http://schemas.openxmlformats.org/drawingml/2006/main" w="0">
            <a:solidFill>
              <a:srgbClr val="C64A3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FFFFFF"/>
                </a:solidFill>
                <a:latin typeface="Lato"/>
                <a:ea typeface="Lato"/>
                <a:cs typeface="Lato"/>
              </a:defRPr>
            </a:pPr>
            <a:r>
              <a:rPr sz="825" b="1">
                <a:solidFill>
                  <a:srgbClr val="FFFFFF"/>
                </a:solidFill>
                <a:latin typeface="Lato"/>
                <a:ea typeface="Lato"/>
                <a:cs typeface="Lato"/>
              </a:rPr>
              <a:t>2</a:t>
            </a:r>
          </a:p>
        </p:txBody>
      </p:sp>
      <p:sp>
        <p:nvSpPr>
          <p:cNvPr id="23" name="">
            <a:extLst xmlns:a="http://schemas.openxmlformats.org/drawingml/2006/main">
              <a:ext uri="{FF2B5EF4-FFF2-40B4-BE49-F238E27FC236}">
                <a16:creationId xmlns:a16="http://schemas.microsoft.com/office/drawing/2014/main" id="{D514D5B7-ADB5-4DCC-8DFE-D947947AA71B}"/>
              </a:ext>
            </a:extLst>
          </p:cNvPr>
          <p:cNvSpPr>
            <a:spLocks xmlns:a="http://schemas.openxmlformats.org/drawingml/2006/main" noGrp="1"/>
          </p:cNvSpPr>
          <p:nvPr/>
        </p:nvSpPr>
        <p:spPr>
          <a:xfrm xmlns:a="http://schemas.openxmlformats.org/drawingml/2006/main">
            <a:off x="7010400" y="4457700"/>
            <a:ext cx="39338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C64A39"/>
                </a:solidFill>
                <a:latin typeface="Lato"/>
                <a:ea typeface="Lato"/>
                <a:cs typeface="Lato"/>
              </a:defRPr>
            </a:pPr>
            <a:r>
              <a:rPr sz="975" b="1">
                <a:solidFill>
                  <a:srgbClr val="C64A39"/>
                </a:solidFill>
                <a:latin typeface="Lato"/>
                <a:ea typeface="Lato"/>
                <a:cs typeface="Lato"/>
              </a:rPr>
              <a:t>UNKNOWN</a:t>
            </a:r>
          </a:p>
        </p:txBody>
      </p:sp>
      <p:sp>
        <p:nvSpPr>
          <p:cNvPr id="24" name="">
            <a:extLst xmlns:a="http://schemas.openxmlformats.org/drawingml/2006/main">
              <a:ext uri="{FF2B5EF4-FFF2-40B4-BE49-F238E27FC236}">
                <a16:creationId xmlns:a16="http://schemas.microsoft.com/office/drawing/2014/main" id="{4210BAFB-E365-435B-A75D-E6084FDA35E5}"/>
              </a:ext>
            </a:extLst>
          </p:cNvPr>
          <p:cNvSpPr>
            <a:spLocks xmlns:a="http://schemas.openxmlformats.org/drawingml/2006/main" noGrp="1"/>
          </p:cNvSpPr>
          <p:nvPr/>
        </p:nvSpPr>
        <p:spPr>
          <a:xfrm xmlns:a="http://schemas.openxmlformats.org/drawingml/2006/main">
            <a:off x="7010400" y="4695825"/>
            <a:ext cx="3933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2D180B"/>
                </a:solidFill>
                <a:latin typeface="Lato"/>
                <a:ea typeface="Lato"/>
                <a:cs typeface="Lato"/>
              </a:defRPr>
            </a:pPr>
            <a:r>
              <a:rPr sz="1275">
                <a:solidFill>
                  <a:srgbClr val="2D180B"/>
                </a:solidFill>
                <a:latin typeface="Lato"/>
                <a:ea typeface="Lato"/>
                <a:cs typeface="Lato"/>
              </a:rPr>
              <a:t>Whether Bataa improves outcomes or earns payment.</a:t>
            </a:r>
          </a:p>
        </p:txBody>
      </p:sp>
      <p:sp>
        <p:nvSpPr>
          <p:cNvPr id="25" name="">
            <a:extLst xmlns:a="http://schemas.openxmlformats.org/drawingml/2006/main">
              <a:ext uri="{FF2B5EF4-FFF2-40B4-BE49-F238E27FC236}">
                <a16:creationId xmlns:a16="http://schemas.microsoft.com/office/drawing/2014/main" id="{C2F1CC4D-3258-49B0-888F-9DFE2B4BEA60}"/>
              </a:ext>
            </a:extLst>
          </p:cNvPr>
          <p:cNvSpPr>
            <a:spLocks xmlns:a="http://schemas.openxmlformats.org/drawingml/2006/main" noGrp="1"/>
          </p:cNvSpPr>
          <p:nvPr/>
        </p:nvSpPr>
        <p:spPr>
          <a:xfrm xmlns:a="http://schemas.openxmlformats.org/drawingml/2006/main">
            <a:off x="647700" y="5695950"/>
            <a:ext cx="10782300" cy="457200"/>
          </a:xfrm>
          <a:prstGeom xmlns:a="http://schemas.openxmlformats.org/drawingml/2006/main" prst="roundRect">
            <a:avLst>
              <a:gd name="adj" fmla="val 33333"/>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5997FA5D-D2E0-4360-9690-F51FDE22E672}"/>
              </a:ext>
            </a:extLst>
          </p:cNvPr>
          <p:cNvSpPr>
            <a:spLocks xmlns:a="http://schemas.openxmlformats.org/drawingml/2006/main" noGrp="1"/>
          </p:cNvSpPr>
          <p:nvPr/>
        </p:nvSpPr>
        <p:spPr>
          <a:xfrm xmlns:a="http://schemas.openxmlformats.org/drawingml/2006/main">
            <a:off x="933450" y="58197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33"/>
          </a:bodyPr>
          <a:lstStyle xmlns:a="http://schemas.openxmlformats.org/drawingml/2006/main"/>
          <a:p xmlns:a="http://schemas.openxmlformats.org/drawingml/2006/main">
            <a:pPr>
              <a:defRPr sz="1500" b="1">
                <a:solidFill>
                  <a:srgbClr val="2D180B"/>
                </a:solidFill>
                <a:latin typeface="Lato"/>
                <a:ea typeface="Lato"/>
                <a:cs typeface="Lato"/>
              </a:defRPr>
            </a:pPr>
            <a:r>
              <a:rPr sz="1500" b="1">
                <a:solidFill>
                  <a:srgbClr val="2D180B"/>
                </a:solidFill>
                <a:latin typeface="Lato"/>
                <a:ea typeface="Lato"/>
                <a:cs typeface="Lato"/>
              </a:rPr>
              <a:t>Decision-quality statement: defend the thesis, then run a measured pilot.</a:t>
            </a:r>
          </a:p>
        </p:txBody>
      </p:sp>
      <p:sp>
        <p:nvSpPr>
          <p:cNvPr id="27" name="">
            <a:extLst xmlns:a="http://schemas.openxmlformats.org/drawingml/2006/main">
              <a:ext uri="{FF2B5EF4-FFF2-40B4-BE49-F238E27FC236}">
                <a16:creationId xmlns:a16="http://schemas.microsoft.com/office/drawing/2014/main" id="{C37D9424-51CA-4C5A-8439-AC6F520F23F6}"/>
              </a:ext>
            </a:extLst>
          </p:cNvPr>
          <p:cNvSpPr>
            <a:spLocks xmlns:a="http://schemas.openxmlformats.org/drawingml/2006/main" noGrp="1"/>
          </p:cNvSpPr>
          <p:nvPr/>
        </p:nvSpPr>
        <p:spPr>
          <a:xfrm xmlns:a="http://schemas.openxmlformats.org/drawingml/2006/main">
            <a:off x="609600" y="6505575"/>
            <a:ext cx="1047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788">
                <a:solidFill>
                  <a:srgbClr val="C9A98C"/>
                </a:solidFill>
                <a:latin typeface="Lato"/>
                <a:ea typeface="Lato"/>
                <a:cs typeface="Lato"/>
              </a:defRPr>
            </a:pPr>
            <a:r>
              <a:rPr sz="788">
                <a:solidFill>
                  <a:srgbClr val="C9A98C"/>
                </a:solidFill>
                <a:latin typeface="Lato"/>
                <a:ea typeface="Lato"/>
                <a:cs typeface="Lato"/>
              </a:rPr>
              <a:t>Interpretation · evidence strength is deliberately separated from confidence in Bataa</a:t>
            </a:r>
          </a:p>
        </p:txBody>
      </p:sp>
    </p:spTree>
    <p:extLst>
      <p:ext uri="{BB962C8B-B14F-4D97-AF65-F5344CB8AC3E}">
        <p14:creationId xmlns:p14="http://schemas.microsoft.com/office/powerpoint/2010/main" val="714326462"/>
      </p:ext>
    </p:extLst>
  </p:cSld>
</p:sld>
</file>

<file path=ppt/slides/slide3.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128F340-C761-4BC6-9857-1B240D2EB254}"/>
              </a:ext>
            </a:extLst>
          </p:cNvPr>
          <p:cNvSpPr>
            <a:spLocks xmlns:a="http://schemas.openxmlformats.org/drawingml/2006/main" noGrp="1"/>
          </p:cNvSpPr>
          <p:nvPr/>
        </p:nvSpPr>
        <p:spPr>
          <a:xfrm xmlns:a="http://schemas.openxmlformats.org/drawingml/2006/main">
            <a:off x="609600" y="2476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A2D761FB-260E-4F56-8038-FA9B034DA985}"/>
              </a:ext>
            </a:extLst>
          </p:cNvPr>
          <p:cNvSpPr>
            <a:spLocks xmlns:a="http://schemas.openxmlformats.org/drawingml/2006/main" noGrp="1"/>
          </p:cNvSpPr>
          <p:nvPr/>
        </p:nvSpPr>
        <p:spPr>
          <a:xfrm xmlns:a="http://schemas.openxmlformats.org/drawingml/2006/main">
            <a:off x="2114550" y="2952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895F3C"/>
                </a:solidFill>
                <a:latin typeface="Lato"/>
                <a:ea typeface="Lato"/>
                <a:cs typeface="Lato"/>
              </a:defRPr>
            </a:pPr>
            <a:r>
              <a:rPr sz="825" b="1">
                <a:solidFill>
                  <a:srgbClr val="895F3C"/>
                </a:solidFill>
                <a:latin typeface="Lato"/>
                <a:ea typeface="Lato"/>
                <a:cs typeface="Lato"/>
              </a:rPr>
              <a:t>DIRECT BATAA EVIDENCE</a:t>
            </a:r>
          </a:p>
        </p:txBody>
      </p:sp>
      <p:sp>
        <p:nvSpPr>
          <p:cNvPr id="3" name="">
            <a:extLst xmlns:a="http://schemas.openxmlformats.org/drawingml/2006/main">
              <a:ext uri="{FF2B5EF4-FFF2-40B4-BE49-F238E27FC236}">
                <a16:creationId xmlns:a16="http://schemas.microsoft.com/office/drawing/2014/main" id="{7AAF24FB-918C-4B85-A58D-713DFE66DA37}"/>
              </a:ext>
            </a:extLst>
          </p:cNvPr>
          <p:cNvSpPr>
            <a:spLocks xmlns:a="http://schemas.openxmlformats.org/drawingml/2006/main" noGrp="1"/>
          </p:cNvSpPr>
          <p:nvPr/>
        </p:nvSpPr>
        <p:spPr>
          <a:xfrm xmlns:a="http://schemas.openxmlformats.org/drawingml/2006/main">
            <a:off x="11201400" y="2762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2D180B"/>
                </a:solidFill>
                <a:latin typeface="Lato"/>
                <a:ea typeface="Lato"/>
                <a:cs typeface="Lato"/>
              </a:defRPr>
            </a:pPr>
            <a:r>
              <a:rPr sz="975" b="1">
                <a:solidFill>
                  <a:srgbClr val="2D180B"/>
                </a:solidFill>
                <a:latin typeface="Lato"/>
                <a:ea typeface="Lato"/>
                <a:cs typeface="Lato"/>
              </a:rPr>
              <a:t>03</a:t>
            </a:r>
          </a:p>
        </p:txBody>
      </p:sp>
      <p:sp>
        <p:nvSpPr>
          <p:cNvPr id="4" name="">
            <a:extLst xmlns:a="http://schemas.openxmlformats.org/drawingml/2006/main">
              <a:ext uri="{FF2B5EF4-FFF2-40B4-BE49-F238E27FC236}">
                <a16:creationId xmlns:a16="http://schemas.microsoft.com/office/drawing/2014/main" id="{6107CA05-8DB0-472E-BEE2-0930568B852C}"/>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E7C9A7"/>
            </a:solidFill>
            <a:prstDash val="solid"/>
          </a:ln>
        </p:spPr>
      </p:sp>
      <p:sp>
        <p:nvSpPr>
          <p:cNvPr id="5" name="">
            <a:extLst xmlns:a="http://schemas.openxmlformats.org/drawingml/2006/main">
              <a:ext uri="{FF2B5EF4-FFF2-40B4-BE49-F238E27FC236}">
                <a16:creationId xmlns:a16="http://schemas.microsoft.com/office/drawing/2014/main" id="{EBFA2E80-BEBF-4CD0-B272-D512AAD69094}"/>
              </a:ext>
            </a:extLst>
          </p:cNvPr>
          <p:cNvSpPr>
            <a:spLocks xmlns:a="http://schemas.openxmlformats.org/drawingml/2006/main" noGrp="1"/>
          </p:cNvSpPr>
          <p:nvPr/>
        </p:nvSpPr>
        <p:spPr>
          <a:xfrm xmlns:a="http://schemas.openxmlformats.org/drawingml/2006/main">
            <a:off x="609600" y="971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300" b="1">
                <a:solidFill>
                  <a:srgbClr val="2D180B"/>
                </a:solidFill>
                <a:latin typeface="Lato"/>
                <a:ea typeface="Lato"/>
                <a:cs typeface="Lato"/>
              </a:defRPr>
            </a:pPr>
            <a:r>
              <a:rPr sz="3300" b="1">
                <a:solidFill>
                  <a:srgbClr val="2D180B"/>
                </a:solidFill>
                <a:latin typeface="Lato"/>
                <a:ea typeface="Lato"/>
                <a:cs typeface="Lato"/>
              </a:rPr>
              <a:t>Bataa has a directional signal from real learners</a:t>
            </a:r>
          </a:p>
        </p:txBody>
      </p:sp>
      <p:sp>
        <p:nvSpPr>
          <p:cNvPr id="6" name="">
            <a:extLst xmlns:a="http://schemas.openxmlformats.org/drawingml/2006/main">
              <a:ext uri="{FF2B5EF4-FFF2-40B4-BE49-F238E27FC236}">
                <a16:creationId xmlns:a16="http://schemas.microsoft.com/office/drawing/2014/main" id="{7B124324-492E-4A93-8C90-2B0A4BF50DA8}"/>
              </a:ext>
            </a:extLst>
          </p:cNvPr>
          <p:cNvSpPr>
            <a:spLocks xmlns:a="http://schemas.openxmlformats.org/drawingml/2006/main" noGrp="1"/>
          </p:cNvSpPr>
          <p:nvPr/>
        </p:nvSpPr>
        <p:spPr>
          <a:xfrm xmlns:a="http://schemas.openxmlformats.org/drawingml/2006/main">
            <a:off x="647700" y="1638300"/>
            <a:ext cx="923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895F3C"/>
                </a:solidFill>
                <a:latin typeface="Lato"/>
                <a:ea typeface="Lato"/>
                <a:cs typeface="Lato"/>
              </a:defRPr>
            </a:pPr>
            <a:r>
              <a:rPr sz="1425">
                <a:solidFill>
                  <a:srgbClr val="895F3C"/>
                </a:solidFill>
                <a:latin typeface="Lato"/>
                <a:ea typeface="Lato"/>
                <a:cs typeface="Lato"/>
              </a:rPr>
              <a:t>The team heard a recurring support gap at Horus University and built around it.</a:t>
            </a:r>
          </a:p>
        </p:txBody>
      </p:sp>
      <p:sp>
        <p:nvSpPr>
          <p:cNvPr id="7" name="">
            <a:extLst xmlns:a="http://schemas.openxmlformats.org/drawingml/2006/main">
              <a:ext uri="{FF2B5EF4-FFF2-40B4-BE49-F238E27FC236}">
                <a16:creationId xmlns:a16="http://schemas.microsoft.com/office/drawing/2014/main" id="{104CA240-DD8E-44C0-BCE9-97131FD36E93}"/>
              </a:ext>
            </a:extLst>
          </p:cNvPr>
          <p:cNvSpPr>
            <a:spLocks xmlns:a="http://schemas.openxmlformats.org/drawingml/2006/main" noGrp="1"/>
          </p:cNvSpPr>
          <p:nvPr/>
        </p:nvSpPr>
        <p:spPr>
          <a:xfrm xmlns:a="http://schemas.openxmlformats.org/drawingml/2006/main">
            <a:off x="647700" y="2324100"/>
            <a:ext cx="4857750" cy="3048000"/>
          </a:xfrm>
          <a:prstGeom xmlns:a="http://schemas.openxmlformats.org/drawingml/2006/main" prst="roundRect">
            <a:avLst>
              <a:gd name="adj" fmla="val 7500"/>
            </a:avLst>
          </a:prstGeom>
          <a:solidFill xmlns:a="http://schemas.openxmlformats.org/drawingml/2006/main">
            <a:srgbClr val="1B100B"/>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E151483D-1747-4594-A15A-28C24D4AF924}"/>
              </a:ext>
            </a:extLst>
          </p:cNvPr>
          <p:cNvSpPr>
            <a:spLocks xmlns:a="http://schemas.openxmlformats.org/drawingml/2006/main" noGrp="1"/>
          </p:cNvSpPr>
          <p:nvPr/>
        </p:nvSpPr>
        <p:spPr>
          <a:xfrm xmlns:a="http://schemas.openxmlformats.org/drawingml/2006/main">
            <a:off x="971550" y="2628900"/>
            <a:ext cx="1466850"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FFFFFF"/>
                </a:solidFill>
                <a:latin typeface="Lato"/>
                <a:ea typeface="Lato"/>
                <a:cs typeface="Lato"/>
              </a:defRPr>
            </a:pPr>
            <a:r>
              <a:rPr sz="900" b="1">
                <a:solidFill>
                  <a:srgbClr val="FFFFFF"/>
                </a:solidFill>
                <a:latin typeface="Lato"/>
                <a:ea typeface="Lato"/>
                <a:cs typeface="Lato"/>
              </a:rPr>
              <a:t>FOUNDER-REPORTED</a:t>
            </a:r>
          </a:p>
        </p:txBody>
      </p:sp>
      <p:sp>
        <p:nvSpPr>
          <p:cNvPr id="9" name="">
            <a:extLst xmlns:a="http://schemas.openxmlformats.org/drawingml/2006/main">
              <a:ext uri="{FF2B5EF4-FFF2-40B4-BE49-F238E27FC236}">
                <a16:creationId xmlns:a16="http://schemas.microsoft.com/office/drawing/2014/main" id="{D5BF085D-8258-4765-967A-A4C34D84D36D}"/>
              </a:ext>
            </a:extLst>
          </p:cNvPr>
          <p:cNvSpPr>
            <a:spLocks xmlns:a="http://schemas.openxmlformats.org/drawingml/2006/main" noGrp="1"/>
          </p:cNvSpPr>
          <p:nvPr/>
        </p:nvSpPr>
        <p:spPr>
          <a:xfrm xmlns:a="http://schemas.openxmlformats.org/drawingml/2006/main">
            <a:off x="971550" y="3152775"/>
            <a:ext cx="390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FFF6E9"/>
                </a:solidFill>
                <a:latin typeface="Lato"/>
                <a:ea typeface="Lato"/>
                <a:cs typeface="Lato"/>
              </a:defRPr>
            </a:pPr>
            <a:r>
              <a:rPr sz="2550" b="1">
                <a:solidFill>
                  <a:srgbClr val="FFF6E9"/>
                </a:solidFill>
                <a:latin typeface="Lato"/>
                <a:ea typeface="Lato"/>
                <a:cs typeface="Lato"/>
              </a:rPr>
              <a:t>“The question arrives</a:t>
            </a:r>
          </a:p>
          <a:p xmlns:a="http://schemas.openxmlformats.org/drawingml/2006/main">
            <a:pPr>
              <a:defRPr sz="2550" b="1">
                <a:solidFill>
                  <a:srgbClr val="FFF6E9"/>
                </a:solidFill>
                <a:latin typeface="Lato"/>
                <a:ea typeface="Lato"/>
                <a:cs typeface="Lato"/>
              </a:defRPr>
            </a:pPr>
            <a:r>
              <a:rPr sz="2550" b="1">
                <a:solidFill>
                  <a:srgbClr val="FFF6E9"/>
                </a:solidFill>
                <a:latin typeface="Lato"/>
                <a:ea typeface="Lato"/>
                <a:cs typeface="Lato"/>
              </a:rPr>
              <a:t>after the lesson.”</a:t>
            </a:r>
          </a:p>
        </p:txBody>
      </p:sp>
      <p:sp>
        <p:nvSpPr>
          <p:cNvPr id="10" name="">
            <a:extLst xmlns:a="http://schemas.openxmlformats.org/drawingml/2006/main">
              <a:ext uri="{FF2B5EF4-FFF2-40B4-BE49-F238E27FC236}">
                <a16:creationId xmlns:a16="http://schemas.microsoft.com/office/drawing/2014/main" id="{B8D4F25A-F206-4170-AFDE-D258FFD3697B}"/>
              </a:ext>
            </a:extLst>
          </p:cNvPr>
          <p:cNvSpPr>
            <a:spLocks xmlns:a="http://schemas.openxmlformats.org/drawingml/2006/main" noGrp="1"/>
          </p:cNvSpPr>
          <p:nvPr/>
        </p:nvSpPr>
        <p:spPr>
          <a:xfrm xmlns:a="http://schemas.openxmlformats.org/drawingml/2006/main">
            <a:off x="971550" y="4343400"/>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E3CDBB"/>
                </a:solidFill>
                <a:latin typeface="Lato"/>
                <a:ea typeface="Lato"/>
                <a:cs typeface="Lato"/>
              </a:defRPr>
            </a:pPr>
            <a:r>
              <a:rPr sz="1275">
                <a:solidFill>
                  <a:srgbClr val="E3CDBB"/>
                </a:solidFill>
                <a:latin typeface="Lato"/>
                <a:ea typeface="Lato"/>
                <a:cs typeface="Lato"/>
              </a:rPr>
              <a:t>Horus University conversations surfaced late-night questions, hesitation about asking “basic” questions, and concern about cost or crowded courses.</a:t>
            </a:r>
          </a:p>
        </p:txBody>
      </p:sp>
      <p:sp>
        <p:nvSpPr>
          <p:cNvPr id="11" name="">
            <a:extLst xmlns:a="http://schemas.openxmlformats.org/drawingml/2006/main">
              <a:ext uri="{FF2B5EF4-FFF2-40B4-BE49-F238E27FC236}">
                <a16:creationId xmlns:a16="http://schemas.microsoft.com/office/drawing/2014/main" id="{80D7AD68-A0ED-4A80-AACA-F1143ECBBE91}"/>
              </a:ext>
            </a:extLst>
          </p:cNvPr>
          <p:cNvSpPr>
            <a:spLocks xmlns:a="http://schemas.openxmlformats.org/drawingml/2006/main" noGrp="1"/>
          </p:cNvSpPr>
          <p:nvPr/>
        </p:nvSpPr>
        <p:spPr>
          <a:xfrm xmlns:a="http://schemas.openxmlformats.org/drawingml/2006/main">
            <a:off x="5981700" y="2324100"/>
            <a:ext cx="5448300" cy="3048000"/>
          </a:xfrm>
          <a:prstGeom xmlns:a="http://schemas.openxmlformats.org/drawingml/2006/main" prst="roundRect">
            <a:avLst>
              <a:gd name="adj" fmla="val 7500"/>
            </a:avLst>
          </a:prstGeom>
          <a:solidFill xmlns:a="http://schemas.openxmlformats.org/drawingml/2006/main">
            <a:srgbClr val="FFFDF8"/>
          </a:solidFill>
          <a:ln xmlns:a="http://schemas.openxmlformats.org/drawingml/2006/main" w="9525">
            <a:solidFill>
              <a:srgbClr val="E7C9A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117FD122-E279-4D34-BEE8-20BBB8C72749}"/>
              </a:ext>
            </a:extLst>
          </p:cNvPr>
          <p:cNvSpPr>
            <a:spLocks xmlns:a="http://schemas.openxmlformats.org/drawingml/2006/main" noGrp="1"/>
          </p:cNvSpPr>
          <p:nvPr/>
        </p:nvSpPr>
        <p:spPr>
          <a:xfrm xmlns:a="http://schemas.openxmlformats.org/drawingml/2006/main">
            <a:off x="6324600" y="26479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defRPr sz="2025" b="1">
                <a:solidFill>
                  <a:srgbClr val="2D180B"/>
                </a:solidFill>
                <a:latin typeface="Lato"/>
                <a:ea typeface="Lato"/>
                <a:cs typeface="Lato"/>
              </a:defRPr>
            </a:pPr>
            <a:r>
              <a:rPr sz="2025" b="1">
                <a:solidFill>
                  <a:srgbClr val="2D180B"/>
                </a:solidFill>
                <a:latin typeface="Lato"/>
                <a:ea typeface="Lato"/>
                <a:cs typeface="Lato"/>
              </a:rPr>
              <a:t>What exists today</a:t>
            </a:r>
          </a:p>
        </p:txBody>
      </p:sp>
      <p:sp>
        <p:nvSpPr>
          <p:cNvPr id="13" name="">
            <a:extLst xmlns:a="http://schemas.openxmlformats.org/drawingml/2006/main">
              <a:ext uri="{FF2B5EF4-FFF2-40B4-BE49-F238E27FC236}">
                <a16:creationId xmlns:a16="http://schemas.microsoft.com/office/drawing/2014/main" id="{4532F616-5F73-42E0-84F5-C5CA241A97C7}"/>
              </a:ext>
            </a:extLst>
          </p:cNvPr>
          <p:cNvSpPr>
            <a:spLocks xmlns:a="http://schemas.openxmlformats.org/drawingml/2006/main" noGrp="1"/>
          </p:cNvSpPr>
          <p:nvPr/>
        </p:nvSpPr>
        <p:spPr>
          <a:xfrm xmlns:a="http://schemas.openxmlformats.org/drawingml/2006/main">
            <a:off x="6324600" y="3238500"/>
            <a:ext cx="266700" cy="2667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FFFFFF"/>
                </a:solidFill>
                <a:latin typeface="Lato"/>
                <a:ea typeface="Lato"/>
                <a:cs typeface="Lato"/>
              </a:defRPr>
            </a:pPr>
            <a:r>
              <a:rPr sz="825" b="1">
                <a:solidFill>
                  <a:srgbClr val="FFFFFF"/>
                </a:solidFill>
                <a:latin typeface="Lato"/>
                <a:ea typeface="Lato"/>
                <a:cs typeface="Lato"/>
              </a:rPr>
              <a:t>1</a:t>
            </a:r>
          </a:p>
        </p:txBody>
      </p:sp>
      <p:sp>
        <p:nvSpPr>
          <p:cNvPr id="14" name="">
            <a:extLst xmlns:a="http://schemas.openxmlformats.org/drawingml/2006/main">
              <a:ext uri="{FF2B5EF4-FFF2-40B4-BE49-F238E27FC236}">
                <a16:creationId xmlns:a16="http://schemas.microsoft.com/office/drawing/2014/main" id="{43B70B49-096D-44C5-BE2A-432F590DBA79}"/>
              </a:ext>
            </a:extLst>
          </p:cNvPr>
          <p:cNvSpPr>
            <a:spLocks xmlns:a="http://schemas.openxmlformats.org/drawingml/2006/main" noGrp="1"/>
          </p:cNvSpPr>
          <p:nvPr/>
        </p:nvSpPr>
        <p:spPr>
          <a:xfrm xmlns:a="http://schemas.openxmlformats.org/drawingml/2006/main">
            <a:off x="6724650" y="3219450"/>
            <a:ext cx="41719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FF8500"/>
                </a:solidFill>
                <a:latin typeface="Lato"/>
                <a:ea typeface="Lato"/>
                <a:cs typeface="Lato"/>
              </a:defRPr>
            </a:pPr>
            <a:r>
              <a:rPr sz="975" b="1">
                <a:solidFill>
                  <a:srgbClr val="FF8500"/>
                </a:solidFill>
                <a:latin typeface="Lato"/>
                <a:ea typeface="Lato"/>
                <a:cs typeface="Lato"/>
              </a:rPr>
              <a:t>DISCOVERY</a:t>
            </a:r>
          </a:p>
        </p:txBody>
      </p:sp>
      <p:sp>
        <p:nvSpPr>
          <p:cNvPr id="15" name="">
            <a:extLst xmlns:a="http://schemas.openxmlformats.org/drawingml/2006/main">
              <a:ext uri="{FF2B5EF4-FFF2-40B4-BE49-F238E27FC236}">
                <a16:creationId xmlns:a16="http://schemas.microsoft.com/office/drawing/2014/main" id="{820B5F5E-DB35-4852-9B03-0562D0D65A09}"/>
              </a:ext>
            </a:extLst>
          </p:cNvPr>
          <p:cNvSpPr>
            <a:spLocks xmlns:a="http://schemas.openxmlformats.org/drawingml/2006/main" noGrp="1"/>
          </p:cNvSpPr>
          <p:nvPr/>
        </p:nvSpPr>
        <p:spPr>
          <a:xfrm xmlns:a="http://schemas.openxmlformats.org/drawingml/2006/main">
            <a:off x="6724650" y="3457575"/>
            <a:ext cx="417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588"/>
          </a:bodyPr>
          <a:lstStyle xmlns:a="http://schemas.openxmlformats.org/drawingml/2006/main"/>
          <a:p xmlns:a="http://schemas.openxmlformats.org/drawingml/2006/main">
            <a:pPr>
              <a:defRPr sz="1275">
                <a:solidFill>
                  <a:srgbClr val="2D180B"/>
                </a:solidFill>
                <a:latin typeface="Lato"/>
                <a:ea typeface="Lato"/>
                <a:cs typeface="Lato"/>
              </a:defRPr>
            </a:pPr>
            <a:r>
              <a:rPr sz="1275">
                <a:solidFill>
                  <a:srgbClr val="2D180B"/>
                </a:solidFill>
                <a:latin typeface="Lato"/>
                <a:ea typeface="Lato"/>
                <a:cs typeface="Lato"/>
              </a:rPr>
              <a:t>A problem statement grounded in conversations, not a quantified survey.</a:t>
            </a:r>
          </a:p>
        </p:txBody>
      </p:sp>
      <p:sp>
        <p:nvSpPr>
          <p:cNvPr id="16" name="">
            <a:extLst xmlns:a="http://schemas.openxmlformats.org/drawingml/2006/main">
              <a:ext uri="{FF2B5EF4-FFF2-40B4-BE49-F238E27FC236}">
                <a16:creationId xmlns:a16="http://schemas.microsoft.com/office/drawing/2014/main" id="{D7A97022-D570-4D95-AFCE-F0376E9BC670}"/>
              </a:ext>
            </a:extLst>
          </p:cNvPr>
          <p:cNvSpPr>
            <a:spLocks xmlns:a="http://schemas.openxmlformats.org/drawingml/2006/main" noGrp="1"/>
          </p:cNvSpPr>
          <p:nvPr/>
        </p:nvSpPr>
        <p:spPr>
          <a:xfrm xmlns:a="http://schemas.openxmlformats.org/drawingml/2006/main">
            <a:off x="6324600" y="4019550"/>
            <a:ext cx="266700" cy="26670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FFFFFF"/>
                </a:solidFill>
                <a:latin typeface="Lato"/>
                <a:ea typeface="Lato"/>
                <a:cs typeface="Lato"/>
              </a:defRPr>
            </a:pPr>
            <a:r>
              <a:rPr sz="825" b="1">
                <a:solidFill>
                  <a:srgbClr val="FFFFFF"/>
                </a:solidFill>
                <a:latin typeface="Lato"/>
                <a:ea typeface="Lato"/>
                <a:cs typeface="Lato"/>
              </a:rPr>
              <a:t>2</a:t>
            </a:r>
          </a:p>
        </p:txBody>
      </p:sp>
      <p:sp>
        <p:nvSpPr>
          <p:cNvPr id="17" name="">
            <a:extLst xmlns:a="http://schemas.openxmlformats.org/drawingml/2006/main">
              <a:ext uri="{FF2B5EF4-FFF2-40B4-BE49-F238E27FC236}">
                <a16:creationId xmlns:a16="http://schemas.microsoft.com/office/drawing/2014/main" id="{DE6A9D74-D32D-4DD1-B337-E58FC6036A11}"/>
              </a:ext>
            </a:extLst>
          </p:cNvPr>
          <p:cNvSpPr>
            <a:spLocks xmlns:a="http://schemas.openxmlformats.org/drawingml/2006/main" noGrp="1"/>
          </p:cNvSpPr>
          <p:nvPr/>
        </p:nvSpPr>
        <p:spPr>
          <a:xfrm xmlns:a="http://schemas.openxmlformats.org/drawingml/2006/main">
            <a:off x="6724650" y="4000500"/>
            <a:ext cx="41719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6E5BAA"/>
                </a:solidFill>
                <a:latin typeface="Lato"/>
                <a:ea typeface="Lato"/>
                <a:cs typeface="Lato"/>
              </a:defRPr>
            </a:pPr>
            <a:r>
              <a:rPr sz="975" b="1">
                <a:solidFill>
                  <a:srgbClr val="6E5BAA"/>
                </a:solidFill>
                <a:latin typeface="Lato"/>
                <a:ea typeface="Lato"/>
                <a:cs typeface="Lato"/>
              </a:rPr>
              <a:t>PROTOTYPE</a:t>
            </a:r>
          </a:p>
        </p:txBody>
      </p:sp>
      <p:sp>
        <p:nvSpPr>
          <p:cNvPr id="18" name="">
            <a:extLst xmlns:a="http://schemas.openxmlformats.org/drawingml/2006/main">
              <a:ext uri="{FF2B5EF4-FFF2-40B4-BE49-F238E27FC236}">
                <a16:creationId xmlns:a16="http://schemas.microsoft.com/office/drawing/2014/main" id="{50E36B19-54CC-406F-A841-7D99B075A874}"/>
              </a:ext>
            </a:extLst>
          </p:cNvPr>
          <p:cNvSpPr>
            <a:spLocks xmlns:a="http://schemas.openxmlformats.org/drawingml/2006/main" noGrp="1"/>
          </p:cNvSpPr>
          <p:nvPr/>
        </p:nvSpPr>
        <p:spPr>
          <a:xfrm xmlns:a="http://schemas.openxmlformats.org/drawingml/2006/main">
            <a:off x="6724650" y="4238625"/>
            <a:ext cx="417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588"/>
          </a:bodyPr>
          <a:lstStyle xmlns:a="http://schemas.openxmlformats.org/drawingml/2006/main"/>
          <a:p xmlns:a="http://schemas.openxmlformats.org/drawingml/2006/main">
            <a:pPr>
              <a:defRPr sz="1275">
                <a:solidFill>
                  <a:srgbClr val="2D180B"/>
                </a:solidFill>
                <a:latin typeface="Lato"/>
                <a:ea typeface="Lato"/>
                <a:cs typeface="Lato"/>
              </a:defRPr>
            </a:pPr>
            <a:r>
              <a:rPr sz="1275">
                <a:solidFill>
                  <a:srgbClr val="2D180B"/>
                </a:solidFill>
                <a:latin typeface="Lato"/>
                <a:ea typeface="Lato"/>
                <a:cs typeface="Lato"/>
              </a:rPr>
              <a:t>A mobile daily-task loop and a desktop guidance concept already exist.</a:t>
            </a:r>
          </a:p>
        </p:txBody>
      </p:sp>
      <p:sp>
        <p:nvSpPr>
          <p:cNvPr id="19" name="">
            <a:extLst xmlns:a="http://schemas.openxmlformats.org/drawingml/2006/main">
              <a:ext uri="{FF2B5EF4-FFF2-40B4-BE49-F238E27FC236}">
                <a16:creationId xmlns:a16="http://schemas.microsoft.com/office/drawing/2014/main" id="{4E3350EB-C0B3-40CD-A428-40D1D1922806}"/>
              </a:ext>
            </a:extLst>
          </p:cNvPr>
          <p:cNvSpPr>
            <a:spLocks xmlns:a="http://schemas.openxmlformats.org/drawingml/2006/main" noGrp="1"/>
          </p:cNvSpPr>
          <p:nvPr/>
        </p:nvSpPr>
        <p:spPr>
          <a:xfrm xmlns:a="http://schemas.openxmlformats.org/drawingml/2006/main">
            <a:off x="6324600" y="4800600"/>
            <a:ext cx="266700" cy="266700"/>
          </a:xfrm>
          <a:prstGeom xmlns:a="http://schemas.openxmlformats.org/drawingml/2006/main" prst="ellipse">
            <a:avLst/>
          </a:prstGeom>
          <a:solidFill xmlns:a="http://schemas.openxmlformats.org/drawingml/2006/main">
            <a:srgbClr val="C64A39"/>
          </a:solidFill>
          <a:ln xmlns:a="http://schemas.openxmlformats.org/drawingml/2006/main" w="0">
            <a:solidFill>
              <a:srgbClr val="C64A3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FFFFFF"/>
                </a:solidFill>
                <a:latin typeface="Lato"/>
                <a:ea typeface="Lato"/>
                <a:cs typeface="Lato"/>
              </a:defRPr>
            </a:pPr>
            <a:r>
              <a:rPr sz="825" b="1">
                <a:solidFill>
                  <a:srgbClr val="FFFFFF"/>
                </a:solidFill>
                <a:latin typeface="Lato"/>
                <a:ea typeface="Lato"/>
                <a:cs typeface="Lato"/>
              </a:rPr>
              <a:t>3</a:t>
            </a:r>
          </a:p>
        </p:txBody>
      </p:sp>
      <p:sp>
        <p:nvSpPr>
          <p:cNvPr id="20" name="">
            <a:extLst xmlns:a="http://schemas.openxmlformats.org/drawingml/2006/main">
              <a:ext uri="{FF2B5EF4-FFF2-40B4-BE49-F238E27FC236}">
                <a16:creationId xmlns:a16="http://schemas.microsoft.com/office/drawing/2014/main" id="{D7F0CE4F-3EBA-447A-BE58-798A0FBBB414}"/>
              </a:ext>
            </a:extLst>
          </p:cNvPr>
          <p:cNvSpPr>
            <a:spLocks xmlns:a="http://schemas.openxmlformats.org/drawingml/2006/main" noGrp="1"/>
          </p:cNvSpPr>
          <p:nvPr/>
        </p:nvSpPr>
        <p:spPr>
          <a:xfrm xmlns:a="http://schemas.openxmlformats.org/drawingml/2006/main">
            <a:off x="6724650" y="4781550"/>
            <a:ext cx="41719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C64A39"/>
                </a:solidFill>
                <a:latin typeface="Lato"/>
                <a:ea typeface="Lato"/>
                <a:cs typeface="Lato"/>
              </a:defRPr>
            </a:pPr>
            <a:r>
              <a:rPr sz="975" b="1">
                <a:solidFill>
                  <a:srgbClr val="C64A39"/>
                </a:solidFill>
                <a:latin typeface="Lato"/>
                <a:ea typeface="Lato"/>
                <a:cs typeface="Lato"/>
              </a:rPr>
              <a:t>MISSING RECORD</a:t>
            </a:r>
          </a:p>
        </p:txBody>
      </p:sp>
      <p:sp>
        <p:nvSpPr>
          <p:cNvPr id="21" name="">
            <a:extLst xmlns:a="http://schemas.openxmlformats.org/drawingml/2006/main">
              <a:ext uri="{FF2B5EF4-FFF2-40B4-BE49-F238E27FC236}">
                <a16:creationId xmlns:a16="http://schemas.microsoft.com/office/drawing/2014/main" id="{F53FC3CA-1433-4D98-A1E9-42E631A69D30}"/>
              </a:ext>
            </a:extLst>
          </p:cNvPr>
          <p:cNvSpPr>
            <a:spLocks xmlns:a="http://schemas.openxmlformats.org/drawingml/2006/main" noGrp="1"/>
          </p:cNvSpPr>
          <p:nvPr/>
        </p:nvSpPr>
        <p:spPr>
          <a:xfrm xmlns:a="http://schemas.openxmlformats.org/drawingml/2006/main">
            <a:off x="6724650" y="5019675"/>
            <a:ext cx="417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588"/>
          </a:bodyPr>
          <a:lstStyle xmlns:a="http://schemas.openxmlformats.org/drawingml/2006/main"/>
          <a:p xmlns:a="http://schemas.openxmlformats.org/drawingml/2006/main">
            <a:pPr>
              <a:defRPr sz="1275">
                <a:solidFill>
                  <a:srgbClr val="2D180B"/>
                </a:solidFill>
                <a:latin typeface="Lato"/>
                <a:ea typeface="Lato"/>
                <a:cs typeface="Lato"/>
              </a:defRPr>
            </a:pPr>
            <a:r>
              <a:rPr sz="1275">
                <a:solidFill>
                  <a:srgbClr val="2D180B"/>
                </a:solidFill>
                <a:latin typeface="Lato"/>
                <a:ea typeface="Lato"/>
                <a:cs typeface="Lato"/>
              </a:rPr>
              <a:t>No verified participant count, dates, recruitment method, or transcripts were supplied.</a:t>
            </a:r>
          </a:p>
        </p:txBody>
      </p:sp>
      <p:sp>
        <p:nvSpPr>
          <p:cNvPr id="22" name="">
            <a:extLst xmlns:a="http://schemas.openxmlformats.org/drawingml/2006/main">
              <a:ext uri="{FF2B5EF4-FFF2-40B4-BE49-F238E27FC236}">
                <a16:creationId xmlns:a16="http://schemas.microsoft.com/office/drawing/2014/main" id="{83DCFEE2-8E6A-42C8-9606-9E2F2C832BA6}"/>
              </a:ext>
            </a:extLst>
          </p:cNvPr>
          <p:cNvSpPr>
            <a:spLocks xmlns:a="http://schemas.openxmlformats.org/drawingml/2006/main" noGrp="1"/>
          </p:cNvSpPr>
          <p:nvPr/>
        </p:nvSpPr>
        <p:spPr>
          <a:xfrm xmlns:a="http://schemas.openxmlformats.org/drawingml/2006/main">
            <a:off x="647700" y="5695950"/>
            <a:ext cx="10782300" cy="457200"/>
          </a:xfrm>
          <a:prstGeom xmlns:a="http://schemas.openxmlformats.org/drawingml/2006/main" prst="roundRect">
            <a:avLst>
              <a:gd name="adj" fmla="val 33333"/>
            </a:avLst>
          </a:prstGeom>
          <a:solidFill xmlns:a="http://schemas.openxmlformats.org/drawingml/2006/main">
            <a:srgbClr val="FFD5A3"/>
          </a:solidFill>
          <a:ln xmlns:a="http://schemas.openxmlformats.org/drawingml/2006/main" w="9525">
            <a:solidFill>
              <a:srgbClr val="FFD5A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0A962247-F96D-4094-83AE-0C9819C7326D}"/>
              </a:ext>
            </a:extLst>
          </p:cNvPr>
          <p:cNvSpPr>
            <a:spLocks xmlns:a="http://schemas.openxmlformats.org/drawingml/2006/main" noGrp="1"/>
          </p:cNvSpPr>
          <p:nvPr/>
        </p:nvSpPr>
        <p:spPr>
          <a:xfrm xmlns:a="http://schemas.openxmlformats.org/drawingml/2006/main">
            <a:off x="933450" y="58197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Use this as discovery evidence. Do not present it as prevalence data.</a:t>
            </a:r>
          </a:p>
        </p:txBody>
      </p:sp>
      <p:sp>
        <p:nvSpPr>
          <p:cNvPr id="24" name="">
            <a:extLst xmlns:a="http://schemas.openxmlformats.org/drawingml/2006/main">
              <a:ext uri="{FF2B5EF4-FFF2-40B4-BE49-F238E27FC236}">
                <a16:creationId xmlns:a16="http://schemas.microsoft.com/office/drawing/2014/main" id="{6D923CD1-57D1-4213-AB00-366CBE6312C0}"/>
              </a:ext>
            </a:extLst>
          </p:cNvPr>
          <p:cNvSpPr>
            <a:spLocks xmlns:a="http://schemas.openxmlformats.org/drawingml/2006/main" noGrp="1"/>
          </p:cNvSpPr>
          <p:nvPr/>
        </p:nvSpPr>
        <p:spPr>
          <a:xfrm xmlns:a="http://schemas.openxmlformats.org/drawingml/2006/main">
            <a:off x="609600" y="6505575"/>
            <a:ext cx="1047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788">
                <a:solidFill>
                  <a:srgbClr val="7D5C42"/>
                </a:solidFill>
                <a:latin typeface="Lato"/>
                <a:ea typeface="Lato"/>
                <a:cs typeface="Lato"/>
              </a:defRPr>
            </a:pPr>
            <a:r>
              <a:rPr sz="788">
                <a:solidFill>
                  <a:srgbClr val="7D5C42"/>
                </a:solidFill>
                <a:latin typeface="Lato"/>
                <a:ea typeface="Lato"/>
                <a:cs typeface="Lato"/>
              </a:rPr>
              <a:t>Evidence status · directional discovery, not yet audited</a:t>
            </a:r>
          </a:p>
        </p:txBody>
      </p:sp>
    </p:spTree>
    <p:extLst>
      <p:ext uri="{BB962C8B-B14F-4D97-AF65-F5344CB8AC3E}">
        <p14:creationId xmlns:p14="http://schemas.microsoft.com/office/powerpoint/2010/main" val="1825336901"/>
      </p:ext>
    </p:extLst>
  </p:cSld>
</p:sld>
</file>

<file path=ppt/slides/slide4.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B547343-F1DB-487D-804E-14E1FB5F5DCA}"/>
              </a:ext>
            </a:extLst>
          </p:cNvPr>
          <p:cNvSpPr>
            <a:spLocks xmlns:a="http://schemas.openxmlformats.org/drawingml/2006/main" noGrp="1"/>
          </p:cNvSpPr>
          <p:nvPr/>
        </p:nvSpPr>
        <p:spPr>
          <a:xfrm xmlns:a="http://schemas.openxmlformats.org/drawingml/2006/main">
            <a:off x="609600" y="2476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6DBC9AF8-C73D-4ECF-BF51-68D7A8BAC032}"/>
              </a:ext>
            </a:extLst>
          </p:cNvPr>
          <p:cNvSpPr>
            <a:spLocks xmlns:a="http://schemas.openxmlformats.org/drawingml/2006/main" noGrp="1"/>
          </p:cNvSpPr>
          <p:nvPr/>
        </p:nvSpPr>
        <p:spPr>
          <a:xfrm xmlns:a="http://schemas.openxmlformats.org/drawingml/2006/main">
            <a:off x="2114550" y="2952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895F3C"/>
                </a:solidFill>
                <a:latin typeface="Lato"/>
                <a:ea typeface="Lato"/>
                <a:cs typeface="Lato"/>
              </a:defRPr>
            </a:pPr>
            <a:r>
              <a:rPr sz="825" b="1">
                <a:solidFill>
                  <a:srgbClr val="895F3C"/>
                </a:solidFill>
                <a:latin typeface="Lato"/>
                <a:ea typeface="Lato"/>
                <a:cs typeface="Lato"/>
              </a:rPr>
              <a:t>EGYPT CONTEXT</a:t>
            </a:r>
          </a:p>
        </p:txBody>
      </p:sp>
      <p:sp>
        <p:nvSpPr>
          <p:cNvPr id="3" name="">
            <a:extLst xmlns:a="http://schemas.openxmlformats.org/drawingml/2006/main">
              <a:ext uri="{FF2B5EF4-FFF2-40B4-BE49-F238E27FC236}">
                <a16:creationId xmlns:a16="http://schemas.microsoft.com/office/drawing/2014/main" id="{51EDD2F8-5B05-46E9-BD1F-E0A006BF738D}"/>
              </a:ext>
            </a:extLst>
          </p:cNvPr>
          <p:cNvSpPr>
            <a:spLocks xmlns:a="http://schemas.openxmlformats.org/drawingml/2006/main" noGrp="1"/>
          </p:cNvSpPr>
          <p:nvPr/>
        </p:nvSpPr>
        <p:spPr>
          <a:xfrm xmlns:a="http://schemas.openxmlformats.org/drawingml/2006/main">
            <a:off x="11201400" y="2762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2D180B"/>
                </a:solidFill>
                <a:latin typeface="Lato"/>
                <a:ea typeface="Lato"/>
                <a:cs typeface="Lato"/>
              </a:defRPr>
            </a:pPr>
            <a:r>
              <a:rPr sz="975" b="1">
                <a:solidFill>
                  <a:srgbClr val="2D180B"/>
                </a:solidFill>
                <a:latin typeface="Lato"/>
                <a:ea typeface="Lato"/>
                <a:cs typeface="Lato"/>
              </a:rPr>
              <a:t>04</a:t>
            </a:r>
          </a:p>
        </p:txBody>
      </p:sp>
      <p:sp>
        <p:nvSpPr>
          <p:cNvPr id="4" name="">
            <a:extLst xmlns:a="http://schemas.openxmlformats.org/drawingml/2006/main">
              <a:ext uri="{FF2B5EF4-FFF2-40B4-BE49-F238E27FC236}">
                <a16:creationId xmlns:a16="http://schemas.microsoft.com/office/drawing/2014/main" id="{AE8ACFB3-3EE3-4118-8915-992EFAAB53F6}"/>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E7C9A7"/>
            </a:solidFill>
            <a:prstDash val="solid"/>
          </a:ln>
        </p:spPr>
      </p:sp>
      <p:sp>
        <p:nvSpPr>
          <p:cNvPr id="5" name="">
            <a:extLst xmlns:a="http://schemas.openxmlformats.org/drawingml/2006/main">
              <a:ext uri="{FF2B5EF4-FFF2-40B4-BE49-F238E27FC236}">
                <a16:creationId xmlns:a16="http://schemas.microsoft.com/office/drawing/2014/main" id="{02238EDC-C2E9-4F48-BF9B-95718AFD5224}"/>
              </a:ext>
            </a:extLst>
          </p:cNvPr>
          <p:cNvSpPr>
            <a:spLocks xmlns:a="http://schemas.openxmlformats.org/drawingml/2006/main" noGrp="1"/>
          </p:cNvSpPr>
          <p:nvPr/>
        </p:nvSpPr>
        <p:spPr>
          <a:xfrm xmlns:a="http://schemas.openxmlformats.org/drawingml/2006/main">
            <a:off x="609600" y="971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300" b="1">
                <a:solidFill>
                  <a:srgbClr val="2D180B"/>
                </a:solidFill>
                <a:latin typeface="Lato"/>
                <a:ea typeface="Lato"/>
                <a:cs typeface="Lato"/>
              </a:defRPr>
            </a:pPr>
            <a:r>
              <a:rPr sz="3300" b="1">
                <a:solidFill>
                  <a:srgbClr val="2D180B"/>
                </a:solidFill>
                <a:latin typeface="Lato"/>
                <a:ea typeface="Lato"/>
                <a:cs typeface="Lato"/>
              </a:rPr>
              <a:t>Egypt survey: students wanted more interaction</a:t>
            </a:r>
          </a:p>
        </p:txBody>
      </p:sp>
      <p:sp>
        <p:nvSpPr>
          <p:cNvPr id="6" name="">
            <a:extLst xmlns:a="http://schemas.openxmlformats.org/drawingml/2006/main">
              <a:ext uri="{FF2B5EF4-FFF2-40B4-BE49-F238E27FC236}">
                <a16:creationId xmlns:a16="http://schemas.microsoft.com/office/drawing/2014/main" id="{C5E13F71-74B4-4BE5-B96C-D3DC04B2050D}"/>
              </a:ext>
            </a:extLst>
          </p:cNvPr>
          <p:cNvSpPr>
            <a:spLocks xmlns:a="http://schemas.openxmlformats.org/drawingml/2006/main" noGrp="1"/>
          </p:cNvSpPr>
          <p:nvPr/>
        </p:nvSpPr>
        <p:spPr>
          <a:xfrm xmlns:a="http://schemas.openxmlformats.org/drawingml/2006/main">
            <a:off x="647700" y="1638300"/>
            <a:ext cx="923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895F3C"/>
                </a:solidFill>
                <a:latin typeface="Lato"/>
                <a:ea typeface="Lato"/>
                <a:cs typeface="Lato"/>
              </a:defRPr>
            </a:pPr>
            <a:r>
              <a:rPr sz="1425">
                <a:solidFill>
                  <a:srgbClr val="895F3C"/>
                </a:solidFill>
                <a:latin typeface="Lato"/>
                <a:ea typeface="Lato"/>
                <a:cs typeface="Lato"/>
              </a:rPr>
              <a:t>A large medical-student survey gives local context for the support gap, with important limits.</a:t>
            </a:r>
          </a:p>
        </p:txBody>
      </p:sp>
      <p:sp>
        <p:nvSpPr>
          <p:cNvPr id="7" name="">
            <a:extLst xmlns:a="http://schemas.openxmlformats.org/drawingml/2006/main">
              <a:ext uri="{FF2B5EF4-FFF2-40B4-BE49-F238E27FC236}">
                <a16:creationId xmlns:a16="http://schemas.microsoft.com/office/drawing/2014/main" id="{5C3008A6-9347-41F2-A69D-E988E9487690}"/>
              </a:ext>
            </a:extLst>
          </p:cNvPr>
          <p:cNvSpPr>
            <a:spLocks xmlns:a="http://schemas.openxmlformats.org/drawingml/2006/main" noGrp="1"/>
          </p:cNvSpPr>
          <p:nvPr/>
        </p:nvSpPr>
        <p:spPr>
          <a:xfrm xmlns:a="http://schemas.openxmlformats.org/drawingml/2006/main">
            <a:off x="647700" y="2171700"/>
            <a:ext cx="2333625" cy="1257300"/>
          </a:xfrm>
          <a:prstGeom xmlns:a="http://schemas.openxmlformats.org/drawingml/2006/main" prst="roundRect">
            <a:avLst>
              <a:gd name="adj" fmla="val 12121"/>
            </a:avLst>
          </a:prstGeom>
          <a:solidFill xmlns:a="http://schemas.openxmlformats.org/drawingml/2006/main">
            <a:srgbClr val="FFFDF8"/>
          </a:solidFill>
          <a:ln xmlns:a="http://schemas.openxmlformats.org/drawingml/2006/main" w="9525">
            <a:solidFill>
              <a:srgbClr val="E7C9A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25AC14C7-BA7C-4564-A7C0-3BEBA2BCAAA5}"/>
              </a:ext>
            </a:extLst>
          </p:cNvPr>
          <p:cNvSpPr>
            <a:spLocks xmlns:a="http://schemas.openxmlformats.org/drawingml/2006/main" noGrp="1"/>
          </p:cNvSpPr>
          <p:nvPr/>
        </p:nvSpPr>
        <p:spPr>
          <a:xfrm xmlns:a="http://schemas.openxmlformats.org/drawingml/2006/main">
            <a:off x="857250" y="2343150"/>
            <a:ext cx="1914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FF8500"/>
                </a:solidFill>
                <a:latin typeface="Lato"/>
                <a:ea typeface="Lato"/>
                <a:cs typeface="Lato"/>
              </a:defRPr>
            </a:pPr>
            <a:r>
              <a:rPr sz="2775" b="1">
                <a:solidFill>
                  <a:srgbClr val="FF8500"/>
                </a:solidFill>
                <a:latin typeface="Lato"/>
                <a:ea typeface="Lato"/>
                <a:cs typeface="Lato"/>
              </a:rPr>
              <a:t>4,935</a:t>
            </a:r>
          </a:p>
        </p:txBody>
      </p:sp>
      <p:sp>
        <p:nvSpPr>
          <p:cNvPr id="9" name="">
            <a:extLst xmlns:a="http://schemas.openxmlformats.org/drawingml/2006/main">
              <a:ext uri="{FF2B5EF4-FFF2-40B4-BE49-F238E27FC236}">
                <a16:creationId xmlns:a16="http://schemas.microsoft.com/office/drawing/2014/main" id="{B6450801-9F7B-4A3B-A14F-1BDC7B658C54}"/>
              </a:ext>
            </a:extLst>
          </p:cNvPr>
          <p:cNvSpPr>
            <a:spLocks xmlns:a="http://schemas.openxmlformats.org/drawingml/2006/main" noGrp="1"/>
          </p:cNvSpPr>
          <p:nvPr/>
        </p:nvSpPr>
        <p:spPr>
          <a:xfrm xmlns:a="http://schemas.openxmlformats.org/drawingml/2006/main">
            <a:off x="857250" y="2924175"/>
            <a:ext cx="1914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responses</a:t>
            </a:r>
          </a:p>
        </p:txBody>
      </p:sp>
      <p:sp>
        <p:nvSpPr>
          <p:cNvPr id="10" name="">
            <a:extLst xmlns:a="http://schemas.openxmlformats.org/drawingml/2006/main">
              <a:ext uri="{FF2B5EF4-FFF2-40B4-BE49-F238E27FC236}">
                <a16:creationId xmlns:a16="http://schemas.microsoft.com/office/drawing/2014/main" id="{670A0BD6-BBD1-4AD7-8E2E-DA9AE2F74984}"/>
              </a:ext>
            </a:extLst>
          </p:cNvPr>
          <p:cNvSpPr>
            <a:spLocks xmlns:a="http://schemas.openxmlformats.org/drawingml/2006/main" noGrp="1"/>
          </p:cNvSpPr>
          <p:nvPr/>
        </p:nvSpPr>
        <p:spPr>
          <a:xfrm xmlns:a="http://schemas.openxmlformats.org/drawingml/2006/main">
            <a:off x="3143250" y="2171700"/>
            <a:ext cx="2333625" cy="1257300"/>
          </a:xfrm>
          <a:prstGeom xmlns:a="http://schemas.openxmlformats.org/drawingml/2006/main" prst="roundRect">
            <a:avLst>
              <a:gd name="adj" fmla="val 12121"/>
            </a:avLst>
          </a:prstGeom>
          <a:solidFill xmlns:a="http://schemas.openxmlformats.org/drawingml/2006/main">
            <a:srgbClr val="FFFDF8"/>
          </a:solidFill>
          <a:ln xmlns:a="http://schemas.openxmlformats.org/drawingml/2006/main" w="9525">
            <a:solidFill>
              <a:srgbClr val="E7C9A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1D390D21-ACF3-4390-9234-3649F95CDDA6}"/>
              </a:ext>
            </a:extLst>
          </p:cNvPr>
          <p:cNvSpPr>
            <a:spLocks xmlns:a="http://schemas.openxmlformats.org/drawingml/2006/main" noGrp="1"/>
          </p:cNvSpPr>
          <p:nvPr/>
        </p:nvSpPr>
        <p:spPr>
          <a:xfrm xmlns:a="http://schemas.openxmlformats.org/drawingml/2006/main">
            <a:off x="3352800" y="2343150"/>
            <a:ext cx="1914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6E5BAA"/>
                </a:solidFill>
                <a:latin typeface="Lato"/>
                <a:ea typeface="Lato"/>
                <a:cs typeface="Lato"/>
              </a:defRPr>
            </a:pPr>
            <a:r>
              <a:rPr sz="2775" b="1">
                <a:solidFill>
                  <a:srgbClr val="6E5BAA"/>
                </a:solidFill>
                <a:latin typeface="Lato"/>
                <a:ea typeface="Lato"/>
                <a:cs typeface="Lato"/>
              </a:rPr>
              <a:t>26</a:t>
            </a:r>
          </a:p>
        </p:txBody>
      </p:sp>
      <p:sp>
        <p:nvSpPr>
          <p:cNvPr id="12" name="">
            <a:extLst xmlns:a="http://schemas.openxmlformats.org/drawingml/2006/main">
              <a:ext uri="{FF2B5EF4-FFF2-40B4-BE49-F238E27FC236}">
                <a16:creationId xmlns:a16="http://schemas.microsoft.com/office/drawing/2014/main" id="{0D9C0B66-7167-4A7F-B1FD-09D4B9E68024}"/>
              </a:ext>
            </a:extLst>
          </p:cNvPr>
          <p:cNvSpPr>
            <a:spLocks xmlns:a="http://schemas.openxmlformats.org/drawingml/2006/main" noGrp="1"/>
          </p:cNvSpPr>
          <p:nvPr/>
        </p:nvSpPr>
        <p:spPr>
          <a:xfrm xmlns:a="http://schemas.openxmlformats.org/drawingml/2006/main">
            <a:off x="3352800" y="2924175"/>
            <a:ext cx="1914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Egyptian medical schools</a:t>
            </a:r>
          </a:p>
        </p:txBody>
      </p:sp>
      <p:sp>
        <p:nvSpPr>
          <p:cNvPr id="13" name="">
            <a:extLst xmlns:a="http://schemas.openxmlformats.org/drawingml/2006/main">
              <a:ext uri="{FF2B5EF4-FFF2-40B4-BE49-F238E27FC236}">
                <a16:creationId xmlns:a16="http://schemas.microsoft.com/office/drawing/2014/main" id="{C23D0B68-1DDB-4801-B278-F2B17710F8E0}"/>
              </a:ext>
            </a:extLst>
          </p:cNvPr>
          <p:cNvSpPr>
            <a:spLocks xmlns:a="http://schemas.openxmlformats.org/drawingml/2006/main" noGrp="1"/>
          </p:cNvSpPr>
          <p:nvPr/>
        </p:nvSpPr>
        <p:spPr>
          <a:xfrm xmlns:a="http://schemas.openxmlformats.org/drawingml/2006/main">
            <a:off x="5638800" y="2171700"/>
            <a:ext cx="2333625" cy="1257300"/>
          </a:xfrm>
          <a:prstGeom xmlns:a="http://schemas.openxmlformats.org/drawingml/2006/main" prst="roundRect">
            <a:avLst>
              <a:gd name="adj" fmla="val 12121"/>
            </a:avLst>
          </a:prstGeom>
          <a:solidFill xmlns:a="http://schemas.openxmlformats.org/drawingml/2006/main">
            <a:srgbClr val="FFFDF8"/>
          </a:solidFill>
          <a:ln xmlns:a="http://schemas.openxmlformats.org/drawingml/2006/main" w="9525">
            <a:solidFill>
              <a:srgbClr val="E7C9A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839CA406-D56F-4AA3-B421-56945C60F61D}"/>
              </a:ext>
            </a:extLst>
          </p:cNvPr>
          <p:cNvSpPr>
            <a:spLocks xmlns:a="http://schemas.openxmlformats.org/drawingml/2006/main" noGrp="1"/>
          </p:cNvSpPr>
          <p:nvPr/>
        </p:nvSpPr>
        <p:spPr>
          <a:xfrm xmlns:a="http://schemas.openxmlformats.org/drawingml/2006/main">
            <a:off x="5848350" y="2343150"/>
            <a:ext cx="1914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2E9B62"/>
                </a:solidFill>
                <a:latin typeface="Lato"/>
                <a:ea typeface="Lato"/>
                <a:cs typeface="Lato"/>
              </a:defRPr>
            </a:pPr>
            <a:r>
              <a:rPr sz="2775" b="1">
                <a:solidFill>
                  <a:srgbClr val="2E9B62"/>
                </a:solidFill>
                <a:latin typeface="Lato"/>
                <a:ea typeface="Lato"/>
                <a:cs typeface="Lato"/>
              </a:rPr>
              <a:t>&gt;50%</a:t>
            </a:r>
          </a:p>
        </p:txBody>
      </p:sp>
      <p:sp>
        <p:nvSpPr>
          <p:cNvPr id="15" name="">
            <a:extLst xmlns:a="http://schemas.openxmlformats.org/drawingml/2006/main">
              <a:ext uri="{FF2B5EF4-FFF2-40B4-BE49-F238E27FC236}">
                <a16:creationId xmlns:a16="http://schemas.microsoft.com/office/drawing/2014/main" id="{C7B3D079-AA32-4412-9A0C-047EF1E6B173}"/>
              </a:ext>
            </a:extLst>
          </p:cNvPr>
          <p:cNvSpPr>
            <a:spLocks xmlns:a="http://schemas.openxmlformats.org/drawingml/2006/main" noGrp="1"/>
          </p:cNvSpPr>
          <p:nvPr/>
        </p:nvSpPr>
        <p:spPr>
          <a:xfrm xmlns:a="http://schemas.openxmlformats.org/drawingml/2006/main">
            <a:off x="5848350" y="2924175"/>
            <a:ext cx="1914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546"/>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wanted more interactive sessions</a:t>
            </a:r>
          </a:p>
        </p:txBody>
      </p:sp>
      <p:sp>
        <p:nvSpPr>
          <p:cNvPr id="16" name="">
            <a:extLst xmlns:a="http://schemas.openxmlformats.org/drawingml/2006/main">
              <a:ext uri="{FF2B5EF4-FFF2-40B4-BE49-F238E27FC236}">
                <a16:creationId xmlns:a16="http://schemas.microsoft.com/office/drawing/2014/main" id="{2AA5515A-A264-45D3-8AD2-0EA7F5F52D5F}"/>
              </a:ext>
            </a:extLst>
          </p:cNvPr>
          <p:cNvSpPr>
            <a:spLocks xmlns:a="http://schemas.openxmlformats.org/drawingml/2006/main" noGrp="1"/>
          </p:cNvSpPr>
          <p:nvPr/>
        </p:nvSpPr>
        <p:spPr>
          <a:xfrm xmlns:a="http://schemas.openxmlformats.org/drawingml/2006/main">
            <a:off x="8134350" y="2171700"/>
            <a:ext cx="3295650" cy="1257300"/>
          </a:xfrm>
          <a:prstGeom xmlns:a="http://schemas.openxmlformats.org/drawingml/2006/main" prst="roundRect">
            <a:avLst>
              <a:gd name="adj" fmla="val 12121"/>
            </a:avLst>
          </a:prstGeom>
          <a:solidFill xmlns:a="http://schemas.openxmlformats.org/drawingml/2006/main">
            <a:srgbClr val="FFFDF8"/>
          </a:solidFill>
          <a:ln xmlns:a="http://schemas.openxmlformats.org/drawingml/2006/main" w="9525">
            <a:solidFill>
              <a:srgbClr val="E7C9A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F3A1C5BB-8588-43B1-A7E3-3110E0A494A5}"/>
              </a:ext>
            </a:extLst>
          </p:cNvPr>
          <p:cNvSpPr>
            <a:spLocks xmlns:a="http://schemas.openxmlformats.org/drawingml/2006/main" noGrp="1"/>
          </p:cNvSpPr>
          <p:nvPr/>
        </p:nvSpPr>
        <p:spPr>
          <a:xfrm xmlns:a="http://schemas.openxmlformats.org/drawingml/2006/main">
            <a:off x="8343900" y="2343150"/>
            <a:ext cx="287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C45300"/>
                </a:solidFill>
                <a:latin typeface="Lato"/>
                <a:ea typeface="Lato"/>
                <a:cs typeface="Lato"/>
              </a:defRPr>
            </a:pPr>
            <a:r>
              <a:rPr sz="2775" b="1">
                <a:solidFill>
                  <a:srgbClr val="C45300"/>
                </a:solidFill>
                <a:latin typeface="Lato"/>
                <a:ea typeface="Lato"/>
                <a:cs typeface="Lato"/>
              </a:rPr>
              <a:t>63%</a:t>
            </a:r>
          </a:p>
        </p:txBody>
      </p:sp>
      <p:sp>
        <p:nvSpPr>
          <p:cNvPr id="18" name="">
            <a:extLst xmlns:a="http://schemas.openxmlformats.org/drawingml/2006/main">
              <a:ext uri="{FF2B5EF4-FFF2-40B4-BE49-F238E27FC236}">
                <a16:creationId xmlns:a16="http://schemas.microsoft.com/office/drawing/2014/main" id="{F8D9D428-A30D-434E-9608-7D7B1CF7AEAF}"/>
              </a:ext>
            </a:extLst>
          </p:cNvPr>
          <p:cNvSpPr>
            <a:spLocks xmlns:a="http://schemas.openxmlformats.org/drawingml/2006/main" noGrp="1"/>
          </p:cNvSpPr>
          <p:nvPr/>
        </p:nvSpPr>
        <p:spPr>
          <a:xfrm xmlns:a="http://schemas.openxmlformats.org/drawingml/2006/main">
            <a:off x="8343900" y="2924175"/>
            <a:ext cx="2876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rated recorded video tutorials most effective</a:t>
            </a:r>
          </a:p>
        </p:txBody>
      </p:sp>
      <p:sp>
        <p:nvSpPr>
          <p:cNvPr id="19" name="">
            <a:extLst xmlns:a="http://schemas.openxmlformats.org/drawingml/2006/main">
              <a:ext uri="{FF2B5EF4-FFF2-40B4-BE49-F238E27FC236}">
                <a16:creationId xmlns:a16="http://schemas.microsoft.com/office/drawing/2014/main" id="{842EA8A1-BAB9-4003-8241-45783795BADF}"/>
              </a:ext>
            </a:extLst>
          </p:cNvPr>
          <p:cNvSpPr>
            <a:spLocks xmlns:a="http://schemas.openxmlformats.org/drawingml/2006/main" noGrp="1"/>
          </p:cNvSpPr>
          <p:nvPr/>
        </p:nvSpPr>
        <p:spPr>
          <a:xfrm xmlns:a="http://schemas.openxmlformats.org/drawingml/2006/main">
            <a:off x="800100" y="3848100"/>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defRPr sz="1650" b="1">
                <a:solidFill>
                  <a:srgbClr val="C64A39"/>
                </a:solidFill>
                <a:latin typeface="Lato"/>
                <a:ea typeface="Lato"/>
                <a:cs typeface="Lato"/>
              </a:defRPr>
            </a:pPr>
            <a:r>
              <a:rPr sz="1650" b="1">
                <a:solidFill>
                  <a:srgbClr val="C64A39"/>
                </a:solidFill>
                <a:latin typeface="Lato"/>
                <a:ea typeface="Lato"/>
                <a:cs typeface="Lato"/>
              </a:rPr>
              <a:t>54.6%</a:t>
            </a:r>
          </a:p>
        </p:txBody>
      </p:sp>
      <p:sp>
        <p:nvSpPr>
          <p:cNvPr id="20" name="">
            <a:extLst xmlns:a="http://schemas.openxmlformats.org/drawingml/2006/main">
              <a:ext uri="{FF2B5EF4-FFF2-40B4-BE49-F238E27FC236}">
                <a16:creationId xmlns:a16="http://schemas.microsoft.com/office/drawing/2014/main" id="{8702B384-4F98-4AE4-A960-F16D61F99C24}"/>
              </a:ext>
            </a:extLst>
          </p:cNvPr>
          <p:cNvSpPr>
            <a:spLocks xmlns:a="http://schemas.openxmlformats.org/drawingml/2006/main" noGrp="1"/>
          </p:cNvSpPr>
          <p:nvPr/>
        </p:nvSpPr>
        <p:spPr>
          <a:xfrm xmlns:a="http://schemas.openxmlformats.org/drawingml/2006/main">
            <a:off x="2038350" y="3990975"/>
            <a:ext cx="1104900" cy="0"/>
          </a:xfrm>
          <a:prstGeom xmlns:a="http://schemas.openxmlformats.org/drawingml/2006/main" prst="line">
            <a:avLst/>
          </a:prstGeom>
          <a:noFill xmlns:a="http://schemas.openxmlformats.org/drawingml/2006/main"/>
          <a:ln xmlns:a="http://schemas.openxmlformats.org/drawingml/2006/main" w="66675">
            <a:solidFill>
              <a:srgbClr val="C64A39"/>
            </a:solidFill>
            <a:prstDash val="solid"/>
          </a:ln>
        </p:spPr>
      </p:sp>
      <p:sp>
        <p:nvSpPr>
          <p:cNvPr id="21" name="">
            <a:extLst xmlns:a="http://schemas.openxmlformats.org/drawingml/2006/main">
              <a:ext uri="{FF2B5EF4-FFF2-40B4-BE49-F238E27FC236}">
                <a16:creationId xmlns:a16="http://schemas.microsoft.com/office/drawing/2014/main" id="{7FFA5C6A-1F56-44FD-B78B-25F11253E498}"/>
              </a:ext>
            </a:extLst>
          </p:cNvPr>
          <p:cNvSpPr>
            <a:spLocks xmlns:a="http://schemas.openxmlformats.org/drawingml/2006/main" noGrp="1"/>
          </p:cNvSpPr>
          <p:nvPr/>
        </p:nvSpPr>
        <p:spPr>
          <a:xfrm xmlns:a="http://schemas.openxmlformats.org/drawingml/2006/main">
            <a:off x="3429000" y="3857625"/>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2D180B"/>
                </a:solidFill>
                <a:latin typeface="Lato"/>
                <a:ea typeface="Lato"/>
                <a:cs typeface="Lato"/>
              </a:defRPr>
            </a:pPr>
            <a:r>
              <a:rPr sz="1275">
                <a:solidFill>
                  <a:srgbClr val="2D180B"/>
                </a:solidFill>
                <a:latin typeface="Lato"/>
                <a:ea typeface="Lato"/>
                <a:cs typeface="Lato"/>
              </a:rPr>
              <a:t>said online education was not as effective as face-to-face</a:t>
            </a:r>
          </a:p>
        </p:txBody>
      </p:sp>
      <p:sp>
        <p:nvSpPr>
          <p:cNvPr id="22" name="">
            <a:extLst xmlns:a="http://schemas.openxmlformats.org/drawingml/2006/main">
              <a:ext uri="{FF2B5EF4-FFF2-40B4-BE49-F238E27FC236}">
                <a16:creationId xmlns:a16="http://schemas.microsoft.com/office/drawing/2014/main" id="{668B68F5-9B30-4F2C-8DD2-94E828B0D63E}"/>
              </a:ext>
            </a:extLst>
          </p:cNvPr>
          <p:cNvSpPr>
            <a:spLocks xmlns:a="http://schemas.openxmlformats.org/drawingml/2006/main" noGrp="1"/>
          </p:cNvSpPr>
          <p:nvPr/>
        </p:nvSpPr>
        <p:spPr>
          <a:xfrm xmlns:a="http://schemas.openxmlformats.org/drawingml/2006/main">
            <a:off x="800100" y="4305300"/>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defRPr sz="1650" b="1">
                <a:solidFill>
                  <a:srgbClr val="FF8500"/>
                </a:solidFill>
                <a:latin typeface="Lato"/>
                <a:ea typeface="Lato"/>
                <a:cs typeface="Lato"/>
              </a:defRPr>
            </a:pPr>
            <a:r>
              <a:rPr sz="1650" b="1">
                <a:solidFill>
                  <a:srgbClr val="FF8500"/>
                </a:solidFill>
                <a:latin typeface="Lato"/>
                <a:ea typeface="Lato"/>
                <a:cs typeface="Lato"/>
              </a:rPr>
              <a:t>23%</a:t>
            </a:r>
          </a:p>
        </p:txBody>
      </p:sp>
      <p:sp>
        <p:nvSpPr>
          <p:cNvPr id="23" name="">
            <a:extLst xmlns:a="http://schemas.openxmlformats.org/drawingml/2006/main">
              <a:ext uri="{FF2B5EF4-FFF2-40B4-BE49-F238E27FC236}">
                <a16:creationId xmlns:a16="http://schemas.microsoft.com/office/drawing/2014/main" id="{7068C6E2-E18E-4AF0-8983-E4FD0846C7F3}"/>
              </a:ext>
            </a:extLst>
          </p:cNvPr>
          <p:cNvSpPr>
            <a:spLocks xmlns:a="http://schemas.openxmlformats.org/drawingml/2006/main" noGrp="1"/>
          </p:cNvSpPr>
          <p:nvPr/>
        </p:nvSpPr>
        <p:spPr>
          <a:xfrm xmlns:a="http://schemas.openxmlformats.org/drawingml/2006/main">
            <a:off x="2038350" y="4448175"/>
            <a:ext cx="1104900" cy="0"/>
          </a:xfrm>
          <a:prstGeom xmlns:a="http://schemas.openxmlformats.org/drawingml/2006/main" prst="line">
            <a:avLst/>
          </a:prstGeom>
          <a:noFill xmlns:a="http://schemas.openxmlformats.org/drawingml/2006/main"/>
          <a:ln xmlns:a="http://schemas.openxmlformats.org/drawingml/2006/main" w="66675">
            <a:solidFill>
              <a:srgbClr val="FF8500"/>
            </a:solidFill>
            <a:prstDash val="solid"/>
          </a:ln>
        </p:spPr>
      </p:sp>
      <p:sp>
        <p:nvSpPr>
          <p:cNvPr id="24" name="">
            <a:extLst xmlns:a="http://schemas.openxmlformats.org/drawingml/2006/main">
              <a:ext uri="{FF2B5EF4-FFF2-40B4-BE49-F238E27FC236}">
                <a16:creationId xmlns:a16="http://schemas.microsoft.com/office/drawing/2014/main" id="{992D14B0-122B-4EB0-91FD-3347ADEA8E29}"/>
              </a:ext>
            </a:extLst>
          </p:cNvPr>
          <p:cNvSpPr>
            <a:spLocks xmlns:a="http://schemas.openxmlformats.org/drawingml/2006/main" noGrp="1"/>
          </p:cNvSpPr>
          <p:nvPr/>
        </p:nvSpPr>
        <p:spPr>
          <a:xfrm xmlns:a="http://schemas.openxmlformats.org/drawingml/2006/main">
            <a:off x="3429000" y="4314825"/>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2D180B"/>
                </a:solidFill>
                <a:latin typeface="Lato"/>
                <a:ea typeface="Lato"/>
                <a:cs typeface="Lato"/>
              </a:defRPr>
            </a:pPr>
            <a:r>
              <a:rPr sz="1275">
                <a:solidFill>
                  <a:srgbClr val="2D180B"/>
                </a:solidFill>
                <a:latin typeface="Lato"/>
                <a:ea typeface="Lato"/>
                <a:cs typeface="Lato"/>
              </a:rPr>
              <a:t>reported bad internet connection</a:t>
            </a:r>
          </a:p>
        </p:txBody>
      </p:sp>
      <p:sp>
        <p:nvSpPr>
          <p:cNvPr id="25" name="">
            <a:extLst xmlns:a="http://schemas.openxmlformats.org/drawingml/2006/main">
              <a:ext uri="{FF2B5EF4-FFF2-40B4-BE49-F238E27FC236}">
                <a16:creationId xmlns:a16="http://schemas.microsoft.com/office/drawing/2014/main" id="{83AF5E20-22D3-41FB-AD93-A84DF0A97F94}"/>
              </a:ext>
            </a:extLst>
          </p:cNvPr>
          <p:cNvSpPr>
            <a:spLocks xmlns:a="http://schemas.openxmlformats.org/drawingml/2006/main" noGrp="1"/>
          </p:cNvSpPr>
          <p:nvPr/>
        </p:nvSpPr>
        <p:spPr>
          <a:xfrm xmlns:a="http://schemas.openxmlformats.org/drawingml/2006/main">
            <a:off x="800100" y="4762500"/>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defRPr sz="1650" b="1">
                <a:solidFill>
                  <a:srgbClr val="6E5BAA"/>
                </a:solidFill>
                <a:latin typeface="Lato"/>
                <a:ea typeface="Lato"/>
                <a:cs typeface="Lato"/>
              </a:defRPr>
            </a:pPr>
            <a:r>
              <a:rPr sz="1650" b="1">
                <a:solidFill>
                  <a:srgbClr val="6E5BAA"/>
                </a:solidFill>
                <a:latin typeface="Lato"/>
                <a:ea typeface="Lato"/>
                <a:cs typeface="Lato"/>
              </a:rPr>
              <a:t>17%</a:t>
            </a:r>
          </a:p>
        </p:txBody>
      </p:sp>
      <p:sp>
        <p:nvSpPr>
          <p:cNvPr id="26" name="">
            <a:extLst xmlns:a="http://schemas.openxmlformats.org/drawingml/2006/main">
              <a:ext uri="{FF2B5EF4-FFF2-40B4-BE49-F238E27FC236}">
                <a16:creationId xmlns:a16="http://schemas.microsoft.com/office/drawing/2014/main" id="{996B82C8-6E8D-4B9D-9267-F0F6712073B8}"/>
              </a:ext>
            </a:extLst>
          </p:cNvPr>
          <p:cNvSpPr>
            <a:spLocks xmlns:a="http://schemas.openxmlformats.org/drawingml/2006/main" noGrp="1"/>
          </p:cNvSpPr>
          <p:nvPr/>
        </p:nvSpPr>
        <p:spPr>
          <a:xfrm xmlns:a="http://schemas.openxmlformats.org/drawingml/2006/main">
            <a:off x="2038350" y="4905375"/>
            <a:ext cx="1104900" cy="0"/>
          </a:xfrm>
          <a:prstGeom xmlns:a="http://schemas.openxmlformats.org/drawingml/2006/main" prst="line">
            <a:avLst/>
          </a:prstGeom>
          <a:noFill xmlns:a="http://schemas.openxmlformats.org/drawingml/2006/main"/>
          <a:ln xmlns:a="http://schemas.openxmlformats.org/drawingml/2006/main" w="66675">
            <a:solidFill>
              <a:srgbClr val="6E5BAA"/>
            </a:solidFill>
            <a:prstDash val="solid"/>
          </a:ln>
        </p:spPr>
      </p:sp>
      <p:sp>
        <p:nvSpPr>
          <p:cNvPr id="27" name="">
            <a:extLst xmlns:a="http://schemas.openxmlformats.org/drawingml/2006/main">
              <a:ext uri="{FF2B5EF4-FFF2-40B4-BE49-F238E27FC236}">
                <a16:creationId xmlns:a16="http://schemas.microsoft.com/office/drawing/2014/main" id="{9F58E090-F2F8-4660-B370-F0E5EFC6EE74}"/>
              </a:ext>
            </a:extLst>
          </p:cNvPr>
          <p:cNvSpPr>
            <a:spLocks xmlns:a="http://schemas.openxmlformats.org/drawingml/2006/main" noGrp="1"/>
          </p:cNvSpPr>
          <p:nvPr/>
        </p:nvSpPr>
        <p:spPr>
          <a:xfrm xmlns:a="http://schemas.openxmlformats.org/drawingml/2006/main">
            <a:off x="3429000" y="4772025"/>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2D180B"/>
                </a:solidFill>
                <a:latin typeface="Lato"/>
                <a:ea typeface="Lato"/>
                <a:cs typeface="Lato"/>
              </a:defRPr>
            </a:pPr>
            <a:r>
              <a:rPr sz="1275">
                <a:solidFill>
                  <a:srgbClr val="2D180B"/>
                </a:solidFill>
                <a:latin typeface="Lato"/>
                <a:ea typeface="Lato"/>
                <a:cs typeface="Lato"/>
              </a:rPr>
              <a:t>found it difficult to commit because of home distractions</a:t>
            </a:r>
          </a:p>
        </p:txBody>
      </p:sp>
      <p:sp>
        <p:nvSpPr>
          <p:cNvPr id="28" name="">
            <a:extLst xmlns:a="http://schemas.openxmlformats.org/drawingml/2006/main">
              <a:ext uri="{FF2B5EF4-FFF2-40B4-BE49-F238E27FC236}">
                <a16:creationId xmlns:a16="http://schemas.microsoft.com/office/drawing/2014/main" id="{CC025128-F5F8-40DE-A400-60B5852D7249}"/>
              </a:ext>
            </a:extLst>
          </p:cNvPr>
          <p:cNvSpPr>
            <a:spLocks xmlns:a="http://schemas.openxmlformats.org/drawingml/2006/main" noGrp="1"/>
          </p:cNvSpPr>
          <p:nvPr/>
        </p:nvSpPr>
        <p:spPr>
          <a:xfrm xmlns:a="http://schemas.openxmlformats.org/drawingml/2006/main">
            <a:off x="800100" y="5219700"/>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defRPr sz="1650" b="1">
                <a:solidFill>
                  <a:srgbClr val="2E9B62"/>
                </a:solidFill>
                <a:latin typeface="Lato"/>
                <a:ea typeface="Lato"/>
                <a:cs typeface="Lato"/>
              </a:defRPr>
            </a:pPr>
            <a:r>
              <a:rPr sz="1650" b="1">
                <a:solidFill>
                  <a:srgbClr val="2E9B62"/>
                </a:solidFill>
                <a:latin typeface="Lato"/>
                <a:ea typeface="Lato"/>
                <a:cs typeface="Lato"/>
              </a:rPr>
              <a:t>18%</a:t>
            </a:r>
          </a:p>
        </p:txBody>
      </p:sp>
      <p:sp>
        <p:nvSpPr>
          <p:cNvPr id="29" name="">
            <a:extLst xmlns:a="http://schemas.openxmlformats.org/drawingml/2006/main">
              <a:ext uri="{FF2B5EF4-FFF2-40B4-BE49-F238E27FC236}">
                <a16:creationId xmlns:a16="http://schemas.microsoft.com/office/drawing/2014/main" id="{35736835-1CA0-4067-AE6E-33B97683F12B}"/>
              </a:ext>
            </a:extLst>
          </p:cNvPr>
          <p:cNvSpPr>
            <a:spLocks xmlns:a="http://schemas.openxmlformats.org/drawingml/2006/main" noGrp="1"/>
          </p:cNvSpPr>
          <p:nvPr/>
        </p:nvSpPr>
        <p:spPr>
          <a:xfrm xmlns:a="http://schemas.openxmlformats.org/drawingml/2006/main">
            <a:off x="2038350" y="5362575"/>
            <a:ext cx="1104900" cy="0"/>
          </a:xfrm>
          <a:prstGeom xmlns:a="http://schemas.openxmlformats.org/drawingml/2006/main" prst="line">
            <a:avLst/>
          </a:prstGeom>
          <a:noFill xmlns:a="http://schemas.openxmlformats.org/drawingml/2006/main"/>
          <a:ln xmlns:a="http://schemas.openxmlformats.org/drawingml/2006/main" w="66675">
            <a:solidFill>
              <a:srgbClr val="2E9B62"/>
            </a:solidFill>
            <a:prstDash val="solid"/>
          </a:ln>
        </p:spPr>
      </p:sp>
      <p:sp>
        <p:nvSpPr>
          <p:cNvPr id="30" name="">
            <a:extLst xmlns:a="http://schemas.openxmlformats.org/drawingml/2006/main">
              <a:ext uri="{FF2B5EF4-FFF2-40B4-BE49-F238E27FC236}">
                <a16:creationId xmlns:a16="http://schemas.microsoft.com/office/drawing/2014/main" id="{0C9BF43C-F714-45D7-A5D9-7C1914337611}"/>
              </a:ext>
            </a:extLst>
          </p:cNvPr>
          <p:cNvSpPr>
            <a:spLocks xmlns:a="http://schemas.openxmlformats.org/drawingml/2006/main" noGrp="1"/>
          </p:cNvSpPr>
          <p:nvPr/>
        </p:nvSpPr>
        <p:spPr>
          <a:xfrm xmlns:a="http://schemas.openxmlformats.org/drawingml/2006/main">
            <a:off x="3429000" y="5229225"/>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2D180B"/>
                </a:solidFill>
                <a:latin typeface="Lato"/>
                <a:ea typeface="Lato"/>
                <a:cs typeface="Lato"/>
              </a:defRPr>
            </a:pPr>
            <a:r>
              <a:rPr sz="1275">
                <a:solidFill>
                  <a:srgbClr val="2D180B"/>
                </a:solidFill>
                <a:latin typeface="Lato"/>
                <a:ea typeface="Lato"/>
                <a:cs typeface="Lato"/>
              </a:rPr>
              <a:t>reported less communication than face-to-face learning</a:t>
            </a:r>
          </a:p>
        </p:txBody>
      </p:sp>
      <p:sp>
        <p:nvSpPr>
          <p:cNvPr id="31" name="">
            <a:extLst xmlns:a="http://schemas.openxmlformats.org/drawingml/2006/main">
              <a:ext uri="{FF2B5EF4-FFF2-40B4-BE49-F238E27FC236}">
                <a16:creationId xmlns:a16="http://schemas.microsoft.com/office/drawing/2014/main" id="{6EBC81EC-0C3D-4847-9174-BB31414A5E27}"/>
              </a:ext>
            </a:extLst>
          </p:cNvPr>
          <p:cNvSpPr>
            <a:spLocks xmlns:a="http://schemas.openxmlformats.org/drawingml/2006/main" noGrp="1"/>
          </p:cNvSpPr>
          <p:nvPr/>
        </p:nvSpPr>
        <p:spPr>
          <a:xfrm xmlns:a="http://schemas.openxmlformats.org/drawingml/2006/main">
            <a:off x="647700" y="5772150"/>
            <a:ext cx="10782300" cy="409575"/>
          </a:xfrm>
          <a:prstGeom xmlns:a="http://schemas.openxmlformats.org/drawingml/2006/main" prst="roundRect">
            <a:avLst>
              <a:gd name="adj" fmla="val 37209"/>
            </a:avLst>
          </a:prstGeom>
          <a:solidFill xmlns:a="http://schemas.openxmlformats.org/drawingml/2006/main">
            <a:srgbClr val="1B100B"/>
          </a:solidFill>
          <a:ln xmlns:a="http://schemas.openxmlformats.org/drawingml/2006/main" w="9525">
            <a:solidFill>
              <a:srgbClr val="1B100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929C6E28-54E8-4720-A563-3360D41BA027}"/>
              </a:ext>
            </a:extLst>
          </p:cNvPr>
          <p:cNvSpPr>
            <a:spLocks xmlns:a="http://schemas.openxmlformats.org/drawingml/2006/main" noGrp="1"/>
          </p:cNvSpPr>
          <p:nvPr/>
        </p:nvSpPr>
        <p:spPr>
          <a:xfrm xmlns:a="http://schemas.openxmlformats.org/drawingml/2006/main">
            <a:off x="876300" y="587692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FFF6E9"/>
                </a:solidFill>
                <a:latin typeface="Lato"/>
                <a:ea typeface="Lato"/>
                <a:cs typeface="Lato"/>
              </a:defRPr>
            </a:pPr>
            <a:r>
              <a:rPr sz="1050">
                <a:solidFill>
                  <a:srgbClr val="FFF6E9"/>
                </a:solidFill>
                <a:latin typeface="Lato"/>
                <a:ea typeface="Lato"/>
                <a:cs typeface="Lato"/>
              </a:rPr>
              <a:t>Limit: pandemic-era medical students, social-media recruitment, descriptive self-report. This is local context, not Bataa demand.</a:t>
            </a:r>
          </a:p>
        </p:txBody>
      </p:sp>
      <p:sp>
        <p:nvSpPr>
          <p:cNvPr id="33" name="">
            <a:extLst xmlns:a="http://schemas.openxmlformats.org/drawingml/2006/main">
              <a:ext uri="{FF2B5EF4-FFF2-40B4-BE49-F238E27FC236}">
                <a16:creationId xmlns:a16="http://schemas.microsoft.com/office/drawing/2014/main" id="{36B75E5D-4914-46D1-B0CA-8D6E76CE2C78}"/>
              </a:ext>
            </a:extLst>
          </p:cNvPr>
          <p:cNvSpPr>
            <a:spLocks xmlns:a="http://schemas.openxmlformats.org/drawingml/2006/main" noGrp="1"/>
          </p:cNvSpPr>
          <p:nvPr/>
        </p:nvSpPr>
        <p:spPr>
          <a:xfrm xmlns:a="http://schemas.openxmlformats.org/drawingml/2006/main">
            <a:off x="609600" y="6505575"/>
            <a:ext cx="1047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788">
                <a:solidFill>
                  <a:srgbClr val="7D5C42"/>
                </a:solidFill>
                <a:latin typeface="Lato"/>
                <a:ea typeface="Lato"/>
                <a:cs typeface="Lato"/>
              </a:defRPr>
            </a:pPr>
            <a:r>
              <a:rPr sz="788">
                <a:solidFill>
                  <a:srgbClr val="7D5C42"/>
                </a:solidFill>
                <a:latin typeface="Lato"/>
                <a:ea typeface="Lato"/>
                <a:cs typeface="Lato"/>
              </a:rPr>
              <a:t>Mortagy et al. · BMC Medical Education · 2022 · source and caveat in notes</a:t>
            </a:r>
          </a:p>
        </p:txBody>
      </p:sp>
    </p:spTree>
    <p:extLst>
      <p:ext uri="{BB962C8B-B14F-4D97-AF65-F5344CB8AC3E}">
        <p14:creationId xmlns:p14="http://schemas.microsoft.com/office/powerpoint/2010/main" val="2051259511"/>
      </p:ext>
    </p:extLst>
  </p:cSld>
</p:sld>
</file>

<file path=ppt/slides/slide5.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3F75A5F-D3B4-4C70-87F0-81B3683CE289}"/>
              </a:ext>
            </a:extLst>
          </p:cNvPr>
          <p:cNvSpPr>
            <a:spLocks xmlns:a="http://schemas.openxmlformats.org/drawingml/2006/main" noGrp="1"/>
          </p:cNvSpPr>
          <p:nvPr/>
        </p:nvSpPr>
        <p:spPr>
          <a:xfrm xmlns:a="http://schemas.openxmlformats.org/drawingml/2006/main">
            <a:off x="609600" y="2476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BE29BB29-FADF-4762-A409-51CDE493E7AA}"/>
              </a:ext>
            </a:extLst>
          </p:cNvPr>
          <p:cNvSpPr>
            <a:spLocks xmlns:a="http://schemas.openxmlformats.org/drawingml/2006/main" noGrp="1"/>
          </p:cNvSpPr>
          <p:nvPr/>
        </p:nvSpPr>
        <p:spPr>
          <a:xfrm xmlns:a="http://schemas.openxmlformats.org/drawingml/2006/main">
            <a:off x="2114550" y="2952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D7BDA9"/>
                </a:solidFill>
                <a:latin typeface="Lato"/>
                <a:ea typeface="Lato"/>
                <a:cs typeface="Lato"/>
              </a:defRPr>
            </a:pPr>
            <a:r>
              <a:rPr sz="825" b="1">
                <a:solidFill>
                  <a:srgbClr val="D7BDA9"/>
                </a:solidFill>
                <a:latin typeface="Lato"/>
                <a:ea typeface="Lato"/>
                <a:cs typeface="Lato"/>
              </a:rPr>
              <a:t>EXISTING BEHAVIOR</a:t>
            </a:r>
          </a:p>
        </p:txBody>
      </p:sp>
      <p:sp>
        <p:nvSpPr>
          <p:cNvPr id="3" name="">
            <a:extLst xmlns:a="http://schemas.openxmlformats.org/drawingml/2006/main">
              <a:ext uri="{FF2B5EF4-FFF2-40B4-BE49-F238E27FC236}">
                <a16:creationId xmlns:a16="http://schemas.microsoft.com/office/drawing/2014/main" id="{00085595-DEB5-4424-96AD-EA6C85E55BDC}"/>
              </a:ext>
            </a:extLst>
          </p:cNvPr>
          <p:cNvSpPr>
            <a:spLocks xmlns:a="http://schemas.openxmlformats.org/drawingml/2006/main" noGrp="1"/>
          </p:cNvSpPr>
          <p:nvPr/>
        </p:nvSpPr>
        <p:spPr>
          <a:xfrm xmlns:a="http://schemas.openxmlformats.org/drawingml/2006/main">
            <a:off x="11201400" y="2762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FF6E9"/>
                </a:solidFill>
                <a:latin typeface="Lato"/>
                <a:ea typeface="Lato"/>
                <a:cs typeface="Lato"/>
              </a:defRPr>
            </a:pPr>
            <a:r>
              <a:rPr sz="975" b="1">
                <a:solidFill>
                  <a:srgbClr val="FFF6E9"/>
                </a:solidFill>
                <a:latin typeface="Lato"/>
                <a:ea typeface="Lato"/>
                <a:cs typeface="Lato"/>
              </a:rPr>
              <a:t>05</a:t>
            </a:r>
          </a:p>
        </p:txBody>
      </p:sp>
      <p:sp>
        <p:nvSpPr>
          <p:cNvPr id="4" name="">
            <a:extLst xmlns:a="http://schemas.openxmlformats.org/drawingml/2006/main">
              <a:ext uri="{FF2B5EF4-FFF2-40B4-BE49-F238E27FC236}">
                <a16:creationId xmlns:a16="http://schemas.microsoft.com/office/drawing/2014/main" id="{10DE02B6-2D3C-4A69-A432-04C18D20942B}"/>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C22A859F-68BA-4C66-877E-7B8BFE3DA8FC}"/>
              </a:ext>
            </a:extLst>
          </p:cNvPr>
          <p:cNvSpPr>
            <a:spLocks xmlns:a="http://schemas.openxmlformats.org/drawingml/2006/main" noGrp="1"/>
          </p:cNvSpPr>
          <p:nvPr/>
        </p:nvSpPr>
        <p:spPr>
          <a:xfrm xmlns:a="http://schemas.openxmlformats.org/drawingml/2006/main">
            <a:off x="609600" y="971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300" b="1">
                <a:solidFill>
                  <a:srgbClr val="FFF6E9"/>
                </a:solidFill>
                <a:latin typeface="Lato"/>
                <a:ea typeface="Lato"/>
                <a:cs typeface="Lato"/>
              </a:defRPr>
            </a:pPr>
            <a:r>
              <a:rPr sz="3300" b="1">
                <a:solidFill>
                  <a:srgbClr val="FFF6E9"/>
                </a:solidFill>
                <a:latin typeface="Lato"/>
                <a:ea typeface="Lato"/>
                <a:cs typeface="Lato"/>
              </a:rPr>
              <a:t>Self-directed coding learning is already normal</a:t>
            </a:r>
          </a:p>
        </p:txBody>
      </p:sp>
      <p:sp>
        <p:nvSpPr>
          <p:cNvPr id="6" name="">
            <a:extLst xmlns:a="http://schemas.openxmlformats.org/drawingml/2006/main">
              <a:ext uri="{FF2B5EF4-FFF2-40B4-BE49-F238E27FC236}">
                <a16:creationId xmlns:a16="http://schemas.microsoft.com/office/drawing/2014/main" id="{6215C653-0A62-4AA3-A784-D0133DD96CC2}"/>
              </a:ext>
            </a:extLst>
          </p:cNvPr>
          <p:cNvSpPr>
            <a:spLocks xmlns:a="http://schemas.openxmlformats.org/drawingml/2006/main" noGrp="1"/>
          </p:cNvSpPr>
          <p:nvPr/>
        </p:nvSpPr>
        <p:spPr>
          <a:xfrm xmlns:a="http://schemas.openxmlformats.org/drawingml/2006/main">
            <a:off x="647700" y="1638300"/>
            <a:ext cx="923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E3CDBB"/>
                </a:solidFill>
                <a:latin typeface="Lato"/>
                <a:ea typeface="Lato"/>
                <a:cs typeface="Lato"/>
              </a:defRPr>
            </a:pPr>
            <a:r>
              <a:rPr sz="1425">
                <a:solidFill>
                  <a:srgbClr val="E3CDBB"/>
                </a:solidFill>
                <a:latin typeface="Lato"/>
                <a:ea typeface="Lato"/>
                <a:cs typeface="Lato"/>
              </a:rPr>
              <a:t>The opportunity is to make the next action more guided, not to invent online learning from zero.</a:t>
            </a:r>
          </a:p>
        </p:txBody>
      </p:sp>
      <p:sp>
        <p:nvSpPr>
          <p:cNvPr id="7" name="">
            <a:extLst xmlns:a="http://schemas.openxmlformats.org/drawingml/2006/main">
              <a:ext uri="{FF2B5EF4-FFF2-40B4-BE49-F238E27FC236}">
                <a16:creationId xmlns:a16="http://schemas.microsoft.com/office/drawing/2014/main" id="{4CBA08A2-AC1D-4887-904D-A60FA0673365}"/>
              </a:ext>
            </a:extLst>
          </p:cNvPr>
          <p:cNvSpPr>
            <a:spLocks xmlns:a="http://schemas.openxmlformats.org/drawingml/2006/main" noGrp="1"/>
          </p:cNvSpPr>
          <p:nvPr/>
        </p:nvSpPr>
        <p:spPr>
          <a:xfrm xmlns:a="http://schemas.openxmlformats.org/drawingml/2006/main">
            <a:off x="647700" y="2257425"/>
            <a:ext cx="2476500" cy="1257300"/>
          </a:xfrm>
          <a:prstGeom xmlns:a="http://schemas.openxmlformats.org/drawingml/2006/main" prst="roundRect">
            <a:avLst>
              <a:gd name="adj" fmla="val 12121"/>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8D729E32-2E08-42B3-BA05-AF730AF917BD}"/>
              </a:ext>
            </a:extLst>
          </p:cNvPr>
          <p:cNvSpPr>
            <a:spLocks xmlns:a="http://schemas.openxmlformats.org/drawingml/2006/main" noGrp="1"/>
          </p:cNvSpPr>
          <p:nvPr/>
        </p:nvSpPr>
        <p:spPr>
          <a:xfrm xmlns:a="http://schemas.openxmlformats.org/drawingml/2006/main">
            <a:off x="857250" y="2428875"/>
            <a:ext cx="2057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FF8500"/>
                </a:solidFill>
                <a:latin typeface="Lato"/>
                <a:ea typeface="Lato"/>
                <a:cs typeface="Lato"/>
              </a:defRPr>
            </a:pPr>
            <a:r>
              <a:rPr sz="2775" b="1">
                <a:solidFill>
                  <a:srgbClr val="FF8500"/>
                </a:solidFill>
                <a:latin typeface="Lato"/>
                <a:ea typeface="Lato"/>
                <a:cs typeface="Lato"/>
              </a:rPr>
              <a:t>65,437</a:t>
            </a:r>
          </a:p>
        </p:txBody>
      </p:sp>
      <p:sp>
        <p:nvSpPr>
          <p:cNvPr id="9" name="">
            <a:extLst xmlns:a="http://schemas.openxmlformats.org/drawingml/2006/main">
              <a:ext uri="{FF2B5EF4-FFF2-40B4-BE49-F238E27FC236}">
                <a16:creationId xmlns:a16="http://schemas.microsoft.com/office/drawing/2014/main" id="{8F5DF19D-43C8-4FE8-BA16-7878CB5E30DD}"/>
              </a:ext>
            </a:extLst>
          </p:cNvPr>
          <p:cNvSpPr>
            <a:spLocks xmlns:a="http://schemas.openxmlformats.org/drawingml/2006/main" noGrp="1"/>
          </p:cNvSpPr>
          <p:nvPr/>
        </p:nvSpPr>
        <p:spPr>
          <a:xfrm xmlns:a="http://schemas.openxmlformats.org/drawingml/2006/main">
            <a:off x="857250" y="3009900"/>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survey responses</a:t>
            </a:r>
          </a:p>
        </p:txBody>
      </p:sp>
      <p:sp>
        <p:nvSpPr>
          <p:cNvPr id="10" name="">
            <a:extLst xmlns:a="http://schemas.openxmlformats.org/drawingml/2006/main">
              <a:ext uri="{FF2B5EF4-FFF2-40B4-BE49-F238E27FC236}">
                <a16:creationId xmlns:a16="http://schemas.microsoft.com/office/drawing/2014/main" id="{E7DCF15D-F89E-46A9-A7A4-0A4022AC8B8B}"/>
              </a:ext>
            </a:extLst>
          </p:cNvPr>
          <p:cNvSpPr>
            <a:spLocks xmlns:a="http://schemas.openxmlformats.org/drawingml/2006/main" noGrp="1"/>
          </p:cNvSpPr>
          <p:nvPr/>
        </p:nvSpPr>
        <p:spPr>
          <a:xfrm xmlns:a="http://schemas.openxmlformats.org/drawingml/2006/main">
            <a:off x="3314700" y="2257425"/>
            <a:ext cx="2476500" cy="1257300"/>
          </a:xfrm>
          <a:prstGeom xmlns:a="http://schemas.openxmlformats.org/drawingml/2006/main" prst="roundRect">
            <a:avLst>
              <a:gd name="adj" fmla="val 12121"/>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7E55B046-B160-4A8C-8860-C254CD1B98E3}"/>
              </a:ext>
            </a:extLst>
          </p:cNvPr>
          <p:cNvSpPr>
            <a:spLocks xmlns:a="http://schemas.openxmlformats.org/drawingml/2006/main" noGrp="1"/>
          </p:cNvSpPr>
          <p:nvPr/>
        </p:nvSpPr>
        <p:spPr>
          <a:xfrm xmlns:a="http://schemas.openxmlformats.org/drawingml/2006/main">
            <a:off x="3524250" y="2428875"/>
            <a:ext cx="2057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E8E2FF"/>
                </a:solidFill>
                <a:latin typeface="Lato"/>
                <a:ea typeface="Lato"/>
                <a:cs typeface="Lato"/>
              </a:defRPr>
            </a:pPr>
            <a:r>
              <a:rPr sz="2775" b="1">
                <a:solidFill>
                  <a:srgbClr val="E8E2FF"/>
                </a:solidFill>
                <a:latin typeface="Lato"/>
                <a:ea typeface="Lato"/>
                <a:cs typeface="Lato"/>
              </a:rPr>
              <a:t>185</a:t>
            </a:r>
          </a:p>
        </p:txBody>
      </p:sp>
      <p:sp>
        <p:nvSpPr>
          <p:cNvPr id="12" name="">
            <a:extLst xmlns:a="http://schemas.openxmlformats.org/drawingml/2006/main">
              <a:ext uri="{FF2B5EF4-FFF2-40B4-BE49-F238E27FC236}">
                <a16:creationId xmlns:a16="http://schemas.microsoft.com/office/drawing/2014/main" id="{2AC1EA5D-7A5E-4A0D-AF3A-CF4CE03EFE6F}"/>
              </a:ext>
            </a:extLst>
          </p:cNvPr>
          <p:cNvSpPr>
            <a:spLocks xmlns:a="http://schemas.openxmlformats.org/drawingml/2006/main" noGrp="1"/>
          </p:cNvSpPr>
          <p:nvPr/>
        </p:nvSpPr>
        <p:spPr>
          <a:xfrm xmlns:a="http://schemas.openxmlformats.org/drawingml/2006/main">
            <a:off x="3524250" y="3009900"/>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countries represented</a:t>
            </a:r>
          </a:p>
        </p:txBody>
      </p:sp>
      <p:sp>
        <p:nvSpPr>
          <p:cNvPr id="13" name="">
            <a:extLst xmlns:a="http://schemas.openxmlformats.org/drawingml/2006/main">
              <a:ext uri="{FF2B5EF4-FFF2-40B4-BE49-F238E27FC236}">
                <a16:creationId xmlns:a16="http://schemas.microsoft.com/office/drawing/2014/main" id="{723DC035-17C2-4543-88AE-5E0288CF34E2}"/>
              </a:ext>
            </a:extLst>
          </p:cNvPr>
          <p:cNvSpPr>
            <a:spLocks xmlns:a="http://schemas.openxmlformats.org/drawingml/2006/main" noGrp="1"/>
          </p:cNvSpPr>
          <p:nvPr/>
        </p:nvSpPr>
        <p:spPr>
          <a:xfrm xmlns:a="http://schemas.openxmlformats.org/drawingml/2006/main">
            <a:off x="5981700" y="2257425"/>
            <a:ext cx="2476500" cy="1257300"/>
          </a:xfrm>
          <a:prstGeom xmlns:a="http://schemas.openxmlformats.org/drawingml/2006/main" prst="roundRect">
            <a:avLst>
              <a:gd name="adj" fmla="val 12121"/>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9A9BC6AF-76EC-4A07-B660-FD0B987D1278}"/>
              </a:ext>
            </a:extLst>
          </p:cNvPr>
          <p:cNvSpPr>
            <a:spLocks xmlns:a="http://schemas.openxmlformats.org/drawingml/2006/main" noGrp="1"/>
          </p:cNvSpPr>
          <p:nvPr/>
        </p:nvSpPr>
        <p:spPr>
          <a:xfrm xmlns:a="http://schemas.openxmlformats.org/drawingml/2006/main">
            <a:off x="6191250" y="2428875"/>
            <a:ext cx="2057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DFF2E5"/>
                </a:solidFill>
                <a:latin typeface="Lato"/>
                <a:ea typeface="Lato"/>
                <a:cs typeface="Lato"/>
              </a:defRPr>
            </a:pPr>
            <a:r>
              <a:rPr sz="2775" b="1">
                <a:solidFill>
                  <a:srgbClr val="DFF2E5"/>
                </a:solidFill>
                <a:latin typeface="Lato"/>
                <a:ea typeface="Lato"/>
                <a:cs typeface="Lato"/>
              </a:rPr>
              <a:t>82%</a:t>
            </a:r>
          </a:p>
        </p:txBody>
      </p:sp>
      <p:sp>
        <p:nvSpPr>
          <p:cNvPr id="15" name="">
            <a:extLst xmlns:a="http://schemas.openxmlformats.org/drawingml/2006/main">
              <a:ext uri="{FF2B5EF4-FFF2-40B4-BE49-F238E27FC236}">
                <a16:creationId xmlns:a16="http://schemas.microsoft.com/office/drawing/2014/main" id="{C426CD7C-FB07-4562-917B-79C0D67249C9}"/>
              </a:ext>
            </a:extLst>
          </p:cNvPr>
          <p:cNvSpPr>
            <a:spLocks xmlns:a="http://schemas.openxmlformats.org/drawingml/2006/main" noGrp="1"/>
          </p:cNvSpPr>
          <p:nvPr/>
        </p:nvSpPr>
        <p:spPr>
          <a:xfrm xmlns:a="http://schemas.openxmlformats.org/drawingml/2006/main">
            <a:off x="6191250" y="3009900"/>
            <a:ext cx="2057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14"/>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say online resources are their top choice</a:t>
            </a:r>
          </a:p>
        </p:txBody>
      </p:sp>
      <p:sp>
        <p:nvSpPr>
          <p:cNvPr id="16" name="">
            <a:extLst xmlns:a="http://schemas.openxmlformats.org/drawingml/2006/main">
              <a:ext uri="{FF2B5EF4-FFF2-40B4-BE49-F238E27FC236}">
                <a16:creationId xmlns:a16="http://schemas.microsoft.com/office/drawing/2014/main" id="{9BC129F6-FBA6-4402-AAE0-607BB9181500}"/>
              </a:ext>
            </a:extLst>
          </p:cNvPr>
          <p:cNvSpPr>
            <a:spLocks xmlns:a="http://schemas.openxmlformats.org/drawingml/2006/main" noGrp="1"/>
          </p:cNvSpPr>
          <p:nvPr/>
        </p:nvSpPr>
        <p:spPr>
          <a:xfrm xmlns:a="http://schemas.openxmlformats.org/drawingml/2006/main">
            <a:off x="8743950" y="2257425"/>
            <a:ext cx="2686050" cy="1257300"/>
          </a:xfrm>
          <a:prstGeom xmlns:a="http://schemas.openxmlformats.org/drawingml/2006/main" prst="roundRect">
            <a:avLst>
              <a:gd name="adj" fmla="val 12121"/>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8ECE8054-430A-40AF-9EF0-2DA780AAFB9C}"/>
              </a:ext>
            </a:extLst>
          </p:cNvPr>
          <p:cNvSpPr>
            <a:spLocks xmlns:a="http://schemas.openxmlformats.org/drawingml/2006/main" noGrp="1"/>
          </p:cNvSpPr>
          <p:nvPr/>
        </p:nvSpPr>
        <p:spPr>
          <a:xfrm xmlns:a="http://schemas.openxmlformats.org/drawingml/2006/main">
            <a:off x="8991600" y="2419350"/>
            <a:ext cx="2143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099"/>
          </a:bodyPr>
          <a:lstStyle xmlns:a="http://schemas.openxmlformats.org/drawingml/2006/main"/>
          <a:p xmlns:a="http://schemas.openxmlformats.org/drawingml/2006/main">
            <a:pPr>
              <a:defRPr sz="2775" b="1">
                <a:solidFill>
                  <a:srgbClr val="2D180B"/>
                </a:solidFill>
                <a:latin typeface="Lato"/>
                <a:ea typeface="Lato"/>
                <a:cs typeface="Lato"/>
              </a:defRPr>
            </a:pPr>
            <a:r>
              <a:rPr sz="2775" b="1">
                <a:solidFill>
                  <a:srgbClr val="2D180B"/>
                </a:solidFill>
                <a:latin typeface="Lato"/>
                <a:ea typeface="Lato"/>
                <a:cs typeface="Lato"/>
              </a:rPr>
              <a:t>37%</a:t>
            </a:r>
          </a:p>
        </p:txBody>
      </p:sp>
      <p:sp>
        <p:nvSpPr>
          <p:cNvPr id="18" name="">
            <a:extLst xmlns:a="http://schemas.openxmlformats.org/drawingml/2006/main">
              <a:ext uri="{FF2B5EF4-FFF2-40B4-BE49-F238E27FC236}">
                <a16:creationId xmlns:a16="http://schemas.microsoft.com/office/drawing/2014/main" id="{E9EE2588-CD45-4A4A-8113-235525355D49}"/>
              </a:ext>
            </a:extLst>
          </p:cNvPr>
          <p:cNvSpPr>
            <a:spLocks xmlns:a="http://schemas.openxmlformats.org/drawingml/2006/main" noGrp="1"/>
          </p:cNvSpPr>
          <p:nvPr/>
        </p:nvSpPr>
        <p:spPr>
          <a:xfrm xmlns:a="http://schemas.openxmlformats.org/drawingml/2006/main">
            <a:off x="8991600" y="29527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2D180B"/>
                </a:solidFill>
                <a:latin typeface="Lato"/>
                <a:ea typeface="Lato"/>
                <a:cs typeface="Lato"/>
              </a:defRPr>
            </a:pPr>
            <a:r>
              <a:rPr sz="1050">
                <a:solidFill>
                  <a:srgbClr val="2D180B"/>
                </a:solidFill>
                <a:latin typeface="Lato"/>
                <a:ea typeface="Lato"/>
                <a:cs typeface="Lato"/>
              </a:rPr>
              <a:t>say AI helps them learn to code</a:t>
            </a:r>
          </a:p>
        </p:txBody>
      </p:sp>
      <p:sp>
        <p:nvSpPr>
          <p:cNvPr id="19" name="">
            <a:extLst xmlns:a="http://schemas.openxmlformats.org/drawingml/2006/main">
              <a:ext uri="{FF2B5EF4-FFF2-40B4-BE49-F238E27FC236}">
                <a16:creationId xmlns:a16="http://schemas.microsoft.com/office/drawing/2014/main" id="{04921CF8-A58D-451C-9C57-6814F7832299}"/>
              </a:ext>
            </a:extLst>
          </p:cNvPr>
          <p:cNvSpPr>
            <a:spLocks xmlns:a="http://schemas.openxmlformats.org/drawingml/2006/main" noGrp="1"/>
          </p:cNvSpPr>
          <p:nvPr/>
        </p:nvSpPr>
        <p:spPr>
          <a:xfrm xmlns:a="http://schemas.openxmlformats.org/drawingml/2006/main">
            <a:off x="647700" y="40005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defRPr sz="1800" b="1">
                <a:solidFill>
                  <a:srgbClr val="FFF6E9"/>
                </a:solidFill>
                <a:latin typeface="Lato"/>
                <a:ea typeface="Lato"/>
                <a:cs typeface="Lato"/>
              </a:defRPr>
            </a:pPr>
            <a:r>
              <a:rPr sz="1800" b="1">
                <a:solidFill>
                  <a:srgbClr val="FFF6E9"/>
                </a:solidFill>
                <a:latin typeface="Lato"/>
                <a:ea typeface="Lato"/>
                <a:cs typeface="Lato"/>
              </a:rPr>
              <a:t>What the survey shows</a:t>
            </a:r>
          </a:p>
        </p:txBody>
      </p:sp>
      <p:sp>
        <p:nvSpPr>
          <p:cNvPr id="20" name="">
            <a:extLst xmlns:a="http://schemas.openxmlformats.org/drawingml/2006/main">
              <a:ext uri="{FF2B5EF4-FFF2-40B4-BE49-F238E27FC236}">
                <a16:creationId xmlns:a16="http://schemas.microsoft.com/office/drawing/2014/main" id="{2B341147-9B95-428D-8268-A09E977BCD5F}"/>
              </a:ext>
            </a:extLst>
          </p:cNvPr>
          <p:cNvSpPr>
            <a:spLocks xmlns:a="http://schemas.openxmlformats.org/drawingml/2006/main" noGrp="1"/>
          </p:cNvSpPr>
          <p:nvPr/>
        </p:nvSpPr>
        <p:spPr>
          <a:xfrm xmlns:a="http://schemas.openxmlformats.org/drawingml/2006/main">
            <a:off x="666750" y="44577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1">
                <a:solidFill>
                  <a:srgbClr val="FF8500"/>
                </a:solidFill>
                <a:latin typeface="Lato"/>
                <a:ea typeface="Lato"/>
                <a:cs typeface="Lato"/>
              </a:defRPr>
            </a:pPr>
            <a:r>
              <a:rPr sz="1275" b="1">
                <a:solidFill>
                  <a:srgbClr val="FF8500"/>
                </a:solidFill>
                <a:latin typeface="Lato"/>
                <a:ea typeface="Lato"/>
                <a:cs typeface="Lato"/>
              </a:rPr>
              <a:t>83.9%</a:t>
            </a:r>
          </a:p>
        </p:txBody>
      </p:sp>
      <p:sp>
        <p:nvSpPr>
          <p:cNvPr id="21" name="">
            <a:extLst xmlns:a="http://schemas.openxmlformats.org/drawingml/2006/main">
              <a:ext uri="{FF2B5EF4-FFF2-40B4-BE49-F238E27FC236}">
                <a16:creationId xmlns:a16="http://schemas.microsoft.com/office/drawing/2014/main" id="{4AD8B10B-4576-455B-BC23-4A4680D87126}"/>
              </a:ext>
            </a:extLst>
          </p:cNvPr>
          <p:cNvSpPr>
            <a:spLocks xmlns:a="http://schemas.openxmlformats.org/drawingml/2006/main" noGrp="1"/>
          </p:cNvSpPr>
          <p:nvPr/>
        </p:nvSpPr>
        <p:spPr>
          <a:xfrm xmlns:a="http://schemas.openxmlformats.org/drawingml/2006/main">
            <a:off x="1790700" y="4467225"/>
            <a:ext cx="333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E3CDBB"/>
                </a:solidFill>
                <a:latin typeface="Lato"/>
                <a:ea typeface="Lato"/>
                <a:cs typeface="Lato"/>
              </a:defRPr>
            </a:pPr>
            <a:r>
              <a:rPr sz="1200">
                <a:solidFill>
                  <a:srgbClr val="E3CDBB"/>
                </a:solidFill>
                <a:latin typeface="Lato"/>
                <a:ea typeface="Lato"/>
                <a:cs typeface="Lato"/>
              </a:rPr>
              <a:t>technical documentation</a:t>
            </a:r>
          </a:p>
        </p:txBody>
      </p:sp>
      <p:sp>
        <p:nvSpPr>
          <p:cNvPr id="22" name="">
            <a:extLst xmlns:a="http://schemas.openxmlformats.org/drawingml/2006/main">
              <a:ext uri="{FF2B5EF4-FFF2-40B4-BE49-F238E27FC236}">
                <a16:creationId xmlns:a16="http://schemas.microsoft.com/office/drawing/2014/main" id="{54679C35-A080-4B35-BEC7-B351E49AC2A7}"/>
              </a:ext>
            </a:extLst>
          </p:cNvPr>
          <p:cNvSpPr>
            <a:spLocks xmlns:a="http://schemas.openxmlformats.org/drawingml/2006/main" noGrp="1"/>
          </p:cNvSpPr>
          <p:nvPr/>
        </p:nvSpPr>
        <p:spPr>
          <a:xfrm xmlns:a="http://schemas.openxmlformats.org/drawingml/2006/main">
            <a:off x="4095750" y="4572000"/>
            <a:ext cx="3352800" cy="0"/>
          </a:xfrm>
          <a:prstGeom xmlns:a="http://schemas.openxmlformats.org/drawingml/2006/main" prst="line">
            <a:avLst/>
          </a:prstGeom>
          <a:noFill xmlns:a="http://schemas.openxmlformats.org/drawingml/2006/main"/>
          <a:ln xmlns:a="http://schemas.openxmlformats.org/drawingml/2006/main" w="76200">
            <a:solidFill>
              <a:srgbClr val="FF8500"/>
            </a:solidFill>
            <a:prstDash val="solid"/>
          </a:ln>
        </p:spPr>
      </p:sp>
      <p:sp>
        <p:nvSpPr>
          <p:cNvPr id="23" name="">
            <a:extLst xmlns:a="http://schemas.openxmlformats.org/drawingml/2006/main">
              <a:ext uri="{FF2B5EF4-FFF2-40B4-BE49-F238E27FC236}">
                <a16:creationId xmlns:a16="http://schemas.microsoft.com/office/drawing/2014/main" id="{C4FC7AB9-BF37-43AC-8469-925E1525A383}"/>
              </a:ext>
            </a:extLst>
          </p:cNvPr>
          <p:cNvSpPr>
            <a:spLocks xmlns:a="http://schemas.openxmlformats.org/drawingml/2006/main" noGrp="1"/>
          </p:cNvSpPr>
          <p:nvPr/>
        </p:nvSpPr>
        <p:spPr>
          <a:xfrm xmlns:a="http://schemas.openxmlformats.org/drawingml/2006/main">
            <a:off x="666750" y="48101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1">
                <a:solidFill>
                  <a:srgbClr val="E8E2FF"/>
                </a:solidFill>
                <a:latin typeface="Lato"/>
                <a:ea typeface="Lato"/>
                <a:cs typeface="Lato"/>
              </a:defRPr>
            </a:pPr>
            <a:r>
              <a:rPr sz="1275" b="1">
                <a:solidFill>
                  <a:srgbClr val="E8E2FF"/>
                </a:solidFill>
                <a:latin typeface="Lato"/>
                <a:ea typeface="Lato"/>
                <a:cs typeface="Lato"/>
              </a:rPr>
              <a:t>80.3%</a:t>
            </a:r>
          </a:p>
        </p:txBody>
      </p:sp>
      <p:sp>
        <p:nvSpPr>
          <p:cNvPr id="24" name="">
            <a:extLst xmlns:a="http://schemas.openxmlformats.org/drawingml/2006/main">
              <a:ext uri="{FF2B5EF4-FFF2-40B4-BE49-F238E27FC236}">
                <a16:creationId xmlns:a16="http://schemas.microsoft.com/office/drawing/2014/main" id="{7B7421A2-1442-4B0C-8A1B-8A1D677FEC52}"/>
              </a:ext>
            </a:extLst>
          </p:cNvPr>
          <p:cNvSpPr>
            <a:spLocks xmlns:a="http://schemas.openxmlformats.org/drawingml/2006/main" noGrp="1"/>
          </p:cNvSpPr>
          <p:nvPr/>
        </p:nvSpPr>
        <p:spPr>
          <a:xfrm xmlns:a="http://schemas.openxmlformats.org/drawingml/2006/main">
            <a:off x="1790700" y="4819650"/>
            <a:ext cx="333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E3CDBB"/>
                </a:solidFill>
                <a:latin typeface="Lato"/>
                <a:ea typeface="Lato"/>
                <a:cs typeface="Lato"/>
              </a:defRPr>
            </a:pPr>
            <a:r>
              <a:rPr sz="1200">
                <a:solidFill>
                  <a:srgbClr val="E3CDBB"/>
                </a:solidFill>
                <a:latin typeface="Lato"/>
                <a:ea typeface="Lato"/>
                <a:cs typeface="Lato"/>
              </a:rPr>
              <a:t>Stack Overflow</a:t>
            </a:r>
          </a:p>
        </p:txBody>
      </p:sp>
      <p:sp>
        <p:nvSpPr>
          <p:cNvPr id="25" name="">
            <a:extLst xmlns:a="http://schemas.openxmlformats.org/drawingml/2006/main">
              <a:ext uri="{FF2B5EF4-FFF2-40B4-BE49-F238E27FC236}">
                <a16:creationId xmlns:a16="http://schemas.microsoft.com/office/drawing/2014/main" id="{990F1F00-F5F4-49C9-B8F4-16FCF52B3EB7}"/>
              </a:ext>
            </a:extLst>
          </p:cNvPr>
          <p:cNvSpPr>
            <a:spLocks xmlns:a="http://schemas.openxmlformats.org/drawingml/2006/main" noGrp="1"/>
          </p:cNvSpPr>
          <p:nvPr/>
        </p:nvSpPr>
        <p:spPr>
          <a:xfrm xmlns:a="http://schemas.openxmlformats.org/drawingml/2006/main">
            <a:off x="4095750" y="4924425"/>
            <a:ext cx="3209925" cy="0"/>
          </a:xfrm>
          <a:prstGeom xmlns:a="http://schemas.openxmlformats.org/drawingml/2006/main" prst="line">
            <a:avLst/>
          </a:prstGeom>
          <a:noFill xmlns:a="http://schemas.openxmlformats.org/drawingml/2006/main"/>
          <a:ln xmlns:a="http://schemas.openxmlformats.org/drawingml/2006/main" w="76200">
            <a:solidFill>
              <a:srgbClr val="E8E2FF"/>
            </a:solidFill>
            <a:prstDash val="solid"/>
          </a:ln>
        </p:spPr>
      </p:sp>
      <p:sp>
        <p:nvSpPr>
          <p:cNvPr id="26" name="">
            <a:extLst xmlns:a="http://schemas.openxmlformats.org/drawingml/2006/main">
              <a:ext uri="{FF2B5EF4-FFF2-40B4-BE49-F238E27FC236}">
                <a16:creationId xmlns:a16="http://schemas.microsoft.com/office/drawing/2014/main" id="{AFBA3E7C-8B3F-4290-A003-DEFD6CA54442}"/>
              </a:ext>
            </a:extLst>
          </p:cNvPr>
          <p:cNvSpPr>
            <a:spLocks xmlns:a="http://schemas.openxmlformats.org/drawingml/2006/main" noGrp="1"/>
          </p:cNvSpPr>
          <p:nvPr/>
        </p:nvSpPr>
        <p:spPr>
          <a:xfrm xmlns:a="http://schemas.openxmlformats.org/drawingml/2006/main">
            <a:off x="666750" y="51625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1">
                <a:solidFill>
                  <a:srgbClr val="DFF2E5"/>
                </a:solidFill>
                <a:latin typeface="Lato"/>
                <a:ea typeface="Lato"/>
                <a:cs typeface="Lato"/>
              </a:defRPr>
            </a:pPr>
            <a:r>
              <a:rPr sz="1275" b="1">
                <a:solidFill>
                  <a:srgbClr val="DFF2E5"/>
                </a:solidFill>
                <a:latin typeface="Lato"/>
                <a:ea typeface="Lato"/>
                <a:cs typeface="Lato"/>
              </a:rPr>
              <a:t>37.0%</a:t>
            </a:r>
          </a:p>
        </p:txBody>
      </p:sp>
      <p:sp>
        <p:nvSpPr>
          <p:cNvPr id="27" name="">
            <a:extLst xmlns:a="http://schemas.openxmlformats.org/drawingml/2006/main">
              <a:ext uri="{FF2B5EF4-FFF2-40B4-BE49-F238E27FC236}">
                <a16:creationId xmlns:a16="http://schemas.microsoft.com/office/drawing/2014/main" id="{83183C91-1A3B-4677-8EC6-16A8EB19731C}"/>
              </a:ext>
            </a:extLst>
          </p:cNvPr>
          <p:cNvSpPr>
            <a:spLocks xmlns:a="http://schemas.openxmlformats.org/drawingml/2006/main" noGrp="1"/>
          </p:cNvSpPr>
          <p:nvPr/>
        </p:nvSpPr>
        <p:spPr>
          <a:xfrm xmlns:a="http://schemas.openxmlformats.org/drawingml/2006/main">
            <a:off x="1790700" y="5172075"/>
            <a:ext cx="333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E3CDBB"/>
                </a:solidFill>
                <a:latin typeface="Lato"/>
                <a:ea typeface="Lato"/>
                <a:cs typeface="Lato"/>
              </a:defRPr>
            </a:pPr>
            <a:r>
              <a:rPr sz="1200">
                <a:solidFill>
                  <a:srgbClr val="E3CDBB"/>
                </a:solidFill>
                <a:latin typeface="Lato"/>
                <a:ea typeface="Lato"/>
                <a:cs typeface="Lato"/>
              </a:rPr>
              <a:t>AI tools</a:t>
            </a:r>
          </a:p>
        </p:txBody>
      </p:sp>
      <p:sp>
        <p:nvSpPr>
          <p:cNvPr id="28" name="">
            <a:extLst xmlns:a="http://schemas.openxmlformats.org/drawingml/2006/main">
              <a:ext uri="{FF2B5EF4-FFF2-40B4-BE49-F238E27FC236}">
                <a16:creationId xmlns:a16="http://schemas.microsoft.com/office/drawing/2014/main" id="{D411DA8C-1498-4531-BA13-E2D7AAF71165}"/>
              </a:ext>
            </a:extLst>
          </p:cNvPr>
          <p:cNvSpPr>
            <a:spLocks xmlns:a="http://schemas.openxmlformats.org/drawingml/2006/main" noGrp="1"/>
          </p:cNvSpPr>
          <p:nvPr/>
        </p:nvSpPr>
        <p:spPr>
          <a:xfrm xmlns:a="http://schemas.openxmlformats.org/drawingml/2006/main">
            <a:off x="4095750" y="5276850"/>
            <a:ext cx="1476375" cy="0"/>
          </a:xfrm>
          <a:prstGeom xmlns:a="http://schemas.openxmlformats.org/drawingml/2006/main" prst="line">
            <a:avLst/>
          </a:prstGeom>
          <a:noFill xmlns:a="http://schemas.openxmlformats.org/drawingml/2006/main"/>
          <a:ln xmlns:a="http://schemas.openxmlformats.org/drawingml/2006/main" w="76200">
            <a:solidFill>
              <a:srgbClr val="DFF2E5"/>
            </a:solidFill>
            <a:prstDash val="solid"/>
          </a:ln>
        </p:spPr>
      </p:sp>
      <p:sp>
        <p:nvSpPr>
          <p:cNvPr id="29" name="">
            <a:extLst xmlns:a="http://schemas.openxmlformats.org/drawingml/2006/main">
              <a:ext uri="{FF2B5EF4-FFF2-40B4-BE49-F238E27FC236}">
                <a16:creationId xmlns:a16="http://schemas.microsoft.com/office/drawing/2014/main" id="{DB5FFB81-4F9D-4868-A686-F90F10FBC9B7}"/>
              </a:ext>
            </a:extLst>
          </p:cNvPr>
          <p:cNvSpPr>
            <a:spLocks xmlns:a="http://schemas.openxmlformats.org/drawingml/2006/main" noGrp="1"/>
          </p:cNvSpPr>
          <p:nvPr/>
        </p:nvSpPr>
        <p:spPr>
          <a:xfrm xmlns:a="http://schemas.openxmlformats.org/drawingml/2006/main">
            <a:off x="666750" y="551497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1">
                <a:solidFill>
                  <a:srgbClr val="FFD5A3"/>
                </a:solidFill>
                <a:latin typeface="Lato"/>
                <a:ea typeface="Lato"/>
                <a:cs typeface="Lato"/>
              </a:defRPr>
            </a:pPr>
            <a:r>
              <a:rPr sz="1275" b="1">
                <a:solidFill>
                  <a:srgbClr val="FFD5A3"/>
                </a:solidFill>
                <a:latin typeface="Lato"/>
                <a:ea typeface="Lato"/>
                <a:cs typeface="Lato"/>
              </a:rPr>
              <a:t>29.3%</a:t>
            </a:r>
          </a:p>
        </p:txBody>
      </p:sp>
      <p:sp>
        <p:nvSpPr>
          <p:cNvPr id="30" name="">
            <a:extLst xmlns:a="http://schemas.openxmlformats.org/drawingml/2006/main">
              <a:ext uri="{FF2B5EF4-FFF2-40B4-BE49-F238E27FC236}">
                <a16:creationId xmlns:a16="http://schemas.microsoft.com/office/drawing/2014/main" id="{36ED9BA1-F178-4CCD-927C-157D9023E02C}"/>
              </a:ext>
            </a:extLst>
          </p:cNvPr>
          <p:cNvSpPr>
            <a:spLocks xmlns:a="http://schemas.openxmlformats.org/drawingml/2006/main" noGrp="1"/>
          </p:cNvSpPr>
          <p:nvPr/>
        </p:nvSpPr>
        <p:spPr>
          <a:xfrm xmlns:a="http://schemas.openxmlformats.org/drawingml/2006/main">
            <a:off x="1790700" y="5524500"/>
            <a:ext cx="333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E3CDBB"/>
                </a:solidFill>
                <a:latin typeface="Lato"/>
                <a:ea typeface="Lato"/>
                <a:cs typeface="Lato"/>
              </a:defRPr>
            </a:pPr>
            <a:r>
              <a:rPr sz="1200">
                <a:solidFill>
                  <a:srgbClr val="E3CDBB"/>
                </a:solidFill>
                <a:latin typeface="Lato"/>
                <a:ea typeface="Lato"/>
                <a:cs typeface="Lato"/>
              </a:rPr>
              <a:t>interactive tutorials</a:t>
            </a:r>
          </a:p>
        </p:txBody>
      </p:sp>
      <p:sp>
        <p:nvSpPr>
          <p:cNvPr id="31" name="">
            <a:extLst xmlns:a="http://schemas.openxmlformats.org/drawingml/2006/main">
              <a:ext uri="{FF2B5EF4-FFF2-40B4-BE49-F238E27FC236}">
                <a16:creationId xmlns:a16="http://schemas.microsoft.com/office/drawing/2014/main" id="{95C851AE-809A-452C-9DC6-5FB78C4495EC}"/>
              </a:ext>
            </a:extLst>
          </p:cNvPr>
          <p:cNvSpPr>
            <a:spLocks xmlns:a="http://schemas.openxmlformats.org/drawingml/2006/main" noGrp="1"/>
          </p:cNvSpPr>
          <p:nvPr/>
        </p:nvSpPr>
        <p:spPr>
          <a:xfrm xmlns:a="http://schemas.openxmlformats.org/drawingml/2006/main">
            <a:off x="4095750" y="5629275"/>
            <a:ext cx="1171575" cy="0"/>
          </a:xfrm>
          <a:prstGeom xmlns:a="http://schemas.openxmlformats.org/drawingml/2006/main" prst="line">
            <a:avLst/>
          </a:prstGeom>
          <a:noFill xmlns:a="http://schemas.openxmlformats.org/drawingml/2006/main"/>
          <a:ln xmlns:a="http://schemas.openxmlformats.org/drawingml/2006/main" w="76200">
            <a:solidFill>
              <a:srgbClr val="FFD5A3"/>
            </a:solidFill>
            <a:prstDash val="solid"/>
          </a:ln>
        </p:spPr>
      </p:sp>
      <p:sp>
        <p:nvSpPr>
          <p:cNvPr id="32" name="">
            <a:extLst xmlns:a="http://schemas.openxmlformats.org/drawingml/2006/main">
              <a:ext uri="{FF2B5EF4-FFF2-40B4-BE49-F238E27FC236}">
                <a16:creationId xmlns:a16="http://schemas.microsoft.com/office/drawing/2014/main" id="{AF2C62E4-4402-45F3-8B7D-BC0D71ACF76D}"/>
              </a:ext>
            </a:extLst>
          </p:cNvPr>
          <p:cNvSpPr>
            <a:spLocks xmlns:a="http://schemas.openxmlformats.org/drawingml/2006/main" noGrp="1"/>
          </p:cNvSpPr>
          <p:nvPr/>
        </p:nvSpPr>
        <p:spPr>
          <a:xfrm xmlns:a="http://schemas.openxmlformats.org/drawingml/2006/main">
            <a:off x="6381750" y="4000500"/>
            <a:ext cx="5048250" cy="1809750"/>
          </a:xfrm>
          <a:prstGeom xmlns:a="http://schemas.openxmlformats.org/drawingml/2006/main" prst="roundRect">
            <a:avLst>
              <a:gd name="adj" fmla="val 12632"/>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33" name="">
            <a:extLst xmlns:a="http://schemas.openxmlformats.org/drawingml/2006/main">
              <a:ext uri="{FF2B5EF4-FFF2-40B4-BE49-F238E27FC236}">
                <a16:creationId xmlns:a16="http://schemas.microsoft.com/office/drawing/2014/main" id="{DBA5A333-3838-48CF-A802-85930CAEE43B}"/>
              </a:ext>
            </a:extLst>
          </p:cNvPr>
          <p:cNvSpPr>
            <a:spLocks xmlns:a="http://schemas.openxmlformats.org/drawingml/2006/main" noGrp="1"/>
          </p:cNvSpPr>
          <p:nvPr/>
        </p:nvSpPr>
        <p:spPr>
          <a:xfrm xmlns:a="http://schemas.openxmlformats.org/drawingml/2006/main">
            <a:off x="6724650" y="4305300"/>
            <a:ext cx="1485900" cy="24765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FFFFFF"/>
                </a:solidFill>
                <a:latin typeface="Lato"/>
                <a:ea typeface="Lato"/>
                <a:cs typeface="Lato"/>
              </a:defRPr>
            </a:pPr>
            <a:r>
              <a:rPr sz="900" b="1">
                <a:solidFill>
                  <a:srgbClr val="FFFFFF"/>
                </a:solidFill>
                <a:latin typeface="Lato"/>
                <a:ea typeface="Lato"/>
                <a:cs typeface="Lato"/>
              </a:rPr>
              <a:t>WHAT THIS SUPPORTS</a:t>
            </a:r>
          </a:p>
        </p:txBody>
      </p:sp>
      <p:sp>
        <p:nvSpPr>
          <p:cNvPr id="34" name="">
            <a:extLst xmlns:a="http://schemas.openxmlformats.org/drawingml/2006/main">
              <a:ext uri="{FF2B5EF4-FFF2-40B4-BE49-F238E27FC236}">
                <a16:creationId xmlns:a16="http://schemas.microsoft.com/office/drawing/2014/main" id="{D382EE6F-19B1-4139-8E4C-135539097DDD}"/>
              </a:ext>
            </a:extLst>
          </p:cNvPr>
          <p:cNvSpPr>
            <a:spLocks xmlns:a="http://schemas.openxmlformats.org/drawingml/2006/main" noGrp="1"/>
          </p:cNvSpPr>
          <p:nvPr/>
        </p:nvSpPr>
        <p:spPr>
          <a:xfrm xmlns:a="http://schemas.openxmlformats.org/drawingml/2006/main">
            <a:off x="6724650" y="474345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720"/>
          </a:bodyPr>
          <a:lstStyle xmlns:a="http://schemas.openxmlformats.org/drawingml/2006/main"/>
          <a:p xmlns:a="http://schemas.openxmlformats.org/drawingml/2006/main">
            <a:pPr>
              <a:defRPr sz="1650" b="1">
                <a:solidFill>
                  <a:srgbClr val="FFF6E9"/>
                </a:solidFill>
                <a:latin typeface="Lato"/>
                <a:ea typeface="Lato"/>
                <a:cs typeface="Lato"/>
              </a:defRPr>
            </a:pPr>
            <a:r>
              <a:rPr sz="1650" b="1">
                <a:solidFill>
                  <a:srgbClr val="FFF6E9"/>
                </a:solidFill>
                <a:latin typeface="Lato"/>
                <a:ea typeface="Lato"/>
                <a:cs typeface="Lato"/>
              </a:rPr>
              <a:t>On-demand learning behavior already exists.</a:t>
            </a:r>
          </a:p>
        </p:txBody>
      </p:sp>
      <p:sp>
        <p:nvSpPr>
          <p:cNvPr id="35" name="">
            <a:extLst xmlns:a="http://schemas.openxmlformats.org/drawingml/2006/main">
              <a:ext uri="{FF2B5EF4-FFF2-40B4-BE49-F238E27FC236}">
                <a16:creationId xmlns:a16="http://schemas.microsoft.com/office/drawing/2014/main" id="{15D1C67A-D852-413D-B90E-049D016AC04E}"/>
              </a:ext>
            </a:extLst>
          </p:cNvPr>
          <p:cNvSpPr>
            <a:spLocks xmlns:a="http://schemas.openxmlformats.org/drawingml/2006/main" noGrp="1"/>
          </p:cNvSpPr>
          <p:nvPr/>
        </p:nvSpPr>
        <p:spPr>
          <a:xfrm xmlns:a="http://schemas.openxmlformats.org/drawingml/2006/main">
            <a:off x="6724650" y="521970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It does not prove novice demand in Egypt, Bataa retention, or a willingness to pay.</a:t>
            </a:r>
          </a:p>
        </p:txBody>
      </p:sp>
      <p:sp>
        <p:nvSpPr>
          <p:cNvPr id="36" name="">
            <a:extLst xmlns:a="http://schemas.openxmlformats.org/drawingml/2006/main">
              <a:ext uri="{FF2B5EF4-FFF2-40B4-BE49-F238E27FC236}">
                <a16:creationId xmlns:a16="http://schemas.microsoft.com/office/drawing/2014/main" id="{D136D1D0-398A-46E4-B8CB-84C13CD65711}"/>
              </a:ext>
            </a:extLst>
          </p:cNvPr>
          <p:cNvSpPr>
            <a:spLocks xmlns:a="http://schemas.openxmlformats.org/drawingml/2006/main" noGrp="1"/>
          </p:cNvSpPr>
          <p:nvPr/>
        </p:nvSpPr>
        <p:spPr>
          <a:xfrm xmlns:a="http://schemas.openxmlformats.org/drawingml/2006/main">
            <a:off x="609600" y="6505575"/>
            <a:ext cx="1047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788">
                <a:solidFill>
                  <a:srgbClr val="C9A98C"/>
                </a:solidFill>
                <a:latin typeface="Lato"/>
                <a:ea typeface="Lato"/>
                <a:cs typeface="Lato"/>
              </a:defRPr>
            </a:pPr>
            <a:r>
              <a:rPr sz="788">
                <a:solidFill>
                  <a:srgbClr val="C9A98C"/>
                </a:solidFill>
                <a:latin typeface="Lato"/>
                <a:ea typeface="Lato"/>
                <a:cs typeface="Lato"/>
              </a:rPr>
              <a:t>Stack Overflow Developer Survey 2024 · self-selected developer sample</a:t>
            </a:r>
          </a:p>
        </p:txBody>
      </p:sp>
    </p:spTree>
    <p:extLst>
      <p:ext uri="{BB962C8B-B14F-4D97-AF65-F5344CB8AC3E}">
        <p14:creationId xmlns:p14="http://schemas.microsoft.com/office/powerpoint/2010/main" val="56728875"/>
      </p:ext>
    </p:extLst>
  </p:cSld>
</p:sld>
</file>

<file path=ppt/slides/slide6.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1FBAF53-1BAB-4C6E-8408-6E45C17FA0B9}"/>
              </a:ext>
            </a:extLst>
          </p:cNvPr>
          <p:cNvSpPr>
            <a:spLocks xmlns:a="http://schemas.openxmlformats.org/drawingml/2006/main" noGrp="1"/>
          </p:cNvSpPr>
          <p:nvPr/>
        </p:nvSpPr>
        <p:spPr>
          <a:xfrm xmlns:a="http://schemas.openxmlformats.org/drawingml/2006/main">
            <a:off x="609600" y="2476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27B97F04-B70B-48ED-983D-386307896134}"/>
              </a:ext>
            </a:extLst>
          </p:cNvPr>
          <p:cNvSpPr>
            <a:spLocks xmlns:a="http://schemas.openxmlformats.org/drawingml/2006/main" noGrp="1"/>
          </p:cNvSpPr>
          <p:nvPr/>
        </p:nvSpPr>
        <p:spPr>
          <a:xfrm xmlns:a="http://schemas.openxmlformats.org/drawingml/2006/main">
            <a:off x="2114550" y="2952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895F3C"/>
                </a:solidFill>
                <a:latin typeface="Lato"/>
                <a:ea typeface="Lato"/>
                <a:cs typeface="Lato"/>
              </a:defRPr>
            </a:pPr>
            <a:r>
              <a:rPr sz="825" b="1">
                <a:solidFill>
                  <a:srgbClr val="895F3C"/>
                </a:solidFill>
                <a:latin typeface="Lato"/>
                <a:ea typeface="Lato"/>
                <a:cs typeface="Lato"/>
              </a:rPr>
              <a:t>LEARNING MECHANISM</a:t>
            </a:r>
          </a:p>
        </p:txBody>
      </p:sp>
      <p:sp>
        <p:nvSpPr>
          <p:cNvPr id="3" name="">
            <a:extLst xmlns:a="http://schemas.openxmlformats.org/drawingml/2006/main">
              <a:ext uri="{FF2B5EF4-FFF2-40B4-BE49-F238E27FC236}">
                <a16:creationId xmlns:a16="http://schemas.microsoft.com/office/drawing/2014/main" id="{7CD47DF4-97C0-4124-A8DE-F04623AC01A0}"/>
              </a:ext>
            </a:extLst>
          </p:cNvPr>
          <p:cNvSpPr>
            <a:spLocks xmlns:a="http://schemas.openxmlformats.org/drawingml/2006/main" noGrp="1"/>
          </p:cNvSpPr>
          <p:nvPr/>
        </p:nvSpPr>
        <p:spPr>
          <a:xfrm xmlns:a="http://schemas.openxmlformats.org/drawingml/2006/main">
            <a:off x="11201400" y="2762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2D180B"/>
                </a:solidFill>
                <a:latin typeface="Lato"/>
                <a:ea typeface="Lato"/>
                <a:cs typeface="Lato"/>
              </a:defRPr>
            </a:pPr>
            <a:r>
              <a:rPr sz="975" b="1">
                <a:solidFill>
                  <a:srgbClr val="2D180B"/>
                </a:solidFill>
                <a:latin typeface="Lato"/>
                <a:ea typeface="Lato"/>
                <a:cs typeface="Lato"/>
              </a:rPr>
              <a:t>06</a:t>
            </a:r>
          </a:p>
        </p:txBody>
      </p:sp>
      <p:sp>
        <p:nvSpPr>
          <p:cNvPr id="4" name="">
            <a:extLst xmlns:a="http://schemas.openxmlformats.org/drawingml/2006/main">
              <a:ext uri="{FF2B5EF4-FFF2-40B4-BE49-F238E27FC236}">
                <a16:creationId xmlns:a16="http://schemas.microsoft.com/office/drawing/2014/main" id="{F68C167E-612D-471E-8387-FC11BFBCFBC3}"/>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E7C9A7"/>
            </a:solidFill>
            <a:prstDash val="solid"/>
          </a:ln>
        </p:spPr>
      </p:sp>
      <p:sp>
        <p:nvSpPr>
          <p:cNvPr id="5" name="">
            <a:extLst xmlns:a="http://schemas.openxmlformats.org/drawingml/2006/main">
              <a:ext uri="{FF2B5EF4-FFF2-40B4-BE49-F238E27FC236}">
                <a16:creationId xmlns:a16="http://schemas.microsoft.com/office/drawing/2014/main" id="{844BF36D-DE4E-426C-B6C6-052F6B08DC3B}"/>
              </a:ext>
            </a:extLst>
          </p:cNvPr>
          <p:cNvSpPr>
            <a:spLocks xmlns:a="http://schemas.openxmlformats.org/drawingml/2006/main" noGrp="1"/>
          </p:cNvSpPr>
          <p:nvPr/>
        </p:nvSpPr>
        <p:spPr>
          <a:xfrm xmlns:a="http://schemas.openxmlformats.org/drawingml/2006/main">
            <a:off x="609600" y="971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300" b="1">
                <a:solidFill>
                  <a:srgbClr val="2D180B"/>
                </a:solidFill>
                <a:latin typeface="Lato"/>
                <a:ea typeface="Lato"/>
                <a:cs typeface="Lato"/>
              </a:defRPr>
            </a:pPr>
            <a:r>
              <a:rPr sz="3300" b="1">
                <a:solidFill>
                  <a:srgbClr val="2D180B"/>
                </a:solidFill>
                <a:latin typeface="Lato"/>
                <a:ea typeface="Lato"/>
                <a:cs typeface="Lato"/>
              </a:rPr>
              <a:t>Practice beats passive exposure</a:t>
            </a:r>
          </a:p>
        </p:txBody>
      </p:sp>
      <p:sp>
        <p:nvSpPr>
          <p:cNvPr id="6" name="">
            <a:extLst xmlns:a="http://schemas.openxmlformats.org/drawingml/2006/main">
              <a:ext uri="{FF2B5EF4-FFF2-40B4-BE49-F238E27FC236}">
                <a16:creationId xmlns:a16="http://schemas.microsoft.com/office/drawing/2014/main" id="{C5D9B13B-54F7-453E-8D3D-9FE300BE797B}"/>
              </a:ext>
            </a:extLst>
          </p:cNvPr>
          <p:cNvSpPr>
            <a:spLocks xmlns:a="http://schemas.openxmlformats.org/drawingml/2006/main" noGrp="1"/>
          </p:cNvSpPr>
          <p:nvPr/>
        </p:nvSpPr>
        <p:spPr>
          <a:xfrm xmlns:a="http://schemas.openxmlformats.org/drawingml/2006/main">
            <a:off x="647700" y="1638300"/>
            <a:ext cx="923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895F3C"/>
                </a:solidFill>
                <a:latin typeface="Lato"/>
                <a:ea typeface="Lato"/>
                <a:cs typeface="Lato"/>
              </a:defRPr>
            </a:pPr>
            <a:r>
              <a:rPr sz="1425">
                <a:solidFill>
                  <a:srgbClr val="895F3C"/>
                </a:solidFill>
                <a:latin typeface="Lato"/>
                <a:ea typeface="Lato"/>
                <a:cs typeface="Lato"/>
              </a:rPr>
              <a:t>The research base supports a small action, a check, and another attempt.</a:t>
            </a:r>
          </a:p>
        </p:txBody>
      </p:sp>
      <p:sp>
        <p:nvSpPr>
          <p:cNvPr id="7" name="">
            <a:extLst xmlns:a="http://schemas.openxmlformats.org/drawingml/2006/main">
              <a:ext uri="{FF2B5EF4-FFF2-40B4-BE49-F238E27FC236}">
                <a16:creationId xmlns:a16="http://schemas.microsoft.com/office/drawing/2014/main" id="{C59606EF-058B-44C0-A63D-8FF28320D06C}"/>
              </a:ext>
            </a:extLst>
          </p:cNvPr>
          <p:cNvSpPr>
            <a:spLocks xmlns:a="http://schemas.openxmlformats.org/drawingml/2006/main" noGrp="1"/>
          </p:cNvSpPr>
          <p:nvPr/>
        </p:nvSpPr>
        <p:spPr>
          <a:xfrm xmlns:a="http://schemas.openxmlformats.org/drawingml/2006/main">
            <a:off x="647700" y="2247900"/>
            <a:ext cx="5143500" cy="3314700"/>
          </a:xfrm>
          <a:prstGeom xmlns:a="http://schemas.openxmlformats.org/drawingml/2006/main" prst="roundRect">
            <a:avLst>
              <a:gd name="adj" fmla="val 6897"/>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00DA9CFF-08B6-49FD-A930-D161A2D65FFD}"/>
              </a:ext>
            </a:extLst>
          </p:cNvPr>
          <p:cNvSpPr>
            <a:spLocks xmlns:a="http://schemas.openxmlformats.org/drawingml/2006/main" noGrp="1"/>
          </p:cNvSpPr>
          <p:nvPr/>
        </p:nvSpPr>
        <p:spPr>
          <a:xfrm xmlns:a="http://schemas.openxmlformats.org/drawingml/2006/main">
            <a:off x="990600" y="26193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744"/>
          </a:bodyPr>
          <a:lstStyle xmlns:a="http://schemas.openxmlformats.org/drawingml/2006/main"/>
          <a:p xmlns:a="http://schemas.openxmlformats.org/drawingml/2006/main">
            <a:pPr>
              <a:defRPr sz="4875" b="1">
                <a:solidFill>
                  <a:srgbClr val="2D180B"/>
                </a:solidFill>
                <a:latin typeface="Lato"/>
                <a:ea typeface="Lato"/>
                <a:cs typeface="Lato"/>
              </a:defRPr>
            </a:pPr>
            <a:r>
              <a:rPr sz="4875" b="1">
                <a:solidFill>
                  <a:srgbClr val="2D180B"/>
                </a:solidFill>
                <a:latin typeface="Lato"/>
                <a:ea typeface="Lato"/>
                <a:cs typeface="Lato"/>
              </a:rPr>
              <a:t>225</a:t>
            </a:r>
          </a:p>
        </p:txBody>
      </p:sp>
      <p:sp>
        <p:nvSpPr>
          <p:cNvPr id="9" name="">
            <a:extLst xmlns:a="http://schemas.openxmlformats.org/drawingml/2006/main">
              <a:ext uri="{FF2B5EF4-FFF2-40B4-BE49-F238E27FC236}">
                <a16:creationId xmlns:a16="http://schemas.microsoft.com/office/drawing/2014/main" id="{BEA40BD7-CB4C-4921-9813-5F222F06FAFB}"/>
              </a:ext>
            </a:extLst>
          </p:cNvPr>
          <p:cNvSpPr>
            <a:spLocks xmlns:a="http://schemas.openxmlformats.org/drawingml/2006/main" noGrp="1"/>
          </p:cNvSpPr>
          <p:nvPr/>
        </p:nvSpPr>
        <p:spPr>
          <a:xfrm xmlns:a="http://schemas.openxmlformats.org/drawingml/2006/main">
            <a:off x="1028700" y="33813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undergraduate STEM studies</a:t>
            </a:r>
          </a:p>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in a meta-analysis</a:t>
            </a:r>
          </a:p>
        </p:txBody>
      </p:sp>
      <p:sp>
        <p:nvSpPr>
          <p:cNvPr id="10" name="">
            <a:extLst xmlns:a="http://schemas.openxmlformats.org/drawingml/2006/main">
              <a:ext uri="{FF2B5EF4-FFF2-40B4-BE49-F238E27FC236}">
                <a16:creationId xmlns:a16="http://schemas.microsoft.com/office/drawing/2014/main" id="{9F8E32E2-6FE9-436E-BB56-9BA147A9A283}"/>
              </a:ext>
            </a:extLst>
          </p:cNvPr>
          <p:cNvSpPr>
            <a:spLocks xmlns:a="http://schemas.openxmlformats.org/drawingml/2006/main" noGrp="1"/>
          </p:cNvSpPr>
          <p:nvPr/>
        </p:nvSpPr>
        <p:spPr>
          <a:xfrm xmlns:a="http://schemas.openxmlformats.org/drawingml/2006/main">
            <a:off x="1028700" y="4171950"/>
            <a:ext cx="4248150" cy="0"/>
          </a:xfrm>
          <a:prstGeom xmlns:a="http://schemas.openxmlformats.org/drawingml/2006/main" prst="line">
            <a:avLst/>
          </a:prstGeom>
          <a:noFill xmlns:a="http://schemas.openxmlformats.org/drawingml/2006/main"/>
          <a:ln xmlns:a="http://schemas.openxmlformats.org/drawingml/2006/main" w="19050">
            <a:solidFill>
              <a:srgbClr val="2D180B"/>
            </a:solidFill>
            <a:prstDash val="solid"/>
          </a:ln>
        </p:spPr>
      </p:sp>
      <p:sp>
        <p:nvSpPr>
          <p:cNvPr id="11" name="">
            <a:extLst xmlns:a="http://schemas.openxmlformats.org/drawingml/2006/main">
              <a:ext uri="{FF2B5EF4-FFF2-40B4-BE49-F238E27FC236}">
                <a16:creationId xmlns:a16="http://schemas.microsoft.com/office/drawing/2014/main" id="{49BDFBC8-A370-4188-8B17-7E1F6508BCDC}"/>
              </a:ext>
            </a:extLst>
          </p:cNvPr>
          <p:cNvSpPr>
            <a:spLocks xmlns:a="http://schemas.openxmlformats.org/drawingml/2006/main" noGrp="1"/>
          </p:cNvSpPr>
          <p:nvPr/>
        </p:nvSpPr>
        <p:spPr>
          <a:xfrm xmlns:a="http://schemas.openxmlformats.org/drawingml/2006/main">
            <a:off x="1028700" y="44005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2D180B"/>
                </a:solidFill>
                <a:latin typeface="Lato"/>
                <a:ea typeface="Lato"/>
                <a:cs typeface="Lato"/>
              </a:defRPr>
            </a:pPr>
            <a:r>
              <a:rPr sz="2475" b="1">
                <a:solidFill>
                  <a:srgbClr val="2D180B"/>
                </a:solidFill>
                <a:latin typeface="Lato"/>
                <a:ea typeface="Lato"/>
                <a:cs typeface="Lato"/>
              </a:rPr>
              <a:t>+0.47 SD</a:t>
            </a:r>
          </a:p>
        </p:txBody>
      </p:sp>
      <p:sp>
        <p:nvSpPr>
          <p:cNvPr id="12" name="">
            <a:extLst xmlns:a="http://schemas.openxmlformats.org/drawingml/2006/main">
              <a:ext uri="{FF2B5EF4-FFF2-40B4-BE49-F238E27FC236}">
                <a16:creationId xmlns:a16="http://schemas.microsoft.com/office/drawing/2014/main" id="{E2061119-0075-4A9E-A683-1351E1C48913}"/>
              </a:ext>
            </a:extLst>
          </p:cNvPr>
          <p:cNvSpPr>
            <a:spLocks xmlns:a="http://schemas.openxmlformats.org/drawingml/2006/main" noGrp="1"/>
          </p:cNvSpPr>
          <p:nvPr/>
        </p:nvSpPr>
        <p:spPr>
          <a:xfrm xmlns:a="http://schemas.openxmlformats.org/drawingml/2006/main">
            <a:off x="3143250" y="45053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472"/>
          </a:bodyPr>
          <a:lstStyle xmlns:a="http://schemas.openxmlformats.org/drawingml/2006/main"/>
          <a:p xmlns:a="http://schemas.openxmlformats.org/drawingml/2006/main">
            <a:pPr>
              <a:defRPr sz="1200">
                <a:solidFill>
                  <a:srgbClr val="2D180B"/>
                </a:solidFill>
                <a:latin typeface="Lato"/>
                <a:ea typeface="Lato"/>
                <a:cs typeface="Lato"/>
              </a:defRPr>
            </a:pPr>
            <a:r>
              <a:rPr sz="1200">
                <a:solidFill>
                  <a:srgbClr val="2D180B"/>
                </a:solidFill>
                <a:latin typeface="Lato"/>
                <a:ea typeface="Lato"/>
                <a:cs typeface="Lato"/>
              </a:rPr>
              <a:t>exam performance with active learning</a:t>
            </a:r>
          </a:p>
        </p:txBody>
      </p:sp>
      <p:sp>
        <p:nvSpPr>
          <p:cNvPr id="13" name="">
            <a:extLst xmlns:a="http://schemas.openxmlformats.org/drawingml/2006/main">
              <a:ext uri="{FF2B5EF4-FFF2-40B4-BE49-F238E27FC236}">
                <a16:creationId xmlns:a16="http://schemas.microsoft.com/office/drawing/2014/main" id="{1FA84C11-A7C1-44BD-8FED-67FA144B9BF3}"/>
              </a:ext>
            </a:extLst>
          </p:cNvPr>
          <p:cNvSpPr>
            <a:spLocks xmlns:a="http://schemas.openxmlformats.org/drawingml/2006/main" noGrp="1"/>
          </p:cNvSpPr>
          <p:nvPr/>
        </p:nvSpPr>
        <p:spPr>
          <a:xfrm xmlns:a="http://schemas.openxmlformats.org/drawingml/2006/main">
            <a:off x="6191250" y="2247900"/>
            <a:ext cx="5238750" cy="1466850"/>
          </a:xfrm>
          <a:prstGeom xmlns:a="http://schemas.openxmlformats.org/drawingml/2006/main" prst="roundRect">
            <a:avLst>
              <a:gd name="adj" fmla="val 10390"/>
            </a:avLst>
          </a:prstGeom>
          <a:solidFill xmlns:a="http://schemas.openxmlformats.org/drawingml/2006/main">
            <a:srgbClr val="FFFDF8"/>
          </a:solidFill>
          <a:ln xmlns:a="http://schemas.openxmlformats.org/drawingml/2006/main" w="9525">
            <a:solidFill>
              <a:srgbClr val="E7C9A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1FB3BDF-B93B-4577-8698-2B5EB80DECD4}"/>
              </a:ext>
            </a:extLst>
          </p:cNvPr>
          <p:cNvSpPr>
            <a:spLocks xmlns:a="http://schemas.openxmlformats.org/drawingml/2006/main" noGrp="1"/>
          </p:cNvSpPr>
          <p:nvPr/>
        </p:nvSpPr>
        <p:spPr>
          <a:xfrm xmlns:a="http://schemas.openxmlformats.org/drawingml/2006/main">
            <a:off x="6534150" y="2552700"/>
            <a:ext cx="1066800" cy="247650"/>
          </a:xfrm>
          <a:prstGeom xmlns:a="http://schemas.openxmlformats.org/drawingml/2006/main" prst="roundRect">
            <a:avLst>
              <a:gd name="adj" fmla="val 50000"/>
            </a:avLst>
          </a:prstGeom>
          <a:solidFill xmlns:a="http://schemas.openxmlformats.org/drawingml/2006/main">
            <a:srgbClr val="C64A39"/>
          </a:solidFill>
          <a:ln xmlns:a="http://schemas.openxmlformats.org/drawingml/2006/main" w="0">
            <a:solidFill>
              <a:srgbClr val="C64A39"/>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FFFFFF"/>
                </a:solidFill>
                <a:latin typeface="Lato"/>
                <a:ea typeface="Lato"/>
                <a:cs typeface="Lato"/>
              </a:defRPr>
            </a:pPr>
            <a:r>
              <a:rPr sz="900" b="1">
                <a:solidFill>
                  <a:srgbClr val="FFFFFF"/>
                </a:solidFill>
                <a:latin typeface="Lato"/>
                <a:ea typeface="Lato"/>
                <a:cs typeface="Lato"/>
              </a:rPr>
              <a:t>FAILURE RISK</a:t>
            </a:r>
          </a:p>
        </p:txBody>
      </p:sp>
      <p:sp>
        <p:nvSpPr>
          <p:cNvPr id="15" name="">
            <a:extLst xmlns:a="http://schemas.openxmlformats.org/drawingml/2006/main">
              <a:ext uri="{FF2B5EF4-FFF2-40B4-BE49-F238E27FC236}">
                <a16:creationId xmlns:a16="http://schemas.microsoft.com/office/drawing/2014/main" id="{F7FE4B35-01C7-4340-A6DB-AA9F45649E61}"/>
              </a:ext>
            </a:extLst>
          </p:cNvPr>
          <p:cNvSpPr>
            <a:spLocks xmlns:a="http://schemas.openxmlformats.org/drawingml/2006/main" noGrp="1"/>
          </p:cNvSpPr>
          <p:nvPr/>
        </p:nvSpPr>
        <p:spPr>
          <a:xfrm xmlns:a="http://schemas.openxmlformats.org/drawingml/2006/main">
            <a:off x="6534150" y="2952750"/>
            <a:ext cx="142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91"/>
          </a:bodyPr>
          <a:lstStyle xmlns:a="http://schemas.openxmlformats.org/drawingml/2006/main"/>
          <a:p xmlns:a="http://schemas.openxmlformats.org/drawingml/2006/main">
            <a:pPr>
              <a:defRPr sz="2925" b="1">
                <a:solidFill>
                  <a:srgbClr val="C64A39"/>
                </a:solidFill>
                <a:latin typeface="Lato"/>
                <a:ea typeface="Lato"/>
                <a:cs typeface="Lato"/>
              </a:defRPr>
            </a:pPr>
            <a:r>
              <a:rPr sz="2925" b="1">
                <a:solidFill>
                  <a:srgbClr val="C64A39"/>
                </a:solidFill>
                <a:latin typeface="Lato"/>
                <a:ea typeface="Lato"/>
                <a:cs typeface="Lato"/>
              </a:rPr>
              <a:t>1.95×</a:t>
            </a:r>
          </a:p>
        </p:txBody>
      </p:sp>
      <p:sp>
        <p:nvSpPr>
          <p:cNvPr id="16" name="">
            <a:extLst xmlns:a="http://schemas.openxmlformats.org/drawingml/2006/main">
              <a:ext uri="{FF2B5EF4-FFF2-40B4-BE49-F238E27FC236}">
                <a16:creationId xmlns:a16="http://schemas.microsoft.com/office/drawing/2014/main" id="{7FAC7694-050D-45BB-9544-D9ECA9DA2F18}"/>
              </a:ext>
            </a:extLst>
          </p:cNvPr>
          <p:cNvSpPr>
            <a:spLocks xmlns:a="http://schemas.openxmlformats.org/drawingml/2006/main" noGrp="1"/>
          </p:cNvSpPr>
          <p:nvPr/>
        </p:nvSpPr>
        <p:spPr>
          <a:xfrm xmlns:a="http://schemas.openxmlformats.org/drawingml/2006/main">
            <a:off x="8096250" y="3019425"/>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137"/>
          </a:bodyPr>
          <a:lstStyle xmlns:a="http://schemas.openxmlformats.org/drawingml/2006/main"/>
          <a:p xmlns:a="http://schemas.openxmlformats.org/drawingml/2006/main">
            <a:pPr>
              <a:defRPr sz="1275">
                <a:solidFill>
                  <a:srgbClr val="2D180B"/>
                </a:solidFill>
                <a:latin typeface="Lato"/>
                <a:ea typeface="Lato"/>
                <a:cs typeface="Lato"/>
              </a:defRPr>
            </a:pPr>
            <a:r>
              <a:rPr sz="1275">
                <a:solidFill>
                  <a:srgbClr val="2D180B"/>
                </a:solidFill>
                <a:latin typeface="Lato"/>
                <a:ea typeface="Lato"/>
                <a:cs typeface="Lato"/>
              </a:rPr>
              <a:t>odds of failure under traditional lecture vs active learning</a:t>
            </a:r>
          </a:p>
        </p:txBody>
      </p:sp>
      <p:sp>
        <p:nvSpPr>
          <p:cNvPr id="17" name="">
            <a:extLst xmlns:a="http://schemas.openxmlformats.org/drawingml/2006/main">
              <a:ext uri="{FF2B5EF4-FFF2-40B4-BE49-F238E27FC236}">
                <a16:creationId xmlns:a16="http://schemas.microsoft.com/office/drawing/2014/main" id="{E8D2B550-9B21-4431-997D-115580AC0D8B}"/>
              </a:ext>
            </a:extLst>
          </p:cNvPr>
          <p:cNvSpPr>
            <a:spLocks xmlns:a="http://schemas.openxmlformats.org/drawingml/2006/main" noGrp="1"/>
          </p:cNvSpPr>
          <p:nvPr/>
        </p:nvSpPr>
        <p:spPr>
          <a:xfrm xmlns:a="http://schemas.openxmlformats.org/drawingml/2006/main">
            <a:off x="6191250" y="3943350"/>
            <a:ext cx="5238750" cy="1619250"/>
          </a:xfrm>
          <a:prstGeom xmlns:a="http://schemas.openxmlformats.org/drawingml/2006/main" prst="roundRect">
            <a:avLst>
              <a:gd name="adj" fmla="val 9412"/>
            </a:avLst>
          </a:prstGeom>
          <a:solidFill xmlns:a="http://schemas.openxmlformats.org/drawingml/2006/main">
            <a:srgbClr val="1B100B"/>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04B4C7B6-1B38-444A-962F-289D0E436610}"/>
              </a:ext>
            </a:extLst>
          </p:cNvPr>
          <p:cNvSpPr>
            <a:spLocks xmlns:a="http://schemas.openxmlformats.org/drawingml/2006/main" noGrp="1"/>
          </p:cNvSpPr>
          <p:nvPr/>
        </p:nvSpPr>
        <p:spPr>
          <a:xfrm xmlns:a="http://schemas.openxmlformats.org/drawingml/2006/main">
            <a:off x="6534150" y="4229100"/>
            <a:ext cx="1752600" cy="247650"/>
          </a:xfrm>
          <a:prstGeom xmlns:a="http://schemas.openxmlformats.org/drawingml/2006/main" prst="roundRect">
            <a:avLst>
              <a:gd name="adj" fmla="val 50000"/>
            </a:avLst>
          </a:prstGeom>
          <a:solidFill xmlns:a="http://schemas.openxmlformats.org/drawingml/2006/main">
            <a:srgbClr val="6E5BAA"/>
          </a:solidFill>
          <a:ln xmlns:a="http://schemas.openxmlformats.org/drawingml/2006/main" w="0">
            <a:solidFill>
              <a:srgbClr val="6E5BAA"/>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FFFFFF"/>
                </a:solidFill>
                <a:latin typeface="Lato"/>
                <a:ea typeface="Lato"/>
                <a:cs typeface="Lato"/>
              </a:defRPr>
            </a:pPr>
            <a:r>
              <a:rPr sz="900" b="1">
                <a:solidFill>
                  <a:srgbClr val="FFFFFF"/>
                </a:solidFill>
                <a:latin typeface="Lato"/>
                <a:ea typeface="Lato"/>
                <a:cs typeface="Lato"/>
              </a:rPr>
              <a:t>IMPORTANT DESIGN DETAIL</a:t>
            </a:r>
          </a:p>
        </p:txBody>
      </p:sp>
      <p:sp>
        <p:nvSpPr>
          <p:cNvPr id="19" name="">
            <a:extLst xmlns:a="http://schemas.openxmlformats.org/drawingml/2006/main">
              <a:ext uri="{FF2B5EF4-FFF2-40B4-BE49-F238E27FC236}">
                <a16:creationId xmlns:a16="http://schemas.microsoft.com/office/drawing/2014/main" id="{C87A1A68-474E-43DA-9A42-5F6AFC26602F}"/>
              </a:ext>
            </a:extLst>
          </p:cNvPr>
          <p:cNvSpPr>
            <a:spLocks xmlns:a="http://schemas.openxmlformats.org/drawingml/2006/main" noGrp="1"/>
          </p:cNvSpPr>
          <p:nvPr/>
        </p:nvSpPr>
        <p:spPr>
          <a:xfrm xmlns:a="http://schemas.openxmlformats.org/drawingml/2006/main">
            <a:off x="6534150" y="46291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149-student physics study</a:t>
            </a:r>
          </a:p>
        </p:txBody>
      </p:sp>
      <p:sp>
        <p:nvSpPr>
          <p:cNvPr id="20" name="">
            <a:extLst xmlns:a="http://schemas.openxmlformats.org/drawingml/2006/main">
              <a:ext uri="{FF2B5EF4-FFF2-40B4-BE49-F238E27FC236}">
                <a16:creationId xmlns:a16="http://schemas.microsoft.com/office/drawing/2014/main" id="{B081247A-10BE-4404-9537-2B5F35116244}"/>
              </a:ext>
            </a:extLst>
          </p:cNvPr>
          <p:cNvSpPr>
            <a:spLocks xmlns:a="http://schemas.openxmlformats.org/drawingml/2006/main" noGrp="1"/>
          </p:cNvSpPr>
          <p:nvPr/>
        </p:nvSpPr>
        <p:spPr>
          <a:xfrm xmlns:a="http://schemas.openxmlformats.org/drawingml/2006/main">
            <a:off x="6534150" y="50101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Active instruction improved actual learning (+0.46 SD), while students felt they learned less (−0.56 SD).</a:t>
            </a:r>
          </a:p>
        </p:txBody>
      </p:sp>
      <p:sp>
        <p:nvSpPr>
          <p:cNvPr id="21" name="">
            <a:extLst xmlns:a="http://schemas.openxmlformats.org/drawingml/2006/main">
              <a:ext uri="{FF2B5EF4-FFF2-40B4-BE49-F238E27FC236}">
                <a16:creationId xmlns:a16="http://schemas.microsoft.com/office/drawing/2014/main" id="{C2E4B648-830A-4873-97BB-19F66EF7BDF3}"/>
              </a:ext>
            </a:extLst>
          </p:cNvPr>
          <p:cNvSpPr>
            <a:spLocks xmlns:a="http://schemas.openxmlformats.org/drawingml/2006/main" noGrp="1"/>
          </p:cNvSpPr>
          <p:nvPr/>
        </p:nvSpPr>
        <p:spPr>
          <a:xfrm xmlns:a="http://schemas.openxmlformats.org/drawingml/2006/main">
            <a:off x="609600" y="6505575"/>
            <a:ext cx="1047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788">
                <a:solidFill>
                  <a:srgbClr val="7D5C42"/>
                </a:solidFill>
                <a:latin typeface="Lato"/>
                <a:ea typeface="Lato"/>
                <a:cs typeface="Lato"/>
              </a:defRPr>
            </a:pPr>
            <a:r>
              <a:rPr sz="788">
                <a:solidFill>
                  <a:srgbClr val="7D5C42"/>
                </a:solidFill>
                <a:latin typeface="Lato"/>
                <a:ea typeface="Lato"/>
                <a:cs typeface="Lato"/>
              </a:rPr>
              <a:t>Freeman et al. PNAS 2014 · Deslauriers et al. PNAS 2019</a:t>
            </a:r>
          </a:p>
        </p:txBody>
      </p:sp>
    </p:spTree>
    <p:extLst>
      <p:ext uri="{BB962C8B-B14F-4D97-AF65-F5344CB8AC3E}">
        <p14:creationId xmlns:p14="http://schemas.microsoft.com/office/powerpoint/2010/main" val="1887980050"/>
      </p:ext>
    </p:extLst>
  </p:cSld>
</p:sld>
</file>

<file path=ppt/slides/slide7.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6A4E9D4-AE8A-44EA-86B7-6BA8F81C3B1D}"/>
              </a:ext>
            </a:extLst>
          </p:cNvPr>
          <p:cNvSpPr>
            <a:spLocks xmlns:a="http://schemas.openxmlformats.org/drawingml/2006/main" noGrp="1"/>
          </p:cNvSpPr>
          <p:nvPr/>
        </p:nvSpPr>
        <p:spPr>
          <a:xfrm xmlns:a="http://schemas.openxmlformats.org/drawingml/2006/main">
            <a:off x="609600" y="2476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0A82261C-8066-4B69-9F10-A79BBD8C69CF}"/>
              </a:ext>
            </a:extLst>
          </p:cNvPr>
          <p:cNvSpPr>
            <a:spLocks xmlns:a="http://schemas.openxmlformats.org/drawingml/2006/main" noGrp="1"/>
          </p:cNvSpPr>
          <p:nvPr/>
        </p:nvSpPr>
        <p:spPr>
          <a:xfrm xmlns:a="http://schemas.openxmlformats.org/drawingml/2006/main">
            <a:off x="2114550" y="2952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895F3C"/>
                </a:solidFill>
                <a:latin typeface="Lato"/>
                <a:ea typeface="Lato"/>
                <a:cs typeface="Lato"/>
              </a:defRPr>
            </a:pPr>
            <a:r>
              <a:rPr sz="825" b="1">
                <a:solidFill>
                  <a:srgbClr val="895F3C"/>
                </a:solidFill>
                <a:latin typeface="Lato"/>
                <a:ea typeface="Lato"/>
                <a:cs typeface="Lato"/>
              </a:rPr>
              <a:t>FEEDBACK AND SAFETY</a:t>
            </a:r>
          </a:p>
        </p:txBody>
      </p:sp>
      <p:sp>
        <p:nvSpPr>
          <p:cNvPr id="3" name="">
            <a:extLst xmlns:a="http://schemas.openxmlformats.org/drawingml/2006/main">
              <a:ext uri="{FF2B5EF4-FFF2-40B4-BE49-F238E27FC236}">
                <a16:creationId xmlns:a16="http://schemas.microsoft.com/office/drawing/2014/main" id="{A3A65CBD-EC86-4570-B479-18F7168992BE}"/>
              </a:ext>
            </a:extLst>
          </p:cNvPr>
          <p:cNvSpPr>
            <a:spLocks xmlns:a="http://schemas.openxmlformats.org/drawingml/2006/main" noGrp="1"/>
          </p:cNvSpPr>
          <p:nvPr/>
        </p:nvSpPr>
        <p:spPr>
          <a:xfrm xmlns:a="http://schemas.openxmlformats.org/drawingml/2006/main">
            <a:off x="11201400" y="2762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2D180B"/>
                </a:solidFill>
                <a:latin typeface="Lato"/>
                <a:ea typeface="Lato"/>
                <a:cs typeface="Lato"/>
              </a:defRPr>
            </a:pPr>
            <a:r>
              <a:rPr sz="975" b="1">
                <a:solidFill>
                  <a:srgbClr val="2D180B"/>
                </a:solidFill>
                <a:latin typeface="Lato"/>
                <a:ea typeface="Lato"/>
                <a:cs typeface="Lato"/>
              </a:rPr>
              <a:t>07</a:t>
            </a:r>
          </a:p>
        </p:txBody>
      </p:sp>
      <p:sp>
        <p:nvSpPr>
          <p:cNvPr id="4" name="">
            <a:extLst xmlns:a="http://schemas.openxmlformats.org/drawingml/2006/main">
              <a:ext uri="{FF2B5EF4-FFF2-40B4-BE49-F238E27FC236}">
                <a16:creationId xmlns:a16="http://schemas.microsoft.com/office/drawing/2014/main" id="{0D0BDBA5-E8B5-408A-9475-43C16405CAF2}"/>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E7C9A7"/>
            </a:solidFill>
            <a:prstDash val="solid"/>
          </a:ln>
        </p:spPr>
      </p:sp>
      <p:sp>
        <p:nvSpPr>
          <p:cNvPr id="5" name="">
            <a:extLst xmlns:a="http://schemas.openxmlformats.org/drawingml/2006/main">
              <a:ext uri="{FF2B5EF4-FFF2-40B4-BE49-F238E27FC236}">
                <a16:creationId xmlns:a16="http://schemas.microsoft.com/office/drawing/2014/main" id="{7722070D-9E8E-495A-AAA0-FDB9DEA8161F}"/>
              </a:ext>
            </a:extLst>
          </p:cNvPr>
          <p:cNvSpPr>
            <a:spLocks xmlns:a="http://schemas.openxmlformats.org/drawingml/2006/main" noGrp="1"/>
          </p:cNvSpPr>
          <p:nvPr/>
        </p:nvSpPr>
        <p:spPr>
          <a:xfrm xmlns:a="http://schemas.openxmlformats.org/drawingml/2006/main">
            <a:off x="609600" y="971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300" b="1">
                <a:solidFill>
                  <a:srgbClr val="2D180B"/>
                </a:solidFill>
                <a:latin typeface="Lato"/>
                <a:ea typeface="Lato"/>
                <a:cs typeface="Lato"/>
              </a:defRPr>
            </a:pPr>
            <a:r>
              <a:rPr sz="3300" b="1">
                <a:solidFill>
                  <a:srgbClr val="2D180B"/>
                </a:solidFill>
                <a:latin typeface="Lato"/>
                <a:ea typeface="Lato"/>
                <a:cs typeface="Lato"/>
              </a:rPr>
              <a:t>Feedback works when it carries information</a:t>
            </a:r>
          </a:p>
        </p:txBody>
      </p:sp>
      <p:sp>
        <p:nvSpPr>
          <p:cNvPr id="6" name="">
            <a:extLst xmlns:a="http://schemas.openxmlformats.org/drawingml/2006/main">
              <a:ext uri="{FF2B5EF4-FFF2-40B4-BE49-F238E27FC236}">
                <a16:creationId xmlns:a16="http://schemas.microsoft.com/office/drawing/2014/main" id="{2BC6FCD9-BF17-4176-936A-40C29E28F613}"/>
              </a:ext>
            </a:extLst>
          </p:cNvPr>
          <p:cNvSpPr>
            <a:spLocks xmlns:a="http://schemas.openxmlformats.org/drawingml/2006/main" noGrp="1"/>
          </p:cNvSpPr>
          <p:nvPr/>
        </p:nvSpPr>
        <p:spPr>
          <a:xfrm xmlns:a="http://schemas.openxmlformats.org/drawingml/2006/main">
            <a:off x="647700" y="1638300"/>
            <a:ext cx="923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895F3C"/>
                </a:solidFill>
                <a:latin typeface="Lato"/>
                <a:ea typeface="Lato"/>
                <a:cs typeface="Lato"/>
              </a:defRPr>
            </a:pPr>
            <a:r>
              <a:rPr sz="1425">
                <a:solidFill>
                  <a:srgbClr val="895F3C"/>
                </a:solidFill>
                <a:latin typeface="Lato"/>
                <a:ea typeface="Lato"/>
                <a:cs typeface="Lato"/>
              </a:rPr>
              <a:t>Correctness alone is not enough. The learner needs a reason and a next move.</a:t>
            </a:r>
          </a:p>
        </p:txBody>
      </p:sp>
      <p:sp>
        <p:nvSpPr>
          <p:cNvPr id="7" name="">
            <a:extLst xmlns:a="http://schemas.openxmlformats.org/drawingml/2006/main">
              <a:ext uri="{FF2B5EF4-FFF2-40B4-BE49-F238E27FC236}">
                <a16:creationId xmlns:a16="http://schemas.microsoft.com/office/drawing/2014/main" id="{E5302D74-9502-4B13-93DF-C05B4E6818B9}"/>
              </a:ext>
            </a:extLst>
          </p:cNvPr>
          <p:cNvSpPr>
            <a:spLocks xmlns:a="http://schemas.openxmlformats.org/drawingml/2006/main" noGrp="1"/>
          </p:cNvSpPr>
          <p:nvPr/>
        </p:nvSpPr>
        <p:spPr>
          <a:xfrm xmlns:a="http://schemas.openxmlformats.org/drawingml/2006/main">
            <a:off x="647700" y="2305050"/>
            <a:ext cx="4238625" cy="3190875"/>
          </a:xfrm>
          <a:prstGeom xmlns:a="http://schemas.openxmlformats.org/drawingml/2006/main" prst="roundRect">
            <a:avLst>
              <a:gd name="adj" fmla="val 7164"/>
            </a:avLst>
          </a:prstGeom>
          <a:solidFill xmlns:a="http://schemas.openxmlformats.org/drawingml/2006/main">
            <a:srgbClr val="1B100B"/>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5A0A75EF-0DC1-4E5C-BAB1-70F37E5D79E8}"/>
              </a:ext>
            </a:extLst>
          </p:cNvPr>
          <p:cNvSpPr>
            <a:spLocks xmlns:a="http://schemas.openxmlformats.org/drawingml/2006/main" noGrp="1"/>
          </p:cNvSpPr>
          <p:nvPr/>
        </p:nvSpPr>
        <p:spPr>
          <a:xfrm xmlns:a="http://schemas.openxmlformats.org/drawingml/2006/main">
            <a:off x="990600" y="2647950"/>
            <a:ext cx="180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710"/>
          </a:bodyPr>
          <a:lstStyle xmlns:a="http://schemas.openxmlformats.org/drawingml/2006/main"/>
          <a:p xmlns:a="http://schemas.openxmlformats.org/drawingml/2006/main">
            <a:pPr>
              <a:defRPr sz="4650" b="1">
                <a:solidFill>
                  <a:srgbClr val="FF8500"/>
                </a:solidFill>
                <a:latin typeface="Lato"/>
                <a:ea typeface="Lato"/>
                <a:cs typeface="Lato"/>
              </a:defRPr>
            </a:pPr>
            <a:r>
              <a:rPr sz="4650" b="1">
                <a:solidFill>
                  <a:srgbClr val="FF8500"/>
                </a:solidFill>
                <a:latin typeface="Lato"/>
                <a:ea typeface="Lato"/>
                <a:cs typeface="Lato"/>
              </a:rPr>
              <a:t>435</a:t>
            </a:r>
          </a:p>
        </p:txBody>
      </p:sp>
      <p:sp>
        <p:nvSpPr>
          <p:cNvPr id="9" name="">
            <a:extLst xmlns:a="http://schemas.openxmlformats.org/drawingml/2006/main">
              <a:ext uri="{FF2B5EF4-FFF2-40B4-BE49-F238E27FC236}">
                <a16:creationId xmlns:a16="http://schemas.microsoft.com/office/drawing/2014/main" id="{33AD6785-9D61-4663-A00C-8572BD2F22D3}"/>
              </a:ext>
            </a:extLst>
          </p:cNvPr>
          <p:cNvSpPr>
            <a:spLocks xmlns:a="http://schemas.openxmlformats.org/drawingml/2006/main" noGrp="1"/>
          </p:cNvSpPr>
          <p:nvPr/>
        </p:nvSpPr>
        <p:spPr>
          <a:xfrm xmlns:a="http://schemas.openxmlformats.org/drawingml/2006/main">
            <a:off x="1028700" y="33528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defRPr sz="1725" b="1">
                <a:solidFill>
                  <a:srgbClr val="FFF6E9"/>
                </a:solidFill>
                <a:latin typeface="Lato"/>
                <a:ea typeface="Lato"/>
                <a:cs typeface="Lato"/>
              </a:defRPr>
            </a:pPr>
            <a:r>
              <a:rPr sz="1725" b="1">
                <a:solidFill>
                  <a:srgbClr val="FFF6E9"/>
                </a:solidFill>
                <a:latin typeface="Lato"/>
                <a:ea typeface="Lato"/>
                <a:cs typeface="Lato"/>
              </a:rPr>
              <a:t>studies in a feedback</a:t>
            </a:r>
          </a:p>
          <a:p xmlns:a="http://schemas.openxmlformats.org/drawingml/2006/main">
            <a:pPr>
              <a:defRPr sz="1725" b="1">
                <a:solidFill>
                  <a:srgbClr val="FFF6E9"/>
                </a:solidFill>
                <a:latin typeface="Lato"/>
                <a:ea typeface="Lato"/>
                <a:cs typeface="Lato"/>
              </a:defRPr>
            </a:pPr>
            <a:r>
              <a:rPr sz="1725" b="1">
                <a:solidFill>
                  <a:srgbClr val="FFF6E9"/>
                </a:solidFill>
                <a:latin typeface="Lato"/>
                <a:ea typeface="Lato"/>
                <a:cs typeface="Lato"/>
              </a:rPr>
              <a:t>meta-analysis</a:t>
            </a:r>
          </a:p>
        </p:txBody>
      </p:sp>
      <p:sp>
        <p:nvSpPr>
          <p:cNvPr id="10" name="">
            <a:extLst xmlns:a="http://schemas.openxmlformats.org/drawingml/2006/main">
              <a:ext uri="{FF2B5EF4-FFF2-40B4-BE49-F238E27FC236}">
                <a16:creationId xmlns:a16="http://schemas.microsoft.com/office/drawing/2014/main" id="{DAC25EF6-E1C0-4AE5-A97E-586745A0F9C6}"/>
              </a:ext>
            </a:extLst>
          </p:cNvPr>
          <p:cNvSpPr>
            <a:spLocks xmlns:a="http://schemas.openxmlformats.org/drawingml/2006/main" noGrp="1"/>
          </p:cNvSpPr>
          <p:nvPr/>
        </p:nvSpPr>
        <p:spPr>
          <a:xfrm xmlns:a="http://schemas.openxmlformats.org/drawingml/2006/main">
            <a:off x="1028700" y="42672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defRPr sz="2400" b="1">
                <a:solidFill>
                  <a:srgbClr val="DFF2E5"/>
                </a:solidFill>
                <a:latin typeface="Lato"/>
                <a:ea typeface="Lato"/>
                <a:cs typeface="Lato"/>
              </a:defRPr>
            </a:pPr>
            <a:r>
              <a:rPr sz="2400" b="1">
                <a:solidFill>
                  <a:srgbClr val="DFF2E5"/>
                </a:solidFill>
                <a:latin typeface="Lato"/>
                <a:ea typeface="Lato"/>
                <a:cs typeface="Lato"/>
              </a:rPr>
              <a:t>d = 0.48</a:t>
            </a:r>
          </a:p>
        </p:txBody>
      </p:sp>
      <p:sp>
        <p:nvSpPr>
          <p:cNvPr id="11" name="">
            <a:extLst xmlns:a="http://schemas.openxmlformats.org/drawingml/2006/main">
              <a:ext uri="{FF2B5EF4-FFF2-40B4-BE49-F238E27FC236}">
                <a16:creationId xmlns:a16="http://schemas.microsoft.com/office/drawing/2014/main" id="{90E0A6A0-A384-4D34-AEA0-3054B9626DBA}"/>
              </a:ext>
            </a:extLst>
          </p:cNvPr>
          <p:cNvSpPr>
            <a:spLocks xmlns:a="http://schemas.openxmlformats.org/drawingml/2006/main" noGrp="1"/>
          </p:cNvSpPr>
          <p:nvPr/>
        </p:nvSpPr>
        <p:spPr>
          <a:xfrm xmlns:a="http://schemas.openxmlformats.org/drawingml/2006/main">
            <a:off x="1028700" y="47244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D8BBA4"/>
                </a:solidFill>
                <a:latin typeface="Lato"/>
                <a:ea typeface="Lato"/>
                <a:cs typeface="Lato"/>
              </a:defRPr>
            </a:pPr>
            <a:r>
              <a:rPr sz="1200">
                <a:solidFill>
                  <a:srgbClr val="D8BBA4"/>
                </a:solidFill>
                <a:latin typeface="Lato"/>
                <a:ea typeface="Lato"/>
                <a:cs typeface="Lato"/>
              </a:rPr>
              <a:t>medium overall effect on learning, with substantial variation by feedback content</a:t>
            </a:r>
          </a:p>
        </p:txBody>
      </p:sp>
      <p:sp>
        <p:nvSpPr>
          <p:cNvPr id="12" name="">
            <a:extLst xmlns:a="http://schemas.openxmlformats.org/drawingml/2006/main">
              <a:ext uri="{FF2B5EF4-FFF2-40B4-BE49-F238E27FC236}">
                <a16:creationId xmlns:a16="http://schemas.microsoft.com/office/drawing/2014/main" id="{F0C47DCB-3FA4-4689-8561-D45C20695BCB}"/>
              </a:ext>
            </a:extLst>
          </p:cNvPr>
          <p:cNvSpPr>
            <a:spLocks xmlns:a="http://schemas.openxmlformats.org/drawingml/2006/main" noGrp="1"/>
          </p:cNvSpPr>
          <p:nvPr/>
        </p:nvSpPr>
        <p:spPr>
          <a:xfrm xmlns:a="http://schemas.openxmlformats.org/drawingml/2006/main">
            <a:off x="5257800" y="2305050"/>
            <a:ext cx="6172200" cy="3190875"/>
          </a:xfrm>
          <a:prstGeom xmlns:a="http://schemas.openxmlformats.org/drawingml/2006/main" prst="roundRect">
            <a:avLst>
              <a:gd name="adj" fmla="val 7164"/>
            </a:avLst>
          </a:prstGeom>
          <a:solidFill xmlns:a="http://schemas.openxmlformats.org/drawingml/2006/main">
            <a:srgbClr val="FFFDF8"/>
          </a:solidFill>
          <a:ln xmlns:a="http://schemas.openxmlformats.org/drawingml/2006/main" w="9525">
            <a:solidFill>
              <a:srgbClr val="E7C9A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930548F7-64F3-4096-AFF6-405981FD919E}"/>
              </a:ext>
            </a:extLst>
          </p:cNvPr>
          <p:cNvSpPr>
            <a:spLocks xmlns:a="http://schemas.openxmlformats.org/drawingml/2006/main" noGrp="1"/>
          </p:cNvSpPr>
          <p:nvPr/>
        </p:nvSpPr>
        <p:spPr>
          <a:xfrm xmlns:a="http://schemas.openxmlformats.org/drawingml/2006/main">
            <a:off x="5619750" y="2628900"/>
            <a:ext cx="1390650" cy="257175"/>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FFFFFF"/>
                </a:solidFill>
                <a:latin typeface="Lato"/>
                <a:ea typeface="Lato"/>
                <a:cs typeface="Lato"/>
              </a:defRPr>
            </a:pPr>
            <a:r>
              <a:rPr sz="900" b="1">
                <a:solidFill>
                  <a:srgbClr val="FFFFFF"/>
                </a:solidFill>
                <a:latin typeface="Lato"/>
                <a:ea typeface="Lato"/>
                <a:cs typeface="Lato"/>
              </a:rPr>
              <a:t>BATAA DESIGN RULE</a:t>
            </a:r>
          </a:p>
        </p:txBody>
      </p:sp>
      <p:sp>
        <p:nvSpPr>
          <p:cNvPr id="14" name="">
            <a:extLst xmlns:a="http://schemas.openxmlformats.org/drawingml/2006/main">
              <a:ext uri="{FF2B5EF4-FFF2-40B4-BE49-F238E27FC236}">
                <a16:creationId xmlns:a16="http://schemas.microsoft.com/office/drawing/2014/main" id="{72518B87-0346-4E57-B5CB-3A34001474C8}"/>
              </a:ext>
            </a:extLst>
          </p:cNvPr>
          <p:cNvSpPr>
            <a:spLocks xmlns:a="http://schemas.openxmlformats.org/drawingml/2006/main" noGrp="1"/>
          </p:cNvSpPr>
          <p:nvPr/>
        </p:nvSpPr>
        <p:spPr>
          <a:xfrm xmlns:a="http://schemas.openxmlformats.org/drawingml/2006/main">
            <a:off x="5619750" y="3133725"/>
            <a:ext cx="304800" cy="3048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FFFFFF"/>
                </a:solidFill>
                <a:latin typeface="Lato"/>
                <a:ea typeface="Lato"/>
                <a:cs typeface="Lato"/>
              </a:defRPr>
            </a:pPr>
            <a:r>
              <a:rPr sz="825" b="1">
                <a:solidFill>
                  <a:srgbClr val="FFFFFF"/>
                </a:solidFill>
                <a:latin typeface="Lato"/>
                <a:ea typeface="Lato"/>
                <a:cs typeface="Lato"/>
              </a:rPr>
              <a:t>01</a:t>
            </a:r>
          </a:p>
        </p:txBody>
      </p:sp>
      <p:sp>
        <p:nvSpPr>
          <p:cNvPr id="15" name="">
            <a:extLst xmlns:a="http://schemas.openxmlformats.org/drawingml/2006/main">
              <a:ext uri="{FF2B5EF4-FFF2-40B4-BE49-F238E27FC236}">
                <a16:creationId xmlns:a16="http://schemas.microsoft.com/office/drawing/2014/main" id="{C9839778-547F-4D4D-BF00-FFD150A71E55}"/>
              </a:ext>
            </a:extLst>
          </p:cNvPr>
          <p:cNvSpPr>
            <a:spLocks xmlns:a="http://schemas.openxmlformats.org/drawingml/2006/main" noGrp="1"/>
          </p:cNvSpPr>
          <p:nvPr/>
        </p:nvSpPr>
        <p:spPr>
          <a:xfrm xmlns:a="http://schemas.openxmlformats.org/drawingml/2006/main">
            <a:off x="6134100" y="31432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Explain what happened</a:t>
            </a:r>
          </a:p>
        </p:txBody>
      </p:sp>
      <p:sp>
        <p:nvSpPr>
          <p:cNvPr id="16" name="">
            <a:extLst xmlns:a="http://schemas.openxmlformats.org/drawingml/2006/main">
              <a:ext uri="{FF2B5EF4-FFF2-40B4-BE49-F238E27FC236}">
                <a16:creationId xmlns:a16="http://schemas.microsoft.com/office/drawing/2014/main" id="{268AECBC-0E07-440C-B7FF-87D24EBD05D4}"/>
              </a:ext>
            </a:extLst>
          </p:cNvPr>
          <p:cNvSpPr>
            <a:spLocks xmlns:a="http://schemas.openxmlformats.org/drawingml/2006/main" noGrp="1"/>
          </p:cNvSpPr>
          <p:nvPr/>
        </p:nvSpPr>
        <p:spPr>
          <a:xfrm xmlns:a="http://schemas.openxmlformats.org/drawingml/2006/main">
            <a:off x="6134100" y="339090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895F3C"/>
                </a:solidFill>
                <a:latin typeface="Lato"/>
                <a:ea typeface="Lato"/>
                <a:cs typeface="Lato"/>
              </a:defRPr>
            </a:pPr>
            <a:r>
              <a:rPr sz="1125">
                <a:solidFill>
                  <a:srgbClr val="895F3C"/>
                </a:solidFill>
                <a:latin typeface="Lato"/>
                <a:ea typeface="Lato"/>
                <a:cs typeface="Lato"/>
              </a:rPr>
              <a:t>Name the concept or step behind the result.</a:t>
            </a:r>
          </a:p>
        </p:txBody>
      </p:sp>
      <p:sp>
        <p:nvSpPr>
          <p:cNvPr id="17" name="">
            <a:extLst xmlns:a="http://schemas.openxmlformats.org/drawingml/2006/main">
              <a:ext uri="{FF2B5EF4-FFF2-40B4-BE49-F238E27FC236}">
                <a16:creationId xmlns:a16="http://schemas.microsoft.com/office/drawing/2014/main" id="{7ABD5AAC-A508-4208-BF0A-F7B0CA8FFCC2}"/>
              </a:ext>
            </a:extLst>
          </p:cNvPr>
          <p:cNvSpPr>
            <a:spLocks xmlns:a="http://schemas.openxmlformats.org/drawingml/2006/main" noGrp="1"/>
          </p:cNvSpPr>
          <p:nvPr/>
        </p:nvSpPr>
        <p:spPr>
          <a:xfrm xmlns:a="http://schemas.openxmlformats.org/drawingml/2006/main">
            <a:off x="5619750" y="3829050"/>
            <a:ext cx="304800" cy="30480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FFFFFF"/>
                </a:solidFill>
                <a:latin typeface="Lato"/>
                <a:ea typeface="Lato"/>
                <a:cs typeface="Lato"/>
              </a:defRPr>
            </a:pPr>
            <a:r>
              <a:rPr sz="825" b="1">
                <a:solidFill>
                  <a:srgbClr val="FFFFFF"/>
                </a:solidFill>
                <a:latin typeface="Lato"/>
                <a:ea typeface="Lato"/>
                <a:cs typeface="Lato"/>
              </a:rPr>
              <a:t>02</a:t>
            </a:r>
          </a:p>
        </p:txBody>
      </p:sp>
      <p:sp>
        <p:nvSpPr>
          <p:cNvPr id="18" name="">
            <a:extLst xmlns:a="http://schemas.openxmlformats.org/drawingml/2006/main">
              <a:ext uri="{FF2B5EF4-FFF2-40B4-BE49-F238E27FC236}">
                <a16:creationId xmlns:a16="http://schemas.microsoft.com/office/drawing/2014/main" id="{C8736236-AB4D-4D85-946E-DA2EA571AB6E}"/>
              </a:ext>
            </a:extLst>
          </p:cNvPr>
          <p:cNvSpPr>
            <a:spLocks xmlns:a="http://schemas.openxmlformats.org/drawingml/2006/main" noGrp="1"/>
          </p:cNvSpPr>
          <p:nvPr/>
        </p:nvSpPr>
        <p:spPr>
          <a:xfrm xmlns:a="http://schemas.openxmlformats.org/drawingml/2006/main">
            <a:off x="6134100" y="383857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Show the next move</a:t>
            </a:r>
          </a:p>
        </p:txBody>
      </p:sp>
      <p:sp>
        <p:nvSpPr>
          <p:cNvPr id="19" name="">
            <a:extLst xmlns:a="http://schemas.openxmlformats.org/drawingml/2006/main">
              <a:ext uri="{FF2B5EF4-FFF2-40B4-BE49-F238E27FC236}">
                <a16:creationId xmlns:a16="http://schemas.microsoft.com/office/drawing/2014/main" id="{F24AFE4E-1159-4E66-9FC9-932A8DD71659}"/>
              </a:ext>
            </a:extLst>
          </p:cNvPr>
          <p:cNvSpPr>
            <a:spLocks xmlns:a="http://schemas.openxmlformats.org/drawingml/2006/main" noGrp="1"/>
          </p:cNvSpPr>
          <p:nvPr/>
        </p:nvSpPr>
        <p:spPr>
          <a:xfrm xmlns:a="http://schemas.openxmlformats.org/drawingml/2006/main">
            <a:off x="6134100" y="4086225"/>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895F3C"/>
                </a:solidFill>
                <a:latin typeface="Lato"/>
                <a:ea typeface="Lato"/>
                <a:cs typeface="Lato"/>
              </a:defRPr>
            </a:pPr>
            <a:r>
              <a:rPr sz="1125">
                <a:solidFill>
                  <a:srgbClr val="895F3C"/>
                </a:solidFill>
                <a:latin typeface="Lato"/>
                <a:ea typeface="Lato"/>
                <a:cs typeface="Lato"/>
              </a:rPr>
              <a:t>Offer a hint or smaller action, not a wall of text.</a:t>
            </a:r>
          </a:p>
        </p:txBody>
      </p:sp>
      <p:sp>
        <p:nvSpPr>
          <p:cNvPr id="20" name="">
            <a:extLst xmlns:a="http://schemas.openxmlformats.org/drawingml/2006/main">
              <a:ext uri="{FF2B5EF4-FFF2-40B4-BE49-F238E27FC236}">
                <a16:creationId xmlns:a16="http://schemas.microsoft.com/office/drawing/2014/main" id="{6E4F47BC-EFF5-49D1-AA5B-0B0968F421EC}"/>
              </a:ext>
            </a:extLst>
          </p:cNvPr>
          <p:cNvSpPr>
            <a:spLocks xmlns:a="http://schemas.openxmlformats.org/drawingml/2006/main" noGrp="1"/>
          </p:cNvSpPr>
          <p:nvPr/>
        </p:nvSpPr>
        <p:spPr>
          <a:xfrm xmlns:a="http://schemas.openxmlformats.org/drawingml/2006/main">
            <a:off x="5619750" y="4524375"/>
            <a:ext cx="304800" cy="304800"/>
          </a:xfrm>
          <a:prstGeom xmlns:a="http://schemas.openxmlformats.org/drawingml/2006/main" prst="ellipse">
            <a:avLst/>
          </a:prstGeom>
          <a:solidFill xmlns:a="http://schemas.openxmlformats.org/drawingml/2006/main">
            <a:srgbClr val="2E9B62"/>
          </a:solidFill>
          <a:ln xmlns:a="http://schemas.openxmlformats.org/drawingml/2006/main" w="0">
            <a:solidFill>
              <a:srgbClr val="2E9B62"/>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FFFFFF"/>
                </a:solidFill>
                <a:latin typeface="Lato"/>
                <a:ea typeface="Lato"/>
                <a:cs typeface="Lato"/>
              </a:defRPr>
            </a:pPr>
            <a:r>
              <a:rPr sz="825" b="1">
                <a:solidFill>
                  <a:srgbClr val="FFFFFF"/>
                </a:solidFill>
                <a:latin typeface="Lato"/>
                <a:ea typeface="Lato"/>
                <a:cs typeface="Lato"/>
              </a:rPr>
              <a:t>03</a:t>
            </a:r>
          </a:p>
        </p:txBody>
      </p:sp>
      <p:sp>
        <p:nvSpPr>
          <p:cNvPr id="21" name="">
            <a:extLst xmlns:a="http://schemas.openxmlformats.org/drawingml/2006/main">
              <a:ext uri="{FF2B5EF4-FFF2-40B4-BE49-F238E27FC236}">
                <a16:creationId xmlns:a16="http://schemas.microsoft.com/office/drawing/2014/main" id="{FB642DB8-E1A6-4550-8A2E-3102FCD507BC}"/>
              </a:ext>
            </a:extLst>
          </p:cNvPr>
          <p:cNvSpPr>
            <a:spLocks xmlns:a="http://schemas.openxmlformats.org/drawingml/2006/main" noGrp="1"/>
          </p:cNvSpPr>
          <p:nvPr/>
        </p:nvSpPr>
        <p:spPr>
          <a:xfrm xmlns:a="http://schemas.openxmlformats.org/drawingml/2006/main">
            <a:off x="6134100" y="45339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Protect the retry</a:t>
            </a:r>
          </a:p>
        </p:txBody>
      </p:sp>
      <p:sp>
        <p:nvSpPr>
          <p:cNvPr id="22" name="">
            <a:extLst xmlns:a="http://schemas.openxmlformats.org/drawingml/2006/main">
              <a:ext uri="{FF2B5EF4-FFF2-40B4-BE49-F238E27FC236}">
                <a16:creationId xmlns:a16="http://schemas.microsoft.com/office/drawing/2014/main" id="{55CE9AB1-1255-455C-8CAB-B29C2CB559B5}"/>
              </a:ext>
            </a:extLst>
          </p:cNvPr>
          <p:cNvSpPr>
            <a:spLocks xmlns:a="http://schemas.openxmlformats.org/drawingml/2006/main" noGrp="1"/>
          </p:cNvSpPr>
          <p:nvPr/>
        </p:nvSpPr>
        <p:spPr>
          <a:xfrm xmlns:a="http://schemas.openxmlformats.org/drawingml/2006/main">
            <a:off x="6134100" y="478155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895F3C"/>
                </a:solidFill>
                <a:latin typeface="Lato"/>
                <a:ea typeface="Lato"/>
                <a:cs typeface="Lato"/>
              </a:defRPr>
            </a:pPr>
            <a:r>
              <a:rPr sz="1125">
                <a:solidFill>
                  <a:srgbClr val="895F3C"/>
                </a:solidFill>
                <a:latin typeface="Lato"/>
                <a:ea typeface="Lato"/>
                <a:cs typeface="Lato"/>
              </a:rPr>
              <a:t>Let a learner try privately without public embarrassment.</a:t>
            </a:r>
          </a:p>
        </p:txBody>
      </p:sp>
      <p:sp>
        <p:nvSpPr>
          <p:cNvPr id="23" name="">
            <a:extLst xmlns:a="http://schemas.openxmlformats.org/drawingml/2006/main">
              <a:ext uri="{FF2B5EF4-FFF2-40B4-BE49-F238E27FC236}">
                <a16:creationId xmlns:a16="http://schemas.microsoft.com/office/drawing/2014/main" id="{E53A5D99-EAD3-47CF-AB8A-6D7C7622B244}"/>
              </a:ext>
            </a:extLst>
          </p:cNvPr>
          <p:cNvSpPr>
            <a:spLocks xmlns:a="http://schemas.openxmlformats.org/drawingml/2006/main" noGrp="1"/>
          </p:cNvSpPr>
          <p:nvPr/>
        </p:nvSpPr>
        <p:spPr>
          <a:xfrm xmlns:a="http://schemas.openxmlformats.org/drawingml/2006/main">
            <a:off x="647700" y="5772150"/>
            <a:ext cx="10782300" cy="409575"/>
          </a:xfrm>
          <a:prstGeom xmlns:a="http://schemas.openxmlformats.org/drawingml/2006/main" prst="roundRect">
            <a:avLst>
              <a:gd name="adj" fmla="val 37209"/>
            </a:avLst>
          </a:prstGeom>
          <a:solidFill xmlns:a="http://schemas.openxmlformats.org/drawingml/2006/main">
            <a:srgbClr val="FFD5A3"/>
          </a:solidFill>
          <a:ln xmlns:a="http://schemas.openxmlformats.org/drawingml/2006/main" w="9525">
            <a:solidFill>
              <a:srgbClr val="FFD5A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5BFB9113-D369-4A44-B64E-63FA7D9AAA4E}"/>
              </a:ext>
            </a:extLst>
          </p:cNvPr>
          <p:cNvSpPr>
            <a:spLocks xmlns:a="http://schemas.openxmlformats.org/drawingml/2006/main" noGrp="1"/>
          </p:cNvSpPr>
          <p:nvPr/>
        </p:nvSpPr>
        <p:spPr>
          <a:xfrm xmlns:a="http://schemas.openxmlformats.org/drawingml/2006/main">
            <a:off x="933450" y="58769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b="1">
                <a:solidFill>
                  <a:srgbClr val="2D180B"/>
                </a:solidFill>
                <a:latin typeface="Lato"/>
                <a:ea typeface="Lato"/>
                <a:cs typeface="Lato"/>
              </a:defRPr>
            </a:pPr>
            <a:r>
              <a:rPr sz="1125" b="1">
                <a:solidFill>
                  <a:srgbClr val="2D180B"/>
                </a:solidFill>
                <a:latin typeface="Lato"/>
                <a:ea typeface="Lato"/>
                <a:cs typeface="Lato"/>
              </a:rPr>
              <a:t>Caveat: 17% of feedback effects were negative in the review. Format and information content matter.</a:t>
            </a:r>
          </a:p>
        </p:txBody>
      </p:sp>
      <p:sp>
        <p:nvSpPr>
          <p:cNvPr id="25" name="">
            <a:extLst xmlns:a="http://schemas.openxmlformats.org/drawingml/2006/main">
              <a:ext uri="{FF2B5EF4-FFF2-40B4-BE49-F238E27FC236}">
                <a16:creationId xmlns:a16="http://schemas.microsoft.com/office/drawing/2014/main" id="{617AD930-B9E6-439B-B885-C1F3C316F761}"/>
              </a:ext>
            </a:extLst>
          </p:cNvPr>
          <p:cNvSpPr>
            <a:spLocks xmlns:a="http://schemas.openxmlformats.org/drawingml/2006/main" noGrp="1"/>
          </p:cNvSpPr>
          <p:nvPr/>
        </p:nvSpPr>
        <p:spPr>
          <a:xfrm xmlns:a="http://schemas.openxmlformats.org/drawingml/2006/main">
            <a:off x="609600" y="6505575"/>
            <a:ext cx="1047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788">
                <a:solidFill>
                  <a:srgbClr val="7D5C42"/>
                </a:solidFill>
                <a:latin typeface="Lato"/>
                <a:ea typeface="Lato"/>
                <a:cs typeface="Lato"/>
              </a:defRPr>
            </a:pPr>
            <a:r>
              <a:rPr sz="788">
                <a:solidFill>
                  <a:srgbClr val="7D5C42"/>
                </a:solidFill>
                <a:latin typeface="Lato"/>
                <a:ea typeface="Lato"/>
                <a:cs typeface="Lato"/>
              </a:rPr>
              <a:t>Wisniewski, Zierer &amp; Hattie · Frontiers in Psychology · 2020</a:t>
            </a:r>
          </a:p>
        </p:txBody>
      </p:sp>
    </p:spTree>
    <p:extLst>
      <p:ext uri="{BB962C8B-B14F-4D97-AF65-F5344CB8AC3E}">
        <p14:creationId xmlns:p14="http://schemas.microsoft.com/office/powerpoint/2010/main" val="2139373591"/>
      </p:ext>
    </p:extLst>
  </p:cSld>
</p:sld>
</file>

<file path=ppt/slides/slide8.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377FEEF-3FDD-493B-97B3-D19DB00E0B90}"/>
              </a:ext>
            </a:extLst>
          </p:cNvPr>
          <p:cNvSpPr>
            <a:spLocks xmlns:a="http://schemas.openxmlformats.org/drawingml/2006/main" noGrp="1"/>
          </p:cNvSpPr>
          <p:nvPr/>
        </p:nvSpPr>
        <p:spPr>
          <a:xfrm xmlns:a="http://schemas.openxmlformats.org/drawingml/2006/main">
            <a:off x="609600" y="2476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AC748E59-12B6-472F-91EF-7F5E20A646DB}"/>
              </a:ext>
            </a:extLst>
          </p:cNvPr>
          <p:cNvSpPr>
            <a:spLocks xmlns:a="http://schemas.openxmlformats.org/drawingml/2006/main" noGrp="1"/>
          </p:cNvSpPr>
          <p:nvPr/>
        </p:nvSpPr>
        <p:spPr>
          <a:xfrm xmlns:a="http://schemas.openxmlformats.org/drawingml/2006/main">
            <a:off x="2114550" y="2952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D7BDA9"/>
                </a:solidFill>
                <a:latin typeface="Lato"/>
                <a:ea typeface="Lato"/>
                <a:cs typeface="Lato"/>
              </a:defRPr>
            </a:pPr>
            <a:r>
              <a:rPr sz="825" b="1">
                <a:solidFill>
                  <a:srgbClr val="D7BDA9"/>
                </a:solidFill>
                <a:latin typeface="Lato"/>
                <a:ea typeface="Lato"/>
                <a:cs typeface="Lato"/>
              </a:rPr>
              <a:t>CONTEXTUAL AI</a:t>
            </a:r>
          </a:p>
        </p:txBody>
      </p:sp>
      <p:sp>
        <p:nvSpPr>
          <p:cNvPr id="3" name="">
            <a:extLst xmlns:a="http://schemas.openxmlformats.org/drawingml/2006/main">
              <a:ext uri="{FF2B5EF4-FFF2-40B4-BE49-F238E27FC236}">
                <a16:creationId xmlns:a16="http://schemas.microsoft.com/office/drawing/2014/main" id="{B4670641-22E5-4AA1-BA2C-1611705376D5}"/>
              </a:ext>
            </a:extLst>
          </p:cNvPr>
          <p:cNvSpPr>
            <a:spLocks xmlns:a="http://schemas.openxmlformats.org/drawingml/2006/main" noGrp="1"/>
          </p:cNvSpPr>
          <p:nvPr/>
        </p:nvSpPr>
        <p:spPr>
          <a:xfrm xmlns:a="http://schemas.openxmlformats.org/drawingml/2006/main">
            <a:off x="11201400" y="2762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FF6E9"/>
                </a:solidFill>
                <a:latin typeface="Lato"/>
                <a:ea typeface="Lato"/>
                <a:cs typeface="Lato"/>
              </a:defRPr>
            </a:pPr>
            <a:r>
              <a:rPr sz="975" b="1">
                <a:solidFill>
                  <a:srgbClr val="FFF6E9"/>
                </a:solidFill>
                <a:latin typeface="Lato"/>
                <a:ea typeface="Lato"/>
                <a:cs typeface="Lato"/>
              </a:rPr>
              <a:t>08</a:t>
            </a:r>
          </a:p>
        </p:txBody>
      </p:sp>
      <p:sp>
        <p:nvSpPr>
          <p:cNvPr id="4" name="">
            <a:extLst xmlns:a="http://schemas.openxmlformats.org/drawingml/2006/main">
              <a:ext uri="{FF2B5EF4-FFF2-40B4-BE49-F238E27FC236}">
                <a16:creationId xmlns:a16="http://schemas.microsoft.com/office/drawing/2014/main" id="{7E619ADC-6DAA-4594-BF0E-94F866035651}"/>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631427BD-0A53-4F0B-BB40-04650039C81C}"/>
              </a:ext>
            </a:extLst>
          </p:cNvPr>
          <p:cNvSpPr>
            <a:spLocks xmlns:a="http://schemas.openxmlformats.org/drawingml/2006/main" noGrp="1"/>
          </p:cNvSpPr>
          <p:nvPr/>
        </p:nvSpPr>
        <p:spPr>
          <a:xfrm xmlns:a="http://schemas.openxmlformats.org/drawingml/2006/main">
            <a:off x="609600" y="971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300" b="1">
                <a:solidFill>
                  <a:srgbClr val="FFF6E9"/>
                </a:solidFill>
                <a:latin typeface="Lato"/>
                <a:ea typeface="Lato"/>
                <a:cs typeface="Lato"/>
              </a:defRPr>
            </a:pPr>
            <a:r>
              <a:rPr sz="3300" b="1">
                <a:solidFill>
                  <a:srgbClr val="FFF6E9"/>
                </a:solidFill>
                <a:latin typeface="Lato"/>
                <a:ea typeface="Lato"/>
                <a:cs typeface="Lato"/>
              </a:rPr>
              <a:t>Contextual AI has an early evidence signal</a:t>
            </a:r>
          </a:p>
        </p:txBody>
      </p:sp>
      <p:sp>
        <p:nvSpPr>
          <p:cNvPr id="6" name="">
            <a:extLst xmlns:a="http://schemas.openxmlformats.org/drawingml/2006/main">
              <a:ext uri="{FF2B5EF4-FFF2-40B4-BE49-F238E27FC236}">
                <a16:creationId xmlns:a16="http://schemas.microsoft.com/office/drawing/2014/main" id="{2829A639-9BD4-4707-B16F-500C27DB29E0}"/>
              </a:ext>
            </a:extLst>
          </p:cNvPr>
          <p:cNvSpPr>
            <a:spLocks xmlns:a="http://schemas.openxmlformats.org/drawingml/2006/main" noGrp="1"/>
          </p:cNvSpPr>
          <p:nvPr/>
        </p:nvSpPr>
        <p:spPr>
          <a:xfrm xmlns:a="http://schemas.openxmlformats.org/drawingml/2006/main">
            <a:off x="647700" y="1638300"/>
            <a:ext cx="923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E3CDBB"/>
                </a:solidFill>
                <a:latin typeface="Lato"/>
                <a:ea typeface="Lato"/>
                <a:cs typeface="Lato"/>
              </a:defRPr>
            </a:pPr>
            <a:r>
              <a:rPr sz="1425">
                <a:solidFill>
                  <a:srgbClr val="E3CDBB"/>
                </a:solidFill>
                <a:latin typeface="Lato"/>
                <a:ea typeface="Lato"/>
                <a:cs typeface="Lato"/>
              </a:rPr>
              <a:t>Adjacent product experiments suggest that relevant history can improve the next step.</a:t>
            </a:r>
          </a:p>
        </p:txBody>
      </p:sp>
      <p:sp>
        <p:nvSpPr>
          <p:cNvPr id="7" name="">
            <a:extLst xmlns:a="http://schemas.openxmlformats.org/drawingml/2006/main">
              <a:ext uri="{FF2B5EF4-FFF2-40B4-BE49-F238E27FC236}">
                <a16:creationId xmlns:a16="http://schemas.microsoft.com/office/drawing/2014/main" id="{C39B0129-1542-47EF-9E1B-8DBB141F89DF}"/>
              </a:ext>
            </a:extLst>
          </p:cNvPr>
          <p:cNvSpPr>
            <a:spLocks xmlns:a="http://schemas.openxmlformats.org/drawingml/2006/main" noGrp="1"/>
          </p:cNvSpPr>
          <p:nvPr/>
        </p:nvSpPr>
        <p:spPr>
          <a:xfrm xmlns:a="http://schemas.openxmlformats.org/drawingml/2006/main">
            <a:off x="647700" y="2286000"/>
            <a:ext cx="5029200" cy="3476625"/>
          </a:xfrm>
          <a:prstGeom xmlns:a="http://schemas.openxmlformats.org/drawingml/2006/main" prst="roundRect">
            <a:avLst>
              <a:gd name="adj" fmla="val 6575"/>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3BE10A0F-EB65-4976-A4AE-A4F1A4F5684F}"/>
              </a:ext>
            </a:extLst>
          </p:cNvPr>
          <p:cNvSpPr>
            <a:spLocks xmlns:a="http://schemas.openxmlformats.org/drawingml/2006/main" noGrp="1"/>
          </p:cNvSpPr>
          <p:nvPr/>
        </p:nvSpPr>
        <p:spPr>
          <a:xfrm xmlns:a="http://schemas.openxmlformats.org/drawingml/2006/main">
            <a:off x="971550" y="2609850"/>
            <a:ext cx="1295400" cy="257175"/>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FFFFFF"/>
                </a:solidFill>
                <a:latin typeface="Lato"/>
                <a:ea typeface="Lato"/>
                <a:cs typeface="Lato"/>
              </a:defRPr>
            </a:pPr>
            <a:r>
              <a:rPr sz="900" b="1">
                <a:solidFill>
                  <a:srgbClr val="FFFFFF"/>
                </a:solidFill>
                <a:latin typeface="Lato"/>
                <a:ea typeface="Lato"/>
                <a:cs typeface="Lato"/>
              </a:rPr>
              <a:t>GITHUB COPILOT</a:t>
            </a:r>
          </a:p>
        </p:txBody>
      </p:sp>
      <p:sp>
        <p:nvSpPr>
          <p:cNvPr id="9" name="">
            <a:extLst xmlns:a="http://schemas.openxmlformats.org/drawingml/2006/main">
              <a:ext uri="{FF2B5EF4-FFF2-40B4-BE49-F238E27FC236}">
                <a16:creationId xmlns:a16="http://schemas.microsoft.com/office/drawing/2014/main" id="{1B662CF4-17A7-450E-B97C-A81ADA624054}"/>
              </a:ext>
            </a:extLst>
          </p:cNvPr>
          <p:cNvSpPr>
            <a:spLocks xmlns:a="http://schemas.openxmlformats.org/drawingml/2006/main" noGrp="1"/>
          </p:cNvSpPr>
          <p:nvPr/>
        </p:nvSpPr>
        <p:spPr>
          <a:xfrm xmlns:a="http://schemas.openxmlformats.org/drawingml/2006/main">
            <a:off x="971550" y="306705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FFF6E9"/>
                </a:solidFill>
                <a:latin typeface="Lato"/>
                <a:ea typeface="Lato"/>
                <a:cs typeface="Lato"/>
              </a:defRPr>
            </a:pPr>
            <a:r>
              <a:rPr sz="1650" b="1">
                <a:solidFill>
                  <a:srgbClr val="FFF6E9"/>
                </a:solidFill>
                <a:latin typeface="Lato"/>
                <a:ea typeface="Lato"/>
                <a:cs typeface="Lato"/>
              </a:rPr>
              <a:t>95 professional developers</a:t>
            </a:r>
          </a:p>
        </p:txBody>
      </p:sp>
      <p:sp>
        <p:nvSpPr>
          <p:cNvPr id="10" name="">
            <a:extLst xmlns:a="http://schemas.openxmlformats.org/drawingml/2006/main">
              <a:ext uri="{FF2B5EF4-FFF2-40B4-BE49-F238E27FC236}">
                <a16:creationId xmlns:a16="http://schemas.microsoft.com/office/drawing/2014/main" id="{ACA3EF13-DD86-4EEA-8C92-C713115FC4F5}"/>
              </a:ext>
            </a:extLst>
          </p:cNvPr>
          <p:cNvSpPr>
            <a:spLocks xmlns:a="http://schemas.openxmlformats.org/drawingml/2006/main" noGrp="1"/>
          </p:cNvSpPr>
          <p:nvPr/>
        </p:nvSpPr>
        <p:spPr>
          <a:xfrm xmlns:a="http://schemas.openxmlformats.org/drawingml/2006/main">
            <a:off x="971550" y="3524250"/>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FF8500"/>
                </a:solidFill>
                <a:latin typeface="Lato"/>
                <a:ea typeface="Lato"/>
                <a:cs typeface="Lato"/>
              </a:defRPr>
            </a:pPr>
            <a:r>
              <a:rPr sz="2775" b="1">
                <a:solidFill>
                  <a:srgbClr val="FF8500"/>
                </a:solidFill>
                <a:latin typeface="Lato"/>
                <a:ea typeface="Lato"/>
                <a:cs typeface="Lato"/>
              </a:rPr>
              <a:t>78% vs 70%</a:t>
            </a:r>
          </a:p>
        </p:txBody>
      </p:sp>
      <p:sp>
        <p:nvSpPr>
          <p:cNvPr id="11" name="">
            <a:extLst xmlns:a="http://schemas.openxmlformats.org/drawingml/2006/main">
              <a:ext uri="{FF2B5EF4-FFF2-40B4-BE49-F238E27FC236}">
                <a16:creationId xmlns:a16="http://schemas.microsoft.com/office/drawing/2014/main" id="{398BE5A5-C781-4D36-81E0-575E7DBA7EEB}"/>
              </a:ext>
            </a:extLst>
          </p:cNvPr>
          <p:cNvSpPr>
            <a:spLocks xmlns:a="http://schemas.openxmlformats.org/drawingml/2006/main" noGrp="1"/>
          </p:cNvSpPr>
          <p:nvPr/>
        </p:nvSpPr>
        <p:spPr>
          <a:xfrm xmlns:a="http://schemas.openxmlformats.org/drawingml/2006/main">
            <a:off x="971550" y="3981450"/>
            <a:ext cx="352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D8BBA4"/>
                </a:solidFill>
                <a:latin typeface="Lato"/>
                <a:ea typeface="Lato"/>
                <a:cs typeface="Lato"/>
              </a:defRPr>
            </a:pPr>
            <a:r>
              <a:rPr sz="1200">
                <a:solidFill>
                  <a:srgbClr val="D8BBA4"/>
                </a:solidFill>
                <a:latin typeface="Lato"/>
                <a:ea typeface="Lato"/>
                <a:cs typeface="Lato"/>
              </a:rPr>
              <a:t>completed the same JavaScript HTTP-server task</a:t>
            </a:r>
          </a:p>
        </p:txBody>
      </p:sp>
      <p:sp>
        <p:nvSpPr>
          <p:cNvPr id="12" name="">
            <a:extLst xmlns:a="http://schemas.openxmlformats.org/drawingml/2006/main">
              <a:ext uri="{FF2B5EF4-FFF2-40B4-BE49-F238E27FC236}">
                <a16:creationId xmlns:a16="http://schemas.microsoft.com/office/drawing/2014/main" id="{E4B3BED9-8489-44CC-87DA-D962C94BE307}"/>
              </a:ext>
            </a:extLst>
          </p:cNvPr>
          <p:cNvSpPr>
            <a:spLocks xmlns:a="http://schemas.openxmlformats.org/drawingml/2006/main" noGrp="1"/>
          </p:cNvSpPr>
          <p:nvPr/>
        </p:nvSpPr>
        <p:spPr>
          <a:xfrm xmlns:a="http://schemas.openxmlformats.org/drawingml/2006/main">
            <a:off x="971550" y="45148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DFF2E5"/>
                </a:solidFill>
                <a:latin typeface="Lato"/>
                <a:ea typeface="Lato"/>
                <a:cs typeface="Lato"/>
              </a:defRPr>
            </a:pPr>
            <a:r>
              <a:rPr sz="2175" b="1">
                <a:solidFill>
                  <a:srgbClr val="DFF2E5"/>
                </a:solidFill>
                <a:latin typeface="Lato"/>
                <a:ea typeface="Lato"/>
                <a:cs typeface="Lato"/>
              </a:rPr>
              <a:t>55% faster</a:t>
            </a:r>
          </a:p>
        </p:txBody>
      </p:sp>
      <p:sp>
        <p:nvSpPr>
          <p:cNvPr id="13" name="">
            <a:extLst xmlns:a="http://schemas.openxmlformats.org/drawingml/2006/main">
              <a:ext uri="{FF2B5EF4-FFF2-40B4-BE49-F238E27FC236}">
                <a16:creationId xmlns:a16="http://schemas.microsoft.com/office/drawing/2014/main" id="{DCC84AAC-135C-402F-99AF-9126470C11E4}"/>
              </a:ext>
            </a:extLst>
          </p:cNvPr>
          <p:cNvSpPr>
            <a:spLocks xmlns:a="http://schemas.openxmlformats.org/drawingml/2006/main" noGrp="1"/>
          </p:cNvSpPr>
          <p:nvPr/>
        </p:nvSpPr>
        <p:spPr>
          <a:xfrm xmlns:a="http://schemas.openxmlformats.org/drawingml/2006/main">
            <a:off x="971550" y="49339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D8BBA4"/>
                </a:solidFill>
                <a:latin typeface="Lato"/>
                <a:ea typeface="Lato"/>
                <a:cs typeface="Lato"/>
              </a:defRPr>
            </a:pPr>
            <a:r>
              <a:rPr sz="1200">
                <a:solidFill>
                  <a:srgbClr val="D8BBA4"/>
                </a:solidFill>
                <a:latin typeface="Lato"/>
                <a:ea typeface="Lato"/>
                <a:cs typeface="Lato"/>
              </a:rPr>
              <a:t>1h11 vs 2h41 average completion time</a:t>
            </a:r>
          </a:p>
        </p:txBody>
      </p:sp>
      <p:sp>
        <p:nvSpPr>
          <p:cNvPr id="14" name="">
            <a:extLst xmlns:a="http://schemas.openxmlformats.org/drawingml/2006/main">
              <a:ext uri="{FF2B5EF4-FFF2-40B4-BE49-F238E27FC236}">
                <a16:creationId xmlns:a16="http://schemas.microsoft.com/office/drawing/2014/main" id="{9EA5FE30-6B0D-498A-92E7-4F34C220E7EF}"/>
              </a:ext>
            </a:extLst>
          </p:cNvPr>
          <p:cNvSpPr>
            <a:spLocks xmlns:a="http://schemas.openxmlformats.org/drawingml/2006/main" noGrp="1"/>
          </p:cNvSpPr>
          <p:nvPr/>
        </p:nvSpPr>
        <p:spPr>
          <a:xfrm xmlns:a="http://schemas.openxmlformats.org/drawingml/2006/main">
            <a:off x="971550" y="5314950"/>
            <a:ext cx="1390650" cy="238125"/>
          </a:xfrm>
          <a:prstGeom xmlns:a="http://schemas.openxmlformats.org/drawingml/2006/main" prst="roundRect">
            <a:avLst>
              <a:gd name="adj" fmla="val 50000"/>
            </a:avLst>
          </a:prstGeom>
          <a:solidFill xmlns:a="http://schemas.openxmlformats.org/drawingml/2006/main">
            <a:srgbClr val="6E5BAA"/>
          </a:solidFill>
          <a:ln xmlns:a="http://schemas.openxmlformats.org/drawingml/2006/main" w="0">
            <a:solidFill>
              <a:srgbClr val="6E5BAA"/>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750" b="1">
                <a:solidFill>
                  <a:srgbClr val="FFFFFF"/>
                </a:solidFill>
                <a:latin typeface="Lato"/>
                <a:ea typeface="Lato"/>
                <a:cs typeface="Lato"/>
              </a:defRPr>
            </a:pPr>
            <a:r>
              <a:rPr sz="750" b="1">
                <a:solidFill>
                  <a:srgbClr val="FFFFFF"/>
                </a:solidFill>
                <a:latin typeface="Lato"/>
                <a:ea typeface="Lato"/>
                <a:cs typeface="Lato"/>
              </a:rPr>
              <a:t>ADJACENT EVIDENCE</a:t>
            </a:r>
          </a:p>
        </p:txBody>
      </p:sp>
      <p:sp>
        <p:nvSpPr>
          <p:cNvPr id="15" name="">
            <a:extLst xmlns:a="http://schemas.openxmlformats.org/drawingml/2006/main">
              <a:ext uri="{FF2B5EF4-FFF2-40B4-BE49-F238E27FC236}">
                <a16:creationId xmlns:a16="http://schemas.microsoft.com/office/drawing/2014/main" id="{C748CE32-4AC8-4103-AD39-D855C484C135}"/>
              </a:ext>
            </a:extLst>
          </p:cNvPr>
          <p:cNvSpPr>
            <a:spLocks xmlns:a="http://schemas.openxmlformats.org/drawingml/2006/main" noGrp="1"/>
          </p:cNvSpPr>
          <p:nvPr/>
        </p:nvSpPr>
        <p:spPr>
          <a:xfrm xmlns:a="http://schemas.openxmlformats.org/drawingml/2006/main">
            <a:off x="6096000" y="2286000"/>
            <a:ext cx="5334000" cy="3476625"/>
          </a:xfrm>
          <a:prstGeom xmlns:a="http://schemas.openxmlformats.org/drawingml/2006/main" prst="roundRect">
            <a:avLst>
              <a:gd name="adj" fmla="val 6575"/>
            </a:avLst>
          </a:prstGeom>
          <a:solidFill xmlns:a="http://schemas.openxmlformats.org/drawingml/2006/main">
            <a:srgbClr val="FFF6E9"/>
          </a:solidFill>
          <a:ln xmlns:a="http://schemas.openxmlformats.org/drawingml/2006/main" w="9525">
            <a:solidFill>
              <a:srgbClr val="FFF6E9"/>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32592699-1E47-4F23-8D4B-479C711C4DDF}"/>
              </a:ext>
            </a:extLst>
          </p:cNvPr>
          <p:cNvSpPr>
            <a:spLocks xmlns:a="http://schemas.openxmlformats.org/drawingml/2006/main" noGrp="1"/>
          </p:cNvSpPr>
          <p:nvPr/>
        </p:nvSpPr>
        <p:spPr>
          <a:xfrm xmlns:a="http://schemas.openxmlformats.org/drawingml/2006/main">
            <a:off x="6438900" y="2609850"/>
            <a:ext cx="990600" cy="257175"/>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FFFFFF"/>
                </a:solidFill>
                <a:latin typeface="Lato"/>
                <a:ea typeface="Lato"/>
                <a:cs typeface="Lato"/>
              </a:defRPr>
            </a:pPr>
            <a:r>
              <a:rPr sz="900" b="1">
                <a:solidFill>
                  <a:srgbClr val="FFFFFF"/>
                </a:solidFill>
                <a:latin typeface="Lato"/>
                <a:ea typeface="Lato"/>
                <a:cs typeface="Lato"/>
              </a:rPr>
              <a:t>KHANMIGO</a:t>
            </a:r>
          </a:p>
        </p:txBody>
      </p:sp>
      <p:sp>
        <p:nvSpPr>
          <p:cNvPr id="17" name="">
            <a:extLst xmlns:a="http://schemas.openxmlformats.org/drawingml/2006/main">
              <a:ext uri="{FF2B5EF4-FFF2-40B4-BE49-F238E27FC236}">
                <a16:creationId xmlns:a16="http://schemas.microsoft.com/office/drawing/2014/main" id="{69CD91D6-5EE3-467F-AAE3-53FB86FC5FB8}"/>
              </a:ext>
            </a:extLst>
          </p:cNvPr>
          <p:cNvSpPr>
            <a:spLocks xmlns:a="http://schemas.openxmlformats.org/drawingml/2006/main" noGrp="1"/>
          </p:cNvSpPr>
          <p:nvPr/>
        </p:nvSpPr>
        <p:spPr>
          <a:xfrm xmlns:a="http://schemas.openxmlformats.org/drawingml/2006/main">
            <a:off x="6438900" y="30670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&gt;15M tutoring threads</a:t>
            </a:r>
          </a:p>
        </p:txBody>
      </p:sp>
      <p:sp>
        <p:nvSpPr>
          <p:cNvPr id="18" name="">
            <a:extLst xmlns:a="http://schemas.openxmlformats.org/drawingml/2006/main">
              <a:ext uri="{FF2B5EF4-FFF2-40B4-BE49-F238E27FC236}">
                <a16:creationId xmlns:a16="http://schemas.microsoft.com/office/drawing/2014/main" id="{46018A51-1ABA-4467-92A5-C7E42D789B93}"/>
              </a:ext>
            </a:extLst>
          </p:cNvPr>
          <p:cNvSpPr>
            <a:spLocks xmlns:a="http://schemas.openxmlformats.org/drawingml/2006/main" noGrp="1"/>
          </p:cNvSpPr>
          <p:nvPr/>
        </p:nvSpPr>
        <p:spPr>
          <a:xfrm xmlns:a="http://schemas.openxmlformats.org/drawingml/2006/main">
            <a:off x="6438900" y="3562350"/>
            <a:ext cx="990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2E9B62"/>
                </a:solidFill>
                <a:latin typeface="Lato"/>
                <a:ea typeface="Lato"/>
                <a:cs typeface="Lato"/>
              </a:defRPr>
            </a:pPr>
            <a:r>
              <a:rPr sz="1500" b="1">
                <a:solidFill>
                  <a:srgbClr val="2E9B62"/>
                </a:solidFill>
                <a:latin typeface="Lato"/>
                <a:ea typeface="Lato"/>
                <a:cs typeface="Lato"/>
              </a:rPr>
              <a:t>+3.4%</a:t>
            </a:r>
          </a:p>
        </p:txBody>
      </p:sp>
      <p:sp>
        <p:nvSpPr>
          <p:cNvPr id="19" name="">
            <a:extLst xmlns:a="http://schemas.openxmlformats.org/drawingml/2006/main">
              <a:ext uri="{FF2B5EF4-FFF2-40B4-BE49-F238E27FC236}">
                <a16:creationId xmlns:a16="http://schemas.microsoft.com/office/drawing/2014/main" id="{6A96EE73-7D2B-4A92-B21E-CF3448F44CFF}"/>
              </a:ext>
            </a:extLst>
          </p:cNvPr>
          <p:cNvSpPr>
            <a:spLocks xmlns:a="http://schemas.openxmlformats.org/drawingml/2006/main" noGrp="1"/>
          </p:cNvSpPr>
          <p:nvPr/>
        </p:nvSpPr>
        <p:spPr>
          <a:xfrm xmlns:a="http://schemas.openxmlformats.org/drawingml/2006/main">
            <a:off x="7581900" y="3571875"/>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recent problem history improved next-item correctness</a:t>
            </a:r>
          </a:p>
        </p:txBody>
      </p:sp>
      <p:sp>
        <p:nvSpPr>
          <p:cNvPr id="20" name="">
            <a:extLst xmlns:a="http://schemas.openxmlformats.org/drawingml/2006/main">
              <a:ext uri="{FF2B5EF4-FFF2-40B4-BE49-F238E27FC236}">
                <a16:creationId xmlns:a16="http://schemas.microsoft.com/office/drawing/2014/main" id="{1F392266-47DF-44A1-9715-40AF27D6D226}"/>
              </a:ext>
            </a:extLst>
          </p:cNvPr>
          <p:cNvSpPr>
            <a:spLocks xmlns:a="http://schemas.openxmlformats.org/drawingml/2006/main" noGrp="1"/>
          </p:cNvSpPr>
          <p:nvPr/>
        </p:nvSpPr>
        <p:spPr>
          <a:xfrm xmlns:a="http://schemas.openxmlformats.org/drawingml/2006/main">
            <a:off x="6438900" y="4029075"/>
            <a:ext cx="990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2E9B62"/>
                </a:solidFill>
                <a:latin typeface="Lato"/>
                <a:ea typeface="Lato"/>
                <a:cs typeface="Lato"/>
              </a:defRPr>
            </a:pPr>
            <a:r>
              <a:rPr sz="1500" b="1">
                <a:solidFill>
                  <a:srgbClr val="2E9B62"/>
                </a:solidFill>
                <a:latin typeface="Lato"/>
                <a:ea typeface="Lato"/>
                <a:cs typeface="Lato"/>
              </a:rPr>
              <a:t>+2.7%</a:t>
            </a:r>
          </a:p>
        </p:txBody>
      </p:sp>
      <p:sp>
        <p:nvSpPr>
          <p:cNvPr id="21" name="">
            <a:extLst xmlns:a="http://schemas.openxmlformats.org/drawingml/2006/main">
              <a:ext uri="{FF2B5EF4-FFF2-40B4-BE49-F238E27FC236}">
                <a16:creationId xmlns:a16="http://schemas.microsoft.com/office/drawing/2014/main" id="{CC3CEA45-4AE5-409B-B3F8-F9E03B5833A4}"/>
              </a:ext>
            </a:extLst>
          </p:cNvPr>
          <p:cNvSpPr>
            <a:spLocks xmlns:a="http://schemas.openxmlformats.org/drawingml/2006/main" noGrp="1"/>
          </p:cNvSpPr>
          <p:nvPr/>
        </p:nvSpPr>
        <p:spPr>
          <a:xfrm xmlns:a="http://schemas.openxmlformats.org/drawingml/2006/main">
            <a:off x="7581900" y="40386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604"/>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unmastered prerequisite review improved next-item correctness</a:t>
            </a:r>
          </a:p>
        </p:txBody>
      </p:sp>
      <p:sp>
        <p:nvSpPr>
          <p:cNvPr id="22" name="">
            <a:extLst xmlns:a="http://schemas.openxmlformats.org/drawingml/2006/main">
              <a:ext uri="{FF2B5EF4-FFF2-40B4-BE49-F238E27FC236}">
                <a16:creationId xmlns:a16="http://schemas.microsoft.com/office/drawing/2014/main" id="{EECFA9EC-3897-42B3-9825-3D570A9D51A4}"/>
              </a:ext>
            </a:extLst>
          </p:cNvPr>
          <p:cNvSpPr>
            <a:spLocks xmlns:a="http://schemas.openxmlformats.org/drawingml/2006/main" noGrp="1"/>
          </p:cNvSpPr>
          <p:nvPr/>
        </p:nvSpPr>
        <p:spPr>
          <a:xfrm xmlns:a="http://schemas.openxmlformats.org/drawingml/2006/main">
            <a:off x="6438900" y="4495800"/>
            <a:ext cx="990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C45300"/>
                </a:solidFill>
                <a:latin typeface="Lato"/>
                <a:ea typeface="Lato"/>
                <a:cs typeface="Lato"/>
              </a:defRPr>
            </a:pPr>
            <a:r>
              <a:rPr sz="1500" b="1">
                <a:solidFill>
                  <a:srgbClr val="C45300"/>
                </a:solidFill>
                <a:latin typeface="Lato"/>
                <a:ea typeface="Lato"/>
                <a:cs typeface="Lato"/>
              </a:rPr>
              <a:t>+6.1%</a:t>
            </a:r>
          </a:p>
        </p:txBody>
      </p:sp>
      <p:sp>
        <p:nvSpPr>
          <p:cNvPr id="23" name="">
            <a:extLst xmlns:a="http://schemas.openxmlformats.org/drawingml/2006/main">
              <a:ext uri="{FF2B5EF4-FFF2-40B4-BE49-F238E27FC236}">
                <a16:creationId xmlns:a16="http://schemas.microsoft.com/office/drawing/2014/main" id="{FA75292F-E852-4F90-826F-177F9ADB49A8}"/>
              </a:ext>
            </a:extLst>
          </p:cNvPr>
          <p:cNvSpPr>
            <a:spLocks xmlns:a="http://schemas.openxmlformats.org/drawingml/2006/main" noGrp="1"/>
          </p:cNvSpPr>
          <p:nvPr/>
        </p:nvSpPr>
        <p:spPr>
          <a:xfrm xmlns:a="http://schemas.openxmlformats.org/drawingml/2006/main">
            <a:off x="7581900" y="4505325"/>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combined gain in next-item correctness</a:t>
            </a:r>
          </a:p>
        </p:txBody>
      </p:sp>
      <p:sp>
        <p:nvSpPr>
          <p:cNvPr id="24" name="">
            <a:extLst xmlns:a="http://schemas.openxmlformats.org/drawingml/2006/main">
              <a:ext uri="{FF2B5EF4-FFF2-40B4-BE49-F238E27FC236}">
                <a16:creationId xmlns:a16="http://schemas.microsoft.com/office/drawing/2014/main" id="{2796A1A1-A2FD-4D99-8695-E1FACD637BAE}"/>
              </a:ext>
            </a:extLst>
          </p:cNvPr>
          <p:cNvSpPr>
            <a:spLocks xmlns:a="http://schemas.openxmlformats.org/drawingml/2006/main" noGrp="1"/>
          </p:cNvSpPr>
          <p:nvPr/>
        </p:nvSpPr>
        <p:spPr>
          <a:xfrm xmlns:a="http://schemas.openxmlformats.org/drawingml/2006/main">
            <a:off x="6438900" y="4962525"/>
            <a:ext cx="990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2E9B62"/>
                </a:solidFill>
                <a:latin typeface="Lato"/>
                <a:ea typeface="Lato"/>
                <a:cs typeface="Lato"/>
              </a:defRPr>
            </a:pPr>
            <a:r>
              <a:rPr sz="1500" b="1">
                <a:solidFill>
                  <a:srgbClr val="2E9B62"/>
                </a:solidFill>
                <a:latin typeface="Lato"/>
                <a:ea typeface="Lato"/>
                <a:cs typeface="Lato"/>
              </a:rPr>
              <a:t>+5.09%</a:t>
            </a:r>
          </a:p>
        </p:txBody>
      </p:sp>
      <p:sp>
        <p:nvSpPr>
          <p:cNvPr id="25" name="">
            <a:extLst xmlns:a="http://schemas.openxmlformats.org/drawingml/2006/main">
              <a:ext uri="{FF2B5EF4-FFF2-40B4-BE49-F238E27FC236}">
                <a16:creationId xmlns:a16="http://schemas.microsoft.com/office/drawing/2014/main" id="{3DC2C541-7F3F-4E69-B8CC-3BAA26FA097D}"/>
              </a:ext>
            </a:extLst>
          </p:cNvPr>
          <p:cNvSpPr>
            <a:spLocks xmlns:a="http://schemas.openxmlformats.org/drawingml/2006/main" noGrp="1"/>
          </p:cNvSpPr>
          <p:nvPr/>
        </p:nvSpPr>
        <p:spPr>
          <a:xfrm xmlns:a="http://schemas.openxmlformats.org/drawingml/2006/main">
            <a:off x="7581900" y="49720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prior-24h context increased cognitive engagement</a:t>
            </a:r>
          </a:p>
        </p:txBody>
      </p:sp>
      <p:sp>
        <p:nvSpPr>
          <p:cNvPr id="26" name="">
            <a:extLst xmlns:a="http://schemas.openxmlformats.org/drawingml/2006/main">
              <a:ext uri="{FF2B5EF4-FFF2-40B4-BE49-F238E27FC236}">
                <a16:creationId xmlns:a16="http://schemas.microsoft.com/office/drawing/2014/main" id="{EC1CEC3C-2694-46E1-B79B-85AFD4320A51}"/>
              </a:ext>
            </a:extLst>
          </p:cNvPr>
          <p:cNvSpPr>
            <a:spLocks xmlns:a="http://schemas.openxmlformats.org/drawingml/2006/main" noGrp="1"/>
          </p:cNvSpPr>
          <p:nvPr/>
        </p:nvSpPr>
        <p:spPr>
          <a:xfrm xmlns:a="http://schemas.openxmlformats.org/drawingml/2006/main">
            <a:off x="6438900" y="541020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2D180B"/>
                </a:solidFill>
                <a:latin typeface="Lato"/>
                <a:ea typeface="Lato"/>
                <a:cs typeface="Lato"/>
              </a:defRPr>
            </a:pPr>
            <a:r>
              <a:rPr sz="1050" b="1">
                <a:solidFill>
                  <a:srgbClr val="2D180B"/>
                </a:solidFill>
                <a:latin typeface="Lato"/>
                <a:ea typeface="Lato"/>
                <a:cs typeface="Lato"/>
              </a:rPr>
              <a:t>Both are adjacent evidence, not novice coding proof.</a:t>
            </a:r>
          </a:p>
        </p:txBody>
      </p:sp>
      <p:sp>
        <p:nvSpPr>
          <p:cNvPr id="27" name="">
            <a:extLst xmlns:a="http://schemas.openxmlformats.org/drawingml/2006/main">
              <a:ext uri="{FF2B5EF4-FFF2-40B4-BE49-F238E27FC236}">
                <a16:creationId xmlns:a16="http://schemas.microsoft.com/office/drawing/2014/main" id="{BCFB6813-77D9-402A-9390-324D74486054}"/>
              </a:ext>
            </a:extLst>
          </p:cNvPr>
          <p:cNvSpPr>
            <a:spLocks xmlns:a="http://schemas.openxmlformats.org/drawingml/2006/main" noGrp="1"/>
          </p:cNvSpPr>
          <p:nvPr/>
        </p:nvSpPr>
        <p:spPr>
          <a:xfrm xmlns:a="http://schemas.openxmlformats.org/drawingml/2006/main">
            <a:off x="609600" y="6505575"/>
            <a:ext cx="1047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788">
                <a:solidFill>
                  <a:srgbClr val="C9A98C"/>
                </a:solidFill>
                <a:latin typeface="Lato"/>
                <a:ea typeface="Lato"/>
                <a:cs typeface="Lato"/>
              </a:defRPr>
            </a:pPr>
            <a:r>
              <a:rPr sz="788">
                <a:solidFill>
                  <a:srgbClr val="C9A98C"/>
                </a:solidFill>
                <a:latin typeface="Lato"/>
                <a:ea typeface="Lato"/>
                <a:cs typeface="Lato"/>
              </a:rPr>
              <a:t>GitHub experiment · Khan Academy product-learning report · limitations in notes</a:t>
            </a:r>
          </a:p>
        </p:txBody>
      </p:sp>
    </p:spTree>
    <p:extLst>
      <p:ext uri="{BB962C8B-B14F-4D97-AF65-F5344CB8AC3E}">
        <p14:creationId xmlns:p14="http://schemas.microsoft.com/office/powerpoint/2010/main" val="104904722"/>
      </p:ext>
    </p:extLst>
  </p:cSld>
</p:sld>
</file>

<file path=ppt/slides/slide9.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210EA1CD-3E7A-4A8F-AC2D-D9013E297AA8}"/>
              </a:ext>
            </a:extLst>
          </p:cNvPr>
          <p:cNvSpPr>
            <a:spLocks xmlns:a="http://schemas.openxmlformats.org/drawingml/2006/main" noGrp="1"/>
          </p:cNvSpPr>
          <p:nvPr/>
        </p:nvSpPr>
        <p:spPr>
          <a:xfrm xmlns:a="http://schemas.openxmlformats.org/drawingml/2006/main">
            <a:off x="609600" y="2476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7D9D5832-858D-4D04-B14D-D747B898F672}"/>
              </a:ext>
            </a:extLst>
          </p:cNvPr>
          <p:cNvSpPr>
            <a:spLocks xmlns:a="http://schemas.openxmlformats.org/drawingml/2006/main" noGrp="1"/>
          </p:cNvSpPr>
          <p:nvPr/>
        </p:nvSpPr>
        <p:spPr>
          <a:xfrm xmlns:a="http://schemas.openxmlformats.org/drawingml/2006/main">
            <a:off x="2114550" y="2952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895F3C"/>
                </a:solidFill>
                <a:latin typeface="Lato"/>
                <a:ea typeface="Lato"/>
                <a:cs typeface="Lato"/>
              </a:defRPr>
            </a:pPr>
            <a:r>
              <a:rPr sz="825" b="1">
                <a:solidFill>
                  <a:srgbClr val="895F3C"/>
                </a:solidFill>
                <a:latin typeface="Lato"/>
                <a:ea typeface="Lato"/>
                <a:cs typeface="Lato"/>
              </a:rPr>
              <a:t>EVIDENCE MATRIX</a:t>
            </a:r>
          </a:p>
        </p:txBody>
      </p:sp>
      <p:sp>
        <p:nvSpPr>
          <p:cNvPr id="3" name="">
            <a:extLst xmlns:a="http://schemas.openxmlformats.org/drawingml/2006/main">
              <a:ext uri="{FF2B5EF4-FFF2-40B4-BE49-F238E27FC236}">
                <a16:creationId xmlns:a16="http://schemas.microsoft.com/office/drawing/2014/main" id="{7220E2D0-E497-466B-86E3-0A38096DA7BE}"/>
              </a:ext>
            </a:extLst>
          </p:cNvPr>
          <p:cNvSpPr>
            <a:spLocks xmlns:a="http://schemas.openxmlformats.org/drawingml/2006/main" noGrp="1"/>
          </p:cNvSpPr>
          <p:nvPr/>
        </p:nvSpPr>
        <p:spPr>
          <a:xfrm xmlns:a="http://schemas.openxmlformats.org/drawingml/2006/main">
            <a:off x="11201400" y="2762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2D180B"/>
                </a:solidFill>
                <a:latin typeface="Lato"/>
                <a:ea typeface="Lato"/>
                <a:cs typeface="Lato"/>
              </a:defRPr>
            </a:pPr>
            <a:r>
              <a:rPr sz="975" b="1">
                <a:solidFill>
                  <a:srgbClr val="2D180B"/>
                </a:solidFill>
                <a:latin typeface="Lato"/>
                <a:ea typeface="Lato"/>
                <a:cs typeface="Lato"/>
              </a:rPr>
              <a:t>09</a:t>
            </a:r>
          </a:p>
        </p:txBody>
      </p:sp>
      <p:sp>
        <p:nvSpPr>
          <p:cNvPr id="4" name="">
            <a:extLst xmlns:a="http://schemas.openxmlformats.org/drawingml/2006/main">
              <a:ext uri="{FF2B5EF4-FFF2-40B4-BE49-F238E27FC236}">
                <a16:creationId xmlns:a16="http://schemas.microsoft.com/office/drawing/2014/main" id="{713ED1D3-BA85-4027-81BE-0126645F4929}"/>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E7C9A7"/>
            </a:solidFill>
            <a:prstDash val="solid"/>
          </a:ln>
        </p:spPr>
      </p:sp>
      <p:sp>
        <p:nvSpPr>
          <p:cNvPr id="5" name="">
            <a:extLst xmlns:a="http://schemas.openxmlformats.org/drawingml/2006/main">
              <a:ext uri="{FF2B5EF4-FFF2-40B4-BE49-F238E27FC236}">
                <a16:creationId xmlns:a16="http://schemas.microsoft.com/office/drawing/2014/main" id="{C2125527-FB4B-4896-911D-EF93CB646B57}"/>
              </a:ext>
            </a:extLst>
          </p:cNvPr>
          <p:cNvSpPr>
            <a:spLocks xmlns:a="http://schemas.openxmlformats.org/drawingml/2006/main" noGrp="1"/>
          </p:cNvSpPr>
          <p:nvPr/>
        </p:nvSpPr>
        <p:spPr>
          <a:xfrm xmlns:a="http://schemas.openxmlformats.org/drawingml/2006/main">
            <a:off x="609600" y="971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44"/>
          </a:bodyPr>
          <a:lstStyle xmlns:a="http://schemas.openxmlformats.org/drawingml/2006/main"/>
          <a:p xmlns:a="http://schemas.openxmlformats.org/drawingml/2006/main">
            <a:pPr>
              <a:defRPr sz="3300" b="1">
                <a:solidFill>
                  <a:srgbClr val="2D180B"/>
                </a:solidFill>
                <a:latin typeface="Lato"/>
                <a:ea typeface="Lato"/>
                <a:cs typeface="Lato"/>
              </a:defRPr>
            </a:pPr>
            <a:r>
              <a:rPr sz="3300" b="1">
                <a:solidFill>
                  <a:srgbClr val="2D180B"/>
                </a:solidFill>
                <a:latin typeface="Lato"/>
                <a:ea typeface="Lato"/>
                <a:cs typeface="Lato"/>
              </a:rPr>
              <a:t>What the evidence supports, and what it leaves open</a:t>
            </a:r>
          </a:p>
        </p:txBody>
      </p:sp>
      <p:sp>
        <p:nvSpPr>
          <p:cNvPr id="6" name="">
            <a:extLst xmlns:a="http://schemas.openxmlformats.org/drawingml/2006/main">
              <a:ext uri="{FF2B5EF4-FFF2-40B4-BE49-F238E27FC236}">
                <a16:creationId xmlns:a16="http://schemas.microsoft.com/office/drawing/2014/main" id="{3FC2A25F-45A3-43F4-8F0D-D2B07B0E2FE1}"/>
              </a:ext>
            </a:extLst>
          </p:cNvPr>
          <p:cNvSpPr>
            <a:spLocks xmlns:a="http://schemas.openxmlformats.org/drawingml/2006/main" noGrp="1"/>
          </p:cNvSpPr>
          <p:nvPr/>
        </p:nvSpPr>
        <p:spPr>
          <a:xfrm xmlns:a="http://schemas.openxmlformats.org/drawingml/2006/main">
            <a:off x="647700" y="1638300"/>
            <a:ext cx="923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895F3C"/>
                </a:solidFill>
                <a:latin typeface="Lato"/>
                <a:ea typeface="Lato"/>
                <a:cs typeface="Lato"/>
              </a:defRPr>
            </a:pPr>
            <a:r>
              <a:rPr sz="1425">
                <a:solidFill>
                  <a:srgbClr val="895F3C"/>
                </a:solidFill>
                <a:latin typeface="Lato"/>
                <a:ea typeface="Lato"/>
                <a:cs typeface="Lato"/>
              </a:rPr>
              <a:t>A credible thesis is not the same thing as product–market fit.</a:t>
            </a:r>
          </a:p>
        </p:txBody>
      </p:sp>
      <p:sp>
        <p:nvSpPr>
          <p:cNvPr id="7" name="">
            <a:extLst xmlns:a="http://schemas.openxmlformats.org/drawingml/2006/main">
              <a:ext uri="{FF2B5EF4-FFF2-40B4-BE49-F238E27FC236}">
                <a16:creationId xmlns:a16="http://schemas.microsoft.com/office/drawing/2014/main" id="{34B6E85D-678C-4C5F-A406-CE5B3C595C58}"/>
              </a:ext>
            </a:extLst>
          </p:cNvPr>
          <p:cNvSpPr>
            <a:spLocks xmlns:a="http://schemas.openxmlformats.org/drawingml/2006/main" noGrp="1"/>
          </p:cNvSpPr>
          <p:nvPr/>
        </p:nvSpPr>
        <p:spPr>
          <a:xfrm xmlns:a="http://schemas.openxmlformats.org/drawingml/2006/main">
            <a:off x="647700" y="209550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895F3C"/>
                </a:solidFill>
                <a:latin typeface="Lato"/>
                <a:ea typeface="Lato"/>
                <a:cs typeface="Lato"/>
              </a:defRPr>
            </a:pPr>
            <a:r>
              <a:rPr sz="825" b="1">
                <a:solidFill>
                  <a:srgbClr val="895F3C"/>
                </a:solidFill>
                <a:latin typeface="Lato"/>
                <a:ea typeface="Lato"/>
                <a:cs typeface="Lato"/>
              </a:rPr>
              <a:t>QUESTION</a:t>
            </a:r>
          </a:p>
        </p:txBody>
      </p:sp>
      <p:sp>
        <p:nvSpPr>
          <p:cNvPr id="8" name="">
            <a:extLst xmlns:a="http://schemas.openxmlformats.org/drawingml/2006/main">
              <a:ext uri="{FF2B5EF4-FFF2-40B4-BE49-F238E27FC236}">
                <a16:creationId xmlns:a16="http://schemas.microsoft.com/office/drawing/2014/main" id="{DC45CCA0-BE40-4B51-9781-630038A59B96}"/>
              </a:ext>
            </a:extLst>
          </p:cNvPr>
          <p:cNvSpPr>
            <a:spLocks xmlns:a="http://schemas.openxmlformats.org/drawingml/2006/main" noGrp="1"/>
          </p:cNvSpPr>
          <p:nvPr/>
        </p:nvSpPr>
        <p:spPr>
          <a:xfrm xmlns:a="http://schemas.openxmlformats.org/drawingml/2006/main">
            <a:off x="4095750" y="2095500"/>
            <a:ext cx="1333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895F3C"/>
                </a:solidFill>
                <a:latin typeface="Lato"/>
                <a:ea typeface="Lato"/>
                <a:cs typeface="Lato"/>
              </a:defRPr>
            </a:pPr>
            <a:r>
              <a:rPr sz="825" b="1">
                <a:solidFill>
                  <a:srgbClr val="895F3C"/>
                </a:solidFill>
                <a:latin typeface="Lato"/>
                <a:ea typeface="Lato"/>
                <a:cs typeface="Lato"/>
              </a:rPr>
              <a:t>STATUS</a:t>
            </a:r>
          </a:p>
        </p:txBody>
      </p:sp>
      <p:sp>
        <p:nvSpPr>
          <p:cNvPr id="9" name="">
            <a:extLst xmlns:a="http://schemas.openxmlformats.org/drawingml/2006/main">
              <a:ext uri="{FF2B5EF4-FFF2-40B4-BE49-F238E27FC236}">
                <a16:creationId xmlns:a16="http://schemas.microsoft.com/office/drawing/2014/main" id="{1241D3AB-11F6-4A98-AF1F-FB949CD5D916}"/>
              </a:ext>
            </a:extLst>
          </p:cNvPr>
          <p:cNvSpPr>
            <a:spLocks xmlns:a="http://schemas.openxmlformats.org/drawingml/2006/main" noGrp="1"/>
          </p:cNvSpPr>
          <p:nvPr/>
        </p:nvSpPr>
        <p:spPr>
          <a:xfrm xmlns:a="http://schemas.openxmlformats.org/drawingml/2006/main">
            <a:off x="5619750" y="2095500"/>
            <a:ext cx="2647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895F3C"/>
                </a:solidFill>
                <a:latin typeface="Lato"/>
                <a:ea typeface="Lato"/>
                <a:cs typeface="Lato"/>
              </a:defRPr>
            </a:pPr>
            <a:r>
              <a:rPr sz="825" b="1">
                <a:solidFill>
                  <a:srgbClr val="895F3C"/>
                </a:solidFill>
                <a:latin typeface="Lato"/>
                <a:ea typeface="Lato"/>
                <a:cs typeface="Lato"/>
              </a:rPr>
              <a:t>EVIDENCE SAYS</a:t>
            </a:r>
          </a:p>
        </p:txBody>
      </p:sp>
      <p:sp>
        <p:nvSpPr>
          <p:cNvPr id="10" name="">
            <a:extLst xmlns:a="http://schemas.openxmlformats.org/drawingml/2006/main">
              <a:ext uri="{FF2B5EF4-FFF2-40B4-BE49-F238E27FC236}">
                <a16:creationId xmlns:a16="http://schemas.microsoft.com/office/drawing/2014/main" id="{632F515A-DDA3-4F2C-8AF8-D57A0C2E64E5}"/>
              </a:ext>
            </a:extLst>
          </p:cNvPr>
          <p:cNvSpPr>
            <a:spLocks xmlns:a="http://schemas.openxmlformats.org/drawingml/2006/main" noGrp="1"/>
          </p:cNvSpPr>
          <p:nvPr/>
        </p:nvSpPr>
        <p:spPr>
          <a:xfrm xmlns:a="http://schemas.openxmlformats.org/drawingml/2006/main">
            <a:off x="8458200" y="2095500"/>
            <a:ext cx="297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895F3C"/>
                </a:solidFill>
                <a:latin typeface="Lato"/>
                <a:ea typeface="Lato"/>
                <a:cs typeface="Lato"/>
              </a:defRPr>
            </a:pPr>
            <a:r>
              <a:rPr sz="825" b="1">
                <a:solidFill>
                  <a:srgbClr val="895F3C"/>
                </a:solidFill>
                <a:latin typeface="Lato"/>
                <a:ea typeface="Lato"/>
                <a:cs typeface="Lato"/>
              </a:rPr>
              <a:t>STILL UNPROVEN</a:t>
            </a:r>
          </a:p>
        </p:txBody>
      </p:sp>
      <p:sp>
        <p:nvSpPr>
          <p:cNvPr id="11" name="">
            <a:extLst xmlns:a="http://schemas.openxmlformats.org/drawingml/2006/main">
              <a:ext uri="{FF2B5EF4-FFF2-40B4-BE49-F238E27FC236}">
                <a16:creationId xmlns:a16="http://schemas.microsoft.com/office/drawing/2014/main" id="{56D57BF6-0E90-42E7-A5D8-090A0235DC35}"/>
              </a:ext>
            </a:extLst>
          </p:cNvPr>
          <p:cNvSpPr>
            <a:spLocks xmlns:a="http://schemas.openxmlformats.org/drawingml/2006/main" noGrp="1"/>
          </p:cNvSpPr>
          <p:nvPr/>
        </p:nvSpPr>
        <p:spPr>
          <a:xfrm xmlns:a="http://schemas.openxmlformats.org/drawingml/2006/main">
            <a:off x="647700" y="2381250"/>
            <a:ext cx="10782300" cy="0"/>
          </a:xfrm>
          <a:prstGeom xmlns:a="http://schemas.openxmlformats.org/drawingml/2006/main" prst="line">
            <a:avLst/>
          </a:prstGeom>
          <a:noFill xmlns:a="http://schemas.openxmlformats.org/drawingml/2006/main"/>
          <a:ln xmlns:a="http://schemas.openxmlformats.org/drawingml/2006/main" w="19050">
            <a:solidFill>
              <a:srgbClr val="E7C9A7"/>
            </a:solidFill>
            <a:prstDash val="solid"/>
          </a:ln>
        </p:spPr>
      </p:sp>
      <p:sp>
        <p:nvSpPr>
          <p:cNvPr id="12" name="">
            <a:extLst xmlns:a="http://schemas.openxmlformats.org/drawingml/2006/main">
              <a:ext uri="{FF2B5EF4-FFF2-40B4-BE49-F238E27FC236}">
                <a16:creationId xmlns:a16="http://schemas.microsoft.com/office/drawing/2014/main" id="{27F7E977-9F6E-455A-975D-630F8C6BC757}"/>
              </a:ext>
            </a:extLst>
          </p:cNvPr>
          <p:cNvSpPr>
            <a:spLocks xmlns:a="http://schemas.openxmlformats.org/drawingml/2006/main" noGrp="1"/>
          </p:cNvSpPr>
          <p:nvPr/>
        </p:nvSpPr>
        <p:spPr>
          <a:xfrm xmlns:a="http://schemas.openxmlformats.org/drawingml/2006/main">
            <a:off x="647700" y="2495550"/>
            <a:ext cx="10782300" cy="571500"/>
          </a:xfrm>
          <a:prstGeom xmlns:a="http://schemas.openxmlformats.org/drawingml/2006/main" prst="rect">
            <a:avLst/>
          </a:prstGeom>
          <a:solidFill xmlns:a="http://schemas.openxmlformats.org/drawingml/2006/main">
            <a:srgbClr val="FFF0D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28A43F8-F0F5-495B-AA71-CD41679A6D05}"/>
              </a:ext>
            </a:extLst>
          </p:cNvPr>
          <p:cNvSpPr>
            <a:spLocks xmlns:a="http://schemas.openxmlformats.org/drawingml/2006/main" noGrp="1"/>
          </p:cNvSpPr>
          <p:nvPr/>
        </p:nvSpPr>
        <p:spPr>
          <a:xfrm xmlns:a="http://schemas.openxmlformats.org/drawingml/2006/main">
            <a:off x="647700" y="25717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2D180B"/>
                </a:solidFill>
                <a:latin typeface="Lato"/>
                <a:ea typeface="Lato"/>
                <a:cs typeface="Lato"/>
              </a:defRPr>
            </a:pPr>
            <a:r>
              <a:rPr sz="1200" b="1">
                <a:solidFill>
                  <a:srgbClr val="2D180B"/>
                </a:solidFill>
                <a:latin typeface="Lato"/>
                <a:ea typeface="Lato"/>
                <a:cs typeface="Lato"/>
              </a:rPr>
              <a:t>Is there a real need for on-demand support?</a:t>
            </a:r>
          </a:p>
        </p:txBody>
      </p:sp>
      <p:sp>
        <p:nvSpPr>
          <p:cNvPr id="14" name="">
            <a:extLst xmlns:a="http://schemas.openxmlformats.org/drawingml/2006/main">
              <a:ext uri="{FF2B5EF4-FFF2-40B4-BE49-F238E27FC236}">
                <a16:creationId xmlns:a16="http://schemas.microsoft.com/office/drawing/2014/main" id="{50E771DB-9FCA-4991-96F8-3FC49AA66CCB}"/>
              </a:ext>
            </a:extLst>
          </p:cNvPr>
          <p:cNvSpPr>
            <a:spLocks xmlns:a="http://schemas.openxmlformats.org/drawingml/2006/main" noGrp="1"/>
          </p:cNvSpPr>
          <p:nvPr/>
        </p:nvSpPr>
        <p:spPr>
          <a:xfrm xmlns:a="http://schemas.openxmlformats.org/drawingml/2006/main">
            <a:off x="4095750" y="2590800"/>
            <a:ext cx="971550" cy="228600"/>
          </a:xfrm>
          <a:prstGeom xmlns:a="http://schemas.openxmlformats.org/drawingml/2006/main" prst="roundRect">
            <a:avLst>
              <a:gd name="adj" fmla="val 50000"/>
            </a:avLst>
          </a:prstGeom>
          <a:solidFill xmlns:a="http://schemas.openxmlformats.org/drawingml/2006/main">
            <a:srgbClr val="DFF2E5"/>
          </a:solidFill>
          <a:ln xmlns:a="http://schemas.openxmlformats.org/drawingml/2006/main" w="0">
            <a:solidFill>
              <a:srgbClr val="DFF2E5"/>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750" b="1">
                <a:solidFill>
                  <a:srgbClr val="2E9B62"/>
                </a:solidFill>
                <a:latin typeface="Lato"/>
                <a:ea typeface="Lato"/>
                <a:cs typeface="Lato"/>
              </a:defRPr>
            </a:pPr>
            <a:r>
              <a:rPr sz="750" b="1">
                <a:solidFill>
                  <a:srgbClr val="2E9B62"/>
                </a:solidFill>
                <a:latin typeface="Lato"/>
                <a:ea typeface="Lato"/>
                <a:cs typeface="Lato"/>
              </a:rPr>
              <a:t>SUPPORTED</a:t>
            </a:r>
          </a:p>
        </p:txBody>
      </p:sp>
      <p:sp>
        <p:nvSpPr>
          <p:cNvPr id="15" name="">
            <a:extLst xmlns:a="http://schemas.openxmlformats.org/drawingml/2006/main">
              <a:ext uri="{FF2B5EF4-FFF2-40B4-BE49-F238E27FC236}">
                <a16:creationId xmlns:a16="http://schemas.microsoft.com/office/drawing/2014/main" id="{FADACA83-1A94-4928-A71A-2BC87CBE35E9}"/>
              </a:ext>
            </a:extLst>
          </p:cNvPr>
          <p:cNvSpPr>
            <a:spLocks xmlns:a="http://schemas.openxmlformats.org/drawingml/2006/main" noGrp="1"/>
          </p:cNvSpPr>
          <p:nvPr/>
        </p:nvSpPr>
        <p:spPr>
          <a:xfrm xmlns:a="http://schemas.openxmlformats.org/drawingml/2006/main">
            <a:off x="5619750" y="257175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Online resources dominate coding learning; Egyptian students wanted more interaction.</a:t>
            </a:r>
          </a:p>
        </p:txBody>
      </p:sp>
      <p:sp>
        <p:nvSpPr>
          <p:cNvPr id="16" name="">
            <a:extLst xmlns:a="http://schemas.openxmlformats.org/drawingml/2006/main">
              <a:ext uri="{FF2B5EF4-FFF2-40B4-BE49-F238E27FC236}">
                <a16:creationId xmlns:a16="http://schemas.microsoft.com/office/drawing/2014/main" id="{562CAA60-42AF-46A8-BFF8-84A41A0EDEC7}"/>
              </a:ext>
            </a:extLst>
          </p:cNvPr>
          <p:cNvSpPr>
            <a:spLocks xmlns:a="http://schemas.openxmlformats.org/drawingml/2006/main" noGrp="1"/>
          </p:cNvSpPr>
          <p:nvPr/>
        </p:nvSpPr>
        <p:spPr>
          <a:xfrm xmlns:a="http://schemas.openxmlformats.org/drawingml/2006/main">
            <a:off x="8458200" y="2571750"/>
            <a:ext cx="2971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2D180B"/>
                </a:solidFill>
                <a:latin typeface="Lato"/>
                <a:ea typeface="Lato"/>
                <a:cs typeface="Lato"/>
              </a:defRPr>
            </a:pPr>
            <a:r>
              <a:rPr sz="1050">
                <a:solidFill>
                  <a:srgbClr val="2D180B"/>
                </a:solidFill>
                <a:latin typeface="Lato"/>
                <a:ea typeface="Lato"/>
                <a:cs typeface="Lato"/>
              </a:rPr>
              <a:t>How often Bataa’s target learners feel it.</a:t>
            </a:r>
          </a:p>
        </p:txBody>
      </p:sp>
      <p:sp>
        <p:nvSpPr>
          <p:cNvPr id="17" name="">
            <a:extLst xmlns:a="http://schemas.openxmlformats.org/drawingml/2006/main">
              <a:ext uri="{FF2B5EF4-FFF2-40B4-BE49-F238E27FC236}">
                <a16:creationId xmlns:a16="http://schemas.microsoft.com/office/drawing/2014/main" id="{3081F1D7-BAD4-42F5-AF9E-45A8C8596814}"/>
              </a:ext>
            </a:extLst>
          </p:cNvPr>
          <p:cNvSpPr>
            <a:spLocks xmlns:a="http://schemas.openxmlformats.org/drawingml/2006/main" noGrp="1"/>
          </p:cNvSpPr>
          <p:nvPr/>
        </p:nvSpPr>
        <p:spPr>
          <a:xfrm xmlns:a="http://schemas.openxmlformats.org/drawingml/2006/main">
            <a:off x="647700" y="3076575"/>
            <a:ext cx="10782300" cy="0"/>
          </a:xfrm>
          <a:prstGeom xmlns:a="http://schemas.openxmlformats.org/drawingml/2006/main" prst="line">
            <a:avLst/>
          </a:prstGeom>
          <a:noFill xmlns:a="http://schemas.openxmlformats.org/drawingml/2006/main"/>
          <a:ln xmlns:a="http://schemas.openxmlformats.org/drawingml/2006/main" w="9525">
            <a:solidFill>
              <a:srgbClr val="E7C9A7"/>
            </a:solidFill>
            <a:prstDash val="solid"/>
          </a:ln>
        </p:spPr>
      </p:sp>
      <p:sp>
        <p:nvSpPr>
          <p:cNvPr id="18" name="">
            <a:extLst xmlns:a="http://schemas.openxmlformats.org/drawingml/2006/main">
              <a:ext uri="{FF2B5EF4-FFF2-40B4-BE49-F238E27FC236}">
                <a16:creationId xmlns:a16="http://schemas.microsoft.com/office/drawing/2014/main" id="{CB0FEB61-B1DD-4D78-B78D-86BE8572043D}"/>
              </a:ext>
            </a:extLst>
          </p:cNvPr>
          <p:cNvSpPr>
            <a:spLocks xmlns:a="http://schemas.openxmlformats.org/drawingml/2006/main" noGrp="1"/>
          </p:cNvSpPr>
          <p:nvPr/>
        </p:nvSpPr>
        <p:spPr>
          <a:xfrm xmlns:a="http://schemas.openxmlformats.org/drawingml/2006/main">
            <a:off x="647700" y="323850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2D180B"/>
                </a:solidFill>
                <a:latin typeface="Lato"/>
                <a:ea typeface="Lato"/>
                <a:cs typeface="Lato"/>
              </a:defRPr>
            </a:pPr>
            <a:r>
              <a:rPr sz="1200" b="1">
                <a:solidFill>
                  <a:srgbClr val="2D180B"/>
                </a:solidFill>
                <a:latin typeface="Lato"/>
                <a:ea typeface="Lato"/>
                <a:cs typeface="Lato"/>
              </a:rPr>
              <a:t>Does practice and feedback improve learning?</a:t>
            </a:r>
          </a:p>
        </p:txBody>
      </p:sp>
      <p:sp>
        <p:nvSpPr>
          <p:cNvPr id="19" name="">
            <a:extLst xmlns:a="http://schemas.openxmlformats.org/drawingml/2006/main">
              <a:ext uri="{FF2B5EF4-FFF2-40B4-BE49-F238E27FC236}">
                <a16:creationId xmlns:a16="http://schemas.microsoft.com/office/drawing/2014/main" id="{8EDDD807-4F62-43EF-9241-159529FAC2C7}"/>
              </a:ext>
            </a:extLst>
          </p:cNvPr>
          <p:cNvSpPr>
            <a:spLocks xmlns:a="http://schemas.openxmlformats.org/drawingml/2006/main" noGrp="1"/>
          </p:cNvSpPr>
          <p:nvPr/>
        </p:nvSpPr>
        <p:spPr>
          <a:xfrm xmlns:a="http://schemas.openxmlformats.org/drawingml/2006/main">
            <a:off x="4095750" y="3257550"/>
            <a:ext cx="971550" cy="228600"/>
          </a:xfrm>
          <a:prstGeom xmlns:a="http://schemas.openxmlformats.org/drawingml/2006/main" prst="roundRect">
            <a:avLst>
              <a:gd name="adj" fmla="val 50000"/>
            </a:avLst>
          </a:prstGeom>
          <a:solidFill xmlns:a="http://schemas.openxmlformats.org/drawingml/2006/main">
            <a:srgbClr val="DFF2E5"/>
          </a:solidFill>
          <a:ln xmlns:a="http://schemas.openxmlformats.org/drawingml/2006/main" w="0">
            <a:solidFill>
              <a:srgbClr val="DFF2E5"/>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750" b="1">
                <a:solidFill>
                  <a:srgbClr val="2E9B62"/>
                </a:solidFill>
                <a:latin typeface="Lato"/>
                <a:ea typeface="Lato"/>
                <a:cs typeface="Lato"/>
              </a:defRPr>
            </a:pPr>
            <a:r>
              <a:rPr sz="750" b="1">
                <a:solidFill>
                  <a:srgbClr val="2E9B62"/>
                </a:solidFill>
                <a:latin typeface="Lato"/>
                <a:ea typeface="Lato"/>
                <a:cs typeface="Lato"/>
              </a:rPr>
              <a:t>SUPPORTED</a:t>
            </a:r>
          </a:p>
        </p:txBody>
      </p:sp>
      <p:sp>
        <p:nvSpPr>
          <p:cNvPr id="20" name="">
            <a:extLst xmlns:a="http://schemas.openxmlformats.org/drawingml/2006/main">
              <a:ext uri="{FF2B5EF4-FFF2-40B4-BE49-F238E27FC236}">
                <a16:creationId xmlns:a16="http://schemas.microsoft.com/office/drawing/2014/main" id="{F0F2FC87-D1CC-4C73-A8BB-D678D0C61D7A}"/>
              </a:ext>
            </a:extLst>
          </p:cNvPr>
          <p:cNvSpPr>
            <a:spLocks xmlns:a="http://schemas.openxmlformats.org/drawingml/2006/main" noGrp="1"/>
          </p:cNvSpPr>
          <p:nvPr/>
        </p:nvSpPr>
        <p:spPr>
          <a:xfrm xmlns:a="http://schemas.openxmlformats.org/drawingml/2006/main">
            <a:off x="5619750" y="323850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225-study active-learning meta-analysis; 435-study feedback meta-analysis.</a:t>
            </a:r>
          </a:p>
        </p:txBody>
      </p:sp>
      <p:sp>
        <p:nvSpPr>
          <p:cNvPr id="21" name="">
            <a:extLst xmlns:a="http://schemas.openxmlformats.org/drawingml/2006/main">
              <a:ext uri="{FF2B5EF4-FFF2-40B4-BE49-F238E27FC236}">
                <a16:creationId xmlns:a16="http://schemas.microsoft.com/office/drawing/2014/main" id="{66151879-8305-40C6-9E38-EA8EC3A36CB3}"/>
              </a:ext>
            </a:extLst>
          </p:cNvPr>
          <p:cNvSpPr>
            <a:spLocks xmlns:a="http://schemas.openxmlformats.org/drawingml/2006/main" noGrp="1"/>
          </p:cNvSpPr>
          <p:nvPr/>
        </p:nvSpPr>
        <p:spPr>
          <a:xfrm xmlns:a="http://schemas.openxmlformats.org/drawingml/2006/main">
            <a:off x="8458200" y="3238500"/>
            <a:ext cx="2971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2D180B"/>
                </a:solidFill>
                <a:latin typeface="Lato"/>
                <a:ea typeface="Lato"/>
                <a:cs typeface="Lato"/>
              </a:defRPr>
            </a:pPr>
            <a:r>
              <a:rPr sz="1050">
                <a:solidFill>
                  <a:srgbClr val="2D180B"/>
                </a:solidFill>
                <a:latin typeface="Lato"/>
                <a:ea typeface="Lato"/>
                <a:cs typeface="Lato"/>
              </a:rPr>
              <a:t>Which Bataa feedback designs transfer to coding.</a:t>
            </a:r>
          </a:p>
        </p:txBody>
      </p:sp>
      <p:sp>
        <p:nvSpPr>
          <p:cNvPr id="22" name="">
            <a:extLst xmlns:a="http://schemas.openxmlformats.org/drawingml/2006/main">
              <a:ext uri="{FF2B5EF4-FFF2-40B4-BE49-F238E27FC236}">
                <a16:creationId xmlns:a16="http://schemas.microsoft.com/office/drawing/2014/main" id="{172123FD-1EA7-4676-AC8B-7CAE928828FC}"/>
              </a:ext>
            </a:extLst>
          </p:cNvPr>
          <p:cNvSpPr>
            <a:spLocks xmlns:a="http://schemas.openxmlformats.org/drawingml/2006/main" noGrp="1"/>
          </p:cNvSpPr>
          <p:nvPr/>
        </p:nvSpPr>
        <p:spPr>
          <a:xfrm xmlns:a="http://schemas.openxmlformats.org/drawingml/2006/main">
            <a:off x="647700" y="3743325"/>
            <a:ext cx="10782300" cy="0"/>
          </a:xfrm>
          <a:prstGeom xmlns:a="http://schemas.openxmlformats.org/drawingml/2006/main" prst="line">
            <a:avLst/>
          </a:prstGeom>
          <a:noFill xmlns:a="http://schemas.openxmlformats.org/drawingml/2006/main"/>
          <a:ln xmlns:a="http://schemas.openxmlformats.org/drawingml/2006/main" w="9525">
            <a:solidFill>
              <a:srgbClr val="E7C9A7"/>
            </a:solidFill>
            <a:prstDash val="solid"/>
          </a:ln>
        </p:spPr>
      </p:sp>
      <p:sp>
        <p:nvSpPr>
          <p:cNvPr id="23" name="">
            <a:extLst xmlns:a="http://schemas.openxmlformats.org/drawingml/2006/main">
              <a:ext uri="{FF2B5EF4-FFF2-40B4-BE49-F238E27FC236}">
                <a16:creationId xmlns:a16="http://schemas.microsoft.com/office/drawing/2014/main" id="{1B0328E5-E30F-4105-8C52-18CAFD1FE38D}"/>
              </a:ext>
            </a:extLst>
          </p:cNvPr>
          <p:cNvSpPr>
            <a:spLocks xmlns:a="http://schemas.openxmlformats.org/drawingml/2006/main" noGrp="1"/>
          </p:cNvSpPr>
          <p:nvPr/>
        </p:nvSpPr>
        <p:spPr>
          <a:xfrm xmlns:a="http://schemas.openxmlformats.org/drawingml/2006/main">
            <a:off x="647700" y="3829050"/>
            <a:ext cx="10782300" cy="571500"/>
          </a:xfrm>
          <a:prstGeom xmlns:a="http://schemas.openxmlformats.org/drawingml/2006/main" prst="rect">
            <a:avLst/>
          </a:prstGeom>
          <a:solidFill xmlns:a="http://schemas.openxmlformats.org/drawingml/2006/main">
            <a:srgbClr val="FFF0D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E338829-4F1D-4AA9-ADED-8D1247F0C5D9}"/>
              </a:ext>
            </a:extLst>
          </p:cNvPr>
          <p:cNvSpPr>
            <a:spLocks xmlns:a="http://schemas.openxmlformats.org/drawingml/2006/main" noGrp="1"/>
          </p:cNvSpPr>
          <p:nvPr/>
        </p:nvSpPr>
        <p:spPr>
          <a:xfrm xmlns:a="http://schemas.openxmlformats.org/drawingml/2006/main">
            <a:off x="647700" y="39052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2D180B"/>
                </a:solidFill>
                <a:latin typeface="Lato"/>
                <a:ea typeface="Lato"/>
                <a:cs typeface="Lato"/>
              </a:defRPr>
            </a:pPr>
            <a:r>
              <a:rPr sz="1200" b="1">
                <a:solidFill>
                  <a:srgbClr val="2D180B"/>
                </a:solidFill>
                <a:latin typeface="Lato"/>
                <a:ea typeface="Lato"/>
                <a:cs typeface="Lato"/>
              </a:rPr>
              <a:t>Can contextual AI reduce friction?</a:t>
            </a:r>
          </a:p>
        </p:txBody>
      </p:sp>
      <p:sp>
        <p:nvSpPr>
          <p:cNvPr id="25" name="">
            <a:extLst xmlns:a="http://schemas.openxmlformats.org/drawingml/2006/main">
              <a:ext uri="{FF2B5EF4-FFF2-40B4-BE49-F238E27FC236}">
                <a16:creationId xmlns:a16="http://schemas.microsoft.com/office/drawing/2014/main" id="{27894F95-175E-407F-9BFE-82D5ECB277BB}"/>
              </a:ext>
            </a:extLst>
          </p:cNvPr>
          <p:cNvSpPr>
            <a:spLocks xmlns:a="http://schemas.openxmlformats.org/drawingml/2006/main" noGrp="1"/>
          </p:cNvSpPr>
          <p:nvPr/>
        </p:nvSpPr>
        <p:spPr>
          <a:xfrm xmlns:a="http://schemas.openxmlformats.org/drawingml/2006/main">
            <a:off x="4095750" y="3924300"/>
            <a:ext cx="1104900" cy="228600"/>
          </a:xfrm>
          <a:prstGeom xmlns:a="http://schemas.openxmlformats.org/drawingml/2006/main" prst="roundRect">
            <a:avLst>
              <a:gd name="adj" fmla="val 50000"/>
            </a:avLst>
          </a:prstGeom>
          <a:solidFill xmlns:a="http://schemas.openxmlformats.org/drawingml/2006/main">
            <a:srgbClr val="E8E2FF"/>
          </a:solidFill>
          <a:ln xmlns:a="http://schemas.openxmlformats.org/drawingml/2006/main" w="0">
            <a:solidFill>
              <a:srgbClr val="E8E2FF"/>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750" b="1">
                <a:solidFill>
                  <a:srgbClr val="6E5BAA"/>
                </a:solidFill>
                <a:latin typeface="Lato"/>
                <a:ea typeface="Lato"/>
                <a:cs typeface="Lato"/>
              </a:defRPr>
            </a:pPr>
            <a:r>
              <a:rPr sz="750" b="1">
                <a:solidFill>
                  <a:srgbClr val="6E5BAA"/>
                </a:solidFill>
                <a:latin typeface="Lato"/>
                <a:ea typeface="Lato"/>
                <a:cs typeface="Lato"/>
              </a:rPr>
              <a:t>PROMISING</a:t>
            </a:r>
          </a:p>
        </p:txBody>
      </p:sp>
      <p:sp>
        <p:nvSpPr>
          <p:cNvPr id="26" name="">
            <a:extLst xmlns:a="http://schemas.openxmlformats.org/drawingml/2006/main">
              <a:ext uri="{FF2B5EF4-FFF2-40B4-BE49-F238E27FC236}">
                <a16:creationId xmlns:a16="http://schemas.microsoft.com/office/drawing/2014/main" id="{08EF1E69-9155-4F9E-9FB1-7BB1F931496F}"/>
              </a:ext>
            </a:extLst>
          </p:cNvPr>
          <p:cNvSpPr>
            <a:spLocks xmlns:a="http://schemas.openxmlformats.org/drawingml/2006/main" noGrp="1"/>
          </p:cNvSpPr>
          <p:nvPr/>
        </p:nvSpPr>
        <p:spPr>
          <a:xfrm xmlns:a="http://schemas.openxmlformats.org/drawingml/2006/main">
            <a:off x="5619750" y="390525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Copilot and Khanmigo experiments show adjacent performance gains.</a:t>
            </a:r>
          </a:p>
        </p:txBody>
      </p:sp>
      <p:sp>
        <p:nvSpPr>
          <p:cNvPr id="27" name="">
            <a:extLst xmlns:a="http://schemas.openxmlformats.org/drawingml/2006/main">
              <a:ext uri="{FF2B5EF4-FFF2-40B4-BE49-F238E27FC236}">
                <a16:creationId xmlns:a16="http://schemas.microsoft.com/office/drawing/2014/main" id="{3056D98B-6DBF-49AC-AD2B-D27081E7D5F9}"/>
              </a:ext>
            </a:extLst>
          </p:cNvPr>
          <p:cNvSpPr>
            <a:spLocks xmlns:a="http://schemas.openxmlformats.org/drawingml/2006/main" noGrp="1"/>
          </p:cNvSpPr>
          <p:nvPr/>
        </p:nvSpPr>
        <p:spPr>
          <a:xfrm xmlns:a="http://schemas.openxmlformats.org/drawingml/2006/main">
            <a:off x="8458200" y="3905250"/>
            <a:ext cx="2971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2D180B"/>
                </a:solidFill>
                <a:latin typeface="Lato"/>
                <a:ea typeface="Lato"/>
                <a:cs typeface="Lato"/>
              </a:defRPr>
            </a:pPr>
            <a:r>
              <a:rPr sz="1050">
                <a:solidFill>
                  <a:srgbClr val="2D180B"/>
                </a:solidFill>
                <a:latin typeface="Lato"/>
                <a:ea typeface="Lato"/>
                <a:cs typeface="Lato"/>
              </a:rPr>
              <a:t>Novice coding, trust, safety, and long-term learning.</a:t>
            </a:r>
          </a:p>
        </p:txBody>
      </p:sp>
      <p:sp>
        <p:nvSpPr>
          <p:cNvPr id="28" name="">
            <a:extLst xmlns:a="http://schemas.openxmlformats.org/drawingml/2006/main">
              <a:ext uri="{FF2B5EF4-FFF2-40B4-BE49-F238E27FC236}">
                <a16:creationId xmlns:a16="http://schemas.microsoft.com/office/drawing/2014/main" id="{DC0A4E60-5D21-49C8-B830-795C9A0D4BD4}"/>
              </a:ext>
            </a:extLst>
          </p:cNvPr>
          <p:cNvSpPr>
            <a:spLocks xmlns:a="http://schemas.openxmlformats.org/drawingml/2006/main" noGrp="1"/>
          </p:cNvSpPr>
          <p:nvPr/>
        </p:nvSpPr>
        <p:spPr>
          <a:xfrm xmlns:a="http://schemas.openxmlformats.org/drawingml/2006/main">
            <a:off x="647700" y="4410075"/>
            <a:ext cx="10782300" cy="0"/>
          </a:xfrm>
          <a:prstGeom xmlns:a="http://schemas.openxmlformats.org/drawingml/2006/main" prst="line">
            <a:avLst/>
          </a:prstGeom>
          <a:noFill xmlns:a="http://schemas.openxmlformats.org/drawingml/2006/main"/>
          <a:ln xmlns:a="http://schemas.openxmlformats.org/drawingml/2006/main" w="9525">
            <a:solidFill>
              <a:srgbClr val="E7C9A7"/>
            </a:solidFill>
            <a:prstDash val="solid"/>
          </a:ln>
        </p:spPr>
      </p:sp>
      <p:sp>
        <p:nvSpPr>
          <p:cNvPr id="29" name="">
            <a:extLst xmlns:a="http://schemas.openxmlformats.org/drawingml/2006/main">
              <a:ext uri="{FF2B5EF4-FFF2-40B4-BE49-F238E27FC236}">
                <a16:creationId xmlns:a16="http://schemas.microsoft.com/office/drawing/2014/main" id="{77C46AAC-1D84-4EC6-A8C0-F0CBD920F0FC}"/>
              </a:ext>
            </a:extLst>
          </p:cNvPr>
          <p:cNvSpPr>
            <a:spLocks xmlns:a="http://schemas.openxmlformats.org/drawingml/2006/main" noGrp="1"/>
          </p:cNvSpPr>
          <p:nvPr/>
        </p:nvSpPr>
        <p:spPr>
          <a:xfrm xmlns:a="http://schemas.openxmlformats.org/drawingml/2006/main">
            <a:off x="647700" y="457200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2D180B"/>
                </a:solidFill>
                <a:latin typeface="Lato"/>
                <a:ea typeface="Lato"/>
                <a:cs typeface="Lato"/>
              </a:defRPr>
            </a:pPr>
            <a:r>
              <a:rPr sz="1200" b="1">
                <a:solidFill>
                  <a:srgbClr val="2D180B"/>
                </a:solidFill>
                <a:latin typeface="Lato"/>
                <a:ea typeface="Lato"/>
                <a:cs typeface="Lato"/>
              </a:rPr>
              <a:t>Do Bataa learners return and finish?</a:t>
            </a:r>
          </a:p>
        </p:txBody>
      </p:sp>
      <p:sp>
        <p:nvSpPr>
          <p:cNvPr id="30" name="">
            <a:extLst xmlns:a="http://schemas.openxmlformats.org/drawingml/2006/main">
              <a:ext uri="{FF2B5EF4-FFF2-40B4-BE49-F238E27FC236}">
                <a16:creationId xmlns:a16="http://schemas.microsoft.com/office/drawing/2014/main" id="{39B51590-09EA-4A1E-8307-36C521EE617F}"/>
              </a:ext>
            </a:extLst>
          </p:cNvPr>
          <p:cNvSpPr>
            <a:spLocks xmlns:a="http://schemas.openxmlformats.org/drawingml/2006/main" noGrp="1"/>
          </p:cNvSpPr>
          <p:nvPr/>
        </p:nvSpPr>
        <p:spPr>
          <a:xfrm xmlns:a="http://schemas.openxmlformats.org/drawingml/2006/main">
            <a:off x="4095750" y="4591050"/>
            <a:ext cx="971550" cy="228600"/>
          </a:xfrm>
          <a:prstGeom xmlns:a="http://schemas.openxmlformats.org/drawingml/2006/main" prst="roundRect">
            <a:avLst>
              <a:gd name="adj" fmla="val 50000"/>
            </a:avLst>
          </a:prstGeom>
          <a:solidFill xmlns:a="http://schemas.openxmlformats.org/drawingml/2006/main">
            <a:srgbClr val="F8DFD9"/>
          </a:solidFill>
          <a:ln xmlns:a="http://schemas.openxmlformats.org/drawingml/2006/main" w="0">
            <a:solidFill>
              <a:srgbClr val="F8DFD9"/>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750" b="1">
                <a:solidFill>
                  <a:srgbClr val="C64A39"/>
                </a:solidFill>
                <a:latin typeface="Lato"/>
                <a:ea typeface="Lato"/>
                <a:cs typeface="Lato"/>
              </a:defRPr>
            </a:pPr>
            <a:r>
              <a:rPr sz="750" b="1">
                <a:solidFill>
                  <a:srgbClr val="C64A39"/>
                </a:solidFill>
                <a:latin typeface="Lato"/>
                <a:ea typeface="Lato"/>
                <a:cs typeface="Lato"/>
              </a:rPr>
              <a:t>UNKNOWN</a:t>
            </a:r>
          </a:p>
        </p:txBody>
      </p:sp>
      <p:sp>
        <p:nvSpPr>
          <p:cNvPr id="31" name="">
            <a:extLst xmlns:a="http://schemas.openxmlformats.org/drawingml/2006/main">
              <a:ext uri="{FF2B5EF4-FFF2-40B4-BE49-F238E27FC236}">
                <a16:creationId xmlns:a16="http://schemas.microsoft.com/office/drawing/2014/main" id="{BEFC1048-E0F3-4655-9875-051EF04D460A}"/>
              </a:ext>
            </a:extLst>
          </p:cNvPr>
          <p:cNvSpPr>
            <a:spLocks xmlns:a="http://schemas.openxmlformats.org/drawingml/2006/main" noGrp="1"/>
          </p:cNvSpPr>
          <p:nvPr/>
        </p:nvSpPr>
        <p:spPr>
          <a:xfrm xmlns:a="http://schemas.openxmlformats.org/drawingml/2006/main">
            <a:off x="5619750" y="457200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No Bataa behavioral cohort yet.</a:t>
            </a:r>
          </a:p>
        </p:txBody>
      </p:sp>
      <p:sp>
        <p:nvSpPr>
          <p:cNvPr id="32" name="">
            <a:extLst xmlns:a="http://schemas.openxmlformats.org/drawingml/2006/main">
              <a:ext uri="{FF2B5EF4-FFF2-40B4-BE49-F238E27FC236}">
                <a16:creationId xmlns:a16="http://schemas.microsoft.com/office/drawing/2014/main" id="{7B76A55B-E3D5-475A-8A39-6412E2CFBAFC}"/>
              </a:ext>
            </a:extLst>
          </p:cNvPr>
          <p:cNvSpPr>
            <a:spLocks xmlns:a="http://schemas.openxmlformats.org/drawingml/2006/main" noGrp="1"/>
          </p:cNvSpPr>
          <p:nvPr/>
        </p:nvSpPr>
        <p:spPr>
          <a:xfrm xmlns:a="http://schemas.openxmlformats.org/drawingml/2006/main">
            <a:off x="8458200" y="4572000"/>
            <a:ext cx="2971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2D180B"/>
                </a:solidFill>
                <a:latin typeface="Lato"/>
                <a:ea typeface="Lato"/>
                <a:cs typeface="Lato"/>
              </a:defRPr>
            </a:pPr>
            <a:r>
              <a:rPr sz="1050">
                <a:solidFill>
                  <a:srgbClr val="2D180B"/>
                </a:solidFill>
                <a:latin typeface="Lato"/>
                <a:ea typeface="Lato"/>
                <a:cs typeface="Lato"/>
              </a:rPr>
              <a:t>Activation, D7 retention, completion, transfer.</a:t>
            </a:r>
          </a:p>
        </p:txBody>
      </p:sp>
      <p:sp>
        <p:nvSpPr>
          <p:cNvPr id="33" name="">
            <a:extLst xmlns:a="http://schemas.openxmlformats.org/drawingml/2006/main">
              <a:ext uri="{FF2B5EF4-FFF2-40B4-BE49-F238E27FC236}">
                <a16:creationId xmlns:a16="http://schemas.microsoft.com/office/drawing/2014/main" id="{5475A338-1C96-46D0-AAB4-052850D9CABB}"/>
              </a:ext>
            </a:extLst>
          </p:cNvPr>
          <p:cNvSpPr>
            <a:spLocks xmlns:a="http://schemas.openxmlformats.org/drawingml/2006/main" noGrp="1"/>
          </p:cNvSpPr>
          <p:nvPr/>
        </p:nvSpPr>
        <p:spPr>
          <a:xfrm xmlns:a="http://schemas.openxmlformats.org/drawingml/2006/main">
            <a:off x="647700" y="5076825"/>
            <a:ext cx="10782300" cy="0"/>
          </a:xfrm>
          <a:prstGeom xmlns:a="http://schemas.openxmlformats.org/drawingml/2006/main" prst="line">
            <a:avLst/>
          </a:prstGeom>
          <a:noFill xmlns:a="http://schemas.openxmlformats.org/drawingml/2006/main"/>
          <a:ln xmlns:a="http://schemas.openxmlformats.org/drawingml/2006/main" w="9525">
            <a:solidFill>
              <a:srgbClr val="E7C9A7"/>
            </a:solidFill>
            <a:prstDash val="solid"/>
          </a:ln>
        </p:spPr>
      </p:sp>
      <p:sp>
        <p:nvSpPr>
          <p:cNvPr id="34" name="">
            <a:extLst xmlns:a="http://schemas.openxmlformats.org/drawingml/2006/main">
              <a:ext uri="{FF2B5EF4-FFF2-40B4-BE49-F238E27FC236}">
                <a16:creationId xmlns:a16="http://schemas.microsoft.com/office/drawing/2014/main" id="{C033AD88-A814-48C2-A8CA-D76F790A3094}"/>
              </a:ext>
            </a:extLst>
          </p:cNvPr>
          <p:cNvSpPr>
            <a:spLocks xmlns:a="http://schemas.openxmlformats.org/drawingml/2006/main" noGrp="1"/>
          </p:cNvSpPr>
          <p:nvPr/>
        </p:nvSpPr>
        <p:spPr>
          <a:xfrm xmlns:a="http://schemas.openxmlformats.org/drawingml/2006/main">
            <a:off x="647700" y="5162550"/>
            <a:ext cx="10782300" cy="571500"/>
          </a:xfrm>
          <a:prstGeom xmlns:a="http://schemas.openxmlformats.org/drawingml/2006/main" prst="rect">
            <a:avLst/>
          </a:prstGeom>
          <a:solidFill xmlns:a="http://schemas.openxmlformats.org/drawingml/2006/main">
            <a:srgbClr val="FFF0DE"/>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67B3986-9DB0-458E-97E9-532F47A1AC6A}"/>
              </a:ext>
            </a:extLst>
          </p:cNvPr>
          <p:cNvSpPr>
            <a:spLocks xmlns:a="http://schemas.openxmlformats.org/drawingml/2006/main" noGrp="1"/>
          </p:cNvSpPr>
          <p:nvPr/>
        </p:nvSpPr>
        <p:spPr>
          <a:xfrm xmlns:a="http://schemas.openxmlformats.org/drawingml/2006/main">
            <a:off x="647700" y="52387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2D180B"/>
                </a:solidFill>
                <a:latin typeface="Lato"/>
                <a:ea typeface="Lato"/>
                <a:cs typeface="Lato"/>
              </a:defRPr>
            </a:pPr>
            <a:r>
              <a:rPr sz="1200" b="1">
                <a:solidFill>
                  <a:srgbClr val="2D180B"/>
                </a:solidFill>
                <a:latin typeface="Lato"/>
                <a:ea typeface="Lato"/>
                <a:cs typeface="Lato"/>
              </a:rPr>
              <a:t>Will users or partners pay?</a:t>
            </a:r>
          </a:p>
        </p:txBody>
      </p:sp>
      <p:sp>
        <p:nvSpPr>
          <p:cNvPr id="36" name="">
            <a:extLst xmlns:a="http://schemas.openxmlformats.org/drawingml/2006/main">
              <a:ext uri="{FF2B5EF4-FFF2-40B4-BE49-F238E27FC236}">
                <a16:creationId xmlns:a16="http://schemas.microsoft.com/office/drawing/2014/main" id="{F6B385D5-C65A-4141-9BD6-1E40267537FC}"/>
              </a:ext>
            </a:extLst>
          </p:cNvPr>
          <p:cNvSpPr>
            <a:spLocks xmlns:a="http://schemas.openxmlformats.org/drawingml/2006/main" noGrp="1"/>
          </p:cNvSpPr>
          <p:nvPr/>
        </p:nvSpPr>
        <p:spPr>
          <a:xfrm xmlns:a="http://schemas.openxmlformats.org/drawingml/2006/main">
            <a:off x="4095750" y="5257800"/>
            <a:ext cx="971550" cy="228600"/>
          </a:xfrm>
          <a:prstGeom xmlns:a="http://schemas.openxmlformats.org/drawingml/2006/main" prst="roundRect">
            <a:avLst>
              <a:gd name="adj" fmla="val 50000"/>
            </a:avLst>
          </a:prstGeom>
          <a:solidFill xmlns:a="http://schemas.openxmlformats.org/drawingml/2006/main">
            <a:srgbClr val="F8DFD9"/>
          </a:solidFill>
          <a:ln xmlns:a="http://schemas.openxmlformats.org/drawingml/2006/main" w="0">
            <a:solidFill>
              <a:srgbClr val="F8DFD9"/>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750" b="1">
                <a:solidFill>
                  <a:srgbClr val="C64A39"/>
                </a:solidFill>
                <a:latin typeface="Lato"/>
                <a:ea typeface="Lato"/>
                <a:cs typeface="Lato"/>
              </a:defRPr>
            </a:pPr>
            <a:r>
              <a:rPr sz="750" b="1">
                <a:solidFill>
                  <a:srgbClr val="C64A39"/>
                </a:solidFill>
                <a:latin typeface="Lato"/>
                <a:ea typeface="Lato"/>
                <a:cs typeface="Lato"/>
              </a:rPr>
              <a:t>UNKNOWN</a:t>
            </a:r>
          </a:p>
        </p:txBody>
      </p:sp>
      <p:sp>
        <p:nvSpPr>
          <p:cNvPr id="37" name="">
            <a:extLst xmlns:a="http://schemas.openxmlformats.org/drawingml/2006/main">
              <a:ext uri="{FF2B5EF4-FFF2-40B4-BE49-F238E27FC236}">
                <a16:creationId xmlns:a16="http://schemas.microsoft.com/office/drawing/2014/main" id="{3505E2B0-C5E1-4ECE-AFD6-0ACC8EA6F8D5}"/>
              </a:ext>
            </a:extLst>
          </p:cNvPr>
          <p:cNvSpPr>
            <a:spLocks xmlns:a="http://schemas.openxmlformats.org/drawingml/2006/main" noGrp="1"/>
          </p:cNvSpPr>
          <p:nvPr/>
        </p:nvSpPr>
        <p:spPr>
          <a:xfrm xmlns:a="http://schemas.openxmlformats.org/drawingml/2006/main">
            <a:off x="5619750" y="523875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No willingness-to-pay or paid pilot evidence yet.</a:t>
            </a:r>
          </a:p>
        </p:txBody>
      </p:sp>
      <p:sp>
        <p:nvSpPr>
          <p:cNvPr id="38" name="">
            <a:extLst xmlns:a="http://schemas.openxmlformats.org/drawingml/2006/main">
              <a:ext uri="{FF2B5EF4-FFF2-40B4-BE49-F238E27FC236}">
                <a16:creationId xmlns:a16="http://schemas.microsoft.com/office/drawing/2014/main" id="{07D81BC6-AC69-4EB2-8654-1313F9C9BB5E}"/>
              </a:ext>
            </a:extLst>
          </p:cNvPr>
          <p:cNvSpPr>
            <a:spLocks xmlns:a="http://schemas.openxmlformats.org/drawingml/2006/main" noGrp="1"/>
          </p:cNvSpPr>
          <p:nvPr/>
        </p:nvSpPr>
        <p:spPr>
          <a:xfrm xmlns:a="http://schemas.openxmlformats.org/drawingml/2006/main">
            <a:off x="8458200" y="5238750"/>
            <a:ext cx="2971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2D180B"/>
                </a:solidFill>
                <a:latin typeface="Lato"/>
                <a:ea typeface="Lato"/>
                <a:cs typeface="Lato"/>
              </a:defRPr>
            </a:pPr>
            <a:r>
              <a:rPr sz="1050">
                <a:solidFill>
                  <a:srgbClr val="2D180B"/>
                </a:solidFill>
                <a:latin typeface="Lato"/>
                <a:ea typeface="Lato"/>
                <a:cs typeface="Lato"/>
              </a:rPr>
              <a:t>Price, conversion, institution/creator demand.</a:t>
            </a:r>
          </a:p>
        </p:txBody>
      </p:sp>
      <p:sp>
        <p:nvSpPr>
          <p:cNvPr id="39" name="">
            <a:extLst xmlns:a="http://schemas.openxmlformats.org/drawingml/2006/main">
              <a:ext uri="{FF2B5EF4-FFF2-40B4-BE49-F238E27FC236}">
                <a16:creationId xmlns:a16="http://schemas.microsoft.com/office/drawing/2014/main" id="{A2086125-436F-4E29-A105-6B4D2210FF7D}"/>
              </a:ext>
            </a:extLst>
          </p:cNvPr>
          <p:cNvSpPr>
            <a:spLocks xmlns:a="http://schemas.openxmlformats.org/drawingml/2006/main" noGrp="1"/>
          </p:cNvSpPr>
          <p:nvPr/>
        </p:nvSpPr>
        <p:spPr>
          <a:xfrm xmlns:a="http://schemas.openxmlformats.org/drawingml/2006/main">
            <a:off x="609600" y="6505575"/>
            <a:ext cx="1047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788">
                <a:solidFill>
                  <a:srgbClr val="7D5C42"/>
                </a:solidFill>
                <a:latin typeface="Lato"/>
                <a:ea typeface="Lato"/>
                <a:cs typeface="Lato"/>
              </a:defRPr>
            </a:pPr>
            <a:r>
              <a:rPr sz="788">
                <a:solidFill>
                  <a:srgbClr val="7D5C42"/>
                </a:solidFill>
                <a:latin typeface="Lato"/>
                <a:ea typeface="Lato"/>
                <a:cs typeface="Lato"/>
              </a:rPr>
              <a:t>Synthesis · source-level caveats are preserved in each slide’s notes</a:t>
            </a:r>
          </a:p>
        </p:txBody>
      </p:sp>
    </p:spTree>
    <p:extLst>
      <p:ext uri="{BB962C8B-B14F-4D97-AF65-F5344CB8AC3E}">
        <p14:creationId xmlns:p14="http://schemas.microsoft.com/office/powerpoint/2010/main" val="503534287"/>
      </p:ext>
    </p:extLst>
  </p:cSld>
</p:sld>
</file>

<file path=ppt/slides/slide10.xml><?xml version="1.0" encoding="utf-8"?>
<p:sld xmlns:p="http://schemas.openxmlformats.org/presentationml/2006/main">
  <p:cSld>
    <p:bg>
      <p:bgPr>
        <a:solidFill xmlns:a="http://schemas.openxmlformats.org/drawingml/2006/main">
          <a:srgbClr val="FF8500"/>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684F4638-1019-4ADF-8616-FBFCA2ABAB7F}"/>
              </a:ext>
            </a:extLst>
          </p:cNvPr>
          <p:cNvSpPr>
            <a:spLocks xmlns:a="http://schemas.openxmlformats.org/drawingml/2006/main" noGrp="1"/>
          </p:cNvSpPr>
          <p:nvPr/>
        </p:nvSpPr>
        <p:spPr>
          <a:xfrm xmlns:a="http://schemas.openxmlformats.org/drawingml/2006/main">
            <a:off x="609600" y="2476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CDDDAC2B-54D0-4F80-BE34-EF04C23BBE8F}"/>
              </a:ext>
            </a:extLst>
          </p:cNvPr>
          <p:cNvSpPr>
            <a:spLocks xmlns:a="http://schemas.openxmlformats.org/drawingml/2006/main" noGrp="1"/>
          </p:cNvSpPr>
          <p:nvPr/>
        </p:nvSpPr>
        <p:spPr>
          <a:xfrm xmlns:a="http://schemas.openxmlformats.org/drawingml/2006/main">
            <a:off x="2114550" y="2952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D7BDA9"/>
                </a:solidFill>
                <a:latin typeface="Lato"/>
                <a:ea typeface="Lato"/>
                <a:cs typeface="Lato"/>
              </a:defRPr>
            </a:pPr>
            <a:r>
              <a:rPr sz="825" b="1">
                <a:solidFill>
                  <a:srgbClr val="D7BDA9"/>
                </a:solidFill>
                <a:latin typeface="Lato"/>
                <a:ea typeface="Lato"/>
                <a:cs typeface="Lato"/>
              </a:rPr>
              <a:t>NEXT VALIDATION</a:t>
            </a:r>
          </a:p>
        </p:txBody>
      </p:sp>
      <p:sp>
        <p:nvSpPr>
          <p:cNvPr id="3" name="">
            <a:extLst xmlns:a="http://schemas.openxmlformats.org/drawingml/2006/main">
              <a:ext uri="{FF2B5EF4-FFF2-40B4-BE49-F238E27FC236}">
                <a16:creationId xmlns:a16="http://schemas.microsoft.com/office/drawing/2014/main" id="{33CDCA36-A27F-4E4D-A4C4-732CB7D5B4F6}"/>
              </a:ext>
            </a:extLst>
          </p:cNvPr>
          <p:cNvSpPr>
            <a:spLocks xmlns:a="http://schemas.openxmlformats.org/drawingml/2006/main" noGrp="1"/>
          </p:cNvSpPr>
          <p:nvPr/>
        </p:nvSpPr>
        <p:spPr>
          <a:xfrm xmlns:a="http://schemas.openxmlformats.org/drawingml/2006/main">
            <a:off x="11201400" y="2762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FF6E9"/>
                </a:solidFill>
                <a:latin typeface="Lato"/>
                <a:ea typeface="Lato"/>
                <a:cs typeface="Lato"/>
              </a:defRPr>
            </a:pPr>
            <a:r>
              <a:rPr sz="975" b="1">
                <a:solidFill>
                  <a:srgbClr val="FFF6E9"/>
                </a:solidFill>
                <a:latin typeface="Lato"/>
                <a:ea typeface="Lato"/>
                <a:cs typeface="Lato"/>
              </a:rPr>
              <a:t>10</a:t>
            </a:r>
          </a:p>
        </p:txBody>
      </p:sp>
      <p:sp>
        <p:nvSpPr>
          <p:cNvPr id="4" name="">
            <a:extLst xmlns:a="http://schemas.openxmlformats.org/drawingml/2006/main">
              <a:ext uri="{FF2B5EF4-FFF2-40B4-BE49-F238E27FC236}">
                <a16:creationId xmlns:a16="http://schemas.microsoft.com/office/drawing/2014/main" id="{2B544AA1-FFB7-45C3-9CBD-168B86D12E2E}"/>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7B1E1279-9F48-4444-AB7B-E88BDB99A3B7}"/>
              </a:ext>
            </a:extLst>
          </p:cNvPr>
          <p:cNvSpPr>
            <a:spLocks xmlns:a="http://schemas.openxmlformats.org/drawingml/2006/main" noGrp="1"/>
          </p:cNvSpPr>
          <p:nvPr/>
        </p:nvSpPr>
        <p:spPr>
          <a:xfrm xmlns:a="http://schemas.openxmlformats.org/drawingml/2006/main">
            <a:off x="609600" y="971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300" b="1">
                <a:solidFill>
                  <a:srgbClr val="FFF6E9"/>
                </a:solidFill>
                <a:latin typeface="Lato"/>
                <a:ea typeface="Lato"/>
                <a:cs typeface="Lato"/>
              </a:defRPr>
            </a:pPr>
            <a:r>
              <a:rPr sz="3300" b="1">
                <a:solidFill>
                  <a:srgbClr val="FFF6E9"/>
                </a:solidFill>
                <a:latin typeface="Lato"/>
                <a:ea typeface="Lato"/>
                <a:cs typeface="Lato"/>
              </a:rPr>
              <a:t>The next proof should be behavioral</a:t>
            </a:r>
          </a:p>
        </p:txBody>
      </p:sp>
      <p:sp>
        <p:nvSpPr>
          <p:cNvPr id="6" name="">
            <a:extLst xmlns:a="http://schemas.openxmlformats.org/drawingml/2006/main">
              <a:ext uri="{FF2B5EF4-FFF2-40B4-BE49-F238E27FC236}">
                <a16:creationId xmlns:a16="http://schemas.microsoft.com/office/drawing/2014/main" id="{9DAE9586-282F-4EC8-A6FB-4365F9612576}"/>
              </a:ext>
            </a:extLst>
          </p:cNvPr>
          <p:cNvSpPr>
            <a:spLocks xmlns:a="http://schemas.openxmlformats.org/drawingml/2006/main" noGrp="1"/>
          </p:cNvSpPr>
          <p:nvPr/>
        </p:nvSpPr>
        <p:spPr>
          <a:xfrm xmlns:a="http://schemas.openxmlformats.org/drawingml/2006/main">
            <a:off x="647700" y="1638300"/>
            <a:ext cx="923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E3CDBB"/>
                </a:solidFill>
                <a:latin typeface="Lato"/>
                <a:ea typeface="Lato"/>
                <a:cs typeface="Lato"/>
              </a:defRPr>
            </a:pPr>
            <a:r>
              <a:rPr sz="1425">
                <a:solidFill>
                  <a:srgbClr val="E3CDBB"/>
                </a:solidFill>
                <a:latin typeface="Lato"/>
                <a:ea typeface="Lato"/>
                <a:cs typeface="Lato"/>
              </a:rPr>
              <a:t>Turn the thesis into a small, measured pilot before scaling the story.</a:t>
            </a:r>
          </a:p>
        </p:txBody>
      </p:sp>
      <p:sp>
        <p:nvSpPr>
          <p:cNvPr id="7" name="">
            <a:extLst xmlns:a="http://schemas.openxmlformats.org/drawingml/2006/main">
              <a:ext uri="{FF2B5EF4-FFF2-40B4-BE49-F238E27FC236}">
                <a16:creationId xmlns:a16="http://schemas.microsoft.com/office/drawing/2014/main" id="{690ED1A1-861C-4EDB-93BD-97F774DA884C}"/>
              </a:ext>
            </a:extLst>
          </p:cNvPr>
          <p:cNvSpPr>
            <a:spLocks xmlns:a="http://schemas.openxmlformats.org/drawingml/2006/main" noGrp="1"/>
          </p:cNvSpPr>
          <p:nvPr/>
        </p:nvSpPr>
        <p:spPr>
          <a:xfrm xmlns:a="http://schemas.openxmlformats.org/drawingml/2006/main">
            <a:off x="647700" y="2247900"/>
            <a:ext cx="5619750" cy="3486150"/>
          </a:xfrm>
          <a:prstGeom xmlns:a="http://schemas.openxmlformats.org/drawingml/2006/main" prst="roundRect">
            <a:avLst>
              <a:gd name="adj" fmla="val 6557"/>
            </a:avLst>
          </a:prstGeom>
          <a:solidFill xmlns:a="http://schemas.openxmlformats.org/drawingml/2006/main">
            <a:srgbClr val="F78A17"/>
          </a:solidFill>
          <a:ln xmlns:a="http://schemas.openxmlformats.org/drawingml/2006/main" w="9525">
            <a:solidFill>
              <a:srgbClr val="FFB55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8E4FDBA0-043C-44DB-8A87-D4AEC902B0B9}"/>
              </a:ext>
            </a:extLst>
          </p:cNvPr>
          <p:cNvSpPr>
            <a:spLocks xmlns:a="http://schemas.openxmlformats.org/drawingml/2006/main" noGrp="1"/>
          </p:cNvSpPr>
          <p:nvPr/>
        </p:nvSpPr>
        <p:spPr>
          <a:xfrm xmlns:a="http://schemas.openxmlformats.org/drawingml/2006/main">
            <a:off x="971550" y="2571750"/>
            <a:ext cx="1066800" cy="257175"/>
          </a:xfrm>
          <a:prstGeom xmlns:a="http://schemas.openxmlformats.org/drawingml/2006/main" prst="roundRect">
            <a:avLst>
              <a:gd name="adj" fmla="val 50000"/>
            </a:avLst>
          </a:prstGeom>
          <a:solidFill xmlns:a="http://schemas.openxmlformats.org/drawingml/2006/main">
            <a:srgbClr val="FFF6E9"/>
          </a:solidFill>
          <a:ln xmlns:a="http://schemas.openxmlformats.org/drawingml/2006/main" w="0">
            <a:solidFill>
              <a:srgbClr val="FFF6E9"/>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PILOT SHAPE</a:t>
            </a:r>
          </a:p>
        </p:txBody>
      </p:sp>
      <p:sp>
        <p:nvSpPr>
          <p:cNvPr id="9" name="">
            <a:extLst xmlns:a="http://schemas.openxmlformats.org/drawingml/2006/main">
              <a:ext uri="{FF2B5EF4-FFF2-40B4-BE49-F238E27FC236}">
                <a16:creationId xmlns:a16="http://schemas.microsoft.com/office/drawing/2014/main" id="{F200E349-9726-4292-8C7B-938239D79233}"/>
              </a:ext>
            </a:extLst>
          </p:cNvPr>
          <p:cNvSpPr>
            <a:spLocks xmlns:a="http://schemas.openxmlformats.org/drawingml/2006/main" noGrp="1"/>
          </p:cNvSpPr>
          <p:nvPr/>
        </p:nvSpPr>
        <p:spPr>
          <a:xfrm xmlns:a="http://schemas.openxmlformats.org/drawingml/2006/main">
            <a:off x="971550" y="3067050"/>
            <a:ext cx="323850" cy="3238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C45300"/>
                </a:solidFill>
                <a:latin typeface="Lato"/>
                <a:ea typeface="Lato"/>
                <a:cs typeface="Lato"/>
              </a:defRPr>
            </a:pPr>
            <a:r>
              <a:rPr sz="825" b="1">
                <a:solidFill>
                  <a:srgbClr val="C45300"/>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BC09D4ED-D7F1-481C-BD72-F6A5B8DFC188}"/>
              </a:ext>
            </a:extLst>
          </p:cNvPr>
          <p:cNvSpPr>
            <a:spLocks xmlns:a="http://schemas.openxmlformats.org/drawingml/2006/main" noGrp="1"/>
          </p:cNvSpPr>
          <p:nvPr/>
        </p:nvSpPr>
        <p:spPr>
          <a:xfrm xmlns:a="http://schemas.openxmlformats.org/drawingml/2006/main">
            <a:off x="1466850" y="3076575"/>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15–20 discovery interviews</a:t>
            </a:r>
          </a:p>
        </p:txBody>
      </p:sp>
      <p:sp>
        <p:nvSpPr>
          <p:cNvPr id="11" name="">
            <a:extLst xmlns:a="http://schemas.openxmlformats.org/drawingml/2006/main">
              <a:ext uri="{FF2B5EF4-FFF2-40B4-BE49-F238E27FC236}">
                <a16:creationId xmlns:a16="http://schemas.microsoft.com/office/drawing/2014/main" id="{E2174E4A-04FB-43A1-BEE5-FDE35D6CED5F}"/>
              </a:ext>
            </a:extLst>
          </p:cNvPr>
          <p:cNvSpPr>
            <a:spLocks xmlns:a="http://schemas.openxmlformats.org/drawingml/2006/main" noGrp="1"/>
          </p:cNvSpPr>
          <p:nvPr/>
        </p:nvSpPr>
        <p:spPr>
          <a:xfrm xmlns:a="http://schemas.openxmlformats.org/drawingml/2006/main">
            <a:off x="1466850" y="3333750"/>
            <a:ext cx="4095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Record consented sessions, recruit across beginner skill levels, code recurring moments.</a:t>
            </a:r>
          </a:p>
        </p:txBody>
      </p:sp>
      <p:sp>
        <p:nvSpPr>
          <p:cNvPr id="12" name="">
            <a:extLst xmlns:a="http://schemas.openxmlformats.org/drawingml/2006/main">
              <a:ext uri="{FF2B5EF4-FFF2-40B4-BE49-F238E27FC236}">
                <a16:creationId xmlns:a16="http://schemas.microsoft.com/office/drawing/2014/main" id="{AC748A61-E003-48CE-B355-AECA6168271F}"/>
              </a:ext>
            </a:extLst>
          </p:cNvPr>
          <p:cNvSpPr>
            <a:spLocks xmlns:a="http://schemas.openxmlformats.org/drawingml/2006/main" noGrp="1"/>
          </p:cNvSpPr>
          <p:nvPr/>
        </p:nvSpPr>
        <p:spPr>
          <a:xfrm xmlns:a="http://schemas.openxmlformats.org/drawingml/2006/main">
            <a:off x="971550" y="3886200"/>
            <a:ext cx="323850" cy="3238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C45300"/>
                </a:solidFill>
                <a:latin typeface="Lato"/>
                <a:ea typeface="Lato"/>
                <a:cs typeface="Lato"/>
              </a:defRPr>
            </a:pPr>
            <a:r>
              <a:rPr sz="825" b="1">
                <a:solidFill>
                  <a:srgbClr val="C45300"/>
                </a:solidFill>
                <a:latin typeface="Lato"/>
                <a:ea typeface="Lato"/>
                <a:cs typeface="Lato"/>
              </a:rPr>
              <a:t>02</a:t>
            </a:r>
          </a:p>
        </p:txBody>
      </p:sp>
      <p:sp>
        <p:nvSpPr>
          <p:cNvPr id="13" name="">
            <a:extLst xmlns:a="http://schemas.openxmlformats.org/drawingml/2006/main">
              <a:ext uri="{FF2B5EF4-FFF2-40B4-BE49-F238E27FC236}">
                <a16:creationId xmlns:a16="http://schemas.microsoft.com/office/drawing/2014/main" id="{DAD2055C-7CB6-4EBE-A865-6CC678279763}"/>
              </a:ext>
            </a:extLst>
          </p:cNvPr>
          <p:cNvSpPr>
            <a:spLocks xmlns:a="http://schemas.openxmlformats.org/drawingml/2006/main" noGrp="1"/>
          </p:cNvSpPr>
          <p:nvPr/>
        </p:nvSpPr>
        <p:spPr>
          <a:xfrm xmlns:a="http://schemas.openxmlformats.org/drawingml/2006/main">
            <a:off x="1466850" y="3895725"/>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20–30 learner pilot</a:t>
            </a:r>
          </a:p>
        </p:txBody>
      </p:sp>
      <p:sp>
        <p:nvSpPr>
          <p:cNvPr id="14" name="">
            <a:extLst xmlns:a="http://schemas.openxmlformats.org/drawingml/2006/main">
              <a:ext uri="{FF2B5EF4-FFF2-40B4-BE49-F238E27FC236}">
                <a16:creationId xmlns:a16="http://schemas.microsoft.com/office/drawing/2014/main" id="{852248A2-CE03-4FD0-ADC8-F5EB1E64C741}"/>
              </a:ext>
            </a:extLst>
          </p:cNvPr>
          <p:cNvSpPr>
            <a:spLocks xmlns:a="http://schemas.openxmlformats.org/drawingml/2006/main" noGrp="1"/>
          </p:cNvSpPr>
          <p:nvPr/>
        </p:nvSpPr>
        <p:spPr>
          <a:xfrm xmlns:a="http://schemas.openxmlformats.org/drawingml/2006/main">
            <a:off x="1466850" y="4152900"/>
            <a:ext cx="4095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Run one beginner path for 14 days with simple daily tasks.</a:t>
            </a:r>
          </a:p>
        </p:txBody>
      </p:sp>
      <p:sp>
        <p:nvSpPr>
          <p:cNvPr id="15" name="">
            <a:extLst xmlns:a="http://schemas.openxmlformats.org/drawingml/2006/main">
              <a:ext uri="{FF2B5EF4-FFF2-40B4-BE49-F238E27FC236}">
                <a16:creationId xmlns:a16="http://schemas.microsoft.com/office/drawing/2014/main" id="{BF37E053-FD8B-486D-8671-B86D701EB3E9}"/>
              </a:ext>
            </a:extLst>
          </p:cNvPr>
          <p:cNvSpPr>
            <a:spLocks xmlns:a="http://schemas.openxmlformats.org/drawingml/2006/main" noGrp="1"/>
          </p:cNvSpPr>
          <p:nvPr/>
        </p:nvSpPr>
        <p:spPr>
          <a:xfrm xmlns:a="http://schemas.openxmlformats.org/drawingml/2006/main">
            <a:off x="971550" y="4705350"/>
            <a:ext cx="323850" cy="3238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1">
                <a:solidFill>
                  <a:srgbClr val="C45300"/>
                </a:solidFill>
                <a:latin typeface="Lato"/>
                <a:ea typeface="Lato"/>
                <a:cs typeface="Lato"/>
              </a:defRPr>
            </a:pPr>
            <a:r>
              <a:rPr sz="825" b="1">
                <a:solidFill>
                  <a:srgbClr val="C45300"/>
                </a:solidFill>
                <a:latin typeface="Lato"/>
                <a:ea typeface="Lato"/>
                <a:cs typeface="Lato"/>
              </a:rPr>
              <a:t>03</a:t>
            </a:r>
          </a:p>
        </p:txBody>
      </p:sp>
      <p:sp>
        <p:nvSpPr>
          <p:cNvPr id="16" name="">
            <a:extLst xmlns:a="http://schemas.openxmlformats.org/drawingml/2006/main">
              <a:ext uri="{FF2B5EF4-FFF2-40B4-BE49-F238E27FC236}">
                <a16:creationId xmlns:a16="http://schemas.microsoft.com/office/drawing/2014/main" id="{ABF8EFB4-9694-4461-96F1-8AC02F76C364}"/>
              </a:ext>
            </a:extLst>
          </p:cNvPr>
          <p:cNvSpPr>
            <a:spLocks xmlns:a="http://schemas.openxmlformats.org/drawingml/2006/main" noGrp="1"/>
          </p:cNvSpPr>
          <p:nvPr/>
        </p:nvSpPr>
        <p:spPr>
          <a:xfrm xmlns:a="http://schemas.openxmlformats.org/drawingml/2006/main">
            <a:off x="1466850" y="4714875"/>
            <a:ext cx="295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Comparison condition</a:t>
            </a:r>
          </a:p>
        </p:txBody>
      </p:sp>
      <p:sp>
        <p:nvSpPr>
          <p:cNvPr id="17" name="">
            <a:extLst xmlns:a="http://schemas.openxmlformats.org/drawingml/2006/main">
              <a:ext uri="{FF2B5EF4-FFF2-40B4-BE49-F238E27FC236}">
                <a16:creationId xmlns:a16="http://schemas.microsoft.com/office/drawing/2014/main" id="{DFE20CD6-1FD6-4643-942D-C2BD7690BB87}"/>
              </a:ext>
            </a:extLst>
          </p:cNvPr>
          <p:cNvSpPr>
            <a:spLocks xmlns:a="http://schemas.openxmlformats.org/drawingml/2006/main" noGrp="1"/>
          </p:cNvSpPr>
          <p:nvPr/>
        </p:nvSpPr>
        <p:spPr>
          <a:xfrm xmlns:a="http://schemas.openxmlformats.org/drawingml/2006/main">
            <a:off x="1466850" y="4972050"/>
            <a:ext cx="4095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Compare contextual feedback against the current lesson flow or a baseline.</a:t>
            </a:r>
          </a:p>
        </p:txBody>
      </p:sp>
      <p:sp>
        <p:nvSpPr>
          <p:cNvPr id="18" name="">
            <a:extLst xmlns:a="http://schemas.openxmlformats.org/drawingml/2006/main">
              <a:ext uri="{FF2B5EF4-FFF2-40B4-BE49-F238E27FC236}">
                <a16:creationId xmlns:a16="http://schemas.microsoft.com/office/drawing/2014/main" id="{EAA04F96-9F01-44FC-AB0B-765506054926}"/>
              </a:ext>
            </a:extLst>
          </p:cNvPr>
          <p:cNvSpPr>
            <a:spLocks xmlns:a="http://schemas.openxmlformats.org/drawingml/2006/main" noGrp="1"/>
          </p:cNvSpPr>
          <p:nvPr/>
        </p:nvSpPr>
        <p:spPr>
          <a:xfrm xmlns:a="http://schemas.openxmlformats.org/drawingml/2006/main">
            <a:off x="6705600" y="2247900"/>
            <a:ext cx="4724400" cy="3486150"/>
          </a:xfrm>
          <a:prstGeom xmlns:a="http://schemas.openxmlformats.org/drawingml/2006/main" prst="roundRect">
            <a:avLst>
              <a:gd name="adj" fmla="val 6557"/>
            </a:avLst>
          </a:prstGeom>
          <a:solidFill xmlns:a="http://schemas.openxmlformats.org/drawingml/2006/main">
            <a:srgbClr val="FFF6E9"/>
          </a:solidFill>
          <a:ln xmlns:a="http://schemas.openxmlformats.org/drawingml/2006/main" w="9525">
            <a:solidFill>
              <a:srgbClr val="FFF6E9"/>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99226364-E7A7-4BA1-B25A-8DCBEF7FDD98}"/>
              </a:ext>
            </a:extLst>
          </p:cNvPr>
          <p:cNvSpPr>
            <a:spLocks xmlns:a="http://schemas.openxmlformats.org/drawingml/2006/main" noGrp="1"/>
          </p:cNvSpPr>
          <p:nvPr/>
        </p:nvSpPr>
        <p:spPr>
          <a:xfrm xmlns:a="http://schemas.openxmlformats.org/drawingml/2006/main">
            <a:off x="7048500" y="2571750"/>
            <a:ext cx="1619250" cy="257175"/>
          </a:xfrm>
          <a:prstGeom xmlns:a="http://schemas.openxmlformats.org/drawingml/2006/main" prst="roundRect">
            <a:avLst>
              <a:gd name="adj" fmla="val 50000"/>
            </a:avLst>
          </a:prstGeom>
          <a:solidFill xmlns:a="http://schemas.openxmlformats.org/drawingml/2006/main">
            <a:srgbClr val="2D180B"/>
          </a:solidFill>
          <a:ln xmlns:a="http://schemas.openxmlformats.org/drawingml/2006/main" w="0">
            <a:solidFill>
              <a:srgbClr val="2D180B"/>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FFF6E9"/>
                </a:solidFill>
                <a:latin typeface="Lato"/>
                <a:ea typeface="Lato"/>
                <a:cs typeface="Lato"/>
              </a:defRPr>
            </a:pPr>
            <a:r>
              <a:rPr sz="900" b="1">
                <a:solidFill>
                  <a:srgbClr val="FFF6E9"/>
                </a:solidFill>
                <a:latin typeface="Lato"/>
                <a:ea typeface="Lato"/>
                <a:cs typeface="Lato"/>
              </a:rPr>
              <a:t>MEASURE BEFORE SCALE</a:t>
            </a:r>
          </a:p>
        </p:txBody>
      </p:sp>
      <p:sp>
        <p:nvSpPr>
          <p:cNvPr id="20" name="">
            <a:extLst xmlns:a="http://schemas.openxmlformats.org/drawingml/2006/main">
              <a:ext uri="{FF2B5EF4-FFF2-40B4-BE49-F238E27FC236}">
                <a16:creationId xmlns:a16="http://schemas.microsoft.com/office/drawing/2014/main" id="{9D7A63B6-DCE9-4005-B6FC-A8E0CD798204}"/>
              </a:ext>
            </a:extLst>
          </p:cNvPr>
          <p:cNvSpPr>
            <a:spLocks xmlns:a="http://schemas.openxmlformats.org/drawingml/2006/main" noGrp="1"/>
          </p:cNvSpPr>
          <p:nvPr/>
        </p:nvSpPr>
        <p:spPr>
          <a:xfrm xmlns:a="http://schemas.openxmlformats.org/drawingml/2006/main">
            <a:off x="7067550" y="3076575"/>
            <a:ext cx="200025" cy="200025"/>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sp>
      <p:sp>
        <p:nvSpPr>
          <p:cNvPr id="21" name="">
            <a:extLst xmlns:a="http://schemas.openxmlformats.org/drawingml/2006/main">
              <a:ext uri="{FF2B5EF4-FFF2-40B4-BE49-F238E27FC236}">
                <a16:creationId xmlns:a16="http://schemas.microsoft.com/office/drawing/2014/main" id="{DCC6A931-9B2C-495C-9B36-B92762953D2B}"/>
              </a:ext>
            </a:extLst>
          </p:cNvPr>
          <p:cNvSpPr>
            <a:spLocks xmlns:a="http://schemas.openxmlformats.org/drawingml/2006/main" noGrp="1"/>
          </p:cNvSpPr>
          <p:nvPr/>
        </p:nvSpPr>
        <p:spPr>
          <a:xfrm xmlns:a="http://schemas.openxmlformats.org/drawingml/2006/main">
            <a:off x="7429500" y="3067050"/>
            <a:ext cx="1638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2D180B"/>
                </a:solidFill>
                <a:latin typeface="Lato"/>
                <a:ea typeface="Lato"/>
                <a:cs typeface="Lato"/>
              </a:defRPr>
            </a:pPr>
            <a:r>
              <a:rPr sz="1200" b="1">
                <a:solidFill>
                  <a:srgbClr val="2D180B"/>
                </a:solidFill>
                <a:latin typeface="Lato"/>
                <a:ea typeface="Lato"/>
                <a:cs typeface="Lato"/>
              </a:rPr>
              <a:t>Activation</a:t>
            </a:r>
          </a:p>
        </p:txBody>
      </p:sp>
      <p:sp>
        <p:nvSpPr>
          <p:cNvPr id="22" name="">
            <a:extLst xmlns:a="http://schemas.openxmlformats.org/drawingml/2006/main">
              <a:ext uri="{FF2B5EF4-FFF2-40B4-BE49-F238E27FC236}">
                <a16:creationId xmlns:a16="http://schemas.microsoft.com/office/drawing/2014/main" id="{9F03D046-56E8-4A93-8464-BC850AF8391F}"/>
              </a:ext>
            </a:extLst>
          </p:cNvPr>
          <p:cNvSpPr>
            <a:spLocks xmlns:a="http://schemas.openxmlformats.org/drawingml/2006/main" noGrp="1"/>
          </p:cNvSpPr>
          <p:nvPr/>
        </p:nvSpPr>
        <p:spPr>
          <a:xfrm xmlns:a="http://schemas.openxmlformats.org/drawingml/2006/main">
            <a:off x="9124950" y="307657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first task started</a:t>
            </a:r>
          </a:p>
        </p:txBody>
      </p:sp>
      <p:sp>
        <p:nvSpPr>
          <p:cNvPr id="23" name="">
            <a:extLst xmlns:a="http://schemas.openxmlformats.org/drawingml/2006/main">
              <a:ext uri="{FF2B5EF4-FFF2-40B4-BE49-F238E27FC236}">
                <a16:creationId xmlns:a16="http://schemas.microsoft.com/office/drawing/2014/main" id="{AD02263F-52E9-4659-BAD4-7C23432331DF}"/>
              </a:ext>
            </a:extLst>
          </p:cNvPr>
          <p:cNvSpPr>
            <a:spLocks xmlns:a="http://schemas.openxmlformats.org/drawingml/2006/main" noGrp="1"/>
          </p:cNvSpPr>
          <p:nvPr/>
        </p:nvSpPr>
        <p:spPr>
          <a:xfrm xmlns:a="http://schemas.openxmlformats.org/drawingml/2006/main">
            <a:off x="7067550" y="3457575"/>
            <a:ext cx="200025" cy="200025"/>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sp>
      <p:sp>
        <p:nvSpPr>
          <p:cNvPr id="24" name="">
            <a:extLst xmlns:a="http://schemas.openxmlformats.org/drawingml/2006/main">
              <a:ext uri="{FF2B5EF4-FFF2-40B4-BE49-F238E27FC236}">
                <a16:creationId xmlns:a16="http://schemas.microsoft.com/office/drawing/2014/main" id="{8083AFD7-144E-45C0-B034-485C4D358B30}"/>
              </a:ext>
            </a:extLst>
          </p:cNvPr>
          <p:cNvSpPr>
            <a:spLocks xmlns:a="http://schemas.openxmlformats.org/drawingml/2006/main" noGrp="1"/>
          </p:cNvSpPr>
          <p:nvPr/>
        </p:nvSpPr>
        <p:spPr>
          <a:xfrm xmlns:a="http://schemas.openxmlformats.org/drawingml/2006/main">
            <a:off x="7429500" y="3448050"/>
            <a:ext cx="1638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2D180B"/>
                </a:solidFill>
                <a:latin typeface="Lato"/>
                <a:ea typeface="Lato"/>
                <a:cs typeface="Lato"/>
              </a:defRPr>
            </a:pPr>
            <a:r>
              <a:rPr sz="1200" b="1">
                <a:solidFill>
                  <a:srgbClr val="2D180B"/>
                </a:solidFill>
                <a:latin typeface="Lato"/>
                <a:ea typeface="Lato"/>
                <a:cs typeface="Lato"/>
              </a:rPr>
              <a:t>Task success</a:t>
            </a:r>
          </a:p>
        </p:txBody>
      </p:sp>
      <p:sp>
        <p:nvSpPr>
          <p:cNvPr id="25" name="">
            <a:extLst xmlns:a="http://schemas.openxmlformats.org/drawingml/2006/main">
              <a:ext uri="{FF2B5EF4-FFF2-40B4-BE49-F238E27FC236}">
                <a16:creationId xmlns:a16="http://schemas.microsoft.com/office/drawing/2014/main" id="{0E7BF7B4-5CD3-44D6-82CD-2049295B1ABB}"/>
              </a:ext>
            </a:extLst>
          </p:cNvPr>
          <p:cNvSpPr>
            <a:spLocks xmlns:a="http://schemas.openxmlformats.org/drawingml/2006/main" noGrp="1"/>
          </p:cNvSpPr>
          <p:nvPr/>
        </p:nvSpPr>
        <p:spPr>
          <a:xfrm xmlns:a="http://schemas.openxmlformats.org/drawingml/2006/main">
            <a:off x="9124950" y="345757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time-to-first-success</a:t>
            </a:r>
          </a:p>
        </p:txBody>
      </p:sp>
      <p:sp>
        <p:nvSpPr>
          <p:cNvPr id="26" name="">
            <a:extLst xmlns:a="http://schemas.openxmlformats.org/drawingml/2006/main">
              <a:ext uri="{FF2B5EF4-FFF2-40B4-BE49-F238E27FC236}">
                <a16:creationId xmlns:a16="http://schemas.microsoft.com/office/drawing/2014/main" id="{E11172F6-3334-4962-88D4-60DA973DE929}"/>
              </a:ext>
            </a:extLst>
          </p:cNvPr>
          <p:cNvSpPr>
            <a:spLocks xmlns:a="http://schemas.openxmlformats.org/drawingml/2006/main" noGrp="1"/>
          </p:cNvSpPr>
          <p:nvPr/>
        </p:nvSpPr>
        <p:spPr>
          <a:xfrm xmlns:a="http://schemas.openxmlformats.org/drawingml/2006/main">
            <a:off x="7067550" y="3838575"/>
            <a:ext cx="200025" cy="200025"/>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sp>
      <p:sp>
        <p:nvSpPr>
          <p:cNvPr id="27" name="">
            <a:extLst xmlns:a="http://schemas.openxmlformats.org/drawingml/2006/main">
              <a:ext uri="{FF2B5EF4-FFF2-40B4-BE49-F238E27FC236}">
                <a16:creationId xmlns:a16="http://schemas.microsoft.com/office/drawing/2014/main" id="{D02F4FF1-92B1-47C0-9E1F-4D982F3D7BD0}"/>
              </a:ext>
            </a:extLst>
          </p:cNvPr>
          <p:cNvSpPr>
            <a:spLocks xmlns:a="http://schemas.openxmlformats.org/drawingml/2006/main" noGrp="1"/>
          </p:cNvSpPr>
          <p:nvPr/>
        </p:nvSpPr>
        <p:spPr>
          <a:xfrm xmlns:a="http://schemas.openxmlformats.org/drawingml/2006/main">
            <a:off x="7429500" y="3829050"/>
            <a:ext cx="1638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2D180B"/>
                </a:solidFill>
                <a:latin typeface="Lato"/>
                <a:ea typeface="Lato"/>
                <a:cs typeface="Lato"/>
              </a:defRPr>
            </a:pPr>
            <a:r>
              <a:rPr sz="1200" b="1">
                <a:solidFill>
                  <a:srgbClr val="2D180B"/>
                </a:solidFill>
                <a:latin typeface="Lato"/>
                <a:ea typeface="Lato"/>
                <a:cs typeface="Lato"/>
              </a:rPr>
              <a:t>Feedback loop</a:t>
            </a:r>
          </a:p>
        </p:txBody>
      </p:sp>
      <p:sp>
        <p:nvSpPr>
          <p:cNvPr id="28" name="">
            <a:extLst xmlns:a="http://schemas.openxmlformats.org/drawingml/2006/main">
              <a:ext uri="{FF2B5EF4-FFF2-40B4-BE49-F238E27FC236}">
                <a16:creationId xmlns:a16="http://schemas.microsoft.com/office/drawing/2014/main" id="{3743A9D1-D9EC-4DA4-B9EA-8DB4D059CD85}"/>
              </a:ext>
            </a:extLst>
          </p:cNvPr>
          <p:cNvSpPr>
            <a:spLocks xmlns:a="http://schemas.openxmlformats.org/drawingml/2006/main" noGrp="1"/>
          </p:cNvSpPr>
          <p:nvPr/>
        </p:nvSpPr>
        <p:spPr>
          <a:xfrm xmlns:a="http://schemas.openxmlformats.org/drawingml/2006/main">
            <a:off x="9124950" y="383857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retry after a hint</a:t>
            </a:r>
          </a:p>
        </p:txBody>
      </p:sp>
      <p:sp>
        <p:nvSpPr>
          <p:cNvPr id="29" name="">
            <a:extLst xmlns:a="http://schemas.openxmlformats.org/drawingml/2006/main">
              <a:ext uri="{FF2B5EF4-FFF2-40B4-BE49-F238E27FC236}">
                <a16:creationId xmlns:a16="http://schemas.microsoft.com/office/drawing/2014/main" id="{AB569110-5878-4B54-9DFC-F13515487529}"/>
              </a:ext>
            </a:extLst>
          </p:cNvPr>
          <p:cNvSpPr>
            <a:spLocks xmlns:a="http://schemas.openxmlformats.org/drawingml/2006/main" noGrp="1"/>
          </p:cNvSpPr>
          <p:nvPr/>
        </p:nvSpPr>
        <p:spPr>
          <a:xfrm xmlns:a="http://schemas.openxmlformats.org/drawingml/2006/main">
            <a:off x="7067550" y="4219575"/>
            <a:ext cx="200025" cy="200025"/>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sp>
      <p:sp>
        <p:nvSpPr>
          <p:cNvPr id="30" name="">
            <a:extLst xmlns:a="http://schemas.openxmlformats.org/drawingml/2006/main">
              <a:ext uri="{FF2B5EF4-FFF2-40B4-BE49-F238E27FC236}">
                <a16:creationId xmlns:a16="http://schemas.microsoft.com/office/drawing/2014/main" id="{F0B42567-164C-4DF2-AA5D-F2B534065384}"/>
              </a:ext>
            </a:extLst>
          </p:cNvPr>
          <p:cNvSpPr>
            <a:spLocks xmlns:a="http://schemas.openxmlformats.org/drawingml/2006/main" noGrp="1"/>
          </p:cNvSpPr>
          <p:nvPr/>
        </p:nvSpPr>
        <p:spPr>
          <a:xfrm xmlns:a="http://schemas.openxmlformats.org/drawingml/2006/main">
            <a:off x="7429500" y="4210050"/>
            <a:ext cx="1638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2D180B"/>
                </a:solidFill>
                <a:latin typeface="Lato"/>
                <a:ea typeface="Lato"/>
                <a:cs typeface="Lato"/>
              </a:defRPr>
            </a:pPr>
            <a:r>
              <a:rPr sz="1200" b="1">
                <a:solidFill>
                  <a:srgbClr val="2D180B"/>
                </a:solidFill>
                <a:latin typeface="Lato"/>
                <a:ea typeface="Lato"/>
                <a:cs typeface="Lato"/>
              </a:rPr>
              <a:t>Retention</a:t>
            </a:r>
          </a:p>
        </p:txBody>
      </p:sp>
      <p:sp>
        <p:nvSpPr>
          <p:cNvPr id="31" name="">
            <a:extLst xmlns:a="http://schemas.openxmlformats.org/drawingml/2006/main">
              <a:ext uri="{FF2B5EF4-FFF2-40B4-BE49-F238E27FC236}">
                <a16:creationId xmlns:a16="http://schemas.microsoft.com/office/drawing/2014/main" id="{1140BC04-4023-46BE-A816-9563CDE471C8}"/>
              </a:ext>
            </a:extLst>
          </p:cNvPr>
          <p:cNvSpPr>
            <a:spLocks xmlns:a="http://schemas.openxmlformats.org/drawingml/2006/main" noGrp="1"/>
          </p:cNvSpPr>
          <p:nvPr/>
        </p:nvSpPr>
        <p:spPr>
          <a:xfrm xmlns:a="http://schemas.openxmlformats.org/drawingml/2006/main">
            <a:off x="9124950" y="421957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D1 and D7 return</a:t>
            </a:r>
          </a:p>
        </p:txBody>
      </p:sp>
      <p:sp>
        <p:nvSpPr>
          <p:cNvPr id="32" name="">
            <a:extLst xmlns:a="http://schemas.openxmlformats.org/drawingml/2006/main">
              <a:ext uri="{FF2B5EF4-FFF2-40B4-BE49-F238E27FC236}">
                <a16:creationId xmlns:a16="http://schemas.microsoft.com/office/drawing/2014/main" id="{55F9F4C7-8D73-4E2D-A1EB-C93D6A9804E5}"/>
              </a:ext>
            </a:extLst>
          </p:cNvPr>
          <p:cNvSpPr>
            <a:spLocks xmlns:a="http://schemas.openxmlformats.org/drawingml/2006/main" noGrp="1"/>
          </p:cNvSpPr>
          <p:nvPr/>
        </p:nvSpPr>
        <p:spPr>
          <a:xfrm xmlns:a="http://schemas.openxmlformats.org/drawingml/2006/main">
            <a:off x="7067550" y="4600575"/>
            <a:ext cx="200025" cy="200025"/>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sp>
      <p:sp>
        <p:nvSpPr>
          <p:cNvPr id="33" name="">
            <a:extLst xmlns:a="http://schemas.openxmlformats.org/drawingml/2006/main">
              <a:ext uri="{FF2B5EF4-FFF2-40B4-BE49-F238E27FC236}">
                <a16:creationId xmlns:a16="http://schemas.microsoft.com/office/drawing/2014/main" id="{D004220F-4539-4EC3-AB1C-37441EEE9A85}"/>
              </a:ext>
            </a:extLst>
          </p:cNvPr>
          <p:cNvSpPr>
            <a:spLocks xmlns:a="http://schemas.openxmlformats.org/drawingml/2006/main" noGrp="1"/>
          </p:cNvSpPr>
          <p:nvPr/>
        </p:nvSpPr>
        <p:spPr>
          <a:xfrm xmlns:a="http://schemas.openxmlformats.org/drawingml/2006/main">
            <a:off x="7429500" y="4591050"/>
            <a:ext cx="1638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2D180B"/>
                </a:solidFill>
                <a:latin typeface="Lato"/>
                <a:ea typeface="Lato"/>
                <a:cs typeface="Lato"/>
              </a:defRPr>
            </a:pPr>
            <a:r>
              <a:rPr sz="1200" b="1">
                <a:solidFill>
                  <a:srgbClr val="2D180B"/>
                </a:solidFill>
                <a:latin typeface="Lato"/>
                <a:ea typeface="Lato"/>
                <a:cs typeface="Lato"/>
              </a:rPr>
              <a:t>Transfer</a:t>
            </a:r>
          </a:p>
        </p:txBody>
      </p:sp>
      <p:sp>
        <p:nvSpPr>
          <p:cNvPr id="34" name="">
            <a:extLst xmlns:a="http://schemas.openxmlformats.org/drawingml/2006/main">
              <a:ext uri="{FF2B5EF4-FFF2-40B4-BE49-F238E27FC236}">
                <a16:creationId xmlns:a16="http://schemas.microsoft.com/office/drawing/2014/main" id="{DA7D456A-AE87-48E0-A0C3-A9240BA77607}"/>
              </a:ext>
            </a:extLst>
          </p:cNvPr>
          <p:cNvSpPr>
            <a:spLocks xmlns:a="http://schemas.openxmlformats.org/drawingml/2006/main" noGrp="1"/>
          </p:cNvSpPr>
          <p:nvPr/>
        </p:nvSpPr>
        <p:spPr>
          <a:xfrm xmlns:a="http://schemas.openxmlformats.org/drawingml/2006/main">
            <a:off x="9124950" y="460057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delayed task without help</a:t>
            </a:r>
          </a:p>
        </p:txBody>
      </p:sp>
      <p:sp>
        <p:nvSpPr>
          <p:cNvPr id="35" name="">
            <a:extLst xmlns:a="http://schemas.openxmlformats.org/drawingml/2006/main">
              <a:ext uri="{FF2B5EF4-FFF2-40B4-BE49-F238E27FC236}">
                <a16:creationId xmlns:a16="http://schemas.microsoft.com/office/drawing/2014/main" id="{A83FCE9C-D46B-46D0-9313-9AF962773F13}"/>
              </a:ext>
            </a:extLst>
          </p:cNvPr>
          <p:cNvSpPr>
            <a:spLocks xmlns:a="http://schemas.openxmlformats.org/drawingml/2006/main" noGrp="1"/>
          </p:cNvSpPr>
          <p:nvPr/>
        </p:nvSpPr>
        <p:spPr>
          <a:xfrm xmlns:a="http://schemas.openxmlformats.org/drawingml/2006/main">
            <a:off x="7067550" y="4981575"/>
            <a:ext cx="200025" cy="200025"/>
          </a:xfrm>
          <a:prstGeom xmlns:a="http://schemas.openxmlformats.org/drawingml/2006/main" prst="ellipse">
            <a:avLst/>
          </a:prstGeom>
          <a:solidFill xmlns:a="http://schemas.openxmlformats.org/drawingml/2006/main">
            <a:srgbClr val="2E9B62"/>
          </a:solidFill>
          <a:ln xmlns:a="http://schemas.openxmlformats.org/drawingml/2006/main" w="0">
            <a:solidFill>
              <a:srgbClr val="2E9B62"/>
            </a:solidFill>
          </a:ln>
        </p:spPr>
      </p:sp>
      <p:sp>
        <p:nvSpPr>
          <p:cNvPr id="36" name="">
            <a:extLst xmlns:a="http://schemas.openxmlformats.org/drawingml/2006/main">
              <a:ext uri="{FF2B5EF4-FFF2-40B4-BE49-F238E27FC236}">
                <a16:creationId xmlns:a16="http://schemas.microsoft.com/office/drawing/2014/main" id="{D6AAE928-7207-425E-98F3-341FF9976ED5}"/>
              </a:ext>
            </a:extLst>
          </p:cNvPr>
          <p:cNvSpPr>
            <a:spLocks xmlns:a="http://schemas.openxmlformats.org/drawingml/2006/main" noGrp="1"/>
          </p:cNvSpPr>
          <p:nvPr/>
        </p:nvSpPr>
        <p:spPr>
          <a:xfrm xmlns:a="http://schemas.openxmlformats.org/drawingml/2006/main">
            <a:off x="7429500" y="4972050"/>
            <a:ext cx="1638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2D180B"/>
                </a:solidFill>
                <a:latin typeface="Lato"/>
                <a:ea typeface="Lato"/>
                <a:cs typeface="Lato"/>
              </a:defRPr>
            </a:pPr>
            <a:r>
              <a:rPr sz="1200" b="1">
                <a:solidFill>
                  <a:srgbClr val="2D180B"/>
                </a:solidFill>
                <a:latin typeface="Lato"/>
                <a:ea typeface="Lato"/>
                <a:cs typeface="Lato"/>
              </a:rPr>
              <a:t>Commercial</a:t>
            </a:r>
          </a:p>
        </p:txBody>
      </p:sp>
      <p:sp>
        <p:nvSpPr>
          <p:cNvPr id="37" name="">
            <a:extLst xmlns:a="http://schemas.openxmlformats.org/drawingml/2006/main">
              <a:ext uri="{FF2B5EF4-FFF2-40B4-BE49-F238E27FC236}">
                <a16:creationId xmlns:a16="http://schemas.microsoft.com/office/drawing/2014/main" id="{4D9180CC-64A4-471C-8F6B-014DD3736287}"/>
              </a:ext>
            </a:extLst>
          </p:cNvPr>
          <p:cNvSpPr>
            <a:spLocks xmlns:a="http://schemas.openxmlformats.org/drawingml/2006/main" noGrp="1"/>
          </p:cNvSpPr>
          <p:nvPr/>
        </p:nvSpPr>
        <p:spPr>
          <a:xfrm xmlns:a="http://schemas.openxmlformats.org/drawingml/2006/main">
            <a:off x="9124950" y="498157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446"/>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willingness to pay / partner ask</a:t>
            </a:r>
          </a:p>
        </p:txBody>
      </p:sp>
      <p:sp>
        <p:nvSpPr>
          <p:cNvPr id="38" name="">
            <a:extLst xmlns:a="http://schemas.openxmlformats.org/drawingml/2006/main">
              <a:ext uri="{FF2B5EF4-FFF2-40B4-BE49-F238E27FC236}">
                <a16:creationId xmlns:a16="http://schemas.microsoft.com/office/drawing/2014/main" id="{8596EAA5-9603-4BC4-93CC-14AA57CF3AB4}"/>
              </a:ext>
            </a:extLst>
          </p:cNvPr>
          <p:cNvSpPr>
            <a:spLocks xmlns:a="http://schemas.openxmlformats.org/drawingml/2006/main" noGrp="1"/>
          </p:cNvSpPr>
          <p:nvPr/>
        </p:nvSpPr>
        <p:spPr>
          <a:xfrm xmlns:a="http://schemas.openxmlformats.org/drawingml/2006/main">
            <a:off x="647700" y="5924550"/>
            <a:ext cx="10782300" cy="323850"/>
          </a:xfrm>
          <a:prstGeom xmlns:a="http://schemas.openxmlformats.org/drawingml/2006/main" prst="roundRect">
            <a:avLst>
              <a:gd name="adj" fmla="val 35294"/>
            </a:avLst>
          </a:prstGeom>
          <a:solidFill xmlns:a="http://schemas.openxmlformats.org/drawingml/2006/main">
            <a:srgbClr val="FFF6E9"/>
          </a:solidFill>
          <a:ln xmlns:a="http://schemas.openxmlformats.org/drawingml/2006/main" w="9525">
            <a:solidFill>
              <a:srgbClr val="FFF6E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9" name="">
            <a:extLst xmlns:a="http://schemas.openxmlformats.org/drawingml/2006/main">
              <a:ext uri="{FF2B5EF4-FFF2-40B4-BE49-F238E27FC236}">
                <a16:creationId xmlns:a16="http://schemas.microsoft.com/office/drawing/2014/main" id="{3E652392-4F0A-4EE1-8EA2-B55D520A941E}"/>
              </a:ext>
            </a:extLst>
          </p:cNvPr>
          <p:cNvSpPr>
            <a:spLocks xmlns:a="http://schemas.openxmlformats.org/drawingml/2006/main" noGrp="1"/>
          </p:cNvSpPr>
          <p:nvPr/>
        </p:nvSpPr>
        <p:spPr>
          <a:xfrm xmlns:a="http://schemas.openxmlformats.org/drawingml/2006/main">
            <a:off x="933450" y="6000750"/>
            <a:ext cx="885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defRPr sz="1200" b="1">
                <a:solidFill>
                  <a:srgbClr val="2D180B"/>
                </a:solidFill>
                <a:latin typeface="Lato"/>
                <a:ea typeface="Lato"/>
                <a:cs typeface="Lato"/>
              </a:defRPr>
            </a:pPr>
            <a:r>
              <a:rPr sz="1200" b="1">
                <a:solidFill>
                  <a:srgbClr val="2D180B"/>
                </a:solidFill>
                <a:latin typeface="Lato"/>
                <a:ea typeface="Lato"/>
                <a:cs typeface="Lato"/>
              </a:rPr>
              <a:t>Predefine pass / fail thresholds before the pilot starts.</a:t>
            </a:r>
          </a:p>
        </p:txBody>
      </p:sp>
      <p:sp>
        <p:nvSpPr>
          <p:cNvPr id="40" name="">
            <a:extLst xmlns:a="http://schemas.openxmlformats.org/drawingml/2006/main">
              <a:ext uri="{FF2B5EF4-FFF2-40B4-BE49-F238E27FC236}">
                <a16:creationId xmlns:a16="http://schemas.microsoft.com/office/drawing/2014/main" id="{9AE661D3-ED2E-403C-ADD9-9B6D29C1FA9A}"/>
              </a:ext>
            </a:extLst>
          </p:cNvPr>
          <p:cNvSpPr>
            <a:spLocks xmlns:a="http://schemas.openxmlformats.org/drawingml/2006/main" noGrp="1"/>
          </p:cNvSpPr>
          <p:nvPr/>
        </p:nvSpPr>
        <p:spPr>
          <a:xfrm xmlns:a="http://schemas.openxmlformats.org/drawingml/2006/main">
            <a:off x="609600" y="6505575"/>
            <a:ext cx="1047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788">
                <a:solidFill>
                  <a:srgbClr val="C9A98C"/>
                </a:solidFill>
                <a:latin typeface="Lato"/>
                <a:ea typeface="Lato"/>
                <a:cs typeface="Lato"/>
              </a:defRPr>
            </a:pPr>
            <a:r>
              <a:rPr sz="788">
                <a:solidFill>
                  <a:srgbClr val="C9A98C"/>
                </a:solidFill>
                <a:latin typeface="Lato"/>
                <a:ea typeface="Lato"/>
                <a:cs typeface="Lato"/>
              </a:rPr>
              <a:t>Proposed validation plan · no pilot results claimed yet</a:t>
            </a:r>
          </a:p>
        </p:txBody>
      </p:sp>
    </p:spTree>
    <p:extLst>
      <p:ext uri="{BB962C8B-B14F-4D97-AF65-F5344CB8AC3E}">
        <p14:creationId xmlns:p14="http://schemas.microsoft.com/office/powerpoint/2010/main" val="1993552348"/>
      </p:ext>
    </p:extLst>
  </p:cSld>
</p:sld>
</file>

<file path=ppt/slides/slide11.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533BDA6-EF0F-4978-8DC3-CD029B5744F1}"/>
              </a:ext>
            </a:extLst>
          </p:cNvPr>
          <p:cNvSpPr>
            <a:spLocks xmlns:a="http://schemas.openxmlformats.org/drawingml/2006/main" noGrp="1"/>
          </p:cNvSpPr>
          <p:nvPr/>
        </p:nvSpPr>
        <p:spPr>
          <a:xfrm xmlns:a="http://schemas.openxmlformats.org/drawingml/2006/main">
            <a:off x="609600" y="2476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954E6FE0-3A66-4547-895C-9A585C19A77D}"/>
              </a:ext>
            </a:extLst>
          </p:cNvPr>
          <p:cNvSpPr>
            <a:spLocks xmlns:a="http://schemas.openxmlformats.org/drawingml/2006/main" noGrp="1"/>
          </p:cNvSpPr>
          <p:nvPr/>
        </p:nvSpPr>
        <p:spPr>
          <a:xfrm xmlns:a="http://schemas.openxmlformats.org/drawingml/2006/main">
            <a:off x="2114550" y="2952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D7BDA9"/>
                </a:solidFill>
                <a:latin typeface="Lato"/>
                <a:ea typeface="Lato"/>
                <a:cs typeface="Lato"/>
              </a:defRPr>
            </a:pPr>
            <a:r>
              <a:rPr sz="825" b="1">
                <a:solidFill>
                  <a:srgbClr val="D7BDA9"/>
                </a:solidFill>
                <a:latin typeface="Lato"/>
                <a:ea typeface="Lato"/>
                <a:cs typeface="Lato"/>
              </a:rPr>
              <a:t>BOTTOM LINE</a:t>
            </a:r>
          </a:p>
        </p:txBody>
      </p:sp>
      <p:sp>
        <p:nvSpPr>
          <p:cNvPr id="3" name="">
            <a:extLst xmlns:a="http://schemas.openxmlformats.org/drawingml/2006/main">
              <a:ext uri="{FF2B5EF4-FFF2-40B4-BE49-F238E27FC236}">
                <a16:creationId xmlns:a16="http://schemas.microsoft.com/office/drawing/2014/main" id="{EA8D4368-778E-47DB-81E7-43F43E792FC4}"/>
              </a:ext>
            </a:extLst>
          </p:cNvPr>
          <p:cNvSpPr>
            <a:spLocks xmlns:a="http://schemas.openxmlformats.org/drawingml/2006/main" noGrp="1"/>
          </p:cNvSpPr>
          <p:nvPr/>
        </p:nvSpPr>
        <p:spPr>
          <a:xfrm xmlns:a="http://schemas.openxmlformats.org/drawingml/2006/main">
            <a:off x="11201400" y="2762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FF6E9"/>
                </a:solidFill>
                <a:latin typeface="Lato"/>
                <a:ea typeface="Lato"/>
                <a:cs typeface="Lato"/>
              </a:defRPr>
            </a:pPr>
            <a:r>
              <a:rPr sz="975" b="1">
                <a:solidFill>
                  <a:srgbClr val="FFF6E9"/>
                </a:solidFill>
                <a:latin typeface="Lato"/>
                <a:ea typeface="Lato"/>
                <a:cs typeface="Lato"/>
              </a:rPr>
              <a:t>11</a:t>
            </a:r>
          </a:p>
        </p:txBody>
      </p:sp>
      <p:sp>
        <p:nvSpPr>
          <p:cNvPr id="4" name="">
            <a:extLst xmlns:a="http://schemas.openxmlformats.org/drawingml/2006/main">
              <a:ext uri="{FF2B5EF4-FFF2-40B4-BE49-F238E27FC236}">
                <a16:creationId xmlns:a16="http://schemas.microsoft.com/office/drawing/2014/main" id="{0C31A397-6EF0-462A-8B14-4F83E7A1115E}"/>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EA9A5258-3554-4935-ACEE-81A8EDD8F837}"/>
              </a:ext>
            </a:extLst>
          </p:cNvPr>
          <p:cNvSpPr>
            <a:spLocks xmlns:a="http://schemas.openxmlformats.org/drawingml/2006/main" noGrp="1"/>
          </p:cNvSpPr>
          <p:nvPr/>
        </p:nvSpPr>
        <p:spPr>
          <a:xfrm xmlns:a="http://schemas.openxmlformats.org/drawingml/2006/main">
            <a:off x="647700" y="1181100"/>
            <a:ext cx="7239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551"/>
          </a:bodyPr>
          <a:lstStyle xmlns:a="http://schemas.openxmlformats.org/drawingml/2006/main"/>
          <a:p xmlns:a="http://schemas.openxmlformats.org/drawingml/2006/main">
            <a:pPr>
              <a:defRPr sz="3900" b="1">
                <a:solidFill>
                  <a:srgbClr val="FFF6E9"/>
                </a:solidFill>
                <a:latin typeface="Lato"/>
                <a:ea typeface="Lato"/>
                <a:cs typeface="Lato"/>
              </a:defRPr>
            </a:pPr>
            <a:r>
              <a:rPr sz="3900" b="1">
                <a:solidFill>
                  <a:srgbClr val="FFF6E9"/>
                </a:solidFill>
                <a:latin typeface="Lato"/>
                <a:ea typeface="Lato"/>
                <a:cs typeface="Lato"/>
              </a:rPr>
              <a:t>We can defend the problem</a:t>
            </a:r>
          </a:p>
          <a:p xmlns:a="http://schemas.openxmlformats.org/drawingml/2006/main">
            <a:pPr>
              <a:defRPr sz="3900" b="1">
                <a:solidFill>
                  <a:srgbClr val="FFF6E9"/>
                </a:solidFill>
                <a:latin typeface="Lato"/>
                <a:ea typeface="Lato"/>
                <a:cs typeface="Lato"/>
              </a:defRPr>
            </a:pPr>
            <a:r>
              <a:rPr sz="3900" b="1">
                <a:solidFill>
                  <a:srgbClr val="FFF6E9"/>
                </a:solidFill>
                <a:latin typeface="Lato"/>
                <a:ea typeface="Lato"/>
                <a:cs typeface="Lato"/>
              </a:rPr>
              <a:t>and the product thesis.</a:t>
            </a:r>
          </a:p>
        </p:txBody>
      </p:sp>
      <p:sp>
        <p:nvSpPr>
          <p:cNvPr id="6" name="">
            <a:extLst xmlns:a="http://schemas.openxmlformats.org/drawingml/2006/main">
              <a:ext uri="{FF2B5EF4-FFF2-40B4-BE49-F238E27FC236}">
                <a16:creationId xmlns:a16="http://schemas.microsoft.com/office/drawing/2014/main" id="{69787AF4-781A-42C6-9454-5BA7EBA13600}"/>
              </a:ext>
            </a:extLst>
          </p:cNvPr>
          <p:cNvSpPr>
            <a:spLocks xmlns:a="http://schemas.openxmlformats.org/drawingml/2006/main" noGrp="1"/>
          </p:cNvSpPr>
          <p:nvPr/>
        </p:nvSpPr>
        <p:spPr>
          <a:xfrm xmlns:a="http://schemas.openxmlformats.org/drawingml/2006/main">
            <a:off x="685800" y="2619375"/>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FD5A3"/>
                </a:solidFill>
                <a:latin typeface="Lato"/>
                <a:ea typeface="Lato"/>
                <a:cs typeface="Lato"/>
              </a:defRPr>
            </a:pPr>
            <a:r>
              <a:rPr sz="2250" b="1">
                <a:solidFill>
                  <a:srgbClr val="FFD5A3"/>
                </a:solidFill>
                <a:latin typeface="Lato"/>
                <a:ea typeface="Lato"/>
                <a:cs typeface="Lato"/>
              </a:rPr>
              <a:t>We cannot yet claim product–market fit.</a:t>
            </a:r>
          </a:p>
        </p:txBody>
      </p:sp>
      <p:sp>
        <p:nvSpPr>
          <p:cNvPr id="7" name="">
            <a:extLst xmlns:a="http://schemas.openxmlformats.org/drawingml/2006/main">
              <a:ext uri="{FF2B5EF4-FFF2-40B4-BE49-F238E27FC236}">
                <a16:creationId xmlns:a16="http://schemas.microsoft.com/office/drawing/2014/main" id="{D1469A79-5D98-4082-A597-4A150D739A81}"/>
              </a:ext>
            </a:extLst>
          </p:cNvPr>
          <p:cNvSpPr>
            <a:spLocks xmlns:a="http://schemas.openxmlformats.org/drawingml/2006/main" noGrp="1"/>
          </p:cNvSpPr>
          <p:nvPr/>
        </p:nvSpPr>
        <p:spPr>
          <a:xfrm xmlns:a="http://schemas.openxmlformats.org/drawingml/2006/main">
            <a:off x="647700" y="3638550"/>
            <a:ext cx="3333750" cy="1562100"/>
          </a:xfrm>
          <a:prstGeom xmlns:a="http://schemas.openxmlformats.org/drawingml/2006/main" prst="roundRect">
            <a:avLst>
              <a:gd name="adj" fmla="val 9756"/>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F1A165C2-C9C2-41B7-9FA8-5261C4A94485}"/>
              </a:ext>
            </a:extLst>
          </p:cNvPr>
          <p:cNvSpPr>
            <a:spLocks xmlns:a="http://schemas.openxmlformats.org/drawingml/2006/main" noGrp="1"/>
          </p:cNvSpPr>
          <p:nvPr/>
        </p:nvSpPr>
        <p:spPr>
          <a:xfrm xmlns:a="http://schemas.openxmlformats.org/drawingml/2006/main">
            <a:off x="952500" y="3943350"/>
            <a:ext cx="1143000" cy="24765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FFFFFF"/>
                </a:solidFill>
                <a:latin typeface="Lato"/>
                <a:ea typeface="Lato"/>
                <a:cs typeface="Lato"/>
              </a:defRPr>
            </a:pPr>
            <a:r>
              <a:rPr sz="900" b="1">
                <a:solidFill>
                  <a:srgbClr val="FFFFFF"/>
                </a:solidFill>
                <a:latin typeface="Lato"/>
                <a:ea typeface="Lato"/>
                <a:cs typeface="Lato"/>
              </a:rPr>
              <a:t>REAL PROBLEM?</a:t>
            </a:r>
          </a:p>
        </p:txBody>
      </p:sp>
      <p:sp>
        <p:nvSpPr>
          <p:cNvPr id="9" name="">
            <a:extLst xmlns:a="http://schemas.openxmlformats.org/drawingml/2006/main">
              <a:ext uri="{FF2B5EF4-FFF2-40B4-BE49-F238E27FC236}">
                <a16:creationId xmlns:a16="http://schemas.microsoft.com/office/drawing/2014/main" id="{9C77E4E5-38D8-44F6-9A00-450BF2947BBE}"/>
              </a:ext>
            </a:extLst>
          </p:cNvPr>
          <p:cNvSpPr>
            <a:spLocks xmlns:a="http://schemas.openxmlformats.org/drawingml/2006/main" noGrp="1"/>
          </p:cNvSpPr>
          <p:nvPr/>
        </p:nvSpPr>
        <p:spPr>
          <a:xfrm xmlns:a="http://schemas.openxmlformats.org/drawingml/2006/main">
            <a:off x="952500" y="4381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defRPr sz="2175" b="1">
                <a:solidFill>
                  <a:srgbClr val="FFF6E9"/>
                </a:solidFill>
                <a:latin typeface="Lato"/>
                <a:ea typeface="Lato"/>
                <a:cs typeface="Lato"/>
              </a:defRPr>
            </a:pPr>
            <a:r>
              <a:rPr sz="2175" b="1">
                <a:solidFill>
                  <a:srgbClr val="FFF6E9"/>
                </a:solidFill>
                <a:latin typeface="Lato"/>
                <a:ea typeface="Lato"/>
                <a:cs typeface="Lato"/>
              </a:rPr>
              <a:t>Credible</a:t>
            </a:r>
          </a:p>
        </p:txBody>
      </p:sp>
      <p:sp>
        <p:nvSpPr>
          <p:cNvPr id="10" name="">
            <a:extLst xmlns:a="http://schemas.openxmlformats.org/drawingml/2006/main">
              <a:ext uri="{FF2B5EF4-FFF2-40B4-BE49-F238E27FC236}">
                <a16:creationId xmlns:a16="http://schemas.microsoft.com/office/drawing/2014/main" id="{DDFD51DF-A92B-4EE0-8458-A14B5410B37D}"/>
              </a:ext>
            </a:extLst>
          </p:cNvPr>
          <p:cNvSpPr>
            <a:spLocks xmlns:a="http://schemas.openxmlformats.org/drawingml/2006/main" noGrp="1"/>
          </p:cNvSpPr>
          <p:nvPr/>
        </p:nvSpPr>
        <p:spPr>
          <a:xfrm xmlns:a="http://schemas.openxmlformats.org/drawingml/2006/main">
            <a:off x="952500" y="47815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150"/>
          </a:bodyPr>
          <a:lstStyle xmlns:a="http://schemas.openxmlformats.org/drawingml/2006/main"/>
          <a:p xmlns:a="http://schemas.openxmlformats.org/drawingml/2006/main">
            <a:pPr>
              <a:defRPr sz="1125">
                <a:solidFill>
                  <a:srgbClr val="D8BBA4"/>
                </a:solidFill>
                <a:latin typeface="Lato"/>
                <a:ea typeface="Lato"/>
                <a:cs typeface="Lato"/>
              </a:defRPr>
            </a:pPr>
            <a:r>
              <a:rPr sz="1125">
                <a:solidFill>
                  <a:srgbClr val="D8BBA4"/>
                </a:solidFill>
                <a:latin typeface="Lato"/>
                <a:ea typeface="Lato"/>
                <a:cs typeface="Lato"/>
              </a:rPr>
              <a:t>External research and local context converge.</a:t>
            </a:r>
          </a:p>
        </p:txBody>
      </p:sp>
      <p:sp>
        <p:nvSpPr>
          <p:cNvPr id="11" name="">
            <a:extLst xmlns:a="http://schemas.openxmlformats.org/drawingml/2006/main">
              <a:ext uri="{FF2B5EF4-FFF2-40B4-BE49-F238E27FC236}">
                <a16:creationId xmlns:a16="http://schemas.microsoft.com/office/drawing/2014/main" id="{DF12ED7D-B057-4704-B484-4F8F07414A34}"/>
              </a:ext>
            </a:extLst>
          </p:cNvPr>
          <p:cNvSpPr>
            <a:spLocks xmlns:a="http://schemas.openxmlformats.org/drawingml/2006/main" noGrp="1"/>
          </p:cNvSpPr>
          <p:nvPr/>
        </p:nvSpPr>
        <p:spPr>
          <a:xfrm xmlns:a="http://schemas.openxmlformats.org/drawingml/2006/main">
            <a:off x="4419600" y="3638550"/>
            <a:ext cx="3333750" cy="1562100"/>
          </a:xfrm>
          <a:prstGeom xmlns:a="http://schemas.openxmlformats.org/drawingml/2006/main" prst="roundRect">
            <a:avLst>
              <a:gd name="adj" fmla="val 9756"/>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2CFABB99-DF63-453F-B34F-CD5B1ED17535}"/>
              </a:ext>
            </a:extLst>
          </p:cNvPr>
          <p:cNvSpPr>
            <a:spLocks xmlns:a="http://schemas.openxmlformats.org/drawingml/2006/main" noGrp="1"/>
          </p:cNvSpPr>
          <p:nvPr/>
        </p:nvSpPr>
        <p:spPr>
          <a:xfrm xmlns:a="http://schemas.openxmlformats.org/drawingml/2006/main">
            <a:off x="4724400" y="3943350"/>
            <a:ext cx="952500" cy="247650"/>
          </a:xfrm>
          <a:prstGeom xmlns:a="http://schemas.openxmlformats.org/drawingml/2006/main" prst="roundRect">
            <a:avLst>
              <a:gd name="adj" fmla="val 50000"/>
            </a:avLst>
          </a:prstGeom>
          <a:solidFill xmlns:a="http://schemas.openxmlformats.org/drawingml/2006/main">
            <a:srgbClr val="C64A39"/>
          </a:solidFill>
          <a:ln xmlns:a="http://schemas.openxmlformats.org/drawingml/2006/main" w="0">
            <a:solidFill>
              <a:srgbClr val="C64A39"/>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FFFFFF"/>
                </a:solidFill>
                <a:latin typeface="Lato"/>
                <a:ea typeface="Lato"/>
                <a:cs typeface="Lato"/>
              </a:defRPr>
            </a:pPr>
            <a:r>
              <a:rPr sz="900" b="1">
                <a:solidFill>
                  <a:srgbClr val="FFFFFF"/>
                </a:solidFill>
                <a:latin typeface="Lato"/>
                <a:ea typeface="Lato"/>
                <a:cs typeface="Lato"/>
              </a:rPr>
              <a:t>BATAA FIT?</a:t>
            </a:r>
          </a:p>
        </p:txBody>
      </p:sp>
      <p:sp>
        <p:nvSpPr>
          <p:cNvPr id="13" name="">
            <a:extLst xmlns:a="http://schemas.openxmlformats.org/drawingml/2006/main">
              <a:ext uri="{FF2B5EF4-FFF2-40B4-BE49-F238E27FC236}">
                <a16:creationId xmlns:a16="http://schemas.microsoft.com/office/drawing/2014/main" id="{29EBD0BE-94DC-448B-9D68-7B0D41CEE041}"/>
              </a:ext>
            </a:extLst>
          </p:cNvPr>
          <p:cNvSpPr>
            <a:spLocks xmlns:a="http://schemas.openxmlformats.org/drawingml/2006/main" noGrp="1"/>
          </p:cNvSpPr>
          <p:nvPr/>
        </p:nvSpPr>
        <p:spPr>
          <a:xfrm xmlns:a="http://schemas.openxmlformats.org/drawingml/2006/main">
            <a:off x="4724400" y="4381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defRPr sz="2175" b="1">
                <a:solidFill>
                  <a:srgbClr val="FFF6E9"/>
                </a:solidFill>
                <a:latin typeface="Lato"/>
                <a:ea typeface="Lato"/>
                <a:cs typeface="Lato"/>
              </a:defRPr>
            </a:pPr>
            <a:r>
              <a:rPr sz="2175" b="1">
                <a:solidFill>
                  <a:srgbClr val="FFF6E9"/>
                </a:solidFill>
                <a:latin typeface="Lato"/>
                <a:ea typeface="Lato"/>
                <a:cs typeface="Lato"/>
              </a:rPr>
              <a:t>Unproven</a:t>
            </a:r>
          </a:p>
        </p:txBody>
      </p:sp>
      <p:sp>
        <p:nvSpPr>
          <p:cNvPr id="14" name="">
            <a:extLst xmlns:a="http://schemas.openxmlformats.org/drawingml/2006/main">
              <a:ext uri="{FF2B5EF4-FFF2-40B4-BE49-F238E27FC236}">
                <a16:creationId xmlns:a16="http://schemas.microsoft.com/office/drawing/2014/main" id="{008313A5-6B1B-47E3-892D-A17A9B01B424}"/>
              </a:ext>
            </a:extLst>
          </p:cNvPr>
          <p:cNvSpPr>
            <a:spLocks xmlns:a="http://schemas.openxmlformats.org/drawingml/2006/main" noGrp="1"/>
          </p:cNvSpPr>
          <p:nvPr/>
        </p:nvSpPr>
        <p:spPr>
          <a:xfrm xmlns:a="http://schemas.openxmlformats.org/drawingml/2006/main">
            <a:off x="4724400" y="47815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03"/>
          </a:bodyPr>
          <a:lstStyle xmlns:a="http://schemas.openxmlformats.org/drawingml/2006/main"/>
          <a:p xmlns:a="http://schemas.openxmlformats.org/drawingml/2006/main">
            <a:pPr>
              <a:defRPr sz="1125">
                <a:solidFill>
                  <a:srgbClr val="D8BBA4"/>
                </a:solidFill>
                <a:latin typeface="Lato"/>
                <a:ea typeface="Lato"/>
                <a:cs typeface="Lato"/>
              </a:defRPr>
            </a:pPr>
            <a:r>
              <a:rPr sz="1125">
                <a:solidFill>
                  <a:srgbClr val="D8BBA4"/>
                </a:solidFill>
                <a:latin typeface="Lato"/>
                <a:ea typeface="Lato"/>
                <a:cs typeface="Lato"/>
              </a:rPr>
              <a:t>No measured cohort or payment signal yet.</a:t>
            </a:r>
          </a:p>
        </p:txBody>
      </p:sp>
      <p:sp>
        <p:nvSpPr>
          <p:cNvPr id="15" name="">
            <a:extLst xmlns:a="http://schemas.openxmlformats.org/drawingml/2006/main">
              <a:ext uri="{FF2B5EF4-FFF2-40B4-BE49-F238E27FC236}">
                <a16:creationId xmlns:a16="http://schemas.microsoft.com/office/drawing/2014/main" id="{4E68C3B4-8D72-41FB-8500-ED5CA49802E8}"/>
              </a:ext>
            </a:extLst>
          </p:cNvPr>
          <p:cNvSpPr>
            <a:spLocks xmlns:a="http://schemas.openxmlformats.org/drawingml/2006/main" noGrp="1"/>
          </p:cNvSpPr>
          <p:nvPr/>
        </p:nvSpPr>
        <p:spPr>
          <a:xfrm xmlns:a="http://schemas.openxmlformats.org/drawingml/2006/main">
            <a:off x="8191500" y="3638550"/>
            <a:ext cx="3238500" cy="1562100"/>
          </a:xfrm>
          <a:prstGeom xmlns:a="http://schemas.openxmlformats.org/drawingml/2006/main" prst="roundRect">
            <a:avLst>
              <a:gd name="adj" fmla="val 9756"/>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C21F142D-4494-47E5-AA04-CFBA9AC14EEC}"/>
              </a:ext>
            </a:extLst>
          </p:cNvPr>
          <p:cNvSpPr>
            <a:spLocks xmlns:a="http://schemas.openxmlformats.org/drawingml/2006/main" noGrp="1"/>
          </p:cNvSpPr>
          <p:nvPr/>
        </p:nvSpPr>
        <p:spPr>
          <a:xfrm xmlns:a="http://schemas.openxmlformats.org/drawingml/2006/main">
            <a:off x="8496300" y="3943350"/>
            <a:ext cx="1200150" cy="247650"/>
          </a:xfrm>
          <a:prstGeom xmlns:a="http://schemas.openxmlformats.org/drawingml/2006/main" prst="roundRect">
            <a:avLst>
              <a:gd name="adj" fmla="val 50000"/>
            </a:avLst>
          </a:prstGeom>
          <a:solidFill xmlns:a="http://schemas.openxmlformats.org/drawingml/2006/main">
            <a:srgbClr val="2D180B"/>
          </a:solidFill>
          <a:ln xmlns:a="http://schemas.openxmlformats.org/drawingml/2006/main" w="0">
            <a:solidFill>
              <a:srgbClr val="2D180B"/>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defRPr sz="900" b="1">
                <a:solidFill>
                  <a:srgbClr val="FFF6E9"/>
                </a:solidFill>
                <a:latin typeface="Lato"/>
                <a:ea typeface="Lato"/>
                <a:cs typeface="Lato"/>
              </a:defRPr>
            </a:pPr>
            <a:r>
              <a:rPr sz="900" b="1">
                <a:solidFill>
                  <a:srgbClr val="FFF6E9"/>
                </a:solidFill>
                <a:latin typeface="Lato"/>
                <a:ea typeface="Lato"/>
                <a:cs typeface="Lato"/>
              </a:rPr>
              <a:t>NEXT DECISION</a:t>
            </a:r>
          </a:p>
        </p:txBody>
      </p:sp>
      <p:sp>
        <p:nvSpPr>
          <p:cNvPr id="17" name="">
            <a:extLst xmlns:a="http://schemas.openxmlformats.org/drawingml/2006/main">
              <a:ext uri="{FF2B5EF4-FFF2-40B4-BE49-F238E27FC236}">
                <a16:creationId xmlns:a16="http://schemas.microsoft.com/office/drawing/2014/main" id="{63496287-9D17-4FFE-824B-B7A504F16DA2}"/>
              </a:ext>
            </a:extLst>
          </p:cNvPr>
          <p:cNvSpPr>
            <a:spLocks xmlns:a="http://schemas.openxmlformats.org/drawingml/2006/main" noGrp="1"/>
          </p:cNvSpPr>
          <p:nvPr/>
        </p:nvSpPr>
        <p:spPr>
          <a:xfrm xmlns:a="http://schemas.openxmlformats.org/drawingml/2006/main">
            <a:off x="8496300" y="43815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defRPr sz="2175" b="1">
                <a:solidFill>
                  <a:srgbClr val="2D180B"/>
                </a:solidFill>
                <a:latin typeface="Lato"/>
                <a:ea typeface="Lato"/>
                <a:cs typeface="Lato"/>
              </a:defRPr>
            </a:pPr>
            <a:r>
              <a:rPr sz="2175" b="1">
                <a:solidFill>
                  <a:srgbClr val="2D180B"/>
                </a:solidFill>
                <a:latin typeface="Lato"/>
                <a:ea typeface="Lato"/>
                <a:cs typeface="Lato"/>
              </a:rPr>
              <a:t>Run the pilot</a:t>
            </a:r>
          </a:p>
        </p:txBody>
      </p:sp>
      <p:sp>
        <p:nvSpPr>
          <p:cNvPr id="18" name="">
            <a:extLst xmlns:a="http://schemas.openxmlformats.org/drawingml/2006/main">
              <a:ext uri="{FF2B5EF4-FFF2-40B4-BE49-F238E27FC236}">
                <a16:creationId xmlns:a16="http://schemas.microsoft.com/office/drawing/2014/main" id="{692D66D6-984D-45DD-B17C-8FF0B0D8AA20}"/>
              </a:ext>
            </a:extLst>
          </p:cNvPr>
          <p:cNvSpPr>
            <a:spLocks xmlns:a="http://schemas.openxmlformats.org/drawingml/2006/main" noGrp="1"/>
          </p:cNvSpPr>
          <p:nvPr/>
        </p:nvSpPr>
        <p:spPr>
          <a:xfrm xmlns:a="http://schemas.openxmlformats.org/drawingml/2006/main">
            <a:off x="8496300" y="4781550"/>
            <a:ext cx="2428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03"/>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Measure behavior before scaling claims.</a:t>
            </a:r>
          </a:p>
        </p:txBody>
      </p:sp>
      <p:sp>
        <p:nvSpPr>
          <p:cNvPr id="19" name="">
            <a:extLst xmlns:a="http://schemas.openxmlformats.org/drawingml/2006/main">
              <a:ext uri="{FF2B5EF4-FFF2-40B4-BE49-F238E27FC236}">
                <a16:creationId xmlns:a16="http://schemas.microsoft.com/office/drawing/2014/main" id="{D3457872-D53F-4049-9AEA-056EC3655BE3}"/>
              </a:ext>
            </a:extLst>
          </p:cNvPr>
          <p:cNvSpPr>
            <a:spLocks xmlns:a="http://schemas.openxmlformats.org/drawingml/2006/main" noGrp="1"/>
          </p:cNvSpPr>
          <p:nvPr/>
        </p:nvSpPr>
        <p:spPr>
          <a:xfrm xmlns:a="http://schemas.openxmlformats.org/drawingml/2006/main">
            <a:off x="609600" y="6505575"/>
            <a:ext cx="1047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788">
                <a:solidFill>
                  <a:srgbClr val="C9A98C"/>
                </a:solidFill>
                <a:latin typeface="Lato"/>
                <a:ea typeface="Lato"/>
                <a:cs typeface="Lato"/>
              </a:defRPr>
            </a:pPr>
            <a:r>
              <a:rPr sz="788">
                <a:solidFill>
                  <a:srgbClr val="C9A98C"/>
                </a:solidFill>
                <a:latin typeface="Lato"/>
                <a:ea typeface="Lato"/>
                <a:cs typeface="Lato"/>
              </a:rPr>
              <a:t>Recommended public wording · evidence appendix</a:t>
            </a:r>
          </a:p>
        </p:txBody>
      </p:sp>
    </p:spTree>
    <p:extLst>
      <p:ext uri="{BB962C8B-B14F-4D97-AF65-F5344CB8AC3E}">
        <p14:creationId xmlns:p14="http://schemas.microsoft.com/office/powerpoint/2010/main" val="546867600"/>
      </p:ext>
    </p:extLst>
  </p:cSld>
</p:sld>
</file>

<file path=ppt/slides/slide12.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902F301-F133-4012-B33A-BA7CB847933D}"/>
              </a:ext>
            </a:extLst>
          </p:cNvPr>
          <p:cNvSpPr>
            <a:spLocks xmlns:a="http://schemas.openxmlformats.org/drawingml/2006/main" noGrp="1"/>
          </p:cNvSpPr>
          <p:nvPr/>
        </p:nvSpPr>
        <p:spPr>
          <a:xfrm xmlns:a="http://schemas.openxmlformats.org/drawingml/2006/main">
            <a:off x="609600" y="2476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A4622410-15F9-4E6B-971C-5B3773836CFE}"/>
              </a:ext>
            </a:extLst>
          </p:cNvPr>
          <p:cNvSpPr>
            <a:spLocks xmlns:a="http://schemas.openxmlformats.org/drawingml/2006/main" noGrp="1"/>
          </p:cNvSpPr>
          <p:nvPr/>
        </p:nvSpPr>
        <p:spPr>
          <a:xfrm xmlns:a="http://schemas.openxmlformats.org/drawingml/2006/main">
            <a:off x="2114550" y="2952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895F3C"/>
                </a:solidFill>
                <a:latin typeface="Lato"/>
                <a:ea typeface="Lato"/>
                <a:cs typeface="Lato"/>
              </a:defRPr>
            </a:pPr>
            <a:r>
              <a:rPr sz="825" b="1">
                <a:solidFill>
                  <a:srgbClr val="895F3C"/>
                </a:solidFill>
                <a:latin typeface="Lato"/>
                <a:ea typeface="Lato"/>
                <a:cs typeface="Lato"/>
              </a:rPr>
              <a:t>SOURCES AND LIMITATIONS</a:t>
            </a:r>
          </a:p>
        </p:txBody>
      </p:sp>
      <p:sp>
        <p:nvSpPr>
          <p:cNvPr id="3" name="">
            <a:extLst xmlns:a="http://schemas.openxmlformats.org/drawingml/2006/main">
              <a:ext uri="{FF2B5EF4-FFF2-40B4-BE49-F238E27FC236}">
                <a16:creationId xmlns:a16="http://schemas.microsoft.com/office/drawing/2014/main" id="{64F275CD-C63E-4756-9FAA-C300DB30638C}"/>
              </a:ext>
            </a:extLst>
          </p:cNvPr>
          <p:cNvSpPr>
            <a:spLocks xmlns:a="http://schemas.openxmlformats.org/drawingml/2006/main" noGrp="1"/>
          </p:cNvSpPr>
          <p:nvPr/>
        </p:nvSpPr>
        <p:spPr>
          <a:xfrm xmlns:a="http://schemas.openxmlformats.org/drawingml/2006/main">
            <a:off x="11201400" y="2762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2D180B"/>
                </a:solidFill>
                <a:latin typeface="Lato"/>
                <a:ea typeface="Lato"/>
                <a:cs typeface="Lato"/>
              </a:defRPr>
            </a:pPr>
            <a:r>
              <a:rPr sz="975" b="1">
                <a:solidFill>
                  <a:srgbClr val="2D180B"/>
                </a:solidFill>
                <a:latin typeface="Lato"/>
                <a:ea typeface="Lato"/>
                <a:cs typeface="Lato"/>
              </a:rPr>
              <a:t>12</a:t>
            </a:r>
          </a:p>
        </p:txBody>
      </p:sp>
      <p:sp>
        <p:nvSpPr>
          <p:cNvPr id="4" name="">
            <a:extLst xmlns:a="http://schemas.openxmlformats.org/drawingml/2006/main">
              <a:ext uri="{FF2B5EF4-FFF2-40B4-BE49-F238E27FC236}">
                <a16:creationId xmlns:a16="http://schemas.microsoft.com/office/drawing/2014/main" id="{89A40E41-4E6D-4843-964A-482A742B1B98}"/>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E7C9A7"/>
            </a:solidFill>
            <a:prstDash val="solid"/>
          </a:ln>
        </p:spPr>
      </p:sp>
      <p:sp>
        <p:nvSpPr>
          <p:cNvPr id="5" name="">
            <a:extLst xmlns:a="http://schemas.openxmlformats.org/drawingml/2006/main">
              <a:ext uri="{FF2B5EF4-FFF2-40B4-BE49-F238E27FC236}">
                <a16:creationId xmlns:a16="http://schemas.microsoft.com/office/drawing/2014/main" id="{BD217357-DA22-477F-AD3F-B7D9BABA5B6E}"/>
              </a:ext>
            </a:extLst>
          </p:cNvPr>
          <p:cNvSpPr>
            <a:spLocks xmlns:a="http://schemas.openxmlformats.org/drawingml/2006/main" noGrp="1"/>
          </p:cNvSpPr>
          <p:nvPr/>
        </p:nvSpPr>
        <p:spPr>
          <a:xfrm xmlns:a="http://schemas.openxmlformats.org/drawingml/2006/main">
            <a:off x="609600" y="971550"/>
            <a:ext cx="981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300" b="1">
                <a:solidFill>
                  <a:srgbClr val="2D180B"/>
                </a:solidFill>
                <a:latin typeface="Lato"/>
                <a:ea typeface="Lato"/>
                <a:cs typeface="Lato"/>
              </a:defRPr>
            </a:pPr>
            <a:r>
              <a:rPr sz="3300" b="1">
                <a:solidFill>
                  <a:srgbClr val="2D180B"/>
                </a:solidFill>
                <a:latin typeface="Lato"/>
                <a:ea typeface="Lato"/>
                <a:cs typeface="Lato"/>
              </a:rPr>
              <a:t>Sources used in this appendix</a:t>
            </a:r>
          </a:p>
        </p:txBody>
      </p:sp>
      <p:sp>
        <p:nvSpPr>
          <p:cNvPr id="6" name="">
            <a:extLst xmlns:a="http://schemas.openxmlformats.org/drawingml/2006/main">
              <a:ext uri="{FF2B5EF4-FFF2-40B4-BE49-F238E27FC236}">
                <a16:creationId xmlns:a16="http://schemas.microsoft.com/office/drawing/2014/main" id="{9854F4B4-2344-417D-9426-84F7CA24A748}"/>
              </a:ext>
            </a:extLst>
          </p:cNvPr>
          <p:cNvSpPr>
            <a:spLocks xmlns:a="http://schemas.openxmlformats.org/drawingml/2006/main" noGrp="1"/>
          </p:cNvSpPr>
          <p:nvPr/>
        </p:nvSpPr>
        <p:spPr>
          <a:xfrm xmlns:a="http://schemas.openxmlformats.org/drawingml/2006/main">
            <a:off x="647700" y="1638300"/>
            <a:ext cx="923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895F3C"/>
                </a:solidFill>
                <a:latin typeface="Lato"/>
                <a:ea typeface="Lato"/>
                <a:cs typeface="Lato"/>
              </a:defRPr>
            </a:pPr>
            <a:r>
              <a:rPr sz="1425">
                <a:solidFill>
                  <a:srgbClr val="895F3C"/>
                </a:solidFill>
                <a:latin typeface="Lato"/>
                <a:ea typeface="Lato"/>
                <a:cs typeface="Lato"/>
              </a:rPr>
              <a:t>Primary links are preserved in speaker notes for each slide.</a:t>
            </a:r>
          </a:p>
        </p:txBody>
      </p:sp>
      <p:sp>
        <p:nvSpPr>
          <p:cNvPr id="7" name="">
            <a:extLst xmlns:a="http://schemas.openxmlformats.org/drawingml/2006/main">
              <a:ext uri="{FF2B5EF4-FFF2-40B4-BE49-F238E27FC236}">
                <a16:creationId xmlns:a16="http://schemas.microsoft.com/office/drawing/2014/main" id="{F86B7B84-A6D6-48A4-B48B-27DD1E6C55C2}"/>
              </a:ext>
            </a:extLst>
          </p:cNvPr>
          <p:cNvSpPr>
            <a:spLocks xmlns:a="http://schemas.openxmlformats.org/drawingml/2006/main" noGrp="1"/>
          </p:cNvSpPr>
          <p:nvPr/>
        </p:nvSpPr>
        <p:spPr>
          <a:xfrm xmlns:a="http://schemas.openxmlformats.org/drawingml/2006/main">
            <a:off x="647700" y="2038350"/>
            <a:ext cx="5334000" cy="3714750"/>
          </a:xfrm>
          <a:prstGeom xmlns:a="http://schemas.openxmlformats.org/drawingml/2006/main" prst="roundRect">
            <a:avLst>
              <a:gd name="adj" fmla="val 6154"/>
            </a:avLst>
          </a:prstGeom>
          <a:solidFill xmlns:a="http://schemas.openxmlformats.org/drawingml/2006/main">
            <a:srgbClr val="FFFDF8"/>
          </a:solidFill>
          <a:ln xmlns:a="http://schemas.openxmlformats.org/drawingml/2006/main" w="9525">
            <a:solidFill>
              <a:srgbClr val="E7C9A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E071A52E-9405-4005-86B2-58DFE30A09D5}"/>
              </a:ext>
            </a:extLst>
          </p:cNvPr>
          <p:cNvSpPr>
            <a:spLocks xmlns:a="http://schemas.openxmlformats.org/drawingml/2006/main" noGrp="1"/>
          </p:cNvSpPr>
          <p:nvPr/>
        </p:nvSpPr>
        <p:spPr>
          <a:xfrm xmlns:a="http://schemas.openxmlformats.org/drawingml/2006/main">
            <a:off x="6210300" y="2038350"/>
            <a:ext cx="5219700" cy="3714750"/>
          </a:xfrm>
          <a:prstGeom xmlns:a="http://schemas.openxmlformats.org/drawingml/2006/main" prst="roundRect">
            <a:avLst>
              <a:gd name="adj" fmla="val 6154"/>
            </a:avLst>
          </a:prstGeom>
          <a:solidFill xmlns:a="http://schemas.openxmlformats.org/drawingml/2006/main">
            <a:srgbClr val="FFFDF8"/>
          </a:solidFill>
          <a:ln xmlns:a="http://schemas.openxmlformats.org/drawingml/2006/main" w="9525">
            <a:solidFill>
              <a:srgbClr val="E7C9A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1C9A18B-C5F0-4ACE-BF27-E8EFD7E9EDF9}"/>
              </a:ext>
            </a:extLst>
          </p:cNvPr>
          <p:cNvSpPr>
            <a:spLocks xmlns:a="http://schemas.openxmlformats.org/drawingml/2006/main" noGrp="1"/>
          </p:cNvSpPr>
          <p:nvPr/>
        </p:nvSpPr>
        <p:spPr>
          <a:xfrm xmlns:a="http://schemas.openxmlformats.org/drawingml/2006/main">
            <a:off x="971550" y="23622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2D180B"/>
                </a:solidFill>
                <a:latin typeface="Lato"/>
                <a:ea typeface="Lato"/>
                <a:cs typeface="Lato"/>
              </a:defRPr>
            </a:pPr>
            <a:r>
              <a:rPr sz="1575" b="1">
                <a:solidFill>
                  <a:srgbClr val="2D180B"/>
                </a:solidFill>
                <a:latin typeface="Lato"/>
                <a:ea typeface="Lato"/>
                <a:cs typeface="Lato"/>
              </a:rPr>
              <a:t>Peer-reviewed / public research</a:t>
            </a:r>
          </a:p>
        </p:txBody>
      </p:sp>
      <p:sp>
        <p:nvSpPr>
          <p:cNvPr id="10" name="">
            <a:extLst xmlns:a="http://schemas.openxmlformats.org/drawingml/2006/main">
              <a:ext uri="{FF2B5EF4-FFF2-40B4-BE49-F238E27FC236}">
                <a16:creationId xmlns:a16="http://schemas.microsoft.com/office/drawing/2014/main" id="{EC1F26E8-765A-424A-B9FF-1A3C0012E38F}"/>
              </a:ext>
            </a:extLst>
          </p:cNvPr>
          <p:cNvSpPr>
            <a:spLocks xmlns:a="http://schemas.openxmlformats.org/drawingml/2006/main" noGrp="1"/>
          </p:cNvSpPr>
          <p:nvPr/>
        </p:nvSpPr>
        <p:spPr>
          <a:xfrm xmlns:a="http://schemas.openxmlformats.org/drawingml/2006/main">
            <a:off x="990600" y="2847975"/>
            <a:ext cx="209550" cy="20955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Lato"/>
                <a:ea typeface="Lato"/>
                <a:cs typeface="Lato"/>
              </a:defRPr>
            </a:pPr>
            <a:r>
              <a:rPr sz="750" b="1">
                <a:solidFill>
                  <a:srgbClr val="FFFFFF"/>
                </a:solidFill>
                <a:latin typeface="Lato"/>
                <a:ea typeface="Lato"/>
                <a:cs typeface="Lato"/>
              </a:rPr>
              <a:t>1</a:t>
            </a:r>
          </a:p>
        </p:txBody>
      </p:sp>
      <p:sp>
        <p:nvSpPr>
          <p:cNvPr id="11" name="">
            <a:extLst xmlns:a="http://schemas.openxmlformats.org/drawingml/2006/main">
              <a:ext uri="{FF2B5EF4-FFF2-40B4-BE49-F238E27FC236}">
                <a16:creationId xmlns:a16="http://schemas.microsoft.com/office/drawing/2014/main" id="{F9D66E27-113B-487C-B4C6-4882F0731A11}"/>
              </a:ext>
            </a:extLst>
          </p:cNvPr>
          <p:cNvSpPr>
            <a:spLocks xmlns:a="http://schemas.openxmlformats.org/drawingml/2006/main" noGrp="1"/>
          </p:cNvSpPr>
          <p:nvPr/>
        </p:nvSpPr>
        <p:spPr>
          <a:xfrm xmlns:a="http://schemas.openxmlformats.org/drawingml/2006/main">
            <a:off x="1352550" y="28384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Freeman et al. (2014), PNAS · active learning meta-analysis</a:t>
            </a:r>
          </a:p>
        </p:txBody>
      </p:sp>
      <p:sp>
        <p:nvSpPr>
          <p:cNvPr id="12" name="">
            <a:extLst xmlns:a="http://schemas.openxmlformats.org/drawingml/2006/main">
              <a:ext uri="{FF2B5EF4-FFF2-40B4-BE49-F238E27FC236}">
                <a16:creationId xmlns:a16="http://schemas.microsoft.com/office/drawing/2014/main" id="{5171350B-C2EE-47CF-87A2-A54760956265}"/>
              </a:ext>
            </a:extLst>
          </p:cNvPr>
          <p:cNvSpPr>
            <a:spLocks xmlns:a="http://schemas.openxmlformats.org/drawingml/2006/main" noGrp="1"/>
          </p:cNvSpPr>
          <p:nvPr/>
        </p:nvSpPr>
        <p:spPr>
          <a:xfrm xmlns:a="http://schemas.openxmlformats.org/drawingml/2006/main">
            <a:off x="990600" y="3324225"/>
            <a:ext cx="209550" cy="20955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Lato"/>
                <a:ea typeface="Lato"/>
                <a:cs typeface="Lato"/>
              </a:defRPr>
            </a:pPr>
            <a:r>
              <a:rPr sz="750" b="1">
                <a:solidFill>
                  <a:srgbClr val="FFFFFF"/>
                </a:solidFill>
                <a:latin typeface="Lato"/>
                <a:ea typeface="Lato"/>
                <a:cs typeface="Lato"/>
              </a:rPr>
              <a:t>2</a:t>
            </a:r>
          </a:p>
        </p:txBody>
      </p:sp>
      <p:sp>
        <p:nvSpPr>
          <p:cNvPr id="13" name="">
            <a:extLst xmlns:a="http://schemas.openxmlformats.org/drawingml/2006/main">
              <a:ext uri="{FF2B5EF4-FFF2-40B4-BE49-F238E27FC236}">
                <a16:creationId xmlns:a16="http://schemas.microsoft.com/office/drawing/2014/main" id="{5B6FB440-EEE3-4469-9791-6E90925939E4}"/>
              </a:ext>
            </a:extLst>
          </p:cNvPr>
          <p:cNvSpPr>
            <a:spLocks xmlns:a="http://schemas.openxmlformats.org/drawingml/2006/main" noGrp="1"/>
          </p:cNvSpPr>
          <p:nvPr/>
        </p:nvSpPr>
        <p:spPr>
          <a:xfrm xmlns:a="http://schemas.openxmlformats.org/drawingml/2006/main">
            <a:off x="1352550" y="331470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Deslauriers et al. (2019), PNAS · actual vs perceived learning</a:t>
            </a:r>
          </a:p>
        </p:txBody>
      </p:sp>
      <p:sp>
        <p:nvSpPr>
          <p:cNvPr id="14" name="">
            <a:extLst xmlns:a="http://schemas.openxmlformats.org/drawingml/2006/main">
              <a:ext uri="{FF2B5EF4-FFF2-40B4-BE49-F238E27FC236}">
                <a16:creationId xmlns:a16="http://schemas.microsoft.com/office/drawing/2014/main" id="{0FB068FA-6BC2-4154-866D-A664A8EB6A10}"/>
              </a:ext>
            </a:extLst>
          </p:cNvPr>
          <p:cNvSpPr>
            <a:spLocks xmlns:a="http://schemas.openxmlformats.org/drawingml/2006/main" noGrp="1"/>
          </p:cNvSpPr>
          <p:nvPr/>
        </p:nvSpPr>
        <p:spPr>
          <a:xfrm xmlns:a="http://schemas.openxmlformats.org/drawingml/2006/main">
            <a:off x="990600" y="3800475"/>
            <a:ext cx="209550" cy="20955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Lato"/>
                <a:ea typeface="Lato"/>
                <a:cs typeface="Lato"/>
              </a:defRPr>
            </a:pPr>
            <a:r>
              <a:rPr sz="750" b="1">
                <a:solidFill>
                  <a:srgbClr val="FFFFFF"/>
                </a:solidFill>
                <a:latin typeface="Lato"/>
                <a:ea typeface="Lato"/>
                <a:cs typeface="Lato"/>
              </a:rPr>
              <a:t>3</a:t>
            </a:r>
          </a:p>
        </p:txBody>
      </p:sp>
      <p:sp>
        <p:nvSpPr>
          <p:cNvPr id="15" name="">
            <a:extLst xmlns:a="http://schemas.openxmlformats.org/drawingml/2006/main">
              <a:ext uri="{FF2B5EF4-FFF2-40B4-BE49-F238E27FC236}">
                <a16:creationId xmlns:a16="http://schemas.microsoft.com/office/drawing/2014/main" id="{E0D4CFC7-B11E-4ED3-8FBE-6B9A336FA6E5}"/>
              </a:ext>
            </a:extLst>
          </p:cNvPr>
          <p:cNvSpPr>
            <a:spLocks xmlns:a="http://schemas.openxmlformats.org/drawingml/2006/main" noGrp="1"/>
          </p:cNvSpPr>
          <p:nvPr/>
        </p:nvSpPr>
        <p:spPr>
          <a:xfrm xmlns:a="http://schemas.openxmlformats.org/drawingml/2006/main">
            <a:off x="1352550" y="37909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Wisniewski et al. (2020), Frontiers · feedback meta-analysis</a:t>
            </a:r>
          </a:p>
        </p:txBody>
      </p:sp>
      <p:sp>
        <p:nvSpPr>
          <p:cNvPr id="16" name="">
            <a:extLst xmlns:a="http://schemas.openxmlformats.org/drawingml/2006/main">
              <a:ext uri="{FF2B5EF4-FFF2-40B4-BE49-F238E27FC236}">
                <a16:creationId xmlns:a16="http://schemas.microsoft.com/office/drawing/2014/main" id="{BD96C2F1-329E-4912-A248-905BD0600C5C}"/>
              </a:ext>
            </a:extLst>
          </p:cNvPr>
          <p:cNvSpPr>
            <a:spLocks xmlns:a="http://schemas.openxmlformats.org/drawingml/2006/main" noGrp="1"/>
          </p:cNvSpPr>
          <p:nvPr/>
        </p:nvSpPr>
        <p:spPr>
          <a:xfrm xmlns:a="http://schemas.openxmlformats.org/drawingml/2006/main">
            <a:off x="990600" y="4276725"/>
            <a:ext cx="209550" cy="2095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Lato"/>
                <a:ea typeface="Lato"/>
                <a:cs typeface="Lato"/>
              </a:defRPr>
            </a:pPr>
            <a:r>
              <a:rPr sz="750" b="1">
                <a:solidFill>
                  <a:srgbClr val="FFFFFF"/>
                </a:solidFill>
                <a:latin typeface="Lato"/>
                <a:ea typeface="Lato"/>
                <a:cs typeface="Lato"/>
              </a:rPr>
              <a:t>4</a:t>
            </a:r>
          </a:p>
        </p:txBody>
      </p:sp>
      <p:sp>
        <p:nvSpPr>
          <p:cNvPr id="17" name="">
            <a:extLst xmlns:a="http://schemas.openxmlformats.org/drawingml/2006/main">
              <a:ext uri="{FF2B5EF4-FFF2-40B4-BE49-F238E27FC236}">
                <a16:creationId xmlns:a16="http://schemas.microsoft.com/office/drawing/2014/main" id="{EDB87B65-862E-425D-9D3A-22FE84A3C956}"/>
              </a:ext>
            </a:extLst>
          </p:cNvPr>
          <p:cNvSpPr>
            <a:spLocks xmlns:a="http://schemas.openxmlformats.org/drawingml/2006/main" noGrp="1"/>
          </p:cNvSpPr>
          <p:nvPr/>
        </p:nvSpPr>
        <p:spPr>
          <a:xfrm xmlns:a="http://schemas.openxmlformats.org/drawingml/2006/main">
            <a:off x="1352550" y="426720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Mortagy et al. (2022), BMC Medical Education · Egypt survey</a:t>
            </a:r>
          </a:p>
        </p:txBody>
      </p:sp>
      <p:sp>
        <p:nvSpPr>
          <p:cNvPr id="18" name="">
            <a:extLst xmlns:a="http://schemas.openxmlformats.org/drawingml/2006/main">
              <a:ext uri="{FF2B5EF4-FFF2-40B4-BE49-F238E27FC236}">
                <a16:creationId xmlns:a16="http://schemas.microsoft.com/office/drawing/2014/main" id="{D12FE568-3E42-43B3-80A8-7B781DB31D90}"/>
              </a:ext>
            </a:extLst>
          </p:cNvPr>
          <p:cNvSpPr>
            <a:spLocks xmlns:a="http://schemas.openxmlformats.org/drawingml/2006/main" noGrp="1"/>
          </p:cNvSpPr>
          <p:nvPr/>
        </p:nvSpPr>
        <p:spPr>
          <a:xfrm xmlns:a="http://schemas.openxmlformats.org/drawingml/2006/main">
            <a:off x="990600" y="4752975"/>
            <a:ext cx="209550" cy="20955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Lato"/>
                <a:ea typeface="Lato"/>
                <a:cs typeface="Lato"/>
              </a:defRPr>
            </a:pPr>
            <a:r>
              <a:rPr sz="750" b="1">
                <a:solidFill>
                  <a:srgbClr val="FFFFFF"/>
                </a:solidFill>
                <a:latin typeface="Lato"/>
                <a:ea typeface="Lato"/>
                <a:cs typeface="Lato"/>
              </a:rPr>
              <a:t>5</a:t>
            </a:r>
          </a:p>
        </p:txBody>
      </p:sp>
      <p:sp>
        <p:nvSpPr>
          <p:cNvPr id="19" name="">
            <a:extLst xmlns:a="http://schemas.openxmlformats.org/drawingml/2006/main">
              <a:ext uri="{FF2B5EF4-FFF2-40B4-BE49-F238E27FC236}">
                <a16:creationId xmlns:a16="http://schemas.microsoft.com/office/drawing/2014/main" id="{90D4CA04-A7FC-474B-B2AC-5A47A6CE224E}"/>
              </a:ext>
            </a:extLst>
          </p:cNvPr>
          <p:cNvSpPr>
            <a:spLocks xmlns:a="http://schemas.openxmlformats.org/drawingml/2006/main" noGrp="1"/>
          </p:cNvSpPr>
          <p:nvPr/>
        </p:nvSpPr>
        <p:spPr>
          <a:xfrm xmlns:a="http://schemas.openxmlformats.org/drawingml/2006/main">
            <a:off x="1352550" y="47434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Gillett-Swan (2017), Journal of Learning Design · online isolation</a:t>
            </a:r>
          </a:p>
        </p:txBody>
      </p:sp>
      <p:sp>
        <p:nvSpPr>
          <p:cNvPr id="20" name="">
            <a:extLst xmlns:a="http://schemas.openxmlformats.org/drawingml/2006/main">
              <a:ext uri="{FF2B5EF4-FFF2-40B4-BE49-F238E27FC236}">
                <a16:creationId xmlns:a16="http://schemas.microsoft.com/office/drawing/2014/main" id="{4A28B24B-0096-4385-BA13-471026BCA960}"/>
              </a:ext>
            </a:extLst>
          </p:cNvPr>
          <p:cNvSpPr>
            <a:spLocks xmlns:a="http://schemas.openxmlformats.org/drawingml/2006/main" noGrp="1"/>
          </p:cNvSpPr>
          <p:nvPr/>
        </p:nvSpPr>
        <p:spPr>
          <a:xfrm xmlns:a="http://schemas.openxmlformats.org/drawingml/2006/main">
            <a:off x="6534150" y="23622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2D180B"/>
                </a:solidFill>
                <a:latin typeface="Lato"/>
                <a:ea typeface="Lato"/>
                <a:cs typeface="Lato"/>
              </a:defRPr>
            </a:pPr>
            <a:r>
              <a:rPr sz="1575" b="1">
                <a:solidFill>
                  <a:srgbClr val="2D180B"/>
                </a:solidFill>
                <a:latin typeface="Lato"/>
                <a:ea typeface="Lato"/>
                <a:cs typeface="Lato"/>
              </a:rPr>
              <a:t>Official / company research</a:t>
            </a:r>
          </a:p>
        </p:txBody>
      </p:sp>
      <p:sp>
        <p:nvSpPr>
          <p:cNvPr id="21" name="">
            <a:extLst xmlns:a="http://schemas.openxmlformats.org/drawingml/2006/main">
              <a:ext uri="{FF2B5EF4-FFF2-40B4-BE49-F238E27FC236}">
                <a16:creationId xmlns:a16="http://schemas.microsoft.com/office/drawing/2014/main" id="{F475B1BA-0923-4165-8F9C-E7C9EB5AB101}"/>
              </a:ext>
            </a:extLst>
          </p:cNvPr>
          <p:cNvSpPr>
            <a:spLocks xmlns:a="http://schemas.openxmlformats.org/drawingml/2006/main" noGrp="1"/>
          </p:cNvSpPr>
          <p:nvPr/>
        </p:nvSpPr>
        <p:spPr>
          <a:xfrm xmlns:a="http://schemas.openxmlformats.org/drawingml/2006/main">
            <a:off x="6553200" y="2847975"/>
            <a:ext cx="209550" cy="209550"/>
          </a:xfrm>
          <a:prstGeom xmlns:a="http://schemas.openxmlformats.org/drawingml/2006/main" prst="ellipse">
            <a:avLst/>
          </a:prstGeom>
          <a:solidFill xmlns:a="http://schemas.openxmlformats.org/drawingml/2006/main">
            <a:srgbClr val="2E9B62"/>
          </a:solidFill>
          <a:ln xmlns:a="http://schemas.openxmlformats.org/drawingml/2006/main" w="0">
            <a:solidFill>
              <a:srgbClr val="2E9B62"/>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Lato"/>
                <a:ea typeface="Lato"/>
                <a:cs typeface="Lato"/>
              </a:defRPr>
            </a:pPr>
            <a:r>
              <a:rPr sz="750" b="1">
                <a:solidFill>
                  <a:srgbClr val="FFFFFF"/>
                </a:solidFill>
                <a:latin typeface="Lato"/>
                <a:ea typeface="Lato"/>
                <a:cs typeface="Lato"/>
              </a:rPr>
              <a:t>1</a:t>
            </a:r>
          </a:p>
        </p:txBody>
      </p:sp>
      <p:sp>
        <p:nvSpPr>
          <p:cNvPr id="22" name="">
            <a:extLst xmlns:a="http://schemas.openxmlformats.org/drawingml/2006/main">
              <a:ext uri="{FF2B5EF4-FFF2-40B4-BE49-F238E27FC236}">
                <a16:creationId xmlns:a16="http://schemas.microsoft.com/office/drawing/2014/main" id="{6A5260C3-4265-44DB-90BB-C28483F0923A}"/>
              </a:ext>
            </a:extLst>
          </p:cNvPr>
          <p:cNvSpPr>
            <a:spLocks xmlns:a="http://schemas.openxmlformats.org/drawingml/2006/main" noGrp="1"/>
          </p:cNvSpPr>
          <p:nvPr/>
        </p:nvSpPr>
        <p:spPr>
          <a:xfrm xmlns:a="http://schemas.openxmlformats.org/drawingml/2006/main">
            <a:off x="6915150" y="28384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Stack Overflow Developer Survey (2024)</a:t>
            </a:r>
          </a:p>
        </p:txBody>
      </p:sp>
      <p:sp>
        <p:nvSpPr>
          <p:cNvPr id="23" name="">
            <a:extLst xmlns:a="http://schemas.openxmlformats.org/drawingml/2006/main">
              <a:ext uri="{FF2B5EF4-FFF2-40B4-BE49-F238E27FC236}">
                <a16:creationId xmlns:a16="http://schemas.microsoft.com/office/drawing/2014/main" id="{B8049269-AD45-432F-9098-9DF9036F096F}"/>
              </a:ext>
            </a:extLst>
          </p:cNvPr>
          <p:cNvSpPr>
            <a:spLocks xmlns:a="http://schemas.openxmlformats.org/drawingml/2006/main" noGrp="1"/>
          </p:cNvSpPr>
          <p:nvPr/>
        </p:nvSpPr>
        <p:spPr>
          <a:xfrm xmlns:a="http://schemas.openxmlformats.org/drawingml/2006/main">
            <a:off x="6553200" y="3324225"/>
            <a:ext cx="209550" cy="209550"/>
          </a:xfrm>
          <a:prstGeom xmlns:a="http://schemas.openxmlformats.org/drawingml/2006/main" prst="ellipse">
            <a:avLst/>
          </a:prstGeom>
          <a:solidFill xmlns:a="http://schemas.openxmlformats.org/drawingml/2006/main">
            <a:srgbClr val="2E9B62"/>
          </a:solidFill>
          <a:ln xmlns:a="http://schemas.openxmlformats.org/drawingml/2006/main" w="0">
            <a:solidFill>
              <a:srgbClr val="2E9B62"/>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Lato"/>
                <a:ea typeface="Lato"/>
                <a:cs typeface="Lato"/>
              </a:defRPr>
            </a:pPr>
            <a:r>
              <a:rPr sz="750" b="1">
                <a:solidFill>
                  <a:srgbClr val="FFFFFF"/>
                </a:solidFill>
                <a:latin typeface="Lato"/>
                <a:ea typeface="Lato"/>
                <a:cs typeface="Lato"/>
              </a:rPr>
              <a:t>2</a:t>
            </a:r>
          </a:p>
        </p:txBody>
      </p:sp>
      <p:sp>
        <p:nvSpPr>
          <p:cNvPr id="24" name="">
            <a:extLst xmlns:a="http://schemas.openxmlformats.org/drawingml/2006/main">
              <a:ext uri="{FF2B5EF4-FFF2-40B4-BE49-F238E27FC236}">
                <a16:creationId xmlns:a16="http://schemas.microsoft.com/office/drawing/2014/main" id="{86B4D49C-5A66-4E36-9F18-3AF917657920}"/>
              </a:ext>
            </a:extLst>
          </p:cNvPr>
          <p:cNvSpPr>
            <a:spLocks xmlns:a="http://schemas.openxmlformats.org/drawingml/2006/main" noGrp="1"/>
          </p:cNvSpPr>
          <p:nvPr/>
        </p:nvSpPr>
        <p:spPr>
          <a:xfrm xmlns:a="http://schemas.openxmlformats.org/drawingml/2006/main">
            <a:off x="6915150" y="33147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GitHub Copilot controlled experiment</a:t>
            </a:r>
          </a:p>
        </p:txBody>
      </p:sp>
      <p:sp>
        <p:nvSpPr>
          <p:cNvPr id="25" name="">
            <a:extLst xmlns:a="http://schemas.openxmlformats.org/drawingml/2006/main">
              <a:ext uri="{FF2B5EF4-FFF2-40B4-BE49-F238E27FC236}">
                <a16:creationId xmlns:a16="http://schemas.microsoft.com/office/drawing/2014/main" id="{8A18172A-E21D-4329-BD84-2354BF9917C3}"/>
              </a:ext>
            </a:extLst>
          </p:cNvPr>
          <p:cNvSpPr>
            <a:spLocks xmlns:a="http://schemas.openxmlformats.org/drawingml/2006/main" noGrp="1"/>
          </p:cNvSpPr>
          <p:nvPr/>
        </p:nvSpPr>
        <p:spPr>
          <a:xfrm xmlns:a="http://schemas.openxmlformats.org/drawingml/2006/main">
            <a:off x="6553200" y="3800475"/>
            <a:ext cx="209550" cy="209550"/>
          </a:xfrm>
          <a:prstGeom xmlns:a="http://schemas.openxmlformats.org/drawingml/2006/main" prst="ellipse">
            <a:avLst/>
          </a:prstGeom>
          <a:solidFill xmlns:a="http://schemas.openxmlformats.org/drawingml/2006/main">
            <a:srgbClr val="2E9B62"/>
          </a:solidFill>
          <a:ln xmlns:a="http://schemas.openxmlformats.org/drawingml/2006/main" w="0">
            <a:solidFill>
              <a:srgbClr val="2E9B62"/>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Lato"/>
                <a:ea typeface="Lato"/>
                <a:cs typeface="Lato"/>
              </a:defRPr>
            </a:pPr>
            <a:r>
              <a:rPr sz="750" b="1">
                <a:solidFill>
                  <a:srgbClr val="FFFFFF"/>
                </a:solidFill>
                <a:latin typeface="Lato"/>
                <a:ea typeface="Lato"/>
                <a:cs typeface="Lato"/>
              </a:rPr>
              <a:t>3</a:t>
            </a:r>
          </a:p>
        </p:txBody>
      </p:sp>
      <p:sp>
        <p:nvSpPr>
          <p:cNvPr id="26" name="">
            <a:extLst xmlns:a="http://schemas.openxmlformats.org/drawingml/2006/main">
              <a:ext uri="{FF2B5EF4-FFF2-40B4-BE49-F238E27FC236}">
                <a16:creationId xmlns:a16="http://schemas.microsoft.com/office/drawing/2014/main" id="{CC0ABFE0-6B72-448B-9D18-519162B36E6D}"/>
              </a:ext>
            </a:extLst>
          </p:cNvPr>
          <p:cNvSpPr>
            <a:spLocks xmlns:a="http://schemas.openxmlformats.org/drawingml/2006/main" noGrp="1"/>
          </p:cNvSpPr>
          <p:nvPr/>
        </p:nvSpPr>
        <p:spPr>
          <a:xfrm xmlns:a="http://schemas.openxmlformats.org/drawingml/2006/main">
            <a:off x="6915150" y="37909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Khan Academy Khanmigo product tests (May 2026)</a:t>
            </a:r>
          </a:p>
        </p:txBody>
      </p:sp>
      <p:sp>
        <p:nvSpPr>
          <p:cNvPr id="27" name="">
            <a:extLst xmlns:a="http://schemas.openxmlformats.org/drawingml/2006/main">
              <a:ext uri="{FF2B5EF4-FFF2-40B4-BE49-F238E27FC236}">
                <a16:creationId xmlns:a16="http://schemas.microsoft.com/office/drawing/2014/main" id="{559F77A6-A02C-4967-A4F0-6D802FD331F2}"/>
              </a:ext>
            </a:extLst>
          </p:cNvPr>
          <p:cNvSpPr>
            <a:spLocks xmlns:a="http://schemas.openxmlformats.org/drawingml/2006/main" noGrp="1"/>
          </p:cNvSpPr>
          <p:nvPr/>
        </p:nvSpPr>
        <p:spPr>
          <a:xfrm xmlns:a="http://schemas.openxmlformats.org/drawingml/2006/main">
            <a:off x="6553200" y="4276725"/>
            <a:ext cx="209550" cy="209550"/>
          </a:xfrm>
          <a:prstGeom xmlns:a="http://schemas.openxmlformats.org/drawingml/2006/main" prst="ellipse">
            <a:avLst/>
          </a:prstGeom>
          <a:solidFill xmlns:a="http://schemas.openxmlformats.org/drawingml/2006/main">
            <a:srgbClr val="2E9B62"/>
          </a:solidFill>
          <a:ln xmlns:a="http://schemas.openxmlformats.org/drawingml/2006/main" w="0">
            <a:solidFill>
              <a:srgbClr val="2E9B62"/>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Lato"/>
                <a:ea typeface="Lato"/>
                <a:cs typeface="Lato"/>
              </a:defRPr>
            </a:pPr>
            <a:r>
              <a:rPr sz="750" b="1">
                <a:solidFill>
                  <a:srgbClr val="FFFFFF"/>
                </a:solidFill>
                <a:latin typeface="Lato"/>
                <a:ea typeface="Lato"/>
                <a:cs typeface="Lato"/>
              </a:rPr>
              <a:t>4</a:t>
            </a:r>
          </a:p>
        </p:txBody>
      </p:sp>
      <p:sp>
        <p:nvSpPr>
          <p:cNvPr id="28" name="">
            <a:extLst xmlns:a="http://schemas.openxmlformats.org/drawingml/2006/main">
              <a:ext uri="{FF2B5EF4-FFF2-40B4-BE49-F238E27FC236}">
                <a16:creationId xmlns:a16="http://schemas.microsoft.com/office/drawing/2014/main" id="{00E41720-8D90-40A9-B8DC-1AB76333C72B}"/>
              </a:ext>
            </a:extLst>
          </p:cNvPr>
          <p:cNvSpPr>
            <a:spLocks xmlns:a="http://schemas.openxmlformats.org/drawingml/2006/main" noGrp="1"/>
          </p:cNvSpPr>
          <p:nvPr/>
        </p:nvSpPr>
        <p:spPr>
          <a:xfrm xmlns:a="http://schemas.openxmlformats.org/drawingml/2006/main">
            <a:off x="6915150" y="42672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Mimo, freeCodeCamp, and Codecademy were reviewed as market signals, not used as core proof</a:t>
            </a:r>
          </a:p>
        </p:txBody>
      </p:sp>
      <p:sp>
        <p:nvSpPr>
          <p:cNvPr id="29" name="">
            <a:extLst xmlns:a="http://schemas.openxmlformats.org/drawingml/2006/main">
              <a:ext uri="{FF2B5EF4-FFF2-40B4-BE49-F238E27FC236}">
                <a16:creationId xmlns:a16="http://schemas.microsoft.com/office/drawing/2014/main" id="{CCBE203D-8369-4020-B1CC-BF0D3CF62B57}"/>
              </a:ext>
            </a:extLst>
          </p:cNvPr>
          <p:cNvSpPr>
            <a:spLocks xmlns:a="http://schemas.openxmlformats.org/drawingml/2006/main" noGrp="1"/>
          </p:cNvSpPr>
          <p:nvPr/>
        </p:nvSpPr>
        <p:spPr>
          <a:xfrm xmlns:a="http://schemas.openxmlformats.org/drawingml/2006/main">
            <a:off x="6553200" y="4752975"/>
            <a:ext cx="209550" cy="2095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Lato"/>
                <a:ea typeface="Lato"/>
                <a:cs typeface="Lato"/>
              </a:defRPr>
            </a:pPr>
            <a:r>
              <a:rPr sz="750" b="1">
                <a:solidFill>
                  <a:srgbClr val="FFFFFF"/>
                </a:solidFill>
                <a:latin typeface="Lato"/>
                <a:ea typeface="Lato"/>
                <a:cs typeface="Lato"/>
              </a:rPr>
              <a:t>5</a:t>
            </a:r>
          </a:p>
        </p:txBody>
      </p:sp>
      <p:sp>
        <p:nvSpPr>
          <p:cNvPr id="30" name="">
            <a:extLst xmlns:a="http://schemas.openxmlformats.org/drawingml/2006/main">
              <a:ext uri="{FF2B5EF4-FFF2-40B4-BE49-F238E27FC236}">
                <a16:creationId xmlns:a16="http://schemas.microsoft.com/office/drawing/2014/main" id="{0B7760B4-F912-423A-A1AE-1D69DC8929B1}"/>
              </a:ext>
            </a:extLst>
          </p:cNvPr>
          <p:cNvSpPr>
            <a:spLocks xmlns:a="http://schemas.openxmlformats.org/drawingml/2006/main" noGrp="1"/>
          </p:cNvSpPr>
          <p:nvPr/>
        </p:nvSpPr>
        <p:spPr>
          <a:xfrm xmlns:a="http://schemas.openxmlformats.org/drawingml/2006/main">
            <a:off x="6915150" y="47434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Internal Bataa discovery account · founder-reported</a:t>
            </a:r>
          </a:p>
        </p:txBody>
      </p:sp>
      <p:sp>
        <p:nvSpPr>
          <p:cNvPr id="31" name="">
            <a:extLst xmlns:a="http://schemas.openxmlformats.org/drawingml/2006/main">
              <a:ext uri="{FF2B5EF4-FFF2-40B4-BE49-F238E27FC236}">
                <a16:creationId xmlns:a16="http://schemas.microsoft.com/office/drawing/2014/main" id="{8B3C5444-A3D4-4089-B2A1-6C176E33990C}"/>
              </a:ext>
            </a:extLst>
          </p:cNvPr>
          <p:cNvSpPr>
            <a:spLocks xmlns:a="http://schemas.openxmlformats.org/drawingml/2006/main" noGrp="1"/>
          </p:cNvSpPr>
          <p:nvPr/>
        </p:nvSpPr>
        <p:spPr>
          <a:xfrm xmlns:a="http://schemas.openxmlformats.org/drawingml/2006/main">
            <a:off x="647700" y="5924550"/>
            <a:ext cx="10782300" cy="266700"/>
          </a:xfrm>
          <a:prstGeom xmlns:a="http://schemas.openxmlformats.org/drawingml/2006/main" prst="roundRect">
            <a:avLst>
              <a:gd name="adj" fmla="val 42857"/>
            </a:avLst>
          </a:prstGeom>
          <a:solidFill xmlns:a="http://schemas.openxmlformats.org/drawingml/2006/main">
            <a:srgbClr val="1B100B"/>
          </a:solidFill>
          <a:ln xmlns:a="http://schemas.openxmlformats.org/drawingml/2006/main" w="9525">
            <a:solidFill>
              <a:srgbClr val="1B100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8B612530-864E-4791-9A3A-7AA447C99AEC}"/>
              </a:ext>
            </a:extLst>
          </p:cNvPr>
          <p:cNvSpPr>
            <a:spLocks xmlns:a="http://schemas.openxmlformats.org/drawingml/2006/main" noGrp="1"/>
          </p:cNvSpPr>
          <p:nvPr/>
        </p:nvSpPr>
        <p:spPr>
          <a:xfrm xmlns:a="http://schemas.openxmlformats.org/drawingml/2006/main">
            <a:off x="857250" y="5981700"/>
            <a:ext cx="10287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63" b="1">
                <a:solidFill>
                  <a:srgbClr val="FFF6E9"/>
                </a:solidFill>
                <a:latin typeface="Lato"/>
                <a:ea typeface="Lato"/>
                <a:cs typeface="Lato"/>
              </a:defRPr>
            </a:pPr>
            <a:r>
              <a:rPr sz="863" b="1">
                <a:solidFill>
                  <a:srgbClr val="FFF6E9"/>
                </a:solidFill>
                <a:latin typeface="Lato"/>
                <a:ea typeface="Lato"/>
                <a:cs typeface="Lato"/>
              </a:rPr>
              <a:t>Limitations: selection bias · self-report · generalizability · vendor affiliation · no Bataa behavioral cohort</a:t>
            </a:r>
          </a:p>
        </p:txBody>
      </p:sp>
      <p:sp>
        <p:nvSpPr>
          <p:cNvPr id="33" name="">
            <a:extLst xmlns:a="http://schemas.openxmlformats.org/drawingml/2006/main">
              <a:ext uri="{FF2B5EF4-FFF2-40B4-BE49-F238E27FC236}">
                <a16:creationId xmlns:a16="http://schemas.microsoft.com/office/drawing/2014/main" id="{6DA74B0A-DE70-4E93-8D37-0A0484E0D4EA}"/>
              </a:ext>
            </a:extLst>
          </p:cNvPr>
          <p:cNvSpPr>
            <a:spLocks xmlns:a="http://schemas.openxmlformats.org/drawingml/2006/main" noGrp="1"/>
          </p:cNvSpPr>
          <p:nvPr/>
        </p:nvSpPr>
        <p:spPr>
          <a:xfrm xmlns:a="http://schemas.openxmlformats.org/drawingml/2006/main">
            <a:off x="609600" y="6505575"/>
            <a:ext cx="10477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788">
                <a:solidFill>
                  <a:srgbClr val="7D5C42"/>
                </a:solidFill>
                <a:latin typeface="Lato"/>
                <a:ea typeface="Lato"/>
                <a:cs typeface="Lato"/>
              </a:defRPr>
            </a:pPr>
            <a:r>
              <a:rPr sz="788">
                <a:solidFill>
                  <a:srgbClr val="7D5C42"/>
                </a:solidFill>
                <a:latin typeface="Lato"/>
                <a:ea typeface="Lato"/>
                <a:cs typeface="Lato"/>
              </a:rPr>
              <a:t>Accessed 19 September 2026 · full URLs and methodological caveats in notes</a:t>
            </a:r>
          </a:p>
        </p:txBody>
      </p:sp>
    </p:spTree>
    <p:extLst>
      <p:ext uri="{BB962C8B-B14F-4D97-AF65-F5344CB8AC3E}">
        <p14:creationId xmlns:p14="http://schemas.microsoft.com/office/powerpoint/2010/main" val="4770661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2026-09-20T03:59:52.6570000Z</dcterms:created>
  <dcterms:modified xsi:type="dcterms:W3CDTF">2026-09-20T03:59:52.6570000Z</dcterms:modified>
</coreProperties>
</file>