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42"/>
  </p:sldIdLst>
  <p:sldSz cx="18288000" cy="10287000"/>
  <p:notesSz cx="6858000" cy="9144000"/>
  <p:embeddedFontLst>
    <p:embeddedFont>
      <p:font typeface="Lato Bold" charset="1" panose="020F0502020204030203"/>
      <p:regular r:id="rId24"/>
    </p:embeddedFont>
    <p:embeddedFont>
      <p:font typeface="Lato" charset="1" panose="020F0502020204030203"/>
      <p:regular r:id="rId25"/>
    </p:embeddedFont>
    <p:embeddedFont>
      <p:font typeface="Roboto Bold" charset="1" panose="02000000000000000000"/>
      <p:regular r:id="rId35"/>
    </p:embeddedFont>
    <p:embeddedFont>
      <p:font typeface="Roboto" charset="1" panose="02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notesMaster" Target="notesMasters/notesMaster1.xml"/><Relationship Id="rId22" Type="http://schemas.openxmlformats.org/officeDocument/2006/relationships/theme" Target="theme/theme2.xml"/><Relationship Id="rId23" Type="http://schemas.openxmlformats.org/officeDocument/2006/relationships/notesSlide" Target="notesSlides/notesSlide1.xml"/><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notesSlide" Target="notesSlides/notesSlide2.xml"/><Relationship Id="rId27" Type="http://schemas.openxmlformats.org/officeDocument/2006/relationships/notesSlide" Target="notesSlides/notesSlide3.xml"/><Relationship Id="rId28" Type="http://schemas.openxmlformats.org/officeDocument/2006/relationships/notesSlide" Target="notesSlides/notesSlide4.xml"/><Relationship Id="rId29" Type="http://schemas.openxmlformats.org/officeDocument/2006/relationships/notesSlide" Target="notesSlides/notesSlide5.xml"/><Relationship Id="rId30" Type="http://schemas.openxmlformats.org/officeDocument/2006/relationships/notesSlide" Target="notesSlides/notesSlide6.xml"/><Relationship Id="rId31" Type="http://schemas.openxmlformats.org/officeDocument/2006/relationships/notesSlide" Target="notesSlides/notesSlide7.xml"/><Relationship Id="rId32" Type="http://schemas.openxmlformats.org/officeDocument/2006/relationships/notesSlide" Target="notesSlides/notesSlide8.xml"/><Relationship Id="rId33" Type="http://schemas.openxmlformats.org/officeDocument/2006/relationships/notesSlide" Target="notesSlides/notesSlide9.xml"/><Relationship Id="rId34" Type="http://schemas.openxmlformats.org/officeDocument/2006/relationships/notesSlide" Target="notesSlides/notesSlide10.xml"/><Relationship Id="rId35" Type="http://schemas.openxmlformats.org/officeDocument/2006/relationships/font" Target="fonts/font35.fntdata"/><Relationship Id="rId36" Type="http://schemas.openxmlformats.org/officeDocument/2006/relationships/font" Target="fonts/font36.fntdata"/><Relationship Id="rId37" Type="http://schemas.openxmlformats.org/officeDocument/2006/relationships/notesSlide" Target="notesSlides/notesSlide11.xml"/><Relationship Id="rId38" Type="http://schemas.openxmlformats.org/officeDocument/2006/relationships/notesSlide" Target="notesSlides/notesSlide12.xml"/><Relationship Id="rId39" Type="http://schemas.openxmlformats.org/officeDocument/2006/relationships/notesSlide" Target="notesSlides/notesSlide13.xml"/><Relationship Id="rId40" Type="http://schemas.openxmlformats.org/officeDocument/2006/relationships/notesSlide" Target="notesSlides/notesSlide14.xml"/><Relationship Id="rId41" Type="http://schemas.openxmlformats.org/officeDocument/2006/relationships/notesSlide" Target="notesSlides/notesSlide15.xml"/><Relationship Id="rId4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People do not fail because content is unavailable. They stall at the moment they need to act. Bataa keeps the next action close. Visual source: public/hero.webp from the Bataa project.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Framing based on the user-provided problem statement. The quoted sentence is a synthesized articulation, not a verbatim interview quote.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Narrative bridge: Bataa is not another content library. It is the guidance layer between intention and 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Bataa mobile capture from the running app (lesson-1.png) and public/guided-project-ai.webp. The desktop agent interaction should be demonstrated live or with a short clip when available.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public/ai-assisted-coding.webp and public/guided-project-ai.webp. Evidence status: DEMONSTRATED for the guidance concept. State clearly that autonomous cursor control and broad software coverage remain pilot scope unless already shipped.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running Bataa app captures from the project. The “no typing needed” design is demonstrated in the first lesson step, which offers three choices.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illustrative journey for explaining the product loop. Do not present the day-30 outcome as a measured result until a real course and pilot validate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editable diagram expresses the intended learning loop. Validate it with pilot metrics such as task completion, time-to-first-success, hint usage, and return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qualitative positioning hypothesis based on the user-provided competitor list. Verify the exact local platform names and current features before presenting. Do not claim that competitors do not use AI without research.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 model is based on the user-provided brief. Course purchases are the launch priority; token packs and platform fees are expansion paths unless already implemented and tested commercially.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reflects planned expansion from the user-provided business model: institution and creator courses with commission, plus an API/base URL offering. Label as planned until commercially validated.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names and roles are taken from the user-provided brief. Add concrete proof points, links, or advisor details if available before presenting.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ask for pilot partners, not a generic “thank you.” Replace the ask and roadmap with dates, owners, and contact details when confirmed.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hyperlink" Target="https://www.tiktok.com/@bataa_app" TargetMode="External"/><Relationship Id="rId8" Type="http://schemas.openxmlformats.org/officeDocument/2006/relationships/hyperlink" Target="https://www.instagram.com/bataa_app/" TargetMode="External"/><Relationship Id="rId9" Type="http://schemas.openxmlformats.org/officeDocument/2006/relationships/hyperlink" Target="https://www.facebook.com/profile.php?id=61594690138176" TargetMode="External"/><Relationship Id="rId10" Type="http://schemas.openxmlformats.org/officeDocument/2006/relationships/hyperlink" Target="https://www.linkedin.com/company/bataaa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4Lz5fNhs49g" TargetMode="External"/><Relationship Id="rId3" Type="http://schemas.openxmlformats.org/officeDocument/2006/relationships/image" Target="../media/image22.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1466293"/>
            <a:ext cx="3242399" cy="1206351"/>
          </a:xfrm>
          <a:prstGeom prst="rect">
            <a:avLst/>
          </a:prstGeom>
        </p:spPr>
        <p:txBody>
          <a:bodyPr anchor="t" rtlCol="false" tIns="0" lIns="0" bIns="0" rIns="0">
            <a:spAutoFit/>
          </a:bodyPr>
          <a:lstStyle/>
          <a:p>
            <a:pPr algn="l">
              <a:lnSpc>
                <a:spcPts val="9560"/>
              </a:lnSpc>
            </a:pPr>
            <a:r>
              <a:rPr lang="en-US" sz="7967" b="true">
                <a:solidFill>
                  <a:srgbClr val="FF8500"/>
                </a:solidFill>
                <a:latin typeface="Lato Bold"/>
                <a:ea typeface="Lato Bold"/>
                <a:cs typeface="Lato Bold"/>
                <a:sym typeface="Lato Bold"/>
              </a:rPr>
              <a:t>bataa.</a:t>
            </a:r>
          </a:p>
        </p:txBody>
      </p:sp>
      <p:sp>
        <p:nvSpPr>
          <p:cNvPr name="TextBox 3" id="3"/>
          <p:cNvSpPr txBox="true"/>
          <p:nvPr/>
        </p:nvSpPr>
        <p:spPr>
          <a:xfrm rot="0">
            <a:off x="914400" y="2590800"/>
            <a:ext cx="9144000" cy="1295400"/>
          </a:xfrm>
          <a:prstGeom prst="rect">
            <a:avLst/>
          </a:prstGeom>
        </p:spPr>
        <p:txBody>
          <a:bodyPr anchor="t" rtlCol="false" tIns="0" lIns="0" bIns="0" rIns="0">
            <a:spAutoFit/>
          </a:bodyPr>
          <a:lstStyle/>
          <a:p>
            <a:pPr algn="l">
              <a:lnSpc>
                <a:spcPts val="8910"/>
              </a:lnSpc>
            </a:pPr>
            <a:r>
              <a:rPr lang="en-US" sz="7425" b="true">
                <a:solidFill>
                  <a:srgbClr val="2D180B"/>
                </a:solidFill>
                <a:latin typeface="Lato Bold"/>
                <a:ea typeface="Lato Bold"/>
                <a:cs typeface="Lato Bold"/>
                <a:sym typeface="Lato Bold"/>
              </a:rPr>
              <a:t>Learn by doing.</a:t>
            </a:r>
          </a:p>
        </p:txBody>
      </p:sp>
      <p:sp>
        <p:nvSpPr>
          <p:cNvPr name="TextBox 4" id="4"/>
          <p:cNvSpPr txBox="true"/>
          <p:nvPr/>
        </p:nvSpPr>
        <p:spPr>
          <a:xfrm rot="0">
            <a:off x="914400" y="4057650"/>
            <a:ext cx="7429500" cy="2533650"/>
          </a:xfrm>
          <a:prstGeom prst="rect">
            <a:avLst/>
          </a:prstGeom>
        </p:spPr>
        <p:txBody>
          <a:bodyPr anchor="t" rtlCol="false" tIns="0" lIns="0" bIns="0" rIns="0">
            <a:spAutoFit/>
          </a:bodyPr>
          <a:lstStyle/>
          <a:p>
            <a:pPr algn="l">
              <a:lnSpc>
                <a:spcPts val="2895"/>
              </a:lnSpc>
            </a:pPr>
            <a:r>
              <a:rPr lang="en-US" sz="2412">
                <a:solidFill>
                  <a:srgbClr val="895F3C"/>
                </a:solidFill>
                <a:latin typeface="Lato"/>
                <a:ea typeface="Lato"/>
                <a:cs typeface="Lato"/>
                <a:sym typeface="Lato"/>
              </a:rPr>
              <a:t>bataa.app is your AI mentor that learns from real tutorials and can control your computer with you.</a:t>
            </a:r>
          </a:p>
          <a:p>
            <a:pPr algn="l">
              <a:lnSpc>
                <a:spcPts val="2895"/>
              </a:lnSpc>
            </a:pPr>
          </a:p>
          <a:p>
            <a:pPr algn="l">
              <a:lnSpc>
                <a:spcPts val="2895"/>
              </a:lnSpc>
            </a:pPr>
            <a:r>
              <a:rPr lang="en-US" sz="2412">
                <a:solidFill>
                  <a:srgbClr val="895F3C"/>
                </a:solidFill>
                <a:latin typeface="Lato"/>
                <a:ea typeface="Lato"/>
                <a:cs typeface="Lato"/>
                <a:sym typeface="Lato"/>
              </a:rPr>
              <a:t>It sits on your screen as a friendly mascot, shows you exactly where to click, explains what everything does and why it matters, answers your questions, and guides you step by step while you actually practice the skill.</a:t>
            </a:r>
          </a:p>
        </p:txBody>
      </p:sp>
      <p:sp>
        <p:nvSpPr>
          <p:cNvPr name="TextBox 5" id="5"/>
          <p:cNvSpPr txBox="true"/>
          <p:nvPr/>
        </p:nvSpPr>
        <p:spPr>
          <a:xfrm rot="0">
            <a:off x="857250" y="6762750"/>
            <a:ext cx="8429625" cy="409575"/>
          </a:xfrm>
          <a:prstGeom prst="rect">
            <a:avLst/>
          </a:prstGeom>
        </p:spPr>
        <p:txBody>
          <a:bodyPr anchor="t" rtlCol="false" tIns="0" lIns="0" bIns="0" rIns="0">
            <a:spAutoFit/>
          </a:bodyPr>
          <a:lstStyle/>
          <a:p>
            <a:pPr algn="l">
              <a:lnSpc>
                <a:spcPts val="2025"/>
              </a:lnSpc>
            </a:pPr>
            <a:r>
              <a:rPr lang="en-US" sz="1687" b="true">
                <a:solidFill>
                  <a:srgbClr val="C45300"/>
                </a:solidFill>
                <a:latin typeface="Lato Bold"/>
                <a:ea typeface="Lato Bold"/>
                <a:cs typeface="Lato Bold"/>
                <a:sym typeface="Lato Bold"/>
              </a:rPr>
              <a:t>Mobile practice  ·  Desktop guidance  ·  AI when the question appears</a:t>
            </a:r>
          </a:p>
        </p:txBody>
      </p:sp>
      <p:grpSp>
        <p:nvGrpSpPr>
          <p:cNvPr name="Group 6" id="6"/>
          <p:cNvGrpSpPr/>
          <p:nvPr/>
        </p:nvGrpSpPr>
        <p:grpSpPr>
          <a:xfrm rot="0">
            <a:off x="9286875" y="2034540"/>
            <a:ext cx="8001000" cy="5760720"/>
            <a:chOff x="0" y="0"/>
            <a:chExt cx="10668000" cy="7680960"/>
          </a:xfrm>
        </p:grpSpPr>
        <p:sp>
          <p:nvSpPr>
            <p:cNvPr name="Freeform 7" id="7"/>
            <p:cNvSpPr/>
            <p:nvPr/>
          </p:nvSpPr>
          <p:spPr>
            <a:xfrm flipH="false" flipV="false" rot="0">
              <a:off x="0" y="0"/>
              <a:ext cx="10668000" cy="7680960"/>
            </a:xfrm>
            <a:custGeom>
              <a:avLst/>
              <a:gdLst/>
              <a:ahLst/>
              <a:cxnLst/>
              <a:rect r="r" b="b" t="t" l="l"/>
              <a:pathLst>
                <a:path h="7680960" w="10668000">
                  <a:moveTo>
                    <a:pt x="0" y="0"/>
                  </a:moveTo>
                  <a:lnTo>
                    <a:pt x="10668000" y="0"/>
                  </a:lnTo>
                  <a:lnTo>
                    <a:pt x="10668000" y="7680960"/>
                  </a:lnTo>
                  <a:lnTo>
                    <a:pt x="0" y="7680960"/>
                  </a:lnTo>
                  <a:lnTo>
                    <a:pt x="0" y="0"/>
                  </a:lnTo>
                  <a:close/>
                </a:path>
              </a:pathLst>
            </a:custGeom>
            <a:blipFill>
              <a:blip r:embed="rId3"/>
              <a:stretch>
                <a:fillRect l="0" t="0" r="0" b="0"/>
              </a:stretch>
            </a:blipFill>
          </p:spPr>
        </p:sp>
      </p:grpSp>
      <p:sp>
        <p:nvSpPr>
          <p:cNvPr name="TextBox 8" id="8"/>
          <p:cNvSpPr txBox="true"/>
          <p:nvPr/>
        </p:nvSpPr>
        <p:spPr>
          <a:xfrm rot="0">
            <a:off x="914400" y="9563100"/>
            <a:ext cx="4286250" cy="295275"/>
          </a:xfrm>
          <a:prstGeom prst="rect">
            <a:avLst/>
          </a:prstGeom>
        </p:spPr>
        <p:txBody>
          <a:bodyPr anchor="t" rtlCol="false" tIns="0" lIns="0" bIns="0" rIns="0">
            <a:spAutoFit/>
          </a:bodyPr>
          <a:lstStyle/>
          <a:p>
            <a:pPr algn="l">
              <a:lnSpc>
                <a:spcPts val="1620"/>
              </a:lnSpc>
            </a:pPr>
            <a:r>
              <a:rPr lang="en-US" sz="1350">
                <a:solidFill>
                  <a:srgbClr val="7D5C42"/>
                </a:solidFill>
                <a:latin typeface="Lato"/>
                <a:ea typeface="Lato"/>
                <a:cs typeface="Lato"/>
                <a:sym typeface="Lato"/>
              </a:rPr>
              <a:t>Pitch deck  |  September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Freeform 3" id="3"/>
          <p:cNvSpPr/>
          <p:nvPr/>
        </p:nvSpPr>
        <p:spPr>
          <a:xfrm flipH="false" flipV="false" rot="0">
            <a:off x="11123136" y="920635"/>
            <a:ext cx="7359879" cy="7359879"/>
          </a:xfrm>
          <a:custGeom>
            <a:avLst/>
            <a:gdLst/>
            <a:ahLst/>
            <a:cxnLst/>
            <a:rect r="r" b="b" t="t" l="l"/>
            <a:pathLst>
              <a:path h="7359879" w="7359879">
                <a:moveTo>
                  <a:pt x="0" y="0"/>
                </a:moveTo>
                <a:lnTo>
                  <a:pt x="7359879" y="0"/>
                </a:lnTo>
                <a:lnTo>
                  <a:pt x="7359879" y="7359880"/>
                </a:lnTo>
                <a:lnTo>
                  <a:pt x="0" y="7359880"/>
                </a:lnTo>
                <a:lnTo>
                  <a:pt x="0" y="0"/>
                </a:lnTo>
                <a:close/>
              </a:path>
            </a:pathLst>
          </a:custGeom>
          <a:blipFill>
            <a:blip r:embed="rId3"/>
            <a:stretch>
              <a:fillRect l="0" t="0" r="0" b="0"/>
            </a:stretch>
          </a:blipFill>
        </p:spPr>
      </p:sp>
      <p:sp>
        <p:nvSpPr>
          <p:cNvPr name="TextBox 4" id="4"/>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5" id="5"/>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THE GAP</a:t>
            </a:r>
          </a:p>
        </p:txBody>
      </p:sp>
      <p:sp>
        <p:nvSpPr>
          <p:cNvPr name="TextBox 6" id="6"/>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02</a:t>
            </a:r>
          </a:p>
        </p:txBody>
      </p:sp>
      <p:sp>
        <p:nvSpPr>
          <p:cNvPr name="TextBox 7" id="7"/>
          <p:cNvSpPr txBox="true"/>
          <p:nvPr/>
        </p:nvSpPr>
        <p:spPr>
          <a:xfrm rot="0">
            <a:off x="914400" y="1476375"/>
            <a:ext cx="7885864" cy="1171575"/>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Learning support disappears when the learner is ready to act</a:t>
            </a:r>
          </a:p>
        </p:txBody>
      </p:sp>
      <p:sp>
        <p:nvSpPr>
          <p:cNvPr name="TextBox 8" id="8"/>
          <p:cNvSpPr txBox="true"/>
          <p:nvPr/>
        </p:nvSpPr>
        <p:spPr>
          <a:xfrm rot="0">
            <a:off x="971550" y="2800350"/>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hardest moment often comes after the video ends.</a:t>
            </a:r>
          </a:p>
        </p:txBody>
      </p:sp>
      <p:sp>
        <p:nvSpPr>
          <p:cNvPr name="TextBox 9" id="9"/>
          <p:cNvSpPr txBox="true"/>
          <p:nvPr/>
        </p:nvSpPr>
        <p:spPr>
          <a:xfrm rot="0">
            <a:off x="907259" y="4248150"/>
            <a:ext cx="12283990" cy="1576320"/>
          </a:xfrm>
          <a:prstGeom prst="rect">
            <a:avLst/>
          </a:prstGeom>
        </p:spPr>
        <p:txBody>
          <a:bodyPr anchor="t" rtlCol="false" tIns="0" lIns="0" bIns="0" rIns="0">
            <a:spAutoFit/>
          </a:bodyPr>
          <a:lstStyle/>
          <a:p>
            <a:pPr algn="l">
              <a:lnSpc>
                <a:spcPts val="6205"/>
              </a:lnSpc>
            </a:pPr>
            <a:r>
              <a:rPr lang="en-US" sz="5171" b="true">
                <a:solidFill>
                  <a:srgbClr val="FFD5A3"/>
                </a:solidFill>
                <a:latin typeface="Lato Bold"/>
                <a:ea typeface="Lato Bold"/>
                <a:cs typeface="Lato Bold"/>
                <a:sym typeface="Lato Bold"/>
              </a:rPr>
              <a:t>“I know what I want to learn.</a:t>
            </a:r>
          </a:p>
          <a:p>
            <a:pPr algn="l">
              <a:lnSpc>
                <a:spcPts val="6205"/>
              </a:lnSpc>
            </a:pPr>
            <a:r>
              <a:rPr lang="en-US" sz="5171" b="true">
                <a:solidFill>
                  <a:srgbClr val="FFD5A3"/>
                </a:solidFill>
                <a:latin typeface="Lato Bold"/>
                <a:ea typeface="Lato Bold"/>
                <a:cs typeface="Lato Bold"/>
                <a:sym typeface="Lato Bold"/>
              </a:rPr>
              <a:t> I just do not know what to click next.”</a:t>
            </a:r>
          </a:p>
        </p:txBody>
      </p:sp>
      <p:sp>
        <p:nvSpPr>
          <p:cNvPr name="TextBox 10" id="10"/>
          <p:cNvSpPr txBox="true"/>
          <p:nvPr/>
        </p:nvSpPr>
        <p:spPr>
          <a:xfrm rot="0">
            <a:off x="1028700" y="6843785"/>
            <a:ext cx="8172450" cy="704850"/>
          </a:xfrm>
          <a:prstGeom prst="rect">
            <a:avLst/>
          </a:prstGeom>
        </p:spPr>
        <p:txBody>
          <a:bodyPr anchor="t" rtlCol="false" tIns="0" lIns="0" bIns="0" rIns="0">
            <a:spAutoFit/>
          </a:bodyPr>
          <a:lstStyle/>
          <a:p>
            <a:pPr algn="l">
              <a:lnSpc>
                <a:spcPts val="2835"/>
              </a:lnSpc>
            </a:pPr>
            <a:r>
              <a:rPr lang="en-US" sz="2362">
                <a:solidFill>
                  <a:srgbClr val="E5CFBD"/>
                </a:solidFill>
                <a:latin typeface="Lato"/>
                <a:ea typeface="Lato"/>
                <a:cs typeface="Lato"/>
                <a:sym typeface="Lato"/>
              </a:rPr>
              <a:t>The learner is alone when the question appears: late at night, between classes, or inside unfamiliar software.</a:t>
            </a:r>
          </a:p>
        </p:txBody>
      </p:sp>
      <p:sp>
        <p:nvSpPr>
          <p:cNvPr name="TextBox 11" id="1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Problem framing · user-provided brief</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DISCOVERY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03</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504950"/>
            <a:ext cx="15859125" cy="866775"/>
          </a:xfrm>
          <a:prstGeom prst="rect">
            <a:avLst/>
          </a:prstGeom>
        </p:spPr>
        <p:txBody>
          <a:bodyPr anchor="t" rtlCol="false" tIns="0" lIns="0" bIns="0" rIns="0">
            <a:spAutoFit/>
          </a:bodyPr>
          <a:lstStyle/>
          <a:p>
            <a:pPr algn="l">
              <a:lnSpc>
                <a:spcPts val="6075"/>
              </a:lnSpc>
            </a:pPr>
            <a:r>
              <a:rPr lang="en-US" sz="5062" b="true">
                <a:solidFill>
                  <a:srgbClr val="2D180B"/>
                </a:solidFill>
                <a:latin typeface="Lato Bold"/>
                <a:ea typeface="Lato Bold"/>
                <a:cs typeface="Lato Bold"/>
                <a:sym typeface="Lato Bold"/>
              </a:rPr>
              <a:t>We heard the same friction in three moments</a:t>
            </a:r>
          </a:p>
        </p:txBody>
      </p:sp>
      <p:sp>
        <p:nvSpPr>
          <p:cNvPr name="TextBox 7" id="7"/>
          <p:cNvSpPr txBox="true"/>
          <p:nvPr/>
        </p:nvSpPr>
        <p:spPr>
          <a:xfrm rot="0">
            <a:off x="971550" y="2533650"/>
            <a:ext cx="13573125" cy="438150"/>
          </a:xfrm>
          <a:prstGeom prst="rect">
            <a:avLst/>
          </a:prstGeom>
        </p:spPr>
        <p:txBody>
          <a:bodyPr anchor="t" rtlCol="false" tIns="0" lIns="0" bIns="0" rIns="0">
            <a:spAutoFit/>
          </a:bodyPr>
          <a:lstStyle/>
          <a:p>
            <a:pPr algn="l">
              <a:lnSpc>
                <a:spcPts val="2430"/>
              </a:lnSpc>
            </a:pPr>
            <a:r>
              <a:rPr lang="en-US" sz="2025">
                <a:solidFill>
                  <a:srgbClr val="895F3C"/>
                </a:solidFill>
                <a:latin typeface="Lato"/>
                <a:ea typeface="Lato"/>
                <a:cs typeface="Lato"/>
                <a:sym typeface="Lato"/>
              </a:rPr>
              <a:t>Qualitative discovery at Horus University. Synthesized from conversations, not verbatim quotes.</a:t>
            </a:r>
          </a:p>
        </p:txBody>
      </p:sp>
      <p:grpSp>
        <p:nvGrpSpPr>
          <p:cNvPr name="Group 8" id="8"/>
          <p:cNvGrpSpPr/>
          <p:nvPr/>
        </p:nvGrpSpPr>
        <p:grpSpPr>
          <a:xfrm rot="0">
            <a:off x="964406" y="3636169"/>
            <a:ext cx="6086475" cy="4300538"/>
            <a:chOff x="0" y="0"/>
            <a:chExt cx="8115300" cy="5734050"/>
          </a:xfrm>
        </p:grpSpPr>
        <p:sp>
          <p:nvSpPr>
            <p:cNvPr name="Freeform 9" id="9"/>
            <p:cNvSpPr/>
            <p:nvPr/>
          </p:nvSpPr>
          <p:spPr>
            <a:xfrm flipH="false" flipV="false" rot="0">
              <a:off x="0" y="0"/>
              <a:ext cx="8115300" cy="5734050"/>
            </a:xfrm>
            <a:custGeom>
              <a:avLst/>
              <a:gdLst/>
              <a:ahLst/>
              <a:cxnLst/>
              <a:rect r="r" b="b" t="t" l="l"/>
              <a:pathLst>
                <a:path h="5734050" w="8115300">
                  <a:moveTo>
                    <a:pt x="0" y="458724"/>
                  </a:moveTo>
                  <a:cubicBezTo>
                    <a:pt x="0" y="205359"/>
                    <a:pt x="205359" y="0"/>
                    <a:pt x="458724" y="0"/>
                  </a:cubicBezTo>
                  <a:lnTo>
                    <a:pt x="7656576" y="0"/>
                  </a:lnTo>
                  <a:cubicBezTo>
                    <a:pt x="7909941" y="0"/>
                    <a:pt x="8115300" y="205359"/>
                    <a:pt x="8115300" y="458724"/>
                  </a:cubicBezTo>
                  <a:lnTo>
                    <a:pt x="8115300" y="5275326"/>
                  </a:lnTo>
                  <a:cubicBezTo>
                    <a:pt x="8115300" y="5528691"/>
                    <a:pt x="7909941" y="5734050"/>
                    <a:pt x="7656576" y="5734050"/>
                  </a:cubicBezTo>
                  <a:lnTo>
                    <a:pt x="458724" y="5734050"/>
                  </a:lnTo>
                  <a:cubicBezTo>
                    <a:pt x="205359" y="5734050"/>
                    <a:pt x="0" y="5528691"/>
                    <a:pt x="0" y="5275326"/>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428750" y="4086225"/>
            <a:ext cx="1457325" cy="400050"/>
            <a:chOff x="0" y="0"/>
            <a:chExt cx="1943100" cy="533400"/>
          </a:xfrm>
        </p:grpSpPr>
        <p:sp>
          <p:nvSpPr>
            <p:cNvPr name="Freeform 11" id="11"/>
            <p:cNvSpPr/>
            <p:nvPr/>
          </p:nvSpPr>
          <p:spPr>
            <a:xfrm flipH="false" flipV="false" rot="0">
              <a:off x="0" y="0"/>
              <a:ext cx="1943100" cy="533400"/>
            </a:xfrm>
            <a:custGeom>
              <a:avLst/>
              <a:gdLst/>
              <a:ahLst/>
              <a:cxnLst/>
              <a:rect r="r" b="b" t="t" l="l"/>
              <a:pathLst>
                <a:path h="533400" w="1943100">
                  <a:moveTo>
                    <a:pt x="0" y="266700"/>
                  </a:moveTo>
                  <a:cubicBezTo>
                    <a:pt x="0" y="119380"/>
                    <a:pt x="119380" y="0"/>
                    <a:pt x="266700" y="0"/>
                  </a:cubicBezTo>
                  <a:lnTo>
                    <a:pt x="1676400" y="0"/>
                  </a:lnTo>
                  <a:cubicBezTo>
                    <a:pt x="1823720" y="0"/>
                    <a:pt x="1943100" y="119380"/>
                    <a:pt x="1943100" y="266700"/>
                  </a:cubicBezTo>
                  <a:cubicBezTo>
                    <a:pt x="1943100" y="414020"/>
                    <a:pt x="1823720" y="533400"/>
                    <a:pt x="167640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12" id="12"/>
            <p:cNvSpPr txBox="true"/>
            <p:nvPr/>
          </p:nvSpPr>
          <p:spPr>
            <a:xfrm>
              <a:off x="0" y="0"/>
              <a:ext cx="1943100" cy="533400"/>
            </a:xfrm>
            <a:prstGeom prst="rect">
              <a:avLst/>
            </a:prstGeom>
          </p:spPr>
          <p:txBody>
            <a:bodyPr anchor="ctr" rtlCol="false" tIns="50800" lIns="50800" bIns="50800" rIns="50800"/>
            <a:lstStyle/>
            <a:p>
              <a:pPr algn="ctr">
                <a:lnSpc>
                  <a:spcPts val="1755"/>
                </a:lnSpc>
              </a:pPr>
              <a:r>
                <a:rPr lang="en-US" sz="1462" b="true">
                  <a:solidFill>
                    <a:srgbClr val="FFFFFF"/>
                  </a:solidFill>
                  <a:latin typeface="Lato Bold"/>
                  <a:ea typeface="Lato Bold"/>
                  <a:cs typeface="Lato Bold"/>
                  <a:sym typeface="Lato Bold"/>
                </a:rPr>
                <a:t>OBSERVED</a:t>
              </a:r>
            </a:p>
          </p:txBody>
        </p:sp>
      </p:grpSp>
      <p:sp>
        <p:nvSpPr>
          <p:cNvPr name="TextBox 13" id="13"/>
          <p:cNvSpPr txBox="true"/>
          <p:nvPr/>
        </p:nvSpPr>
        <p:spPr>
          <a:xfrm rot="0">
            <a:off x="3143250" y="4157662"/>
            <a:ext cx="31432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HORUS UNIVERSITY</a:t>
            </a:r>
          </a:p>
        </p:txBody>
      </p:sp>
      <p:sp>
        <p:nvSpPr>
          <p:cNvPr name="TextBox 14" id="14"/>
          <p:cNvSpPr txBox="true"/>
          <p:nvPr/>
        </p:nvSpPr>
        <p:spPr>
          <a:xfrm rot="0">
            <a:off x="1428750" y="4919663"/>
            <a:ext cx="4929188" cy="1438275"/>
          </a:xfrm>
          <a:prstGeom prst="rect">
            <a:avLst/>
          </a:prstGeom>
        </p:spPr>
        <p:txBody>
          <a:bodyPr anchor="t" rtlCol="false" tIns="0" lIns="0" bIns="0" rIns="0">
            <a:spAutoFit/>
          </a:bodyPr>
          <a:lstStyle/>
          <a:p>
            <a:pPr algn="l">
              <a:lnSpc>
                <a:spcPts val="4320"/>
              </a:lnSpc>
            </a:pPr>
            <a:r>
              <a:rPr lang="en-US" sz="3600" b="true">
                <a:solidFill>
                  <a:srgbClr val="FFF6E9"/>
                </a:solidFill>
                <a:latin typeface="Lato Bold"/>
                <a:ea typeface="Lato Bold"/>
                <a:cs typeface="Lato Bold"/>
                <a:sym typeface="Lato Bold"/>
              </a:rPr>
              <a:t>“I can’t ask an instructor at 2 a.m.”</a:t>
            </a:r>
          </a:p>
        </p:txBody>
      </p:sp>
      <p:sp>
        <p:nvSpPr>
          <p:cNvPr name="TextBox 15" id="15"/>
          <p:cNvSpPr txBox="true"/>
          <p:nvPr/>
        </p:nvSpPr>
        <p:spPr>
          <a:xfrm rot="0">
            <a:off x="1428750" y="6858000"/>
            <a:ext cx="3714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PARAPHRASED STUDENT SIGNAL</a:t>
            </a:r>
          </a:p>
        </p:txBody>
      </p:sp>
      <p:sp>
        <p:nvSpPr>
          <p:cNvPr name="TextBox 16" id="16"/>
          <p:cNvSpPr txBox="true"/>
          <p:nvPr/>
        </p:nvSpPr>
        <p:spPr>
          <a:xfrm rot="0">
            <a:off x="1428750" y="7277100"/>
            <a:ext cx="4286250" cy="352425"/>
          </a:xfrm>
          <a:prstGeom prst="rect">
            <a:avLst/>
          </a:prstGeom>
        </p:spPr>
        <p:txBody>
          <a:bodyPr anchor="t" rtlCol="false" tIns="0" lIns="0" bIns="0" rIns="0">
            <a:spAutoFit/>
          </a:bodyPr>
          <a:lstStyle/>
          <a:p>
            <a:pPr algn="l">
              <a:lnSpc>
                <a:spcPts val="2160"/>
              </a:lnSpc>
            </a:pPr>
            <a:r>
              <a:rPr lang="en-US" sz="1800">
                <a:solidFill>
                  <a:srgbClr val="E3CDBB"/>
                </a:solidFill>
                <a:latin typeface="Lato"/>
                <a:ea typeface="Lato"/>
                <a:cs typeface="Lato"/>
                <a:sym typeface="Lato"/>
              </a:rPr>
              <a:t>The question arrives after the lesson.</a:t>
            </a:r>
          </a:p>
        </p:txBody>
      </p:sp>
      <p:sp>
        <p:nvSpPr>
          <p:cNvPr name="TextBox 17" id="17"/>
          <p:cNvSpPr txBox="true"/>
          <p:nvPr/>
        </p:nvSpPr>
        <p:spPr>
          <a:xfrm rot="0">
            <a:off x="8001000" y="3748087"/>
            <a:ext cx="8001000" cy="466725"/>
          </a:xfrm>
          <a:prstGeom prst="rect">
            <a:avLst/>
          </a:prstGeom>
        </p:spPr>
        <p:txBody>
          <a:bodyPr anchor="t" rtlCol="false" tIns="0" lIns="0" bIns="0" rIns="0">
            <a:spAutoFit/>
          </a:bodyPr>
          <a:lstStyle/>
          <a:p>
            <a:pPr algn="l">
              <a:lnSpc>
                <a:spcPts val="3375"/>
              </a:lnSpc>
            </a:pPr>
            <a:r>
              <a:rPr lang="en-US" sz="2812" b="true">
                <a:solidFill>
                  <a:srgbClr val="2D180B"/>
                </a:solidFill>
                <a:latin typeface="Lato Bold"/>
                <a:ea typeface="Lato Bold"/>
                <a:cs typeface="Lato Bold"/>
                <a:sym typeface="Lato Bold"/>
              </a:rPr>
              <a:t>Three moments, one pattern</a:t>
            </a:r>
          </a:p>
        </p:txBody>
      </p:sp>
      <p:grpSp>
        <p:nvGrpSpPr>
          <p:cNvPr name="Group 18" id="18"/>
          <p:cNvGrpSpPr/>
          <p:nvPr/>
        </p:nvGrpSpPr>
        <p:grpSpPr>
          <a:xfrm rot="0">
            <a:off x="8001000" y="4572000"/>
            <a:ext cx="600075" cy="600075"/>
            <a:chOff x="0" y="0"/>
            <a:chExt cx="800100" cy="800100"/>
          </a:xfrm>
        </p:grpSpPr>
        <p:sp>
          <p:nvSpPr>
            <p:cNvPr name="Freeform 19" id="19"/>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20" id="20"/>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1</a:t>
              </a:r>
            </a:p>
          </p:txBody>
        </p:sp>
      </p:grpSp>
      <p:sp>
        <p:nvSpPr>
          <p:cNvPr name="TextBox 21" id="21"/>
          <p:cNvSpPr txBox="true"/>
          <p:nvPr/>
        </p:nvSpPr>
        <p:spPr>
          <a:xfrm rot="0">
            <a:off x="8929688" y="4576763"/>
            <a:ext cx="7143750" cy="266700"/>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02:00 AM</a:t>
            </a:r>
          </a:p>
        </p:txBody>
      </p:sp>
      <p:sp>
        <p:nvSpPr>
          <p:cNvPr name="TextBox 22" id="22"/>
          <p:cNvSpPr txBox="true"/>
          <p:nvPr/>
        </p:nvSpPr>
        <p:spPr>
          <a:xfrm rot="0">
            <a:off x="8929688" y="49434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Support stops when the question starts.</a:t>
            </a:r>
          </a:p>
        </p:txBody>
      </p:sp>
      <p:sp>
        <p:nvSpPr>
          <p:cNvPr name="AutoShape 23" id="23"/>
          <p:cNvSpPr/>
          <p:nvPr/>
        </p:nvSpPr>
        <p:spPr>
          <a:xfrm rot="12480">
            <a:off x="8915371" y="5562600"/>
            <a:ext cx="7886748" cy="0"/>
          </a:xfrm>
          <a:prstGeom prst="line">
            <a:avLst/>
          </a:prstGeom>
          <a:ln cap="rnd" w="19050">
            <a:solidFill>
              <a:srgbClr val="EDCFAD"/>
            </a:solidFill>
            <a:prstDash val="solid"/>
            <a:headEnd type="none" len="sm" w="sm"/>
            <a:tailEnd type="none" len="sm" w="sm"/>
          </a:ln>
        </p:spPr>
      </p:sp>
      <p:grpSp>
        <p:nvGrpSpPr>
          <p:cNvPr name="Group 24" id="24"/>
          <p:cNvGrpSpPr/>
          <p:nvPr/>
        </p:nvGrpSpPr>
        <p:grpSpPr>
          <a:xfrm rot="0">
            <a:off x="8001000" y="5772150"/>
            <a:ext cx="600075" cy="600075"/>
            <a:chOff x="0" y="0"/>
            <a:chExt cx="800100" cy="800100"/>
          </a:xfrm>
        </p:grpSpPr>
        <p:sp>
          <p:nvSpPr>
            <p:cNvPr name="Freeform 25" id="25"/>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6E5BAA"/>
            </a:solidFill>
            <a:ln cap="sq">
              <a:noFill/>
              <a:prstDash val="solid"/>
              <a:miter/>
            </a:ln>
          </p:spPr>
        </p:sp>
        <p:sp>
          <p:nvSpPr>
            <p:cNvPr name="TextBox 26" id="26"/>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2</a:t>
              </a:r>
            </a:p>
          </p:txBody>
        </p:sp>
      </p:grpSp>
      <p:sp>
        <p:nvSpPr>
          <p:cNvPr name="TextBox 27" id="27"/>
          <p:cNvSpPr txBox="true"/>
          <p:nvPr/>
        </p:nvSpPr>
        <p:spPr>
          <a:xfrm rot="0">
            <a:off x="8929688" y="5776913"/>
            <a:ext cx="7143750" cy="26670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TOO BASIC TO ASK</a:t>
            </a:r>
          </a:p>
        </p:txBody>
      </p:sp>
      <p:sp>
        <p:nvSpPr>
          <p:cNvPr name="TextBox 28" id="28"/>
          <p:cNvSpPr txBox="true"/>
          <p:nvPr/>
        </p:nvSpPr>
        <p:spPr>
          <a:xfrm rot="0">
            <a:off x="8929688" y="614362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Anxiety turns a small blocker into a stall.</a:t>
            </a:r>
          </a:p>
        </p:txBody>
      </p:sp>
      <p:sp>
        <p:nvSpPr>
          <p:cNvPr name="AutoShape 29" id="29"/>
          <p:cNvSpPr/>
          <p:nvPr/>
        </p:nvSpPr>
        <p:spPr>
          <a:xfrm rot="12480">
            <a:off x="8915371" y="6762750"/>
            <a:ext cx="7886748" cy="0"/>
          </a:xfrm>
          <a:prstGeom prst="line">
            <a:avLst/>
          </a:prstGeom>
          <a:ln cap="rnd" w="19050">
            <a:solidFill>
              <a:srgbClr val="EDCFAD"/>
            </a:solidFill>
            <a:prstDash val="solid"/>
            <a:headEnd type="none" len="sm" w="sm"/>
            <a:tailEnd type="none" len="sm" w="sm"/>
          </a:ln>
        </p:spPr>
      </p:sp>
      <p:grpSp>
        <p:nvGrpSpPr>
          <p:cNvPr name="Group 30" id="30"/>
          <p:cNvGrpSpPr/>
          <p:nvPr/>
        </p:nvGrpSpPr>
        <p:grpSpPr>
          <a:xfrm rot="0">
            <a:off x="8001000" y="6972300"/>
            <a:ext cx="600075" cy="600075"/>
            <a:chOff x="0" y="0"/>
            <a:chExt cx="800100" cy="800100"/>
          </a:xfrm>
        </p:grpSpPr>
        <p:sp>
          <p:nvSpPr>
            <p:cNvPr name="Freeform 31" id="31"/>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2E9B62"/>
            </a:solidFill>
            <a:ln cap="sq">
              <a:noFill/>
              <a:prstDash val="solid"/>
              <a:miter/>
            </a:ln>
          </p:spPr>
        </p:sp>
        <p:sp>
          <p:nvSpPr>
            <p:cNvPr name="TextBox 32" id="32"/>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true">
                  <a:solidFill>
                    <a:srgbClr val="FFFFFF"/>
                  </a:solidFill>
                  <a:latin typeface="Lato Bold"/>
                  <a:ea typeface="Lato Bold"/>
                  <a:cs typeface="Lato Bold"/>
                  <a:sym typeface="Lato Bold"/>
                </a:rPr>
                <a:t>3</a:t>
              </a:r>
            </a:p>
          </p:txBody>
        </p:sp>
      </p:grpSp>
      <p:sp>
        <p:nvSpPr>
          <p:cNvPr name="TextBox 33" id="33"/>
          <p:cNvSpPr txBox="true"/>
          <p:nvPr/>
        </p:nvSpPr>
        <p:spPr>
          <a:xfrm rot="0">
            <a:off x="8929688" y="6977063"/>
            <a:ext cx="7143750" cy="26670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TOO EXPENSIVE / TOO CROWDED</a:t>
            </a:r>
          </a:p>
        </p:txBody>
      </p:sp>
      <p:sp>
        <p:nvSpPr>
          <p:cNvPr name="TextBox 34" id="34"/>
          <p:cNvSpPr txBox="true"/>
          <p:nvPr/>
        </p:nvSpPr>
        <p:spPr>
          <a:xfrm rot="0">
            <a:off x="8929688" y="73437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Existing options miss the moment of practice.</a:t>
            </a:r>
          </a:p>
        </p:txBody>
      </p:sp>
      <p:grpSp>
        <p:nvGrpSpPr>
          <p:cNvPr name="Group 35" id="35"/>
          <p:cNvGrpSpPr/>
          <p:nvPr/>
        </p:nvGrpSpPr>
        <p:grpSpPr>
          <a:xfrm rot="0">
            <a:off x="964406" y="8565356"/>
            <a:ext cx="15901988" cy="728662"/>
            <a:chOff x="0" y="0"/>
            <a:chExt cx="21202650" cy="971550"/>
          </a:xfrm>
        </p:grpSpPr>
        <p:sp>
          <p:nvSpPr>
            <p:cNvPr name="Freeform 36" id="36"/>
            <p:cNvSpPr/>
            <p:nvPr/>
          </p:nvSpPr>
          <p:spPr>
            <a:xfrm flipH="false" flipV="false" rot="0">
              <a:off x="0" y="0"/>
              <a:ext cx="21202650" cy="971550"/>
            </a:xfrm>
            <a:custGeom>
              <a:avLst/>
              <a:gdLst/>
              <a:ahLst/>
              <a:cxnLst/>
              <a:rect r="r" b="b" t="t" l="l"/>
              <a:pathLst>
                <a:path h="971550" w="21202650">
                  <a:moveTo>
                    <a:pt x="0" y="310896"/>
                  </a:moveTo>
                  <a:cubicBezTo>
                    <a:pt x="0" y="139192"/>
                    <a:pt x="139192" y="0"/>
                    <a:pt x="310896" y="0"/>
                  </a:cubicBezTo>
                  <a:lnTo>
                    <a:pt x="20891754" y="0"/>
                  </a:lnTo>
                  <a:cubicBezTo>
                    <a:pt x="21063458" y="0"/>
                    <a:pt x="21202650" y="139192"/>
                    <a:pt x="21202650" y="310896"/>
                  </a:cubicBezTo>
                  <a:lnTo>
                    <a:pt x="21202650" y="660654"/>
                  </a:lnTo>
                  <a:cubicBezTo>
                    <a:pt x="21202650" y="832358"/>
                    <a:pt x="21063458" y="971550"/>
                    <a:pt x="20891754" y="971550"/>
                  </a:cubicBezTo>
                  <a:lnTo>
                    <a:pt x="310896" y="971550"/>
                  </a:lnTo>
                  <a:cubicBezTo>
                    <a:pt x="139192" y="971550"/>
                    <a:pt x="0" y="832358"/>
                    <a:pt x="0" y="660654"/>
                  </a:cubicBezTo>
                  <a:close/>
                </a:path>
              </a:pathLst>
            </a:custGeom>
            <a:solidFill>
              <a:srgbClr val="FF8500"/>
            </a:solidFill>
            <a:ln w="14288" cap="sq">
              <a:solidFill>
                <a:srgbClr val="FF8500"/>
              </a:solidFill>
              <a:prstDash val="solid"/>
              <a:miter/>
            </a:ln>
          </p:spPr>
        </p:sp>
      </p:grpSp>
      <p:sp>
        <p:nvSpPr>
          <p:cNvPr name="TextBox 37" id="37"/>
          <p:cNvSpPr txBox="true"/>
          <p:nvPr/>
        </p:nvSpPr>
        <p:spPr>
          <a:xfrm rot="0">
            <a:off x="1371600" y="8801100"/>
            <a:ext cx="2428875" cy="257175"/>
          </a:xfrm>
          <a:prstGeom prst="rect">
            <a:avLst/>
          </a:prstGeom>
        </p:spPr>
        <p:txBody>
          <a:bodyPr anchor="t" rtlCol="false" tIns="0" lIns="0" bIns="0" rIns="0">
            <a:spAutoFit/>
          </a:bodyPr>
          <a:lstStyle/>
          <a:p>
            <a:pPr algn="l">
              <a:lnSpc>
                <a:spcPts val="1485"/>
              </a:lnSpc>
            </a:pPr>
            <a:r>
              <a:rPr lang="en-US" sz="1237" b="true">
                <a:solidFill>
                  <a:srgbClr val="2D180B"/>
                </a:solidFill>
                <a:latin typeface="Lato Bold"/>
                <a:ea typeface="Lato Bold"/>
                <a:cs typeface="Lato Bold"/>
                <a:sym typeface="Lato Bold"/>
              </a:rPr>
              <a:t>PRODUCT IMPLICATION</a:t>
            </a:r>
          </a:p>
        </p:txBody>
      </p:sp>
      <p:sp>
        <p:nvSpPr>
          <p:cNvPr name="TextBox 38" id="38"/>
          <p:cNvSpPr txBox="true"/>
          <p:nvPr/>
        </p:nvSpPr>
        <p:spPr>
          <a:xfrm rot="0">
            <a:off x="4214812" y="8734425"/>
            <a:ext cx="11858625" cy="409575"/>
          </a:xfrm>
          <a:prstGeom prst="rect">
            <a:avLst/>
          </a:prstGeom>
        </p:spPr>
        <p:txBody>
          <a:bodyPr anchor="t" rtlCol="false" tIns="0" lIns="0" bIns="0" rIns="0">
            <a:spAutoFit/>
          </a:bodyPr>
          <a:lstStyle/>
          <a:p>
            <a:pPr algn="l">
              <a:lnSpc>
                <a:spcPts val="2700"/>
              </a:lnSpc>
            </a:pPr>
            <a:r>
              <a:rPr lang="en-US" sz="2250" b="true">
                <a:solidFill>
                  <a:srgbClr val="2D180B"/>
                </a:solidFill>
                <a:latin typeface="Lato Bold"/>
                <a:ea typeface="Lato Bold"/>
                <a:cs typeface="Lato Bold"/>
                <a:sym typeface="Lato Bold"/>
              </a:rPr>
              <a:t>Make the next step available, private, and easy to try.</a:t>
            </a:r>
          </a:p>
        </p:txBody>
      </p:sp>
      <p:sp>
        <p:nvSpPr>
          <p:cNvPr name="TextBox 39" id="39"/>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Evidence status: observed. Horus University conversations.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b="true" sz="1350">
                <a:solidFill>
                  <a:srgbClr val="2D180B"/>
                </a:solidFill>
                <a:latin typeface="Lato Bold"/>
                <a:ea typeface="Lato Bold"/>
                <a:cs typeface="Lato Bold"/>
                <a:sym typeface="Lato Bold"/>
              </a:rPr>
              <a:t>INSIGHT</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04</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07259" y="1850231"/>
            <a:ext cx="12858750" cy="1181100"/>
          </a:xfrm>
          <a:prstGeom prst="rect">
            <a:avLst/>
          </a:prstGeom>
        </p:spPr>
        <p:txBody>
          <a:bodyPr anchor="t" rtlCol="false" tIns="0" lIns="0" bIns="0" rIns="0">
            <a:spAutoFit/>
          </a:bodyPr>
          <a:lstStyle/>
          <a:p>
            <a:pPr algn="l">
              <a:lnSpc>
                <a:spcPts val="6750"/>
              </a:lnSpc>
            </a:pPr>
            <a:r>
              <a:rPr lang="en-US" b="true" sz="5625">
                <a:solidFill>
                  <a:srgbClr val="2D180B"/>
                </a:solidFill>
                <a:latin typeface="Lato Bold"/>
                <a:ea typeface="Lato Bold"/>
                <a:cs typeface="Lato Bold"/>
                <a:sym typeface="Lato Bold"/>
              </a:rPr>
              <a:t>The missing layer is contextual guidance</a:t>
            </a:r>
          </a:p>
        </p:txBody>
      </p:sp>
      <p:sp>
        <p:nvSpPr>
          <p:cNvPr name="TextBox 7" id="7"/>
          <p:cNvSpPr txBox="true"/>
          <p:nvPr/>
        </p:nvSpPr>
        <p:spPr>
          <a:xfrm rot="0">
            <a:off x="957262" y="3031331"/>
            <a:ext cx="10429875" cy="742950"/>
          </a:xfrm>
          <a:prstGeom prst="rect">
            <a:avLst/>
          </a:prstGeom>
        </p:spPr>
        <p:txBody>
          <a:bodyPr anchor="t" rtlCol="false" tIns="0" lIns="0" bIns="0" rIns="0">
            <a:spAutoFit/>
          </a:bodyPr>
          <a:lstStyle/>
          <a:p>
            <a:pPr algn="l">
              <a:lnSpc>
                <a:spcPts val="2970"/>
              </a:lnSpc>
            </a:pPr>
            <a:r>
              <a:rPr lang="en-US" sz="2475">
                <a:solidFill>
                  <a:srgbClr val="2D180B"/>
                </a:solidFill>
                <a:latin typeface="Lato"/>
                <a:ea typeface="Lato"/>
                <a:cs typeface="Lato"/>
                <a:sym typeface="Lato"/>
              </a:rPr>
              <a:t>Bataa helps at the exact moment the learner has to make a move.</a:t>
            </a:r>
          </a:p>
        </p:txBody>
      </p:sp>
      <p:grpSp>
        <p:nvGrpSpPr>
          <p:cNvPr name="Group 8" id="8"/>
          <p:cNvGrpSpPr/>
          <p:nvPr/>
        </p:nvGrpSpPr>
        <p:grpSpPr>
          <a:xfrm rot="0">
            <a:off x="1021556" y="4279106"/>
            <a:ext cx="5872162" cy="3157538"/>
            <a:chOff x="0" y="0"/>
            <a:chExt cx="7829550" cy="4210050"/>
          </a:xfrm>
        </p:grpSpPr>
        <p:sp>
          <p:nvSpPr>
            <p:cNvPr name="Freeform 9" id="9"/>
            <p:cNvSpPr/>
            <p:nvPr/>
          </p:nvSpPr>
          <p:spPr>
            <a:xfrm flipH="false" flipV="false" rot="0">
              <a:off x="0" y="0"/>
              <a:ext cx="7829550" cy="4210050"/>
            </a:xfrm>
            <a:custGeom>
              <a:avLst/>
              <a:gdLst/>
              <a:ahLst/>
              <a:cxnLst/>
              <a:rect r="r" b="b" t="t" l="l"/>
              <a:pathLst>
                <a:path h="4210050" w="7829550">
                  <a:moveTo>
                    <a:pt x="0" y="306197"/>
                  </a:moveTo>
                  <a:cubicBezTo>
                    <a:pt x="0" y="137033"/>
                    <a:pt x="137033" y="0"/>
                    <a:pt x="306197" y="0"/>
                  </a:cubicBezTo>
                  <a:lnTo>
                    <a:pt x="7523353" y="0"/>
                  </a:lnTo>
                  <a:cubicBezTo>
                    <a:pt x="7692517" y="0"/>
                    <a:pt x="7829550" y="137033"/>
                    <a:pt x="7829550" y="306197"/>
                  </a:cubicBezTo>
                  <a:lnTo>
                    <a:pt x="7829550" y="3903853"/>
                  </a:lnTo>
                  <a:cubicBezTo>
                    <a:pt x="7829550" y="4073017"/>
                    <a:pt x="7692517" y="4210050"/>
                    <a:pt x="7523353" y="4210050"/>
                  </a:cubicBezTo>
                  <a:lnTo>
                    <a:pt x="306197" y="4210050"/>
                  </a:lnTo>
                  <a:cubicBezTo>
                    <a:pt x="137033" y="4210050"/>
                    <a:pt x="0" y="4073017"/>
                    <a:pt x="0" y="3903853"/>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500188" y="4786312"/>
            <a:ext cx="1857375" cy="428625"/>
            <a:chOff x="0" y="0"/>
            <a:chExt cx="2476500" cy="571500"/>
          </a:xfrm>
        </p:grpSpPr>
        <p:sp>
          <p:nvSpPr>
            <p:cNvPr name="Freeform 11" id="11"/>
            <p:cNvSpPr/>
            <p:nvPr/>
          </p:nvSpPr>
          <p:spPr>
            <a:xfrm flipH="false" flipV="false" rot="0">
              <a:off x="0" y="0"/>
              <a:ext cx="2476500" cy="571500"/>
            </a:xfrm>
            <a:custGeom>
              <a:avLst/>
              <a:gdLst/>
              <a:ahLst/>
              <a:cxnLst/>
              <a:rect r="r" b="b" t="t" l="l"/>
              <a:pathLst>
                <a:path h="571500" w="2476500">
                  <a:moveTo>
                    <a:pt x="0" y="285750"/>
                  </a:moveTo>
                  <a:cubicBezTo>
                    <a:pt x="0" y="127889"/>
                    <a:pt x="127889" y="0"/>
                    <a:pt x="285750" y="0"/>
                  </a:cubicBezTo>
                  <a:lnTo>
                    <a:pt x="2190750" y="0"/>
                  </a:lnTo>
                  <a:cubicBezTo>
                    <a:pt x="2348611" y="0"/>
                    <a:pt x="2476500" y="127889"/>
                    <a:pt x="2476500" y="285750"/>
                  </a:cubicBezTo>
                  <a:cubicBezTo>
                    <a:pt x="2476500" y="443611"/>
                    <a:pt x="2348611" y="571500"/>
                    <a:pt x="219075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47650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CONTENT ONLY</a:t>
              </a:r>
            </a:p>
          </p:txBody>
        </p:sp>
      </p:grpSp>
      <p:sp>
        <p:nvSpPr>
          <p:cNvPr name="TextBox 13" id="13"/>
          <p:cNvSpPr txBox="true"/>
          <p:nvPr/>
        </p:nvSpPr>
        <p:spPr>
          <a:xfrm rot="0">
            <a:off x="1500188" y="5572125"/>
            <a:ext cx="4983021" cy="390525"/>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Watch → pause → search → stall</a:t>
            </a:r>
          </a:p>
        </p:txBody>
      </p:sp>
      <p:sp>
        <p:nvSpPr>
          <p:cNvPr name="TextBox 14" id="14"/>
          <p:cNvSpPr txBox="true"/>
          <p:nvPr/>
        </p:nvSpPr>
        <p:spPr>
          <a:xfrm rot="0">
            <a:off x="1500188" y="6315075"/>
            <a:ext cx="4672012" cy="542925"/>
          </a:xfrm>
          <a:prstGeom prst="rect">
            <a:avLst/>
          </a:prstGeom>
        </p:spPr>
        <p:txBody>
          <a:bodyPr anchor="t" rtlCol="false" tIns="0" lIns="0" bIns="0" rIns="0">
            <a:spAutoFit/>
          </a:bodyPr>
          <a:lstStyle/>
          <a:p>
            <a:pPr algn="l">
              <a:lnSpc>
                <a:spcPts val="2137"/>
              </a:lnSpc>
            </a:pPr>
            <a:r>
              <a:rPr lang="en-US" sz="1781">
                <a:solidFill>
                  <a:srgbClr val="2D180B"/>
                </a:solidFill>
                <a:latin typeface="Lato"/>
                <a:ea typeface="Lato"/>
                <a:cs typeface="Lato"/>
                <a:sym typeface="Lato"/>
              </a:rPr>
              <a:t>The learner has to translate theory into the next action alone.</a:t>
            </a:r>
          </a:p>
        </p:txBody>
      </p:sp>
      <p:sp>
        <p:nvSpPr>
          <p:cNvPr name="AutoShape 15" id="15"/>
          <p:cNvSpPr/>
          <p:nvPr/>
        </p:nvSpPr>
        <p:spPr>
          <a:xfrm>
            <a:off x="7528822" y="5791203"/>
            <a:ext cx="2658856" cy="0"/>
          </a:xfrm>
          <a:prstGeom prst="line">
            <a:avLst/>
          </a:prstGeom>
          <a:ln cap="rnd" w="47625">
            <a:solidFill>
              <a:srgbClr val="FFF6E9"/>
            </a:solidFill>
            <a:prstDash val="solid"/>
            <a:headEnd type="none" len="sm" w="sm"/>
            <a:tailEnd type="none" len="sm" w="sm"/>
          </a:ln>
        </p:spPr>
      </p:sp>
      <p:grpSp>
        <p:nvGrpSpPr>
          <p:cNvPr name="Group 16" id="16"/>
          <p:cNvGrpSpPr/>
          <p:nvPr/>
        </p:nvGrpSpPr>
        <p:grpSpPr>
          <a:xfrm rot="0">
            <a:off x="8458200" y="5434016"/>
            <a:ext cx="714375" cy="714375"/>
            <a:chOff x="0" y="0"/>
            <a:chExt cx="952500" cy="952500"/>
          </a:xfrm>
        </p:grpSpPr>
        <p:sp>
          <p:nvSpPr>
            <p:cNvPr name="Freeform 17" id="1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F6E9"/>
            </a:solidFill>
            <a:ln cap="sq">
              <a:noFill/>
              <a:prstDash val="solid"/>
              <a:miter/>
            </a:ln>
          </p:spPr>
        </p:sp>
        <p:sp>
          <p:nvSpPr>
            <p:cNvPr name="TextBox 18" id="18"/>
            <p:cNvSpPr txBox="true"/>
            <p:nvPr/>
          </p:nvSpPr>
          <p:spPr>
            <a:xfrm>
              <a:off x="0" y="0"/>
              <a:ext cx="952500" cy="952500"/>
            </a:xfrm>
            <a:prstGeom prst="rect">
              <a:avLst/>
            </a:prstGeom>
          </p:spPr>
          <p:txBody>
            <a:bodyPr anchor="ctr" rtlCol="false" tIns="50800" lIns="50800" bIns="50800" rIns="50800"/>
            <a:lstStyle/>
            <a:p>
              <a:pPr algn="ctr">
                <a:lnSpc>
                  <a:spcPts val="3779"/>
                </a:lnSpc>
              </a:pPr>
              <a:r>
                <a:rPr lang="en-US" sz="3150" b="true">
                  <a:solidFill>
                    <a:srgbClr val="C45300"/>
                  </a:solidFill>
                  <a:latin typeface="Lato Bold"/>
                  <a:ea typeface="Lato Bold"/>
                  <a:cs typeface="Lato Bold"/>
                  <a:sym typeface="Lato Bold"/>
                </a:rPr>
                <a:t>→</a:t>
              </a:r>
            </a:p>
          </p:txBody>
        </p:sp>
      </p:grpSp>
      <p:grpSp>
        <p:nvGrpSpPr>
          <p:cNvPr name="Group 19" id="19"/>
          <p:cNvGrpSpPr/>
          <p:nvPr/>
        </p:nvGrpSpPr>
        <p:grpSpPr>
          <a:xfrm rot="0">
            <a:off x="10537031" y="4279106"/>
            <a:ext cx="6729412" cy="3157538"/>
            <a:chOff x="0" y="0"/>
            <a:chExt cx="8972550" cy="4210050"/>
          </a:xfrm>
        </p:grpSpPr>
        <p:sp>
          <p:nvSpPr>
            <p:cNvPr name="Freeform 20" id="20"/>
            <p:cNvSpPr/>
            <p:nvPr/>
          </p:nvSpPr>
          <p:spPr>
            <a:xfrm flipH="false" flipV="false" rot="0">
              <a:off x="0" y="0"/>
              <a:ext cx="8972550" cy="4210050"/>
            </a:xfrm>
            <a:custGeom>
              <a:avLst/>
              <a:gdLst/>
              <a:ahLst/>
              <a:cxnLst/>
              <a:rect r="r" b="b" t="t" l="l"/>
              <a:pathLst>
                <a:path h="4210050" w="8972550">
                  <a:moveTo>
                    <a:pt x="0" y="306197"/>
                  </a:moveTo>
                  <a:cubicBezTo>
                    <a:pt x="0" y="137033"/>
                    <a:pt x="137033" y="0"/>
                    <a:pt x="306197" y="0"/>
                  </a:cubicBezTo>
                  <a:lnTo>
                    <a:pt x="8666353" y="0"/>
                  </a:lnTo>
                  <a:cubicBezTo>
                    <a:pt x="8835517" y="0"/>
                    <a:pt x="8972550" y="137033"/>
                    <a:pt x="8972550" y="306197"/>
                  </a:cubicBezTo>
                  <a:lnTo>
                    <a:pt x="8972550" y="3903853"/>
                  </a:lnTo>
                  <a:cubicBezTo>
                    <a:pt x="8972550" y="4073017"/>
                    <a:pt x="8835517" y="4210050"/>
                    <a:pt x="8666353" y="4210050"/>
                  </a:cubicBezTo>
                  <a:lnTo>
                    <a:pt x="306197" y="4210050"/>
                  </a:lnTo>
                  <a:cubicBezTo>
                    <a:pt x="137033" y="4210050"/>
                    <a:pt x="0" y="4073017"/>
                    <a:pt x="0" y="3903853"/>
                  </a:cubicBezTo>
                  <a:close/>
                </a:path>
              </a:pathLst>
            </a:custGeom>
            <a:solidFill>
              <a:srgbClr val="FFF6E9"/>
            </a:solidFill>
            <a:ln w="14288" cap="sq">
              <a:solidFill>
                <a:srgbClr val="FFF6E9"/>
              </a:solidFill>
              <a:prstDash val="solid"/>
              <a:miter/>
            </a:ln>
          </p:spPr>
        </p:sp>
      </p:grpSp>
      <p:grpSp>
        <p:nvGrpSpPr>
          <p:cNvPr name="Group 21" id="21"/>
          <p:cNvGrpSpPr/>
          <p:nvPr/>
        </p:nvGrpSpPr>
        <p:grpSpPr>
          <a:xfrm rot="0">
            <a:off x="11029950" y="4786312"/>
            <a:ext cx="1285875" cy="428625"/>
            <a:chOff x="0" y="0"/>
            <a:chExt cx="1714500" cy="571500"/>
          </a:xfrm>
        </p:grpSpPr>
        <p:sp>
          <p:nvSpPr>
            <p:cNvPr name="Freeform 22" id="22"/>
            <p:cNvSpPr/>
            <p:nvPr/>
          </p:nvSpPr>
          <p:spPr>
            <a:xfrm flipH="false" flipV="false" rot="0">
              <a:off x="0" y="0"/>
              <a:ext cx="1714500" cy="571500"/>
            </a:xfrm>
            <a:custGeom>
              <a:avLst/>
              <a:gdLst/>
              <a:ahLst/>
              <a:cxnLst/>
              <a:rect r="r" b="b" t="t" l="l"/>
              <a:pathLst>
                <a:path h="571500" w="1714500">
                  <a:moveTo>
                    <a:pt x="0" y="285750"/>
                  </a:moveTo>
                  <a:cubicBezTo>
                    <a:pt x="0" y="127889"/>
                    <a:pt x="127889" y="0"/>
                    <a:pt x="285750" y="0"/>
                  </a:cubicBezTo>
                  <a:lnTo>
                    <a:pt x="1428750" y="0"/>
                  </a:lnTo>
                  <a:cubicBezTo>
                    <a:pt x="1586611" y="0"/>
                    <a:pt x="1714500" y="127889"/>
                    <a:pt x="1714500" y="285750"/>
                  </a:cubicBezTo>
                  <a:cubicBezTo>
                    <a:pt x="1714500" y="443611"/>
                    <a:pt x="1586611" y="571500"/>
                    <a:pt x="14287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23" id="23"/>
            <p:cNvSpPr txBox="true"/>
            <p:nvPr/>
          </p:nvSpPr>
          <p:spPr>
            <a:xfrm>
              <a:off x="0" y="0"/>
              <a:ext cx="1714500" cy="5715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BATAA</a:t>
              </a:r>
            </a:p>
          </p:txBody>
        </p:sp>
      </p:grpSp>
      <p:sp>
        <p:nvSpPr>
          <p:cNvPr name="TextBox 24" id="24"/>
          <p:cNvSpPr txBox="true"/>
          <p:nvPr/>
        </p:nvSpPr>
        <p:spPr>
          <a:xfrm rot="0">
            <a:off x="11029950" y="5562600"/>
            <a:ext cx="5962155" cy="428625"/>
          </a:xfrm>
          <a:prstGeom prst="rect">
            <a:avLst/>
          </a:prstGeom>
        </p:spPr>
        <p:txBody>
          <a:bodyPr anchor="t" rtlCol="false" tIns="0" lIns="0" bIns="0" rIns="0">
            <a:spAutoFit/>
          </a:bodyPr>
          <a:lstStyle/>
          <a:p>
            <a:pPr algn="l">
              <a:lnSpc>
                <a:spcPts val="3345"/>
              </a:lnSpc>
            </a:pPr>
            <a:r>
              <a:rPr lang="en-US" sz="2787" b="true">
                <a:solidFill>
                  <a:srgbClr val="2D180B"/>
                </a:solidFill>
                <a:latin typeface="Lato Bold"/>
                <a:ea typeface="Lato Bold"/>
                <a:cs typeface="Lato Bold"/>
                <a:sym typeface="Lato Bold"/>
              </a:rPr>
              <a:t>Try → get feedback → keep moving</a:t>
            </a:r>
          </a:p>
        </p:txBody>
      </p:sp>
      <p:sp>
        <p:nvSpPr>
          <p:cNvPr name="TextBox 25" id="25"/>
          <p:cNvSpPr txBox="true"/>
          <p:nvPr/>
        </p:nvSpPr>
        <p:spPr>
          <a:xfrm rot="0">
            <a:off x="11029950" y="6315075"/>
            <a:ext cx="5829300" cy="276225"/>
          </a:xfrm>
          <a:prstGeom prst="rect">
            <a:avLst/>
          </a:prstGeom>
        </p:spPr>
        <p:txBody>
          <a:bodyPr anchor="t" rtlCol="false" tIns="0" lIns="0" bIns="0" rIns="0">
            <a:spAutoFit/>
          </a:bodyPr>
          <a:lstStyle/>
          <a:p>
            <a:pPr algn="l">
              <a:lnSpc>
                <a:spcPts val="2137"/>
              </a:lnSpc>
            </a:pPr>
            <a:r>
              <a:rPr lang="en-US" sz="1781">
                <a:solidFill>
                  <a:srgbClr val="895F3C"/>
                </a:solidFill>
                <a:latin typeface="Lato"/>
                <a:ea typeface="Lato"/>
                <a:cs typeface="Lato"/>
                <a:sym typeface="Lato"/>
              </a:rPr>
              <a:t>The next step appears beside the work, in plain English.</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2D180B"/>
                </a:solidFill>
                <a:latin typeface="Lato"/>
                <a:ea typeface="Lato"/>
                <a:cs typeface="Lato"/>
                <a:sym typeface="Lato"/>
              </a:rPr>
              <a:t>Product insight · contextual help at the moment of action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Freeform 3" id="3"/>
          <p:cNvSpPr/>
          <p:nvPr/>
        </p:nvSpPr>
        <p:spPr>
          <a:xfrm flipH="false" flipV="false" rot="0">
            <a:off x="9942456" y="2854925"/>
            <a:ext cx="4772970" cy="7159455"/>
          </a:xfrm>
          <a:custGeom>
            <a:avLst/>
            <a:gdLst/>
            <a:ahLst/>
            <a:cxnLst/>
            <a:rect r="r" b="b" t="t" l="l"/>
            <a:pathLst>
              <a:path h="7159455" w="4772970">
                <a:moveTo>
                  <a:pt x="0" y="0"/>
                </a:moveTo>
                <a:lnTo>
                  <a:pt x="4772970" y="0"/>
                </a:lnTo>
                <a:lnTo>
                  <a:pt x="4772970" y="7159456"/>
                </a:lnTo>
                <a:lnTo>
                  <a:pt x="0" y="7159456"/>
                </a:lnTo>
                <a:lnTo>
                  <a:pt x="0" y="0"/>
                </a:lnTo>
                <a:close/>
              </a:path>
            </a:pathLst>
          </a:custGeom>
          <a:blipFill>
            <a:blip r:embed="rId3"/>
            <a:stretch>
              <a:fillRect l="0" t="0" r="0" b="0"/>
            </a:stretch>
          </a:blipFill>
        </p:spPr>
      </p:sp>
      <p:sp>
        <p:nvSpPr>
          <p:cNvPr name="Freeform 4" id="4"/>
          <p:cNvSpPr/>
          <p:nvPr/>
        </p:nvSpPr>
        <p:spPr>
          <a:xfrm flipH="false" flipV="false" rot="0">
            <a:off x="0" y="3000344"/>
            <a:ext cx="9865791" cy="5555674"/>
          </a:xfrm>
          <a:custGeom>
            <a:avLst/>
            <a:gdLst/>
            <a:ahLst/>
            <a:cxnLst/>
            <a:rect r="r" b="b" t="t" l="l"/>
            <a:pathLst>
              <a:path h="5555674" w="9865791">
                <a:moveTo>
                  <a:pt x="0" y="0"/>
                </a:moveTo>
                <a:lnTo>
                  <a:pt x="9865791" y="0"/>
                </a:lnTo>
                <a:lnTo>
                  <a:pt x="9865791" y="5555673"/>
                </a:lnTo>
                <a:lnTo>
                  <a:pt x="0" y="5555673"/>
                </a:lnTo>
                <a:lnTo>
                  <a:pt x="0" y="0"/>
                </a:lnTo>
                <a:close/>
              </a:path>
            </a:pathLst>
          </a:custGeom>
          <a:blipFill>
            <a:blip r:embed="rId4"/>
            <a:stretch>
              <a:fillRect l="0" t="0" r="0" b="0"/>
            </a:stretch>
          </a:blipFill>
        </p:spPr>
      </p:sp>
      <p:sp>
        <p:nvSpPr>
          <p:cNvPr name="TextBox 5" id="5"/>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6" id="6"/>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PRODUCT</a:t>
            </a:r>
          </a:p>
        </p:txBody>
      </p:sp>
      <p:sp>
        <p:nvSpPr>
          <p:cNvPr name="TextBox 7" id="7"/>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05</a:t>
            </a:r>
          </a:p>
        </p:txBody>
      </p:sp>
      <p:sp>
        <p:nvSpPr>
          <p:cNvPr name="TextBox 8" id="8"/>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One product, two moments</a:t>
            </a:r>
          </a:p>
        </p:txBody>
      </p:sp>
      <p:sp>
        <p:nvSpPr>
          <p:cNvPr name="TextBox 9" id="9"/>
          <p:cNvSpPr txBox="true"/>
          <p:nvPr/>
        </p:nvSpPr>
        <p:spPr>
          <a:xfrm rot="0">
            <a:off x="1020304" y="2483450"/>
            <a:ext cx="14476439"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The same learning loop follows the learner from a spare minute to the tool where the work happens.</a:t>
            </a:r>
          </a:p>
        </p:txBody>
      </p:sp>
      <p:sp>
        <p:nvSpPr>
          <p:cNvPr name="TextBox 10" id="10"/>
          <p:cNvSpPr txBox="true"/>
          <p:nvPr/>
        </p:nvSpPr>
        <p:spPr>
          <a:xfrm rot="0">
            <a:off x="14872836" y="5463856"/>
            <a:ext cx="2428875" cy="314325"/>
          </a:xfrm>
          <a:prstGeom prst="rect">
            <a:avLst/>
          </a:prstGeom>
        </p:spPr>
        <p:txBody>
          <a:bodyPr anchor="t" rtlCol="false" tIns="0" lIns="0" bIns="0" rIns="0">
            <a:spAutoFit/>
          </a:bodyPr>
          <a:lstStyle/>
          <a:p>
            <a:pPr algn="l">
              <a:lnSpc>
                <a:spcPts val="1755"/>
              </a:lnSpc>
            </a:pPr>
            <a:r>
              <a:rPr lang="en-US" sz="1462" b="true">
                <a:solidFill>
                  <a:srgbClr val="C45300"/>
                </a:solidFill>
                <a:latin typeface="Lato Bold"/>
                <a:ea typeface="Lato Bold"/>
                <a:cs typeface="Lato Bold"/>
                <a:sym typeface="Lato Bold"/>
              </a:rPr>
              <a:t>MOBILE</a:t>
            </a:r>
          </a:p>
        </p:txBody>
      </p:sp>
      <p:sp>
        <p:nvSpPr>
          <p:cNvPr name="TextBox 11" id="11"/>
          <p:cNvSpPr txBox="true"/>
          <p:nvPr/>
        </p:nvSpPr>
        <p:spPr>
          <a:xfrm rot="0">
            <a:off x="14872836" y="5778181"/>
            <a:ext cx="2857500" cy="785812"/>
          </a:xfrm>
          <a:prstGeom prst="rect">
            <a:avLst/>
          </a:prstGeom>
        </p:spPr>
        <p:txBody>
          <a:bodyPr anchor="t" rtlCol="false" tIns="0" lIns="0" bIns="0" rIns="0">
            <a:spAutoFit/>
          </a:bodyPr>
          <a:lstStyle/>
          <a:p>
            <a:pPr algn="l">
              <a:lnSpc>
                <a:spcPts val="3093"/>
              </a:lnSpc>
            </a:pPr>
            <a:r>
              <a:rPr lang="en-US" sz="2578" b="true">
                <a:solidFill>
                  <a:srgbClr val="2D180B"/>
                </a:solidFill>
                <a:latin typeface="Lato Bold"/>
                <a:ea typeface="Lato Bold"/>
                <a:cs typeface="Lato Bold"/>
                <a:sym typeface="Lato Bold"/>
              </a:rPr>
              <a:t>Keep momentum anywhere</a:t>
            </a:r>
          </a:p>
        </p:txBody>
      </p:sp>
      <p:sp>
        <p:nvSpPr>
          <p:cNvPr name="TextBox 12" id="12"/>
          <p:cNvSpPr txBox="true"/>
          <p:nvPr/>
        </p:nvSpPr>
        <p:spPr>
          <a:xfrm rot="0">
            <a:off x="14872836" y="6744968"/>
            <a:ext cx="2714625" cy="1038225"/>
          </a:xfrm>
          <a:prstGeom prst="rect">
            <a:avLst/>
          </a:prstGeom>
        </p:spPr>
        <p:txBody>
          <a:bodyPr anchor="t" rtlCol="false" tIns="0" lIns="0" bIns="0" rIns="0">
            <a:spAutoFit/>
          </a:bodyPr>
          <a:lstStyle/>
          <a:p>
            <a:pPr algn="l">
              <a:lnSpc>
                <a:spcPts val="2039"/>
              </a:lnSpc>
            </a:pPr>
            <a:r>
              <a:rPr lang="en-US" sz="1699">
                <a:solidFill>
                  <a:srgbClr val="895F3C"/>
                </a:solidFill>
                <a:latin typeface="Lato"/>
                <a:ea typeface="Lato"/>
                <a:cs typeface="Lato"/>
                <a:sym typeface="Lato"/>
              </a:rPr>
              <a:t>Short daily tasks make progress possible in transit, between classes, or at home.</a:t>
            </a:r>
          </a:p>
        </p:txBody>
      </p:sp>
      <p:sp>
        <p:nvSpPr>
          <p:cNvPr name="TextBox 13" id="13"/>
          <p:cNvSpPr txBox="true"/>
          <p:nvPr/>
        </p:nvSpPr>
        <p:spPr>
          <a:xfrm rot="0">
            <a:off x="1392101" y="8822976"/>
            <a:ext cx="2428875" cy="314325"/>
          </a:xfrm>
          <a:prstGeom prst="rect">
            <a:avLst/>
          </a:prstGeom>
        </p:spPr>
        <p:txBody>
          <a:bodyPr anchor="t" rtlCol="false" tIns="0" lIns="0" bIns="0" rIns="0">
            <a:spAutoFit/>
          </a:bodyPr>
          <a:lstStyle/>
          <a:p>
            <a:pPr algn="l">
              <a:lnSpc>
                <a:spcPts val="1755"/>
              </a:lnSpc>
            </a:pPr>
            <a:r>
              <a:rPr lang="en-US" b="true" sz="1462">
                <a:solidFill>
                  <a:srgbClr val="F27C00"/>
                </a:solidFill>
                <a:latin typeface="Lato Bold"/>
                <a:ea typeface="Lato Bold"/>
                <a:cs typeface="Lato Bold"/>
                <a:sym typeface="Lato Bold"/>
              </a:rPr>
              <a:t>DESKTOP</a:t>
            </a:r>
          </a:p>
        </p:txBody>
      </p:sp>
      <p:sp>
        <p:nvSpPr>
          <p:cNvPr name="TextBox 14" id="14"/>
          <p:cNvSpPr txBox="true"/>
          <p:nvPr/>
        </p:nvSpPr>
        <p:spPr>
          <a:xfrm rot="0">
            <a:off x="1392101" y="9178234"/>
            <a:ext cx="3559448" cy="466725"/>
          </a:xfrm>
          <a:prstGeom prst="rect">
            <a:avLst/>
          </a:prstGeom>
        </p:spPr>
        <p:txBody>
          <a:bodyPr anchor="t" rtlCol="false" tIns="0" lIns="0" bIns="0" rIns="0">
            <a:spAutoFit/>
          </a:bodyPr>
          <a:lstStyle/>
          <a:p>
            <a:pPr algn="l">
              <a:lnSpc>
                <a:spcPts val="3644"/>
              </a:lnSpc>
            </a:pPr>
            <a:r>
              <a:rPr lang="en-US" sz="3037" b="true">
                <a:solidFill>
                  <a:srgbClr val="2D180B"/>
                </a:solidFill>
                <a:latin typeface="Lato Bold"/>
                <a:ea typeface="Lato Bold"/>
                <a:cs typeface="Lato Bold"/>
                <a:sym typeface="Lato Bold"/>
              </a:rPr>
              <a:t>Guide inside the tool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18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grpSp>
        <p:nvGrpSpPr>
          <p:cNvPr name="Group 3" id="3"/>
          <p:cNvGrpSpPr/>
          <p:nvPr/>
        </p:nvGrpSpPr>
        <p:grpSpPr>
          <a:xfrm rot="0">
            <a:off x="971550" y="3714750"/>
            <a:ext cx="9858375" cy="5143500"/>
            <a:chOff x="0" y="0"/>
            <a:chExt cx="13144500" cy="6858000"/>
          </a:xfrm>
        </p:grpSpPr>
        <p:sp>
          <p:nvSpPr>
            <p:cNvPr name="Freeform 4" id="4"/>
            <p:cNvSpPr/>
            <p:nvPr/>
          </p:nvSpPr>
          <p:spPr>
            <a:xfrm flipH="false" flipV="false" rot="0">
              <a:off x="0" y="0"/>
              <a:ext cx="13144500" cy="6858000"/>
            </a:xfrm>
            <a:custGeom>
              <a:avLst/>
              <a:gdLst/>
              <a:ahLst/>
              <a:cxnLst/>
              <a:rect r="r" b="b" t="t" l="l"/>
              <a:pathLst>
                <a:path h="6858000" w="13144500">
                  <a:moveTo>
                    <a:pt x="317500" y="0"/>
                  </a:moveTo>
                  <a:lnTo>
                    <a:pt x="12827000" y="0"/>
                  </a:lnTo>
                  <a:cubicBezTo>
                    <a:pt x="13002351" y="0"/>
                    <a:pt x="13144500" y="142150"/>
                    <a:pt x="13144500" y="317500"/>
                  </a:cubicBezTo>
                  <a:lnTo>
                    <a:pt x="13144500" y="6540500"/>
                  </a:lnTo>
                  <a:cubicBezTo>
                    <a:pt x="13144500" y="6715851"/>
                    <a:pt x="13002351" y="6858000"/>
                    <a:pt x="12827000" y="6858000"/>
                  </a:cubicBezTo>
                  <a:lnTo>
                    <a:pt x="317500" y="6858000"/>
                  </a:lnTo>
                  <a:cubicBezTo>
                    <a:pt x="142150" y="6858000"/>
                    <a:pt x="0" y="6715851"/>
                    <a:pt x="0" y="6540500"/>
                  </a:cubicBezTo>
                  <a:lnTo>
                    <a:pt x="0" y="317500"/>
                  </a:lnTo>
                  <a:cubicBezTo>
                    <a:pt x="0" y="142150"/>
                    <a:pt x="142150" y="0"/>
                    <a:pt x="317500" y="0"/>
                  </a:cubicBezTo>
                  <a:close/>
                </a:path>
              </a:pathLst>
            </a:custGeom>
            <a:blipFill>
              <a:blip r:embed="rId3"/>
              <a:stretch>
                <a:fillRect l="0" t="-3966" r="0" b="-3966"/>
              </a:stretch>
            </a:blipFill>
          </p:spPr>
        </p:sp>
      </p:grpSp>
      <p:grpSp>
        <p:nvGrpSpPr>
          <p:cNvPr name="Group 5" id="5"/>
          <p:cNvGrpSpPr/>
          <p:nvPr/>
        </p:nvGrpSpPr>
        <p:grpSpPr>
          <a:xfrm rot="0">
            <a:off x="11537156" y="3850481"/>
            <a:ext cx="5372100" cy="4700588"/>
            <a:chOff x="0" y="0"/>
            <a:chExt cx="7162800" cy="6267450"/>
          </a:xfrm>
        </p:grpSpPr>
        <p:sp>
          <p:nvSpPr>
            <p:cNvPr name="Freeform 6" id="6"/>
            <p:cNvSpPr/>
            <p:nvPr/>
          </p:nvSpPr>
          <p:spPr>
            <a:xfrm flipH="false" flipV="false" rot="0">
              <a:off x="0" y="0"/>
              <a:ext cx="7162800" cy="6267450"/>
            </a:xfrm>
            <a:custGeom>
              <a:avLst/>
              <a:gdLst/>
              <a:ahLst/>
              <a:cxnLst/>
              <a:rect r="r" b="b" t="t" l="l"/>
              <a:pathLst>
                <a:path h="6267450" w="7162800">
                  <a:moveTo>
                    <a:pt x="0" y="305689"/>
                  </a:moveTo>
                  <a:cubicBezTo>
                    <a:pt x="0" y="136906"/>
                    <a:pt x="136906" y="0"/>
                    <a:pt x="305689" y="0"/>
                  </a:cubicBezTo>
                  <a:lnTo>
                    <a:pt x="6857111" y="0"/>
                  </a:lnTo>
                  <a:cubicBezTo>
                    <a:pt x="7025894" y="0"/>
                    <a:pt x="7162800" y="136906"/>
                    <a:pt x="7162800" y="305689"/>
                  </a:cubicBezTo>
                  <a:lnTo>
                    <a:pt x="7162800" y="5961761"/>
                  </a:lnTo>
                  <a:cubicBezTo>
                    <a:pt x="7162800" y="6130671"/>
                    <a:pt x="7025894" y="6267450"/>
                    <a:pt x="6857111" y="6267450"/>
                  </a:cubicBezTo>
                  <a:lnTo>
                    <a:pt x="305689" y="6267450"/>
                  </a:lnTo>
                  <a:cubicBezTo>
                    <a:pt x="136906" y="6267450"/>
                    <a:pt x="0" y="6130544"/>
                    <a:pt x="0" y="5961761"/>
                  </a:cubicBezTo>
                  <a:close/>
                </a:path>
              </a:pathLst>
            </a:custGeom>
            <a:solidFill>
              <a:srgbClr val="2B1910"/>
            </a:solidFill>
            <a:ln w="14288" cap="sq">
              <a:solidFill>
                <a:srgbClr val="5D3B27"/>
              </a:solidFill>
              <a:prstDash val="solid"/>
              <a:miter/>
            </a:ln>
          </p:spPr>
        </p:sp>
      </p:grpSp>
      <p:grpSp>
        <p:nvGrpSpPr>
          <p:cNvPr name="Group 7" id="7"/>
          <p:cNvGrpSpPr/>
          <p:nvPr/>
        </p:nvGrpSpPr>
        <p:grpSpPr>
          <a:xfrm rot="0">
            <a:off x="11972925" y="4371975"/>
            <a:ext cx="514350" cy="514350"/>
            <a:chOff x="0" y="0"/>
            <a:chExt cx="685800" cy="685800"/>
          </a:xfrm>
        </p:grpSpPr>
        <p:sp>
          <p:nvSpPr>
            <p:cNvPr name="Freeform 8" id="8"/>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9" id="9"/>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01</a:t>
              </a:r>
            </a:p>
          </p:txBody>
        </p:sp>
      </p:grpSp>
      <p:grpSp>
        <p:nvGrpSpPr>
          <p:cNvPr name="Group 10" id="10"/>
          <p:cNvGrpSpPr/>
          <p:nvPr/>
        </p:nvGrpSpPr>
        <p:grpSpPr>
          <a:xfrm rot="0">
            <a:off x="11972925" y="5614988"/>
            <a:ext cx="514350" cy="514350"/>
            <a:chOff x="0" y="0"/>
            <a:chExt cx="685800" cy="685800"/>
          </a:xfrm>
        </p:grpSpPr>
        <p:sp>
          <p:nvSpPr>
            <p:cNvPr name="Freeform 11" id="11"/>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8500"/>
            </a:solidFill>
            <a:ln cap="sq">
              <a:noFill/>
              <a:prstDash val="solid"/>
              <a:miter/>
            </a:ln>
          </p:spPr>
        </p:sp>
        <p:sp>
          <p:nvSpPr>
            <p:cNvPr name="TextBox 12" id="12"/>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02</a:t>
              </a:r>
            </a:p>
          </p:txBody>
        </p:sp>
      </p:grpSp>
      <p:grpSp>
        <p:nvGrpSpPr>
          <p:cNvPr name="Group 13" id="13"/>
          <p:cNvGrpSpPr/>
          <p:nvPr/>
        </p:nvGrpSpPr>
        <p:grpSpPr>
          <a:xfrm rot="0">
            <a:off x="11972925" y="6858000"/>
            <a:ext cx="514350" cy="514350"/>
            <a:chOff x="0" y="0"/>
            <a:chExt cx="685800" cy="685800"/>
          </a:xfrm>
        </p:grpSpPr>
        <p:sp>
          <p:nvSpPr>
            <p:cNvPr name="Freeform 14" id="14"/>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sp>
        <p:sp>
          <p:nvSpPr>
            <p:cNvPr name="TextBox 15" id="15"/>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03</a:t>
              </a:r>
            </a:p>
          </p:txBody>
        </p:sp>
      </p:grpSp>
      <p:sp>
        <p:nvSpPr>
          <p:cNvPr name="TextBox 16" id="16"/>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17" id="17"/>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DESKTOP GUIDANCE</a:t>
            </a:r>
          </a:p>
        </p:txBody>
      </p:sp>
      <p:sp>
        <p:nvSpPr>
          <p:cNvPr name="TextBox 18" id="18"/>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19" id="19"/>
          <p:cNvSpPr txBox="true"/>
          <p:nvPr/>
        </p:nvSpPr>
        <p:spPr>
          <a:xfrm rot="0">
            <a:off x="914400" y="1485900"/>
            <a:ext cx="13473112" cy="600075"/>
          </a:xfrm>
          <a:prstGeom prst="rect">
            <a:avLst/>
          </a:prstGeom>
        </p:spPr>
        <p:txBody>
          <a:bodyPr anchor="t" rtlCol="false" tIns="0" lIns="0" bIns="0" rIns="0">
            <a:spAutoFit/>
          </a:bodyPr>
          <a:lstStyle/>
          <a:p>
            <a:pPr algn="l">
              <a:lnSpc>
                <a:spcPts val="4743"/>
              </a:lnSpc>
            </a:pPr>
            <a:r>
              <a:rPr lang="en-US" sz="3953" b="true">
                <a:solidFill>
                  <a:srgbClr val="FFF6E9"/>
                </a:solidFill>
                <a:latin typeface="Lato Bold"/>
                <a:ea typeface="Lato Bold"/>
                <a:cs typeface="Lato Bold"/>
                <a:sym typeface="Lato Bold"/>
              </a:rPr>
              <a:t>Desktop guidance meets the learner where work happens</a:t>
            </a:r>
          </a:p>
        </p:txBody>
      </p:sp>
      <p:sp>
        <p:nvSpPr>
          <p:cNvPr name="TextBox 20" id="20"/>
          <p:cNvSpPr txBox="true"/>
          <p:nvPr/>
        </p:nvSpPr>
        <p:spPr>
          <a:xfrm rot="0">
            <a:off x="907259" y="2276475"/>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For 3D, code, and other tools, Bataa can point to the next action instead of describing it from a distance.</a:t>
            </a:r>
          </a:p>
        </p:txBody>
      </p:sp>
      <p:sp>
        <p:nvSpPr>
          <p:cNvPr name="TextBox 21" id="21"/>
          <p:cNvSpPr txBox="true"/>
          <p:nvPr/>
        </p:nvSpPr>
        <p:spPr>
          <a:xfrm rot="0">
            <a:off x="12744450" y="4343400"/>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Notice</a:t>
            </a:r>
          </a:p>
        </p:txBody>
      </p:sp>
      <p:sp>
        <p:nvSpPr>
          <p:cNvPr name="TextBox 22" id="22"/>
          <p:cNvSpPr txBox="true"/>
          <p:nvPr/>
        </p:nvSpPr>
        <p:spPr>
          <a:xfrm rot="0">
            <a:off x="12744450" y="4729162"/>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Understand what the learner is trying to do</a:t>
            </a:r>
          </a:p>
        </p:txBody>
      </p:sp>
      <p:sp>
        <p:nvSpPr>
          <p:cNvPr name="TextBox 23" id="23"/>
          <p:cNvSpPr txBox="true"/>
          <p:nvPr/>
        </p:nvSpPr>
        <p:spPr>
          <a:xfrm rot="0">
            <a:off x="12744450" y="5586412"/>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Point</a:t>
            </a:r>
          </a:p>
        </p:txBody>
      </p:sp>
      <p:sp>
        <p:nvSpPr>
          <p:cNvPr name="TextBox 24" id="24"/>
          <p:cNvSpPr txBox="true"/>
          <p:nvPr/>
        </p:nvSpPr>
        <p:spPr>
          <a:xfrm rot="0">
            <a:off x="12744450" y="5972175"/>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Highlight the exact control or line to inspect</a:t>
            </a:r>
          </a:p>
        </p:txBody>
      </p:sp>
      <p:sp>
        <p:nvSpPr>
          <p:cNvPr name="TextBox 25" id="25"/>
          <p:cNvSpPr txBox="true"/>
          <p:nvPr/>
        </p:nvSpPr>
        <p:spPr>
          <a:xfrm rot="0">
            <a:off x="12744450" y="6829425"/>
            <a:ext cx="3286125" cy="342900"/>
          </a:xfrm>
          <a:prstGeom prst="rect">
            <a:avLst/>
          </a:prstGeom>
        </p:spPr>
        <p:txBody>
          <a:bodyPr anchor="t" rtlCol="false" tIns="0" lIns="0" bIns="0" rIns="0">
            <a:spAutoFit/>
          </a:bodyPr>
          <a:lstStyle/>
          <a:p>
            <a:pPr algn="l">
              <a:lnSpc>
                <a:spcPts val="2565"/>
              </a:lnSpc>
            </a:pPr>
            <a:r>
              <a:rPr lang="en-US" sz="2137" b="true">
                <a:solidFill>
                  <a:srgbClr val="FFF6E9"/>
                </a:solidFill>
                <a:latin typeface="Lato Bold"/>
                <a:ea typeface="Lato Bold"/>
                <a:cs typeface="Lato Bold"/>
                <a:sym typeface="Lato Bold"/>
              </a:rPr>
              <a:t>Try</a:t>
            </a:r>
          </a:p>
        </p:txBody>
      </p:sp>
      <p:sp>
        <p:nvSpPr>
          <p:cNvPr name="TextBox 26" id="26"/>
          <p:cNvSpPr txBox="true"/>
          <p:nvPr/>
        </p:nvSpPr>
        <p:spPr>
          <a:xfrm rot="0">
            <a:off x="12744450" y="7215188"/>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Let the learner perform the action and see the result</a:t>
            </a:r>
          </a:p>
        </p:txBody>
      </p:sp>
      <p:sp>
        <p:nvSpPr>
          <p:cNvPr name="TextBox 27" id="27"/>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Desktop product visual · guided-project-ai.webp and ai-assisted-coding.webp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1910"/>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3" id="3"/>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Mobile turns spare minutes into practice</a:t>
            </a:r>
          </a:p>
        </p:txBody>
      </p:sp>
      <p:sp>
        <p:nvSpPr>
          <p:cNvPr name="TextBox 4" id="4"/>
          <p:cNvSpPr txBox="true"/>
          <p:nvPr/>
        </p:nvSpPr>
        <p:spPr>
          <a:xfrm rot="0">
            <a:off x="957262" y="2506288"/>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A daily task can fit into the time a learner already has.</a:t>
            </a:r>
          </a:p>
        </p:txBody>
      </p:sp>
      <p:grpSp>
        <p:nvGrpSpPr>
          <p:cNvPr name="Group 5" id="5"/>
          <p:cNvGrpSpPr/>
          <p:nvPr/>
        </p:nvGrpSpPr>
        <p:grpSpPr>
          <a:xfrm rot="0">
            <a:off x="1028700" y="3215889"/>
            <a:ext cx="2947418" cy="5969772"/>
            <a:chOff x="0" y="0"/>
            <a:chExt cx="3583472" cy="7258050"/>
          </a:xfrm>
        </p:grpSpPr>
        <p:sp>
          <p:nvSpPr>
            <p:cNvPr name="Freeform 6" id="6"/>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7" id="7"/>
          <p:cNvGrpSpPr/>
          <p:nvPr/>
        </p:nvGrpSpPr>
        <p:grpSpPr>
          <a:xfrm rot="0">
            <a:off x="1214749" y="3458754"/>
            <a:ext cx="2548575" cy="5515380"/>
            <a:chOff x="0" y="0"/>
            <a:chExt cx="3098559" cy="6705600"/>
          </a:xfrm>
        </p:grpSpPr>
        <p:sp>
          <p:nvSpPr>
            <p:cNvPr name="Freeform 8" id="8"/>
            <p:cNvSpPr/>
            <p:nvPr/>
          </p:nvSpPr>
          <p:spPr>
            <a:xfrm flipH="false" flipV="false" rot="0">
              <a:off x="0" y="0"/>
              <a:ext cx="3098546" cy="6705600"/>
            </a:xfrm>
            <a:custGeom>
              <a:avLst/>
              <a:gdLst/>
              <a:ahLst/>
              <a:cxnLst/>
              <a:rect r="r" b="b" t="t" l="l"/>
              <a:pathLst>
                <a:path h="6705600" w="3098546">
                  <a:moveTo>
                    <a:pt x="289512" y="0"/>
                  </a:moveTo>
                  <a:lnTo>
                    <a:pt x="2809034" y="0"/>
                  </a:lnTo>
                  <a:cubicBezTo>
                    <a:pt x="2885817" y="0"/>
                    <a:pt x="2959456" y="30502"/>
                    <a:pt x="3013750" y="84796"/>
                  </a:cubicBezTo>
                  <a:cubicBezTo>
                    <a:pt x="3068044" y="139090"/>
                    <a:pt x="3098546" y="212729"/>
                    <a:pt x="3098546" y="289512"/>
                  </a:cubicBezTo>
                  <a:lnTo>
                    <a:pt x="3098546" y="6416087"/>
                  </a:lnTo>
                  <a:cubicBezTo>
                    <a:pt x="3098546" y="6575981"/>
                    <a:pt x="2968927" y="6705600"/>
                    <a:pt x="2809034" y="6705600"/>
                  </a:cubicBezTo>
                  <a:lnTo>
                    <a:pt x="289512" y="6705600"/>
                  </a:lnTo>
                  <a:cubicBezTo>
                    <a:pt x="129619" y="6705600"/>
                    <a:pt x="0" y="6575981"/>
                    <a:pt x="0" y="6416087"/>
                  </a:cubicBezTo>
                  <a:lnTo>
                    <a:pt x="0" y="289512"/>
                  </a:lnTo>
                  <a:cubicBezTo>
                    <a:pt x="0" y="129619"/>
                    <a:pt x="129619" y="0"/>
                    <a:pt x="289512" y="0"/>
                  </a:cubicBezTo>
                  <a:close/>
                </a:path>
              </a:pathLst>
            </a:custGeom>
            <a:blipFill>
              <a:blip r:embed="rId3"/>
              <a:stretch>
                <a:fillRect l="0" t="0" r="0" b="0"/>
              </a:stretch>
            </a:blipFill>
          </p:spPr>
        </p:sp>
      </p:grpSp>
      <p:grpSp>
        <p:nvGrpSpPr>
          <p:cNvPr name="Group 9" id="9"/>
          <p:cNvGrpSpPr/>
          <p:nvPr/>
        </p:nvGrpSpPr>
        <p:grpSpPr>
          <a:xfrm rot="0">
            <a:off x="5719818" y="3238579"/>
            <a:ext cx="2925013" cy="5924391"/>
            <a:chOff x="0" y="0"/>
            <a:chExt cx="3583472" cy="7258050"/>
          </a:xfrm>
        </p:grpSpPr>
        <p:sp>
          <p:nvSpPr>
            <p:cNvPr name="Freeform 10" id="10"/>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sp>
      </p:grpSp>
      <p:grpSp>
        <p:nvGrpSpPr>
          <p:cNvPr name="Group 11" id="11"/>
          <p:cNvGrpSpPr/>
          <p:nvPr/>
        </p:nvGrpSpPr>
        <p:grpSpPr>
          <a:xfrm rot="0">
            <a:off x="5917724" y="3448499"/>
            <a:ext cx="2529202" cy="5473453"/>
            <a:chOff x="0" y="0"/>
            <a:chExt cx="3098559" cy="6705600"/>
          </a:xfrm>
        </p:grpSpPr>
        <p:sp>
          <p:nvSpPr>
            <p:cNvPr name="Freeform 12" id="12"/>
            <p:cNvSpPr/>
            <p:nvPr/>
          </p:nvSpPr>
          <p:spPr>
            <a:xfrm flipH="false" flipV="false" rot="0">
              <a:off x="0" y="0"/>
              <a:ext cx="3098546" cy="6705600"/>
            </a:xfrm>
            <a:custGeom>
              <a:avLst/>
              <a:gdLst/>
              <a:ahLst/>
              <a:cxnLst/>
              <a:rect r="r" b="b" t="t" l="l"/>
              <a:pathLst>
                <a:path h="6705600" w="3098546">
                  <a:moveTo>
                    <a:pt x="291730" y="0"/>
                  </a:moveTo>
                  <a:lnTo>
                    <a:pt x="2806816" y="0"/>
                  </a:lnTo>
                  <a:cubicBezTo>
                    <a:pt x="2884188" y="0"/>
                    <a:pt x="2958390" y="30736"/>
                    <a:pt x="3013100" y="85446"/>
                  </a:cubicBezTo>
                  <a:cubicBezTo>
                    <a:pt x="3067810" y="140156"/>
                    <a:pt x="3098546" y="214358"/>
                    <a:pt x="3098546" y="291730"/>
                  </a:cubicBezTo>
                  <a:lnTo>
                    <a:pt x="3098546" y="6413870"/>
                  </a:lnTo>
                  <a:cubicBezTo>
                    <a:pt x="3098546" y="6574988"/>
                    <a:pt x="2967934" y="6705600"/>
                    <a:pt x="2806816" y="6705600"/>
                  </a:cubicBezTo>
                  <a:lnTo>
                    <a:pt x="291730" y="6705600"/>
                  </a:lnTo>
                  <a:cubicBezTo>
                    <a:pt x="214358" y="6705600"/>
                    <a:pt x="140156" y="6674864"/>
                    <a:pt x="85446" y="6620154"/>
                  </a:cubicBezTo>
                  <a:cubicBezTo>
                    <a:pt x="30736" y="6565444"/>
                    <a:pt x="0" y="6491241"/>
                    <a:pt x="0" y="6413870"/>
                  </a:cubicBezTo>
                  <a:lnTo>
                    <a:pt x="0" y="291730"/>
                  </a:lnTo>
                  <a:cubicBezTo>
                    <a:pt x="0" y="214358"/>
                    <a:pt x="30736" y="140156"/>
                    <a:pt x="85446" y="85446"/>
                  </a:cubicBezTo>
                  <a:cubicBezTo>
                    <a:pt x="140156" y="30736"/>
                    <a:pt x="214358" y="0"/>
                    <a:pt x="291730" y="0"/>
                  </a:cubicBezTo>
                  <a:close/>
                </a:path>
              </a:pathLst>
            </a:custGeom>
            <a:blipFill>
              <a:blip r:embed="rId4"/>
              <a:stretch>
                <a:fillRect l="0" t="0" r="0" b="0"/>
              </a:stretch>
            </a:blipFill>
          </p:spPr>
        </p:sp>
      </p:grpSp>
      <p:grpSp>
        <p:nvGrpSpPr>
          <p:cNvPr name="Group 13" id="13"/>
          <p:cNvGrpSpPr/>
          <p:nvPr/>
        </p:nvGrpSpPr>
        <p:grpSpPr>
          <a:xfrm rot="0">
            <a:off x="9715500" y="4286250"/>
            <a:ext cx="600075" cy="600075"/>
            <a:chOff x="0" y="0"/>
            <a:chExt cx="800100" cy="800100"/>
          </a:xfrm>
        </p:grpSpPr>
        <p:sp>
          <p:nvSpPr>
            <p:cNvPr name="Freeform 14" id="14"/>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15" id="15"/>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grpSp>
        <p:nvGrpSpPr>
          <p:cNvPr name="Group 16" id="16"/>
          <p:cNvGrpSpPr/>
          <p:nvPr/>
        </p:nvGrpSpPr>
        <p:grpSpPr>
          <a:xfrm rot="0">
            <a:off x="9715500" y="5743575"/>
            <a:ext cx="600075" cy="600075"/>
            <a:chOff x="0" y="0"/>
            <a:chExt cx="800100" cy="800100"/>
          </a:xfrm>
        </p:grpSpPr>
        <p:sp>
          <p:nvSpPr>
            <p:cNvPr name="Freeform 17" id="17"/>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sp>
        <p:sp>
          <p:nvSpPr>
            <p:cNvPr name="TextBox 18" id="18"/>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grpSp>
        <p:nvGrpSpPr>
          <p:cNvPr name="Group 19" id="19"/>
          <p:cNvGrpSpPr/>
          <p:nvPr/>
        </p:nvGrpSpPr>
        <p:grpSpPr>
          <a:xfrm rot="0">
            <a:off x="9715500" y="7200900"/>
            <a:ext cx="600075" cy="600075"/>
            <a:chOff x="0" y="0"/>
            <a:chExt cx="800100" cy="800100"/>
          </a:xfrm>
        </p:grpSpPr>
        <p:sp>
          <p:nvSpPr>
            <p:cNvPr name="Freeform 20" id="20"/>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sp>
        <p:sp>
          <p:nvSpPr>
            <p:cNvPr name="TextBox 21" id="21"/>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Freeform 22" id="22"/>
          <p:cNvSpPr/>
          <p:nvPr/>
        </p:nvSpPr>
        <p:spPr>
          <a:xfrm flipH="false" flipV="false" rot="0">
            <a:off x="3523189" y="5743575"/>
            <a:ext cx="2649011" cy="3638127"/>
          </a:xfrm>
          <a:custGeom>
            <a:avLst/>
            <a:gdLst/>
            <a:ahLst/>
            <a:cxnLst/>
            <a:rect r="r" b="b" t="t" l="l"/>
            <a:pathLst>
              <a:path h="3638127" w="2649011">
                <a:moveTo>
                  <a:pt x="0" y="0"/>
                </a:moveTo>
                <a:lnTo>
                  <a:pt x="2649011" y="0"/>
                </a:lnTo>
                <a:lnTo>
                  <a:pt x="2649011" y="3638127"/>
                </a:lnTo>
                <a:lnTo>
                  <a:pt x="0" y="3638127"/>
                </a:lnTo>
                <a:lnTo>
                  <a:pt x="0" y="0"/>
                </a:lnTo>
                <a:close/>
              </a:path>
            </a:pathLst>
          </a:custGeom>
          <a:blipFill>
            <a:blip r:embed="rId5"/>
            <a:stretch>
              <a:fillRect l="0" t="0" r="0" b="0"/>
            </a:stretch>
          </a:blipFill>
        </p:spPr>
      </p:sp>
      <p:sp>
        <p:nvSpPr>
          <p:cNvPr name="TextBox 23" id="23"/>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24" id="24"/>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MOBILE PRACTICE</a:t>
            </a:r>
          </a:p>
        </p:txBody>
      </p:sp>
      <p:sp>
        <p:nvSpPr>
          <p:cNvPr name="TextBox 25" id="25"/>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07</a:t>
            </a:r>
          </a:p>
        </p:txBody>
      </p:sp>
      <p:sp>
        <p:nvSpPr>
          <p:cNvPr name="TextBox 26" id="26"/>
          <p:cNvSpPr txBox="true"/>
          <p:nvPr/>
        </p:nvSpPr>
        <p:spPr>
          <a:xfrm rot="0">
            <a:off x="10601325" y="423386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8–10 min</a:t>
            </a:r>
          </a:p>
        </p:txBody>
      </p:sp>
      <p:sp>
        <p:nvSpPr>
          <p:cNvPr name="TextBox 27" id="27"/>
          <p:cNvSpPr txBox="true"/>
          <p:nvPr/>
        </p:nvSpPr>
        <p:spPr>
          <a:xfrm rot="0">
            <a:off x="10601325" y="475773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A small session with a clear finish line</a:t>
            </a:r>
          </a:p>
        </p:txBody>
      </p:sp>
      <p:sp>
        <p:nvSpPr>
          <p:cNvPr name="TextBox 28" id="28"/>
          <p:cNvSpPr txBox="true"/>
          <p:nvPr/>
        </p:nvSpPr>
        <p:spPr>
          <a:xfrm rot="0">
            <a:off x="10601325" y="5691187"/>
            <a:ext cx="2057102"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User friendly</a:t>
            </a:r>
          </a:p>
        </p:txBody>
      </p:sp>
      <p:sp>
        <p:nvSpPr>
          <p:cNvPr name="TextBox 29" id="29"/>
          <p:cNvSpPr txBox="true"/>
          <p:nvPr/>
        </p:nvSpPr>
        <p:spPr>
          <a:xfrm rot="0">
            <a:off x="10601325" y="6215062"/>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The first days use three-choice recognition</a:t>
            </a:r>
          </a:p>
        </p:txBody>
      </p:sp>
      <p:sp>
        <p:nvSpPr>
          <p:cNvPr name="TextBox 30" id="30"/>
          <p:cNvSpPr txBox="true"/>
          <p:nvPr/>
        </p:nvSpPr>
        <p:spPr>
          <a:xfrm rot="0">
            <a:off x="10601325" y="7148513"/>
            <a:ext cx="4857750" cy="438150"/>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One real skill</a:t>
            </a:r>
          </a:p>
        </p:txBody>
      </p:sp>
      <p:sp>
        <p:nvSpPr>
          <p:cNvPr name="TextBox 31" id="31"/>
          <p:cNvSpPr txBox="true"/>
          <p:nvPr/>
        </p:nvSpPr>
        <p:spPr>
          <a:xfrm rot="0">
            <a:off x="10601325" y="767238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Every step maps to a usable web concept</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Demonstrated · beginner-friendly lesson flow</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SKILL JOURNEY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08</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85900"/>
            <a:ext cx="13419418" cy="828675"/>
          </a:xfrm>
          <a:prstGeom prst="rect">
            <a:avLst/>
          </a:prstGeom>
        </p:spPr>
        <p:txBody>
          <a:bodyPr anchor="t" rtlCol="false" tIns="0" lIns="0" bIns="0" rIns="0">
            <a:spAutoFit/>
          </a:bodyPr>
          <a:lstStyle/>
          <a:p>
            <a:pPr algn="l">
              <a:lnSpc>
                <a:spcPts val="6583"/>
              </a:lnSpc>
            </a:pPr>
            <a:r>
              <a:rPr lang="en-US" sz="5486" b="true">
                <a:solidFill>
                  <a:srgbClr val="2D180B"/>
                </a:solidFill>
                <a:latin typeface="Lato Bold"/>
                <a:ea typeface="Lato Bold"/>
                <a:cs typeface="Lato Bold"/>
                <a:sym typeface="Lato Bold"/>
              </a:rPr>
              <a:t>A skill compounds one small day at a time</a:t>
            </a:r>
          </a:p>
        </p:txBody>
      </p:sp>
      <p:sp>
        <p:nvSpPr>
          <p:cNvPr name="TextBox 7" id="7"/>
          <p:cNvSpPr txBox="true"/>
          <p:nvPr/>
        </p:nvSpPr>
        <p:spPr>
          <a:xfrm rot="0">
            <a:off x="914400" y="2428875"/>
            <a:ext cx="12891941"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Illustrative 3D-modeling journey: the learner starts with a gesture, then builds a real artifact.</a:t>
            </a:r>
          </a:p>
        </p:txBody>
      </p:sp>
      <p:sp>
        <p:nvSpPr>
          <p:cNvPr name="AutoShape 8" id="8"/>
          <p:cNvSpPr/>
          <p:nvPr/>
        </p:nvSpPr>
        <p:spPr>
          <a:xfrm>
            <a:off x="2222894" y="5486397"/>
            <a:ext cx="13644566" cy="71443"/>
          </a:xfrm>
          <a:prstGeom prst="line">
            <a:avLst/>
          </a:prstGeom>
          <a:ln cap="rnd" w="38100">
            <a:solidFill>
              <a:srgbClr val="FF8500"/>
            </a:solidFill>
            <a:prstDash val="solid"/>
            <a:headEnd type="none" len="sm" w="sm"/>
            <a:tailEnd type="none" len="sm" w="sm"/>
          </a:ln>
        </p:spPr>
      </p:sp>
      <p:grpSp>
        <p:nvGrpSpPr>
          <p:cNvPr name="Group 9" id="9"/>
          <p:cNvGrpSpPr/>
          <p:nvPr/>
        </p:nvGrpSpPr>
        <p:grpSpPr>
          <a:xfrm rot="0">
            <a:off x="1944290" y="5207794"/>
            <a:ext cx="628650" cy="628650"/>
            <a:chOff x="0" y="0"/>
            <a:chExt cx="838200" cy="838200"/>
          </a:xfrm>
        </p:grpSpPr>
        <p:sp>
          <p:nvSpPr>
            <p:cNvPr name="Freeform 10" id="10"/>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11" id="11"/>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1</a:t>
              </a:r>
            </a:p>
          </p:txBody>
        </p:sp>
      </p:grpSp>
      <p:sp>
        <p:nvSpPr>
          <p:cNvPr name="TextBox 12" id="12"/>
          <p:cNvSpPr txBox="true"/>
          <p:nvPr/>
        </p:nvSpPr>
        <p:spPr>
          <a:xfrm rot="0">
            <a:off x="1187052" y="59793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1</a:t>
            </a:r>
          </a:p>
        </p:txBody>
      </p:sp>
      <p:sp>
        <p:nvSpPr>
          <p:cNvPr name="TextBox 13" id="13"/>
          <p:cNvSpPr txBox="true"/>
          <p:nvPr/>
        </p:nvSpPr>
        <p:spPr>
          <a:xfrm rot="0">
            <a:off x="706040" y="6446044"/>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Find the tool</a:t>
            </a:r>
          </a:p>
        </p:txBody>
      </p:sp>
      <p:sp>
        <p:nvSpPr>
          <p:cNvPr name="TextBox 14" id="14"/>
          <p:cNvSpPr txBox="true"/>
          <p:nvPr/>
        </p:nvSpPr>
        <p:spPr>
          <a:xfrm rot="0">
            <a:off x="63102" y="7127081"/>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Recognize the viewport, select an object, make one change.</a:t>
            </a:r>
          </a:p>
        </p:txBody>
      </p:sp>
      <p:grpSp>
        <p:nvGrpSpPr>
          <p:cNvPr name="Group 15" id="15"/>
          <p:cNvGrpSpPr/>
          <p:nvPr/>
        </p:nvGrpSpPr>
        <p:grpSpPr>
          <a:xfrm rot="0">
            <a:off x="8730852" y="5207794"/>
            <a:ext cx="628650" cy="628650"/>
            <a:chOff x="0" y="0"/>
            <a:chExt cx="838200" cy="838200"/>
          </a:xfrm>
        </p:grpSpPr>
        <p:sp>
          <p:nvSpPr>
            <p:cNvPr name="Freeform 16" id="16"/>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F8500"/>
            </a:solidFill>
            <a:ln cap="sq">
              <a:noFill/>
              <a:prstDash val="solid"/>
              <a:miter/>
            </a:ln>
          </p:spPr>
        </p:sp>
        <p:sp>
          <p:nvSpPr>
            <p:cNvPr name="TextBox 17" id="17"/>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FFF6E9"/>
                  </a:solidFill>
                  <a:latin typeface="Lato Bold"/>
                  <a:ea typeface="Lato Bold"/>
                  <a:cs typeface="Lato Bold"/>
                  <a:sym typeface="Lato Bold"/>
                </a:rPr>
                <a:t>2</a:t>
              </a:r>
            </a:p>
          </p:txBody>
        </p:sp>
      </p:grpSp>
      <p:sp>
        <p:nvSpPr>
          <p:cNvPr name="TextBox 18" id="18"/>
          <p:cNvSpPr txBox="true"/>
          <p:nvPr/>
        </p:nvSpPr>
        <p:spPr>
          <a:xfrm rot="0">
            <a:off x="7973615" y="6093619"/>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7</a:t>
            </a:r>
          </a:p>
        </p:txBody>
      </p:sp>
      <p:sp>
        <p:nvSpPr>
          <p:cNvPr name="TextBox 19" id="19"/>
          <p:cNvSpPr txBox="true"/>
          <p:nvPr/>
        </p:nvSpPr>
        <p:spPr>
          <a:xfrm rot="0">
            <a:off x="743069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Shape a scene</a:t>
            </a:r>
          </a:p>
        </p:txBody>
      </p:sp>
      <p:sp>
        <p:nvSpPr>
          <p:cNvPr name="TextBox 20" id="20"/>
          <p:cNvSpPr txBox="true"/>
          <p:nvPr/>
        </p:nvSpPr>
        <p:spPr>
          <a:xfrm rot="0">
            <a:off x="6787752"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Combine small actions into a simple modeled composition.</a:t>
            </a:r>
          </a:p>
        </p:txBody>
      </p:sp>
      <p:grpSp>
        <p:nvGrpSpPr>
          <p:cNvPr name="Group 21" id="21"/>
          <p:cNvGrpSpPr/>
          <p:nvPr/>
        </p:nvGrpSpPr>
        <p:grpSpPr>
          <a:xfrm rot="0">
            <a:off x="15517415" y="5207794"/>
            <a:ext cx="628650" cy="628650"/>
            <a:chOff x="0" y="0"/>
            <a:chExt cx="838200" cy="838200"/>
          </a:xfrm>
        </p:grpSpPr>
        <p:sp>
          <p:nvSpPr>
            <p:cNvPr name="Freeform 22" id="22"/>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sp>
        <p:sp>
          <p:nvSpPr>
            <p:cNvPr name="TextBox 23" id="23"/>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true">
                  <a:solidFill>
                    <a:srgbClr val="C45300"/>
                  </a:solidFill>
                  <a:latin typeface="Lato Bold"/>
                  <a:ea typeface="Lato Bold"/>
                  <a:cs typeface="Lato Bold"/>
                  <a:sym typeface="Lato Bold"/>
                </a:rPr>
                <a:t>3</a:t>
              </a:r>
            </a:p>
          </p:txBody>
        </p:sp>
      </p:grpSp>
      <p:sp>
        <p:nvSpPr>
          <p:cNvPr name="TextBox 24" id="24"/>
          <p:cNvSpPr txBox="true"/>
          <p:nvPr/>
        </p:nvSpPr>
        <p:spPr>
          <a:xfrm rot="0">
            <a:off x="14795898" y="5950744"/>
            <a:ext cx="2143125" cy="285750"/>
          </a:xfrm>
          <a:prstGeom prst="rect">
            <a:avLst/>
          </a:prstGeom>
        </p:spPr>
        <p:txBody>
          <a:bodyPr anchor="t" rtlCol="false" tIns="0" lIns="0" bIns="0" rIns="0">
            <a:spAutoFit/>
          </a:bodyPr>
          <a:lstStyle/>
          <a:p>
            <a:pPr algn="ctr">
              <a:lnSpc>
                <a:spcPts val="1755"/>
              </a:lnSpc>
            </a:pPr>
            <a:r>
              <a:rPr lang="en-US" sz="1462" b="true">
                <a:solidFill>
                  <a:srgbClr val="C45300"/>
                </a:solidFill>
                <a:latin typeface="Lato Bold"/>
                <a:ea typeface="Lato Bold"/>
                <a:cs typeface="Lato Bold"/>
                <a:sym typeface="Lato Bold"/>
              </a:rPr>
              <a:t>DAY 30</a:t>
            </a:r>
          </a:p>
        </p:txBody>
      </p:sp>
      <p:sp>
        <p:nvSpPr>
          <p:cNvPr name="TextBox 25" id="25"/>
          <p:cNvSpPr txBox="true"/>
          <p:nvPr/>
        </p:nvSpPr>
        <p:spPr>
          <a:xfrm rot="0">
            <a:off x="14152960" y="6455569"/>
            <a:ext cx="3429000" cy="495300"/>
          </a:xfrm>
          <a:prstGeom prst="rect">
            <a:avLst/>
          </a:prstGeom>
        </p:spPr>
        <p:txBody>
          <a:bodyPr anchor="t" rtlCol="false" tIns="0" lIns="0" bIns="0" rIns="0">
            <a:spAutoFit/>
          </a:bodyPr>
          <a:lstStyle/>
          <a:p>
            <a:pPr algn="ctr">
              <a:lnSpc>
                <a:spcPts val="3375"/>
              </a:lnSpc>
            </a:pPr>
            <a:r>
              <a:rPr lang="en-US" sz="2812" b="true">
                <a:solidFill>
                  <a:srgbClr val="2D180B"/>
                </a:solidFill>
                <a:latin typeface="Lato Bold"/>
                <a:ea typeface="Lato Bold"/>
                <a:cs typeface="Lato Bold"/>
                <a:sym typeface="Lato Bold"/>
              </a:rPr>
              <a:t>Finish an artifact</a:t>
            </a:r>
          </a:p>
        </p:txBody>
      </p:sp>
      <p:sp>
        <p:nvSpPr>
          <p:cNvPr name="TextBox 26" id="26"/>
          <p:cNvSpPr txBox="true"/>
          <p:nvPr/>
        </p:nvSpPr>
        <p:spPr>
          <a:xfrm rot="0">
            <a:off x="13510023"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Use the same guided loop to complete a portfolio-ready piece.</a:t>
            </a:r>
          </a:p>
        </p:txBody>
      </p:sp>
      <p:grpSp>
        <p:nvGrpSpPr>
          <p:cNvPr name="Group 27" id="27"/>
          <p:cNvGrpSpPr/>
          <p:nvPr/>
        </p:nvGrpSpPr>
        <p:grpSpPr>
          <a:xfrm rot="0">
            <a:off x="6301977" y="3800475"/>
            <a:ext cx="5529262" cy="1100138"/>
            <a:chOff x="0" y="0"/>
            <a:chExt cx="7372350" cy="1466850"/>
          </a:xfrm>
        </p:grpSpPr>
        <p:sp>
          <p:nvSpPr>
            <p:cNvPr name="Freeform 28" id="28"/>
            <p:cNvSpPr/>
            <p:nvPr/>
          </p:nvSpPr>
          <p:spPr>
            <a:xfrm flipH="false" flipV="false" rot="0">
              <a:off x="0" y="0"/>
              <a:ext cx="7372350" cy="1466850"/>
            </a:xfrm>
            <a:custGeom>
              <a:avLst/>
              <a:gdLst/>
              <a:ahLst/>
              <a:cxnLst/>
              <a:rect r="r" b="b" t="t" l="l"/>
              <a:pathLst>
                <a:path h="1466850" w="7372350">
                  <a:moveTo>
                    <a:pt x="0" y="308864"/>
                  </a:moveTo>
                  <a:cubicBezTo>
                    <a:pt x="0" y="138303"/>
                    <a:pt x="138303" y="0"/>
                    <a:pt x="308864" y="0"/>
                  </a:cubicBezTo>
                  <a:lnTo>
                    <a:pt x="7063486" y="0"/>
                  </a:lnTo>
                  <a:cubicBezTo>
                    <a:pt x="7234047" y="0"/>
                    <a:pt x="7372350" y="138303"/>
                    <a:pt x="7372350" y="308864"/>
                  </a:cubicBezTo>
                  <a:lnTo>
                    <a:pt x="7372350" y="1157986"/>
                  </a:lnTo>
                  <a:cubicBezTo>
                    <a:pt x="7372350" y="1328547"/>
                    <a:pt x="7234047" y="1466850"/>
                    <a:pt x="7063486" y="1466850"/>
                  </a:cubicBezTo>
                  <a:lnTo>
                    <a:pt x="308864" y="1466850"/>
                  </a:lnTo>
                  <a:cubicBezTo>
                    <a:pt x="138303" y="1466850"/>
                    <a:pt x="0" y="1328547"/>
                    <a:pt x="0" y="1157986"/>
                  </a:cubicBezTo>
                  <a:close/>
                </a:path>
              </a:pathLst>
            </a:custGeom>
            <a:solidFill>
              <a:srgbClr val="FFFDF8"/>
            </a:solidFill>
            <a:ln w="14288" cap="sq">
              <a:solidFill>
                <a:srgbClr val="EDCFAD"/>
              </a:solidFill>
              <a:prstDash val="solid"/>
              <a:miter/>
            </a:ln>
          </p:spPr>
        </p:sp>
      </p:grpSp>
      <p:sp>
        <p:nvSpPr>
          <p:cNvPr name="TextBox 29" id="29"/>
          <p:cNvSpPr txBox="true"/>
          <p:nvPr/>
        </p:nvSpPr>
        <p:spPr>
          <a:xfrm rot="0">
            <a:off x="6694884" y="4140994"/>
            <a:ext cx="4714875" cy="409575"/>
          </a:xfrm>
          <a:prstGeom prst="rect">
            <a:avLst/>
          </a:prstGeom>
        </p:spPr>
        <p:txBody>
          <a:bodyPr anchor="t" rtlCol="false" tIns="0" lIns="0" bIns="0" rIns="0">
            <a:spAutoFit/>
          </a:bodyPr>
          <a:lstStyle/>
          <a:p>
            <a:pPr algn="ctr">
              <a:lnSpc>
                <a:spcPts val="2024"/>
              </a:lnSpc>
            </a:pPr>
            <a:r>
              <a:rPr lang="en-US" sz="1687" b="true">
                <a:solidFill>
                  <a:srgbClr val="2D180B"/>
                </a:solidFill>
                <a:latin typeface="Lato Bold"/>
                <a:ea typeface="Lato Bold"/>
                <a:cs typeface="Lato Bold"/>
                <a:sym typeface="Lato Bold"/>
              </a:rPr>
              <a:t>The product promise is a path, not a single lesson.</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Product narrative · example journey, not a measured outcome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LEARNING LOOP</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09</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680915"/>
            <a:ext cx="13906956" cy="600075"/>
          </a:xfrm>
          <a:prstGeom prst="rect">
            <a:avLst/>
          </a:prstGeom>
        </p:spPr>
        <p:txBody>
          <a:bodyPr anchor="t" rtlCol="false" tIns="0" lIns="0" bIns="0" rIns="0">
            <a:spAutoFit/>
          </a:bodyPr>
          <a:lstStyle/>
          <a:p>
            <a:pPr algn="l">
              <a:lnSpc>
                <a:spcPts val="4771"/>
              </a:lnSpc>
            </a:pPr>
            <a:r>
              <a:rPr lang="en-US" sz="3976" b="true">
                <a:solidFill>
                  <a:srgbClr val="2D180B"/>
                </a:solidFill>
                <a:latin typeface="Lato Bold"/>
                <a:ea typeface="Lato Bold"/>
                <a:cs typeface="Lato Bold"/>
                <a:sym typeface="Lato Bold"/>
              </a:rPr>
              <a:t>Bataa closes the gap between attempt and understanding</a:t>
            </a:r>
          </a:p>
        </p:txBody>
      </p:sp>
      <p:sp>
        <p:nvSpPr>
          <p:cNvPr name="TextBox 7" id="7"/>
          <p:cNvSpPr txBox="true"/>
          <p:nvPr/>
        </p:nvSpPr>
        <p:spPr>
          <a:xfrm rot="0">
            <a:off x="971550" y="2483450"/>
            <a:ext cx="5200650" cy="371475"/>
          </a:xfrm>
          <a:prstGeom prst="rect">
            <a:avLst/>
          </a:prstGeom>
        </p:spPr>
        <p:txBody>
          <a:bodyPr anchor="t" rtlCol="false" tIns="0" lIns="0" bIns="0" rIns="0">
            <a:spAutoFit/>
          </a:bodyPr>
          <a:lstStyle/>
          <a:p>
            <a:pPr algn="l">
              <a:lnSpc>
                <a:spcPts val="2970"/>
              </a:lnSpc>
            </a:pPr>
            <a:r>
              <a:rPr lang="en-US" sz="2475">
                <a:solidFill>
                  <a:srgbClr val="895F3C"/>
                </a:solidFill>
                <a:latin typeface="Lato"/>
                <a:ea typeface="Lato"/>
                <a:cs typeface="Lato"/>
                <a:sym typeface="Lato"/>
              </a:rPr>
              <a:t>Each turn makes the next turn easier.</a:t>
            </a:r>
          </a:p>
        </p:txBody>
      </p:sp>
      <p:sp>
        <p:nvSpPr>
          <p:cNvPr name="AutoShape 8" id="8"/>
          <p:cNvSpPr/>
          <p:nvPr/>
        </p:nvSpPr>
        <p:spPr>
          <a:xfrm flipV="true">
            <a:off x="3420321" y="4982883"/>
            <a:ext cx="808780" cy="589197"/>
          </a:xfrm>
          <a:prstGeom prst="line">
            <a:avLst/>
          </a:prstGeom>
          <a:ln cap="rnd" w="19050">
            <a:solidFill>
              <a:srgbClr val="C45300"/>
            </a:solidFill>
            <a:prstDash val="solid"/>
            <a:headEnd type="none" len="sm" w="sm"/>
            <a:tailEnd type="none" len="sm" w="sm"/>
          </a:ln>
        </p:spPr>
      </p:sp>
      <p:grpSp>
        <p:nvGrpSpPr>
          <p:cNvPr name="Group 9" id="9"/>
          <p:cNvGrpSpPr/>
          <p:nvPr/>
        </p:nvGrpSpPr>
        <p:grpSpPr>
          <a:xfrm rot="0">
            <a:off x="907259" y="5401185"/>
            <a:ext cx="2728912" cy="1614488"/>
            <a:chOff x="0" y="0"/>
            <a:chExt cx="3638550" cy="2152650"/>
          </a:xfrm>
        </p:grpSpPr>
        <p:sp>
          <p:nvSpPr>
            <p:cNvPr name="Freeform 10" id="10"/>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1" id="11"/>
          <p:cNvGrpSpPr/>
          <p:nvPr/>
        </p:nvGrpSpPr>
        <p:grpSpPr>
          <a:xfrm rot="0">
            <a:off x="1171578" y="5665504"/>
            <a:ext cx="428625" cy="428625"/>
            <a:chOff x="0" y="0"/>
            <a:chExt cx="571500" cy="571500"/>
          </a:xfrm>
        </p:grpSpPr>
        <p:sp>
          <p:nvSpPr>
            <p:cNvPr name="Freeform 12" id="12"/>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13" id="13"/>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1</a:t>
              </a:r>
            </a:p>
          </p:txBody>
        </p:sp>
      </p:grpSp>
      <p:sp>
        <p:nvSpPr>
          <p:cNvPr name="TextBox 14" id="14"/>
          <p:cNvSpPr txBox="true"/>
          <p:nvPr/>
        </p:nvSpPr>
        <p:spPr>
          <a:xfrm rot="0">
            <a:off x="1771653" y="5694079"/>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Choose</a:t>
            </a:r>
          </a:p>
        </p:txBody>
      </p:sp>
      <p:sp>
        <p:nvSpPr>
          <p:cNvPr name="TextBox 15" id="15"/>
          <p:cNvSpPr txBox="true"/>
          <p:nvPr/>
        </p:nvSpPr>
        <p:spPr>
          <a:xfrm rot="0">
            <a:off x="1200153"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One clear goal</a:t>
            </a:r>
          </a:p>
        </p:txBody>
      </p:sp>
      <p:sp>
        <p:nvSpPr>
          <p:cNvPr name="AutoShape 16" id="16"/>
          <p:cNvSpPr/>
          <p:nvPr/>
        </p:nvSpPr>
        <p:spPr>
          <a:xfrm>
            <a:off x="6686047" y="4874926"/>
            <a:ext cx="1329433" cy="0"/>
          </a:xfrm>
          <a:prstGeom prst="line">
            <a:avLst/>
          </a:prstGeom>
          <a:ln cap="rnd" w="19050">
            <a:solidFill>
              <a:srgbClr val="C45300"/>
            </a:solidFill>
            <a:prstDash val="solid"/>
            <a:headEnd type="none" len="sm" w="sm"/>
            <a:tailEnd type="none" len="sm" w="sm"/>
          </a:ln>
        </p:spPr>
      </p:sp>
      <p:grpSp>
        <p:nvGrpSpPr>
          <p:cNvPr name="Group 17" id="17"/>
          <p:cNvGrpSpPr/>
          <p:nvPr/>
        </p:nvGrpSpPr>
        <p:grpSpPr>
          <a:xfrm rot="0">
            <a:off x="4207518" y="4079592"/>
            <a:ext cx="2728912" cy="1614488"/>
            <a:chOff x="0" y="0"/>
            <a:chExt cx="3638550" cy="2152650"/>
          </a:xfrm>
        </p:grpSpPr>
        <p:sp>
          <p:nvSpPr>
            <p:cNvPr name="Freeform 18" id="18"/>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19" id="19"/>
          <p:cNvGrpSpPr/>
          <p:nvPr/>
        </p:nvGrpSpPr>
        <p:grpSpPr>
          <a:xfrm rot="0">
            <a:off x="4471837" y="4343910"/>
            <a:ext cx="428625" cy="428625"/>
            <a:chOff x="0" y="0"/>
            <a:chExt cx="571500" cy="571500"/>
          </a:xfrm>
        </p:grpSpPr>
        <p:sp>
          <p:nvSpPr>
            <p:cNvPr name="Freeform 20" id="20"/>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21" id="21"/>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2</a:t>
              </a:r>
            </a:p>
          </p:txBody>
        </p:sp>
      </p:grpSp>
      <p:sp>
        <p:nvSpPr>
          <p:cNvPr name="TextBox 22" id="22"/>
          <p:cNvSpPr txBox="true"/>
          <p:nvPr/>
        </p:nvSpPr>
        <p:spPr>
          <a:xfrm rot="0">
            <a:off x="5071912"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Try</a:t>
            </a:r>
          </a:p>
        </p:txBody>
      </p:sp>
      <p:sp>
        <p:nvSpPr>
          <p:cNvPr name="TextBox 23" id="23"/>
          <p:cNvSpPr txBox="true"/>
          <p:nvPr/>
        </p:nvSpPr>
        <p:spPr>
          <a:xfrm rot="0">
            <a:off x="4500412"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The learner acts</a:t>
            </a:r>
          </a:p>
        </p:txBody>
      </p:sp>
      <p:sp>
        <p:nvSpPr>
          <p:cNvPr name="AutoShape 24" id="24"/>
          <p:cNvSpPr/>
          <p:nvPr/>
        </p:nvSpPr>
        <p:spPr>
          <a:xfrm>
            <a:off x="9400857" y="4884451"/>
            <a:ext cx="1515418" cy="0"/>
          </a:xfrm>
          <a:prstGeom prst="line">
            <a:avLst/>
          </a:prstGeom>
          <a:ln cap="rnd" w="19050">
            <a:solidFill>
              <a:srgbClr val="C45300"/>
            </a:solidFill>
            <a:prstDash val="solid"/>
            <a:headEnd type="none" len="sm" w="sm"/>
            <a:tailEnd type="none" len="sm" w="sm"/>
          </a:ln>
        </p:spPr>
      </p:sp>
      <p:grpSp>
        <p:nvGrpSpPr>
          <p:cNvPr name="Group 25" id="25"/>
          <p:cNvGrpSpPr/>
          <p:nvPr/>
        </p:nvGrpSpPr>
        <p:grpSpPr>
          <a:xfrm rot="0">
            <a:off x="7488881" y="4079592"/>
            <a:ext cx="2728912" cy="1614488"/>
            <a:chOff x="0" y="0"/>
            <a:chExt cx="3638550" cy="2152650"/>
          </a:xfrm>
        </p:grpSpPr>
        <p:sp>
          <p:nvSpPr>
            <p:cNvPr name="Freeform 26" id="26"/>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8500"/>
            </a:solidFill>
            <a:ln w="14288" cap="sq">
              <a:solidFill>
                <a:srgbClr val="FF8500"/>
              </a:solidFill>
              <a:prstDash val="solid"/>
              <a:miter/>
            </a:ln>
          </p:spPr>
        </p:sp>
      </p:grpSp>
      <p:grpSp>
        <p:nvGrpSpPr>
          <p:cNvPr name="Group 27" id="27"/>
          <p:cNvGrpSpPr/>
          <p:nvPr/>
        </p:nvGrpSpPr>
        <p:grpSpPr>
          <a:xfrm rot="0">
            <a:off x="7753199" y="4343910"/>
            <a:ext cx="428625" cy="428625"/>
            <a:chOff x="0" y="0"/>
            <a:chExt cx="571500" cy="571500"/>
          </a:xfrm>
        </p:grpSpPr>
        <p:sp>
          <p:nvSpPr>
            <p:cNvPr name="Freeform 28" id="28"/>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F6E9"/>
            </a:solidFill>
            <a:ln cap="sq">
              <a:noFill/>
              <a:prstDash val="solid"/>
              <a:miter/>
            </a:ln>
          </p:spPr>
        </p:sp>
        <p:sp>
          <p:nvSpPr>
            <p:cNvPr name="TextBox 29" id="29"/>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C45300"/>
                  </a:solidFill>
                  <a:latin typeface="Lato Bold"/>
                  <a:ea typeface="Lato Bold"/>
                  <a:cs typeface="Lato Bold"/>
                  <a:sym typeface="Lato Bold"/>
                </a:rPr>
                <a:t>3</a:t>
              </a:r>
            </a:p>
          </p:txBody>
        </p:sp>
      </p:grpSp>
      <p:sp>
        <p:nvSpPr>
          <p:cNvPr name="TextBox 30" id="30"/>
          <p:cNvSpPr txBox="true"/>
          <p:nvPr/>
        </p:nvSpPr>
        <p:spPr>
          <a:xfrm rot="0">
            <a:off x="8353274" y="4362960"/>
            <a:ext cx="1571625" cy="352425"/>
          </a:xfrm>
          <a:prstGeom prst="rect">
            <a:avLst/>
          </a:prstGeom>
        </p:spPr>
        <p:txBody>
          <a:bodyPr anchor="t" rtlCol="false" tIns="0" lIns="0" bIns="0" rIns="0">
            <a:spAutoFit/>
          </a:bodyPr>
          <a:lstStyle/>
          <a:p>
            <a:pPr algn="l">
              <a:lnSpc>
                <a:spcPts val="2505"/>
              </a:lnSpc>
            </a:pPr>
            <a:r>
              <a:rPr lang="en-US" sz="2088" b="true">
                <a:solidFill>
                  <a:srgbClr val="FFF6E9"/>
                </a:solidFill>
                <a:latin typeface="Lato Bold"/>
                <a:ea typeface="Lato Bold"/>
                <a:cs typeface="Lato Bold"/>
                <a:sym typeface="Lato Bold"/>
              </a:rPr>
              <a:t>Get feedback</a:t>
            </a:r>
          </a:p>
        </p:txBody>
      </p:sp>
      <p:sp>
        <p:nvSpPr>
          <p:cNvPr name="TextBox 31" id="31"/>
          <p:cNvSpPr txBox="true"/>
          <p:nvPr/>
        </p:nvSpPr>
        <p:spPr>
          <a:xfrm rot="0">
            <a:off x="7781774" y="4972560"/>
            <a:ext cx="2143125" cy="457200"/>
          </a:xfrm>
          <a:prstGeom prst="rect">
            <a:avLst/>
          </a:prstGeom>
        </p:spPr>
        <p:txBody>
          <a:bodyPr anchor="t" rtlCol="false" tIns="0" lIns="0" bIns="0" rIns="0">
            <a:spAutoFit/>
          </a:bodyPr>
          <a:lstStyle/>
          <a:p>
            <a:pPr algn="l">
              <a:lnSpc>
                <a:spcPts val="1889"/>
              </a:lnSpc>
            </a:pPr>
            <a:r>
              <a:rPr lang="en-US" sz="1575">
                <a:solidFill>
                  <a:srgbClr val="FFF6E9"/>
                </a:solidFill>
                <a:latin typeface="Lato"/>
                <a:ea typeface="Lato"/>
                <a:cs typeface="Lato"/>
                <a:sym typeface="Lato"/>
              </a:rPr>
              <a:t>Context, not a lecture</a:t>
            </a:r>
          </a:p>
        </p:txBody>
      </p:sp>
      <p:sp>
        <p:nvSpPr>
          <p:cNvPr name="AutoShape 32" id="32"/>
          <p:cNvSpPr/>
          <p:nvPr/>
        </p:nvSpPr>
        <p:spPr>
          <a:xfrm flipH="true" flipV="true">
            <a:off x="13161985" y="5223528"/>
            <a:ext cx="935430" cy="355315"/>
          </a:xfrm>
          <a:prstGeom prst="line">
            <a:avLst/>
          </a:prstGeom>
          <a:ln cap="rnd" w="19050">
            <a:solidFill>
              <a:srgbClr val="C45300"/>
            </a:solidFill>
            <a:prstDash val="solid"/>
            <a:headEnd type="none" len="sm" w="sm"/>
            <a:tailEnd type="none" len="sm" w="sm"/>
          </a:ln>
        </p:spPr>
      </p:sp>
      <p:grpSp>
        <p:nvGrpSpPr>
          <p:cNvPr name="Group 33" id="33"/>
          <p:cNvGrpSpPr/>
          <p:nvPr/>
        </p:nvGrpSpPr>
        <p:grpSpPr>
          <a:xfrm rot="0">
            <a:off x="10783836" y="4079592"/>
            <a:ext cx="2728912" cy="1614488"/>
            <a:chOff x="0" y="0"/>
            <a:chExt cx="3638550" cy="2152650"/>
          </a:xfrm>
        </p:grpSpPr>
        <p:sp>
          <p:nvSpPr>
            <p:cNvPr name="Freeform 34" id="34"/>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sp>
      </p:grpSp>
      <p:grpSp>
        <p:nvGrpSpPr>
          <p:cNvPr name="Group 35" id="35"/>
          <p:cNvGrpSpPr/>
          <p:nvPr/>
        </p:nvGrpSpPr>
        <p:grpSpPr>
          <a:xfrm rot="0">
            <a:off x="11048155" y="4343910"/>
            <a:ext cx="428625" cy="428625"/>
            <a:chOff x="0" y="0"/>
            <a:chExt cx="571500" cy="571500"/>
          </a:xfrm>
        </p:grpSpPr>
        <p:sp>
          <p:nvSpPr>
            <p:cNvPr name="Freeform 36" id="36"/>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37" id="37"/>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4</a:t>
              </a:r>
            </a:p>
          </p:txBody>
        </p:sp>
      </p:grpSp>
      <p:sp>
        <p:nvSpPr>
          <p:cNvPr name="TextBox 38" id="38"/>
          <p:cNvSpPr txBox="true"/>
          <p:nvPr/>
        </p:nvSpPr>
        <p:spPr>
          <a:xfrm rot="0">
            <a:off x="11648230" y="4372485"/>
            <a:ext cx="1571625" cy="342900"/>
          </a:xfrm>
          <a:prstGeom prst="rect">
            <a:avLst/>
          </a:prstGeom>
        </p:spPr>
        <p:txBody>
          <a:bodyPr anchor="t" rtlCol="false" tIns="0" lIns="0" bIns="0" rIns="0">
            <a:spAutoFit/>
          </a:bodyPr>
          <a:lstStyle/>
          <a:p>
            <a:pPr algn="l">
              <a:lnSpc>
                <a:spcPts val="2565"/>
              </a:lnSpc>
            </a:pPr>
            <a:r>
              <a:rPr lang="en-US" sz="2137" b="true">
                <a:solidFill>
                  <a:srgbClr val="2D180B"/>
                </a:solidFill>
                <a:latin typeface="Lato Bold"/>
                <a:ea typeface="Lato Bold"/>
                <a:cs typeface="Lato Bold"/>
                <a:sym typeface="Lato Bold"/>
              </a:rPr>
              <a:t>Repeat</a:t>
            </a:r>
          </a:p>
        </p:txBody>
      </p:sp>
      <p:sp>
        <p:nvSpPr>
          <p:cNvPr name="TextBox 39" id="39"/>
          <p:cNvSpPr txBox="true"/>
          <p:nvPr/>
        </p:nvSpPr>
        <p:spPr>
          <a:xfrm rot="0">
            <a:off x="11076730"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Correct the next detail</a:t>
            </a:r>
          </a:p>
        </p:txBody>
      </p:sp>
      <p:grpSp>
        <p:nvGrpSpPr>
          <p:cNvPr name="Group 40" id="40"/>
          <p:cNvGrpSpPr/>
          <p:nvPr/>
        </p:nvGrpSpPr>
        <p:grpSpPr>
          <a:xfrm rot="0">
            <a:off x="14084095" y="5401185"/>
            <a:ext cx="2686050" cy="1614488"/>
            <a:chOff x="0" y="0"/>
            <a:chExt cx="3581400" cy="2152650"/>
          </a:xfrm>
        </p:grpSpPr>
        <p:sp>
          <p:nvSpPr>
            <p:cNvPr name="Freeform 41" id="41"/>
            <p:cNvSpPr/>
            <p:nvPr/>
          </p:nvSpPr>
          <p:spPr>
            <a:xfrm flipH="false" flipV="false" rot="0">
              <a:off x="0" y="0"/>
              <a:ext cx="3581400" cy="2152650"/>
            </a:xfrm>
            <a:custGeom>
              <a:avLst/>
              <a:gdLst/>
              <a:ahLst/>
              <a:cxnLst/>
              <a:rect r="r" b="b" t="t" l="l"/>
              <a:pathLst>
                <a:path h="2152650" w="3581400">
                  <a:moveTo>
                    <a:pt x="0" y="307467"/>
                  </a:moveTo>
                  <a:cubicBezTo>
                    <a:pt x="0" y="137668"/>
                    <a:pt x="135506" y="0"/>
                    <a:pt x="302638" y="0"/>
                  </a:cubicBezTo>
                  <a:lnTo>
                    <a:pt x="3278762" y="0"/>
                  </a:lnTo>
                  <a:cubicBezTo>
                    <a:pt x="3445894" y="0"/>
                    <a:pt x="3581400" y="137668"/>
                    <a:pt x="3581400" y="307467"/>
                  </a:cubicBezTo>
                  <a:lnTo>
                    <a:pt x="3581400" y="1845183"/>
                  </a:lnTo>
                  <a:cubicBezTo>
                    <a:pt x="3581400" y="2014982"/>
                    <a:pt x="3445894" y="2152650"/>
                    <a:pt x="3278762" y="2152650"/>
                  </a:cubicBezTo>
                  <a:lnTo>
                    <a:pt x="302638" y="2152650"/>
                  </a:lnTo>
                  <a:cubicBezTo>
                    <a:pt x="135506" y="2152650"/>
                    <a:pt x="0" y="2014982"/>
                    <a:pt x="0" y="1845183"/>
                  </a:cubicBezTo>
                  <a:close/>
                </a:path>
              </a:pathLst>
            </a:custGeom>
            <a:solidFill>
              <a:srgbClr val="FFFDF8"/>
            </a:solidFill>
            <a:ln w="14288" cap="sq">
              <a:solidFill>
                <a:srgbClr val="EDCFAD"/>
              </a:solidFill>
              <a:prstDash val="solid"/>
              <a:miter/>
            </a:ln>
          </p:spPr>
        </p:sp>
      </p:grpSp>
      <p:grpSp>
        <p:nvGrpSpPr>
          <p:cNvPr name="Group 42" id="42"/>
          <p:cNvGrpSpPr/>
          <p:nvPr/>
        </p:nvGrpSpPr>
        <p:grpSpPr>
          <a:xfrm rot="0">
            <a:off x="14348414" y="5665504"/>
            <a:ext cx="428625" cy="428625"/>
            <a:chOff x="0" y="0"/>
            <a:chExt cx="571500" cy="571500"/>
          </a:xfrm>
        </p:grpSpPr>
        <p:sp>
          <p:nvSpPr>
            <p:cNvPr name="Freeform 43" id="43"/>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sp>
        <p:sp>
          <p:nvSpPr>
            <p:cNvPr name="TextBox 44" id="44"/>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true">
                  <a:solidFill>
                    <a:srgbClr val="FFF6E9"/>
                  </a:solidFill>
                  <a:latin typeface="Lato Bold"/>
                  <a:ea typeface="Lato Bold"/>
                  <a:cs typeface="Lato Bold"/>
                  <a:sym typeface="Lato Bold"/>
                </a:rPr>
                <a:t>5</a:t>
              </a:r>
            </a:p>
          </p:txBody>
        </p:sp>
      </p:grpSp>
      <p:sp>
        <p:nvSpPr>
          <p:cNvPr name="TextBox 45" id="45"/>
          <p:cNvSpPr txBox="true"/>
          <p:nvPr/>
        </p:nvSpPr>
        <p:spPr>
          <a:xfrm rot="0">
            <a:off x="14905626" y="5746467"/>
            <a:ext cx="1793084" cy="257175"/>
          </a:xfrm>
          <a:prstGeom prst="rect">
            <a:avLst/>
          </a:prstGeom>
        </p:spPr>
        <p:txBody>
          <a:bodyPr anchor="t" rtlCol="false" tIns="0" lIns="0" bIns="0" rIns="0">
            <a:spAutoFit/>
          </a:bodyPr>
          <a:lstStyle/>
          <a:p>
            <a:pPr algn="l">
              <a:lnSpc>
                <a:spcPts val="2001"/>
              </a:lnSpc>
            </a:pPr>
            <a:r>
              <a:rPr lang="en-US" sz="1668" b="true">
                <a:solidFill>
                  <a:srgbClr val="2D180B"/>
                </a:solidFill>
                <a:latin typeface="Lato Bold"/>
                <a:ea typeface="Lato Bold"/>
                <a:cs typeface="Lato Bold"/>
                <a:sym typeface="Lato Bold"/>
              </a:rPr>
              <a:t>Build confidence</a:t>
            </a:r>
          </a:p>
        </p:txBody>
      </p:sp>
      <p:sp>
        <p:nvSpPr>
          <p:cNvPr name="TextBox 46" id="46"/>
          <p:cNvSpPr txBox="true"/>
          <p:nvPr/>
        </p:nvSpPr>
        <p:spPr>
          <a:xfrm rot="0">
            <a:off x="14376989"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A skill that stays</a:t>
            </a:r>
          </a:p>
        </p:txBody>
      </p:sp>
      <p:grpSp>
        <p:nvGrpSpPr>
          <p:cNvPr name="Group 47" id="47"/>
          <p:cNvGrpSpPr/>
          <p:nvPr/>
        </p:nvGrpSpPr>
        <p:grpSpPr>
          <a:xfrm rot="0">
            <a:off x="914400" y="8715375"/>
            <a:ext cx="1428750" cy="400050"/>
            <a:chOff x="0" y="0"/>
            <a:chExt cx="1905000" cy="533400"/>
          </a:xfrm>
        </p:grpSpPr>
        <p:sp>
          <p:nvSpPr>
            <p:cNvPr name="Freeform 48" id="48"/>
            <p:cNvSpPr/>
            <p:nvPr/>
          </p:nvSpPr>
          <p:spPr>
            <a:xfrm flipH="false" flipV="false" rot="0">
              <a:off x="0" y="0"/>
              <a:ext cx="1905000" cy="533400"/>
            </a:xfrm>
            <a:custGeom>
              <a:avLst/>
              <a:gdLst/>
              <a:ahLst/>
              <a:cxnLst/>
              <a:rect r="r" b="b" t="t" l="l"/>
              <a:pathLst>
                <a:path h="533400" w="1905000">
                  <a:moveTo>
                    <a:pt x="0" y="266700"/>
                  </a:moveTo>
                  <a:cubicBezTo>
                    <a:pt x="0" y="119380"/>
                    <a:pt x="119380" y="0"/>
                    <a:pt x="266700" y="0"/>
                  </a:cubicBezTo>
                  <a:lnTo>
                    <a:pt x="1638300" y="0"/>
                  </a:lnTo>
                  <a:cubicBezTo>
                    <a:pt x="1785620" y="0"/>
                    <a:pt x="1905000" y="119380"/>
                    <a:pt x="1905000" y="266700"/>
                  </a:cubicBezTo>
                  <a:cubicBezTo>
                    <a:pt x="1905000" y="414020"/>
                    <a:pt x="1785620" y="533400"/>
                    <a:pt x="1638300" y="533400"/>
                  </a:cubicBezTo>
                  <a:lnTo>
                    <a:pt x="266700" y="533400"/>
                  </a:lnTo>
                  <a:cubicBezTo>
                    <a:pt x="119380" y="533400"/>
                    <a:pt x="0" y="414020"/>
                    <a:pt x="0" y="266700"/>
                  </a:cubicBezTo>
                  <a:close/>
                </a:path>
              </a:pathLst>
            </a:custGeom>
            <a:solidFill>
              <a:srgbClr val="2D180B"/>
            </a:solidFill>
            <a:ln cap="sq">
              <a:noFill/>
              <a:prstDash val="solid"/>
              <a:miter/>
            </a:ln>
          </p:spPr>
        </p:sp>
        <p:sp>
          <p:nvSpPr>
            <p:cNvPr name="TextBox 49" id="49"/>
            <p:cNvSpPr txBox="true"/>
            <p:nvPr/>
          </p:nvSpPr>
          <p:spPr>
            <a:xfrm>
              <a:off x="0" y="0"/>
              <a:ext cx="1905000" cy="533400"/>
            </a:xfrm>
            <a:prstGeom prst="rect">
              <a:avLst/>
            </a:prstGeom>
          </p:spPr>
          <p:txBody>
            <a:bodyPr anchor="ctr" rtlCol="false" tIns="50800" lIns="50800" bIns="50800" rIns="50800"/>
            <a:lstStyle/>
            <a:p>
              <a:pPr algn="ctr">
                <a:lnSpc>
                  <a:spcPts val="1755"/>
                </a:lnSpc>
              </a:pPr>
              <a:r>
                <a:rPr lang="en-US" sz="1462" b="true">
                  <a:solidFill>
                    <a:srgbClr val="FFF6E9"/>
                  </a:solidFill>
                  <a:latin typeface="Lato Bold"/>
                  <a:ea typeface="Lato Bold"/>
                  <a:cs typeface="Lato Bold"/>
                  <a:sym typeface="Lato Bold"/>
                </a:rPr>
                <a:t>THE LOOP</a:t>
              </a:r>
            </a:p>
          </p:txBody>
        </p:sp>
      </p:grpSp>
      <p:sp>
        <p:nvSpPr>
          <p:cNvPr name="TextBox 50" id="50"/>
          <p:cNvSpPr txBox="true"/>
          <p:nvPr/>
        </p:nvSpPr>
        <p:spPr>
          <a:xfrm rot="0">
            <a:off x="2628900" y="8763000"/>
            <a:ext cx="11430000" cy="295275"/>
          </a:xfrm>
          <a:prstGeom prst="rect">
            <a:avLst/>
          </a:prstGeom>
        </p:spPr>
        <p:txBody>
          <a:bodyPr anchor="t" rtlCol="false" tIns="0" lIns="0" bIns="0" rIns="0">
            <a:spAutoFit/>
          </a:bodyPr>
          <a:lstStyle/>
          <a:p>
            <a:pPr algn="l">
              <a:lnSpc>
                <a:spcPts val="2025"/>
              </a:lnSpc>
            </a:pPr>
            <a:r>
              <a:rPr lang="en-US" sz="1687">
                <a:solidFill>
                  <a:srgbClr val="895F3C"/>
                </a:solidFill>
                <a:latin typeface="Lato"/>
                <a:ea typeface="Lato"/>
                <a:cs typeface="Lato"/>
                <a:sym typeface="Lato"/>
              </a:rPr>
              <a:t>The product keeps the learner moving without taking the work away from them.</a:t>
            </a:r>
          </a:p>
        </p:txBody>
      </p:sp>
      <p:sp>
        <p:nvSpPr>
          <p:cNvPr name="TextBox 51" id="5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Editable diagram · product hypothesis to validate in pilot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932688" y="464251"/>
            <a:ext cx="822960" cy="355848"/>
          </a:xfrm>
          <a:prstGeom prst="rect">
            <a:avLst/>
          </a:prstGeom>
        </p:spPr>
        <p:txBody>
          <a:bodyPr anchor="t" rtlCol="false" tIns="0" lIns="0" bIns="0" rIns="0">
            <a:spAutoFit/>
          </a:bodyPr>
          <a:lstStyle/>
          <a:p>
            <a:pPr algn="l">
              <a:lnSpc>
                <a:spcPts val="2771"/>
              </a:lnSpc>
            </a:pPr>
            <a:r>
              <a:rPr lang="en-US" sz="2519" b="true">
                <a:solidFill>
                  <a:srgbClr val="F27C00"/>
                </a:solidFill>
                <a:latin typeface="Roboto Bold"/>
                <a:ea typeface="Roboto Bold"/>
                <a:cs typeface="Roboto Bold"/>
                <a:sym typeface="Roboto Bold"/>
              </a:rPr>
              <a:t>bataa</a:t>
            </a:r>
          </a:p>
        </p:txBody>
      </p:sp>
      <p:sp>
        <p:nvSpPr>
          <p:cNvPr name="Freeform 4" id="4"/>
          <p:cNvSpPr/>
          <p:nvPr/>
        </p:nvSpPr>
        <p:spPr>
          <a:xfrm flipH="false" flipV="false" rot="0">
            <a:off x="866775" y="857250"/>
            <a:ext cx="16554450" cy="219075"/>
          </a:xfrm>
          <a:custGeom>
            <a:avLst/>
            <a:gdLst/>
            <a:ahLst/>
            <a:cxnLst/>
            <a:rect r="r" b="b" t="t" l="l"/>
            <a:pathLst>
              <a:path h="219075" w="16554450">
                <a:moveTo>
                  <a:pt x="0" y="0"/>
                </a:moveTo>
                <a:lnTo>
                  <a:pt x="16554450" y="0"/>
                </a:lnTo>
                <a:lnTo>
                  <a:pt x="16554450" y="219075"/>
                </a:lnTo>
                <a:lnTo>
                  <a:pt x="0" y="219075"/>
                </a:lnTo>
                <a:lnTo>
                  <a:pt x="0" y="0"/>
                </a:lnTo>
                <a:close/>
              </a:path>
            </a:pathLst>
          </a:custGeom>
          <a:blipFill>
            <a:blip r:embed="rId4"/>
            <a:stretch>
              <a:fillRect l="0" t="0" r="0" b="0"/>
            </a:stretch>
          </a:blipFill>
        </p:spPr>
      </p:sp>
      <p:sp>
        <p:nvSpPr>
          <p:cNvPr name="TextBox 5" id="5"/>
          <p:cNvSpPr txBox="true"/>
          <p:nvPr/>
        </p:nvSpPr>
        <p:spPr>
          <a:xfrm rot="0">
            <a:off x="866775" y="1919859"/>
            <a:ext cx="11907012" cy="542925"/>
          </a:xfrm>
          <a:prstGeom prst="rect">
            <a:avLst/>
          </a:prstGeom>
        </p:spPr>
        <p:txBody>
          <a:bodyPr anchor="t" rtlCol="false" tIns="0" lIns="0" bIns="0" rIns="0">
            <a:spAutoFit/>
          </a:bodyPr>
          <a:lstStyle/>
          <a:p>
            <a:pPr algn="l">
              <a:lnSpc>
                <a:spcPts val="4286"/>
              </a:lnSpc>
            </a:pPr>
            <a:r>
              <a:rPr lang="en-US" sz="3571" b="true">
                <a:solidFill>
                  <a:srgbClr val="FFFFFF"/>
                </a:solidFill>
                <a:latin typeface="Roboto Bold"/>
                <a:ea typeface="Roboto Bold"/>
                <a:cs typeface="Roboto Bold"/>
                <a:sym typeface="Roboto Bold"/>
              </a:rPr>
              <a:t>Bataa sits between content and the moment of action</a:t>
            </a:r>
          </a:p>
        </p:txBody>
      </p:sp>
      <p:sp>
        <p:nvSpPr>
          <p:cNvPr name="TextBox 6" id="6"/>
          <p:cNvSpPr txBox="true"/>
          <p:nvPr/>
        </p:nvSpPr>
        <p:spPr>
          <a:xfrm rot="0">
            <a:off x="932688" y="2567732"/>
            <a:ext cx="8503920" cy="361950"/>
          </a:xfrm>
          <a:prstGeom prst="rect">
            <a:avLst/>
          </a:prstGeom>
        </p:spPr>
        <p:txBody>
          <a:bodyPr anchor="t" rtlCol="false" tIns="0" lIns="0" bIns="0" rIns="0">
            <a:spAutoFit/>
          </a:bodyPr>
          <a:lstStyle/>
          <a:p>
            <a:pPr algn="l">
              <a:lnSpc>
                <a:spcPts val="2846"/>
              </a:lnSpc>
            </a:pPr>
            <a:r>
              <a:rPr lang="en-US" sz="2371">
                <a:solidFill>
                  <a:srgbClr val="FFFFFF"/>
                </a:solidFill>
                <a:latin typeface="Roboto"/>
                <a:ea typeface="Roboto"/>
                <a:cs typeface="Roboto"/>
                <a:sym typeface="Roboto"/>
              </a:rPr>
              <a:t>A positioning hypothesis, not a claim that competitors lack AI.</a:t>
            </a:r>
          </a:p>
        </p:txBody>
      </p:sp>
      <p:sp>
        <p:nvSpPr>
          <p:cNvPr name="TextBox 7" id="7"/>
          <p:cNvSpPr txBox="true"/>
          <p:nvPr/>
        </p:nvSpPr>
        <p:spPr>
          <a:xfrm rot="0">
            <a:off x="1499616" y="3398383"/>
            <a:ext cx="2139696" cy="229255"/>
          </a:xfrm>
          <a:prstGeom prst="rect">
            <a:avLst/>
          </a:prstGeom>
        </p:spPr>
        <p:txBody>
          <a:bodyPr anchor="t" rtlCol="false" tIns="0" lIns="0" bIns="0" rIns="0">
            <a:spAutoFit/>
          </a:bodyPr>
          <a:lstStyle/>
          <a:p>
            <a:pPr algn="l">
              <a:lnSpc>
                <a:spcPts val="1706"/>
              </a:lnSpc>
            </a:pPr>
            <a:r>
              <a:rPr lang="en-US" sz="1551" b="true">
                <a:solidFill>
                  <a:srgbClr val="FFFFFF"/>
                </a:solidFill>
                <a:latin typeface="Roboto Bold"/>
                <a:ea typeface="Roboto Bold"/>
                <a:cs typeface="Roboto Bold"/>
                <a:sym typeface="Roboto Bold"/>
              </a:rPr>
              <a:t>GUIDANCE IN CONTEXT</a:t>
            </a:r>
          </a:p>
        </p:txBody>
      </p:sp>
      <p:sp>
        <p:nvSpPr>
          <p:cNvPr name="TextBox 8" id="8"/>
          <p:cNvSpPr txBox="true"/>
          <p:nvPr/>
        </p:nvSpPr>
        <p:spPr>
          <a:xfrm rot="0">
            <a:off x="1494663" y="7824877"/>
            <a:ext cx="896112" cy="418921"/>
          </a:xfrm>
          <a:prstGeom prst="rect">
            <a:avLst/>
          </a:prstGeom>
        </p:spPr>
        <p:txBody>
          <a:bodyPr anchor="t" rtlCol="false" tIns="0" lIns="0" bIns="0" rIns="0">
            <a:spAutoFit/>
          </a:bodyPr>
          <a:lstStyle/>
          <a:p>
            <a:pPr algn="ctr">
              <a:lnSpc>
                <a:spcPts val="1634"/>
              </a:lnSpc>
            </a:pPr>
            <a:r>
              <a:rPr lang="en-US" b="true" sz="1485">
                <a:solidFill>
                  <a:srgbClr val="FFFFFF"/>
                </a:solidFill>
                <a:latin typeface="Roboto Bold"/>
                <a:ea typeface="Roboto Bold"/>
                <a:cs typeface="Roboto Bold"/>
                <a:sym typeface="Roboto Bold"/>
              </a:rPr>
              <a:t>DAILY PRACTICE</a:t>
            </a:r>
          </a:p>
        </p:txBody>
      </p:sp>
      <p:sp>
        <p:nvSpPr>
          <p:cNvPr name="Freeform 9" id="9"/>
          <p:cNvSpPr/>
          <p:nvPr/>
        </p:nvSpPr>
        <p:spPr>
          <a:xfrm flipH="false" flipV="false" rot="0">
            <a:off x="2390775" y="3638550"/>
            <a:ext cx="228600" cy="4505325"/>
          </a:xfrm>
          <a:custGeom>
            <a:avLst/>
            <a:gdLst/>
            <a:ahLst/>
            <a:cxnLst/>
            <a:rect r="r" b="b" t="t" l="l"/>
            <a:pathLst>
              <a:path h="4505325" w="228600">
                <a:moveTo>
                  <a:pt x="0" y="0"/>
                </a:moveTo>
                <a:lnTo>
                  <a:pt x="228600" y="0"/>
                </a:lnTo>
                <a:lnTo>
                  <a:pt x="228600" y="4505325"/>
                </a:lnTo>
                <a:lnTo>
                  <a:pt x="0" y="4505325"/>
                </a:lnTo>
                <a:lnTo>
                  <a:pt x="0" y="0"/>
                </a:lnTo>
                <a:close/>
              </a:path>
            </a:pathLst>
          </a:custGeom>
          <a:blipFill>
            <a:blip r:embed="rId5"/>
            <a:stretch>
              <a:fillRect l="0" t="0" r="0" b="0"/>
            </a:stretch>
          </a:blipFill>
        </p:spPr>
      </p:sp>
      <p:sp>
        <p:nvSpPr>
          <p:cNvPr name="Freeform 10" id="10"/>
          <p:cNvSpPr/>
          <p:nvPr/>
        </p:nvSpPr>
        <p:spPr>
          <a:xfrm flipH="false" flipV="false" rot="0">
            <a:off x="2390775" y="792480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TextBox 11" id="11"/>
          <p:cNvSpPr txBox="true"/>
          <p:nvPr/>
        </p:nvSpPr>
        <p:spPr>
          <a:xfrm rot="0">
            <a:off x="16391689" y="8014543"/>
            <a:ext cx="420624"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LOW</a:t>
            </a:r>
          </a:p>
        </p:txBody>
      </p:sp>
      <p:sp>
        <p:nvSpPr>
          <p:cNvPr name="TextBox 12" id="12"/>
          <p:cNvSpPr txBox="true"/>
          <p:nvPr/>
        </p:nvSpPr>
        <p:spPr>
          <a:xfrm rot="0">
            <a:off x="16336825" y="4056995"/>
            <a:ext cx="475488" cy="229255"/>
          </a:xfrm>
          <a:prstGeom prst="rect">
            <a:avLst/>
          </a:prstGeom>
        </p:spPr>
        <p:txBody>
          <a:bodyPr anchor="t" rtlCol="false" tIns="0" lIns="0" bIns="0" rIns="0">
            <a:spAutoFit/>
          </a:bodyPr>
          <a:lstStyle/>
          <a:p>
            <a:pPr algn="ctr">
              <a:lnSpc>
                <a:spcPts val="1706"/>
              </a:lnSpc>
            </a:pPr>
            <a:r>
              <a:rPr lang="en-US" b="true" sz="1551">
                <a:solidFill>
                  <a:srgbClr val="FFFFFF"/>
                </a:solidFill>
                <a:latin typeface="Roboto Bold"/>
                <a:ea typeface="Roboto Bold"/>
                <a:cs typeface="Roboto Bold"/>
                <a:sym typeface="Roboto Bold"/>
              </a:rPr>
              <a:t>HIGH</a:t>
            </a:r>
          </a:p>
        </p:txBody>
      </p:sp>
      <p:sp>
        <p:nvSpPr>
          <p:cNvPr name="Freeform 13" id="13"/>
          <p:cNvSpPr/>
          <p:nvPr/>
        </p:nvSpPr>
        <p:spPr>
          <a:xfrm flipH="false" flipV="false" rot="0">
            <a:off x="4352925" y="6638925"/>
            <a:ext cx="657225" cy="866775"/>
          </a:xfrm>
          <a:custGeom>
            <a:avLst/>
            <a:gdLst/>
            <a:ahLst/>
            <a:cxnLst/>
            <a:rect r="r" b="b" t="t" l="l"/>
            <a:pathLst>
              <a:path h="866775" w="657225">
                <a:moveTo>
                  <a:pt x="0" y="0"/>
                </a:moveTo>
                <a:lnTo>
                  <a:pt x="657225" y="0"/>
                </a:lnTo>
                <a:lnTo>
                  <a:pt x="657225" y="866775"/>
                </a:lnTo>
                <a:lnTo>
                  <a:pt x="0" y="866775"/>
                </a:lnTo>
                <a:lnTo>
                  <a:pt x="0" y="0"/>
                </a:lnTo>
                <a:close/>
              </a:path>
            </a:pathLst>
          </a:custGeom>
          <a:blipFill>
            <a:blip r:embed="rId7"/>
            <a:stretch>
              <a:fillRect l="0" t="0" r="0" b="0"/>
            </a:stretch>
          </a:blipFill>
        </p:spPr>
      </p:sp>
      <p:sp>
        <p:nvSpPr>
          <p:cNvPr name="TextBox 14" id="14"/>
          <p:cNvSpPr txBox="true"/>
          <p:nvPr/>
        </p:nvSpPr>
        <p:spPr>
          <a:xfrm rot="0">
            <a:off x="4041648" y="7472035"/>
            <a:ext cx="133502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Khan Academy</a:t>
            </a:r>
          </a:p>
        </p:txBody>
      </p:sp>
      <p:sp>
        <p:nvSpPr>
          <p:cNvPr name="Freeform 15" id="15"/>
          <p:cNvSpPr/>
          <p:nvPr/>
        </p:nvSpPr>
        <p:spPr>
          <a:xfrm flipH="false" flipV="false" rot="0">
            <a:off x="5876925" y="5572125"/>
            <a:ext cx="657225" cy="857250"/>
          </a:xfrm>
          <a:custGeom>
            <a:avLst/>
            <a:gdLst/>
            <a:ahLst/>
            <a:cxnLst/>
            <a:rect r="r" b="b" t="t" l="l"/>
            <a:pathLst>
              <a:path h="857250" w="657225">
                <a:moveTo>
                  <a:pt x="0" y="0"/>
                </a:moveTo>
                <a:lnTo>
                  <a:pt x="657225" y="0"/>
                </a:lnTo>
                <a:lnTo>
                  <a:pt x="657225" y="857250"/>
                </a:lnTo>
                <a:lnTo>
                  <a:pt x="0" y="857250"/>
                </a:lnTo>
                <a:lnTo>
                  <a:pt x="0" y="0"/>
                </a:lnTo>
                <a:close/>
              </a:path>
            </a:pathLst>
          </a:custGeom>
          <a:blipFill>
            <a:blip r:embed="rId8"/>
            <a:stretch>
              <a:fillRect l="0" t="0" r="0" b="0"/>
            </a:stretch>
          </a:blipFill>
        </p:spPr>
      </p:sp>
      <p:sp>
        <p:nvSpPr>
          <p:cNvPr name="TextBox 16" id="16"/>
          <p:cNvSpPr txBox="true"/>
          <p:nvPr/>
        </p:nvSpPr>
        <p:spPr>
          <a:xfrm rot="0">
            <a:off x="5907024" y="6499949"/>
            <a:ext cx="621792" cy="218896"/>
          </a:xfrm>
          <a:prstGeom prst="rect">
            <a:avLst/>
          </a:prstGeom>
        </p:spPr>
        <p:txBody>
          <a:bodyPr anchor="t" rtlCol="false" tIns="0" lIns="0" bIns="0" rIns="0">
            <a:spAutoFit/>
          </a:bodyPr>
          <a:lstStyle/>
          <a:p>
            <a:pPr algn="ctr">
              <a:lnSpc>
                <a:spcPts val="1634"/>
              </a:lnSpc>
            </a:pPr>
            <a:r>
              <a:rPr lang="en-US" sz="1485">
                <a:solidFill>
                  <a:srgbClr val="FFFFFF"/>
                </a:solidFill>
                <a:latin typeface="Roboto"/>
                <a:ea typeface="Roboto"/>
                <a:cs typeface="Roboto"/>
                <a:sym typeface="Roboto"/>
              </a:rPr>
              <a:t>iSchool</a:t>
            </a:r>
          </a:p>
        </p:txBody>
      </p:sp>
      <p:sp>
        <p:nvSpPr>
          <p:cNvPr name="Freeform 17" id="17"/>
          <p:cNvSpPr/>
          <p:nvPr/>
        </p:nvSpPr>
        <p:spPr>
          <a:xfrm flipH="false" flipV="false" rot="0">
            <a:off x="7400925" y="621030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9"/>
            <a:stretch>
              <a:fillRect l="0" t="0" r="0" b="0"/>
            </a:stretch>
          </a:blipFill>
        </p:spPr>
      </p:sp>
      <p:sp>
        <p:nvSpPr>
          <p:cNvPr name="Freeform 18" id="18"/>
          <p:cNvSpPr/>
          <p:nvPr/>
        </p:nvSpPr>
        <p:spPr>
          <a:xfrm flipH="false" flipV="false" rot="0">
            <a:off x="12839700" y="406717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0"/>
            <a:stretch>
              <a:fillRect l="0" t="0" r="0" b="0"/>
            </a:stretch>
          </a:blipFill>
        </p:spPr>
      </p:sp>
      <p:sp>
        <p:nvSpPr>
          <p:cNvPr name="Freeform 19" id="19"/>
          <p:cNvSpPr/>
          <p:nvPr/>
        </p:nvSpPr>
        <p:spPr>
          <a:xfrm flipH="false" flipV="false" rot="0">
            <a:off x="12620625" y="1495425"/>
            <a:ext cx="5238750" cy="2152650"/>
          </a:xfrm>
          <a:custGeom>
            <a:avLst/>
            <a:gdLst/>
            <a:ahLst/>
            <a:cxnLst/>
            <a:rect r="r" b="b" t="t" l="l"/>
            <a:pathLst>
              <a:path h="2152650" w="5238750">
                <a:moveTo>
                  <a:pt x="0" y="0"/>
                </a:moveTo>
                <a:lnTo>
                  <a:pt x="5238750" y="0"/>
                </a:lnTo>
                <a:lnTo>
                  <a:pt x="5238750" y="2152650"/>
                </a:lnTo>
                <a:lnTo>
                  <a:pt x="0" y="2152650"/>
                </a:lnTo>
                <a:lnTo>
                  <a:pt x="0" y="0"/>
                </a:lnTo>
                <a:close/>
              </a:path>
            </a:pathLst>
          </a:custGeom>
          <a:blipFill>
            <a:blip r:embed="rId11"/>
            <a:stretch>
              <a:fillRect l="0" t="0" r="0" b="0"/>
            </a:stretch>
          </a:blipFill>
        </p:spPr>
      </p:sp>
      <p:sp>
        <p:nvSpPr>
          <p:cNvPr name="TextBox 20" id="20"/>
          <p:cNvSpPr txBox="true"/>
          <p:nvPr/>
        </p:nvSpPr>
        <p:spPr>
          <a:xfrm rot="0">
            <a:off x="13277088" y="2267903"/>
            <a:ext cx="4224528" cy="628233"/>
          </a:xfrm>
          <a:prstGeom prst="rect">
            <a:avLst/>
          </a:prstGeom>
        </p:spPr>
        <p:txBody>
          <a:bodyPr anchor="t" rtlCol="false" tIns="0" lIns="0" bIns="0" rIns="0">
            <a:spAutoFit/>
          </a:bodyPr>
          <a:lstStyle/>
          <a:p>
            <a:pPr algn="ctr">
              <a:lnSpc>
                <a:spcPts val="2438"/>
              </a:lnSpc>
            </a:pPr>
            <a:r>
              <a:rPr lang="en-US" sz="2217" b="true">
                <a:solidFill>
                  <a:srgbClr val="FFFFFF"/>
                </a:solidFill>
                <a:latin typeface="Roboto Bold"/>
                <a:ea typeface="Roboto Bold"/>
                <a:cs typeface="Roboto Bold"/>
                <a:sym typeface="Roboto Bold"/>
              </a:rPr>
              <a:t>Bataa combines daily practice with help inside the work.</a:t>
            </a:r>
          </a:p>
        </p:txBody>
      </p:sp>
      <p:sp>
        <p:nvSpPr>
          <p:cNvPr name="TextBox 21" id="21"/>
          <p:cNvSpPr txBox="true"/>
          <p:nvPr/>
        </p:nvSpPr>
        <p:spPr>
          <a:xfrm rot="0">
            <a:off x="17135856" y="501795"/>
            <a:ext cx="237744" cy="230088"/>
          </a:xfrm>
          <a:prstGeom prst="rect">
            <a:avLst/>
          </a:prstGeom>
        </p:spPr>
        <p:txBody>
          <a:bodyPr anchor="t" rtlCol="false" tIns="0" lIns="0" bIns="0" rIns="0">
            <a:spAutoFit/>
          </a:bodyPr>
          <a:lstStyle/>
          <a:p>
            <a:pPr algn="r">
              <a:lnSpc>
                <a:spcPts val="1778"/>
              </a:lnSpc>
            </a:pPr>
            <a:r>
              <a:rPr lang="en-US" b="true" sz="1617">
                <a:solidFill>
                  <a:srgbClr val="FFFFFF"/>
                </a:solidFill>
                <a:latin typeface="Roboto Bold"/>
                <a:ea typeface="Roboto Bold"/>
                <a:cs typeface="Roboto Bold"/>
                <a:sym typeface="Roboto Bold"/>
              </a:rPr>
              <a:t>10</a:t>
            </a:r>
          </a:p>
        </p:txBody>
      </p:sp>
      <p:sp>
        <p:nvSpPr>
          <p:cNvPr name="TextBox 22" id="22"/>
          <p:cNvSpPr txBox="true"/>
          <p:nvPr/>
        </p:nvSpPr>
        <p:spPr>
          <a:xfrm rot="0">
            <a:off x="3163824" y="508016"/>
            <a:ext cx="1115568" cy="208121"/>
          </a:xfrm>
          <a:prstGeom prst="rect">
            <a:avLst/>
          </a:prstGeom>
        </p:spPr>
        <p:txBody>
          <a:bodyPr anchor="t" rtlCol="false" tIns="0" lIns="0" bIns="0" rIns="0">
            <a:spAutoFit/>
          </a:bodyPr>
          <a:lstStyle/>
          <a:p>
            <a:pPr algn="l">
              <a:lnSpc>
                <a:spcPts val="1526"/>
              </a:lnSpc>
            </a:pPr>
            <a:r>
              <a:rPr lang="en-US" sz="1387" b="true">
                <a:solidFill>
                  <a:srgbClr val="FFFFFF"/>
                </a:solidFill>
                <a:latin typeface="Roboto Bold"/>
                <a:ea typeface="Roboto Bold"/>
                <a:cs typeface="Roboto Bold"/>
                <a:sym typeface="Roboto Bold"/>
              </a:rPr>
              <a:t>POSITIONING</a:t>
            </a:r>
          </a:p>
        </p:txBody>
      </p:sp>
      <p:sp>
        <p:nvSpPr>
          <p:cNvPr name="TextBox 23" id="23"/>
          <p:cNvSpPr txBox="true"/>
          <p:nvPr/>
        </p:nvSpPr>
        <p:spPr>
          <a:xfrm rot="0">
            <a:off x="7095744" y="7194286"/>
            <a:ext cx="151790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Yanfaa / Nafham</a:t>
            </a:r>
          </a:p>
        </p:txBody>
      </p:sp>
      <p:sp>
        <p:nvSpPr>
          <p:cNvPr name="TextBox 24" id="24"/>
          <p:cNvSpPr txBox="true"/>
          <p:nvPr/>
        </p:nvSpPr>
        <p:spPr>
          <a:xfrm rot="0">
            <a:off x="13021056" y="4972294"/>
            <a:ext cx="51206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Bataa</a:t>
            </a:r>
          </a:p>
        </p:txBody>
      </p:sp>
      <p:sp>
        <p:nvSpPr>
          <p:cNvPr name="Freeform 25" id="25"/>
          <p:cNvSpPr/>
          <p:nvPr/>
        </p:nvSpPr>
        <p:spPr>
          <a:xfrm flipH="false" flipV="false" rot="0">
            <a:off x="2505075" y="6833146"/>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6" id="26"/>
          <p:cNvSpPr/>
          <p:nvPr/>
        </p:nvSpPr>
        <p:spPr>
          <a:xfrm flipH="false" flipV="false" rot="0">
            <a:off x="2505075" y="5849249"/>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7" id="27"/>
          <p:cNvSpPr/>
          <p:nvPr/>
        </p:nvSpPr>
        <p:spPr>
          <a:xfrm flipH="false" flipV="false" rot="0">
            <a:off x="2569464" y="493395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
        <p:nvSpPr>
          <p:cNvPr name="Freeform 28" id="28"/>
          <p:cNvSpPr/>
          <p:nvPr/>
        </p:nvSpPr>
        <p:spPr>
          <a:xfrm flipH="false" flipV="false" rot="0">
            <a:off x="2569464" y="4067175"/>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895F3C"/>
                </a:solidFill>
                <a:latin typeface="Lato Bold"/>
                <a:ea typeface="Lato Bold"/>
                <a:cs typeface="Lato Bold"/>
                <a:sym typeface="Lato Bold"/>
              </a:rPr>
              <a:t>BUSINESS MODEL</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11</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2D180B"/>
                </a:solidFill>
                <a:latin typeface="Lato Bold"/>
                <a:ea typeface="Lato Bold"/>
                <a:cs typeface="Lato Bold"/>
                <a:sym typeface="Lato Bold"/>
              </a:rPr>
              <a:t>Start with one clear revenue engine</a:t>
            </a:r>
          </a:p>
        </p:txBody>
      </p:sp>
      <p:sp>
        <p:nvSpPr>
          <p:cNvPr name="TextBox 7" id="7"/>
          <p:cNvSpPr txBox="true"/>
          <p:nvPr/>
        </p:nvSpPr>
        <p:spPr>
          <a:xfrm rot="0">
            <a:off x="914400" y="2456281"/>
            <a:ext cx="11331820"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Paid learning first. Optional AI usage and platform licensing expand the model later.</a:t>
            </a:r>
          </a:p>
        </p:txBody>
      </p:sp>
      <p:grpSp>
        <p:nvGrpSpPr>
          <p:cNvPr name="Group 8" id="8"/>
          <p:cNvGrpSpPr/>
          <p:nvPr/>
        </p:nvGrpSpPr>
        <p:grpSpPr>
          <a:xfrm rot="0">
            <a:off x="1050131" y="3707606"/>
            <a:ext cx="7443788" cy="4157662"/>
            <a:chOff x="0" y="0"/>
            <a:chExt cx="9925050" cy="5543550"/>
          </a:xfrm>
        </p:grpSpPr>
        <p:sp>
          <p:nvSpPr>
            <p:cNvPr name="Freeform 9" id="9"/>
            <p:cNvSpPr/>
            <p:nvPr/>
          </p:nvSpPr>
          <p:spPr>
            <a:xfrm flipH="false" flipV="false" rot="0">
              <a:off x="0" y="0"/>
              <a:ext cx="9925050" cy="5543550"/>
            </a:xfrm>
            <a:custGeom>
              <a:avLst/>
              <a:gdLst/>
              <a:ahLst/>
              <a:cxnLst/>
              <a:rect r="r" b="b" t="t" l="l"/>
              <a:pathLst>
                <a:path h="5543550" w="9925050">
                  <a:moveTo>
                    <a:pt x="0" y="458724"/>
                  </a:moveTo>
                  <a:cubicBezTo>
                    <a:pt x="0" y="205359"/>
                    <a:pt x="205359" y="0"/>
                    <a:pt x="458724" y="0"/>
                  </a:cubicBezTo>
                  <a:lnTo>
                    <a:pt x="9466326" y="0"/>
                  </a:lnTo>
                  <a:cubicBezTo>
                    <a:pt x="9719691" y="0"/>
                    <a:pt x="9925050" y="205359"/>
                    <a:pt x="9925050" y="458724"/>
                  </a:cubicBezTo>
                  <a:lnTo>
                    <a:pt x="9925050" y="5084826"/>
                  </a:lnTo>
                  <a:cubicBezTo>
                    <a:pt x="9925050" y="5338191"/>
                    <a:pt x="9719691" y="5543550"/>
                    <a:pt x="9466326" y="5543550"/>
                  </a:cubicBezTo>
                  <a:lnTo>
                    <a:pt x="458724" y="5543550"/>
                  </a:lnTo>
                  <a:cubicBezTo>
                    <a:pt x="205359" y="5543550"/>
                    <a:pt x="0" y="5338191"/>
                    <a:pt x="0" y="5084826"/>
                  </a:cubicBezTo>
                  <a:close/>
                </a:path>
              </a:pathLst>
            </a:custGeom>
            <a:solidFill>
              <a:srgbClr val="FF8500"/>
            </a:solidFill>
            <a:ln w="14288" cap="sq">
              <a:solidFill>
                <a:srgbClr val="FF8500"/>
              </a:solidFill>
              <a:prstDash val="solid"/>
              <a:miter/>
            </a:ln>
          </p:spPr>
        </p:sp>
      </p:grpSp>
      <p:grpSp>
        <p:nvGrpSpPr>
          <p:cNvPr name="Group 10" id="10"/>
          <p:cNvGrpSpPr/>
          <p:nvPr/>
        </p:nvGrpSpPr>
        <p:grpSpPr>
          <a:xfrm rot="0">
            <a:off x="1543050" y="4286250"/>
            <a:ext cx="2071688" cy="428625"/>
            <a:chOff x="0" y="0"/>
            <a:chExt cx="2762250" cy="571500"/>
          </a:xfrm>
        </p:grpSpPr>
        <p:sp>
          <p:nvSpPr>
            <p:cNvPr name="Freeform 11" id="11"/>
            <p:cNvSpPr/>
            <p:nvPr/>
          </p:nvSpPr>
          <p:spPr>
            <a:xfrm flipH="false" flipV="false" rot="0">
              <a:off x="0" y="0"/>
              <a:ext cx="2762250" cy="571500"/>
            </a:xfrm>
            <a:custGeom>
              <a:avLst/>
              <a:gdLst/>
              <a:ahLst/>
              <a:cxnLst/>
              <a:rect r="r" b="b" t="t" l="l"/>
              <a:pathLst>
                <a:path h="571500" w="2762250">
                  <a:moveTo>
                    <a:pt x="0" y="285750"/>
                  </a:moveTo>
                  <a:cubicBezTo>
                    <a:pt x="0" y="127889"/>
                    <a:pt x="127889" y="0"/>
                    <a:pt x="285750" y="0"/>
                  </a:cubicBezTo>
                  <a:lnTo>
                    <a:pt x="2476500" y="0"/>
                  </a:lnTo>
                  <a:cubicBezTo>
                    <a:pt x="2634361" y="0"/>
                    <a:pt x="2762250" y="127889"/>
                    <a:pt x="2762250" y="285750"/>
                  </a:cubicBezTo>
                  <a:cubicBezTo>
                    <a:pt x="2762250" y="443611"/>
                    <a:pt x="2634361" y="571500"/>
                    <a:pt x="2476500" y="571500"/>
                  </a:cubicBezTo>
                  <a:lnTo>
                    <a:pt x="285750" y="571500"/>
                  </a:lnTo>
                  <a:cubicBezTo>
                    <a:pt x="127889" y="571500"/>
                    <a:pt x="0" y="443611"/>
                    <a:pt x="0" y="285750"/>
                  </a:cubicBezTo>
                  <a:close/>
                </a:path>
              </a:pathLst>
            </a:custGeom>
            <a:solidFill>
              <a:srgbClr val="FFF6E9"/>
            </a:solidFill>
            <a:ln cap="sq">
              <a:noFill/>
              <a:prstDash val="solid"/>
              <a:miter/>
            </a:ln>
          </p:spPr>
        </p:sp>
        <p:sp>
          <p:nvSpPr>
            <p:cNvPr name="TextBox 12" id="12"/>
            <p:cNvSpPr txBox="true"/>
            <p:nvPr/>
          </p:nvSpPr>
          <p:spPr>
            <a:xfrm>
              <a:off x="0" y="0"/>
              <a:ext cx="2762250" cy="571500"/>
            </a:xfrm>
            <a:prstGeom prst="rect">
              <a:avLst/>
            </a:prstGeom>
          </p:spPr>
          <p:txBody>
            <a:bodyPr anchor="ctr" rtlCol="false" tIns="50800" lIns="50800" bIns="50800" rIns="50800"/>
            <a:lstStyle/>
            <a:p>
              <a:pPr algn="ctr">
                <a:lnSpc>
                  <a:spcPts val="1755"/>
                </a:lnSpc>
              </a:pPr>
              <a:r>
                <a:rPr lang="en-US" sz="1462" b="true">
                  <a:solidFill>
                    <a:srgbClr val="C45300"/>
                  </a:solidFill>
                  <a:latin typeface="Lato Bold"/>
                  <a:ea typeface="Lato Bold"/>
                  <a:cs typeface="Lato Bold"/>
                  <a:sym typeface="Lato Bold"/>
                </a:rPr>
                <a:t>LAUNCH PRIORITY</a:t>
              </a:r>
            </a:p>
          </p:txBody>
        </p:sp>
      </p:grpSp>
      <p:sp>
        <p:nvSpPr>
          <p:cNvPr name="TextBox 13" id="13"/>
          <p:cNvSpPr txBox="true"/>
          <p:nvPr/>
        </p:nvSpPr>
        <p:spPr>
          <a:xfrm rot="0">
            <a:off x="1543050" y="5076825"/>
            <a:ext cx="5143500" cy="752475"/>
          </a:xfrm>
          <a:prstGeom prst="rect">
            <a:avLst/>
          </a:prstGeom>
        </p:spPr>
        <p:txBody>
          <a:bodyPr anchor="t" rtlCol="false" tIns="0" lIns="0" bIns="0" rIns="0">
            <a:spAutoFit/>
          </a:bodyPr>
          <a:lstStyle/>
          <a:p>
            <a:pPr algn="l">
              <a:lnSpc>
                <a:spcPts val="5400"/>
              </a:lnSpc>
            </a:pPr>
            <a:r>
              <a:rPr lang="en-US" sz="4500" b="true">
                <a:solidFill>
                  <a:srgbClr val="2D180B"/>
                </a:solidFill>
                <a:latin typeface="Lato Bold"/>
                <a:ea typeface="Lato Bold"/>
                <a:cs typeface="Lato Bold"/>
                <a:sym typeface="Lato Bold"/>
              </a:rPr>
              <a:t>Course purchase</a:t>
            </a:r>
          </a:p>
        </p:txBody>
      </p:sp>
      <p:sp>
        <p:nvSpPr>
          <p:cNvPr name="TextBox 14" id="14"/>
          <p:cNvSpPr txBox="true"/>
          <p:nvPr/>
        </p:nvSpPr>
        <p:spPr>
          <a:xfrm rot="0">
            <a:off x="1571625" y="6134100"/>
            <a:ext cx="5572125" cy="895350"/>
          </a:xfrm>
          <a:prstGeom prst="rect">
            <a:avLst/>
          </a:prstGeom>
        </p:spPr>
        <p:txBody>
          <a:bodyPr anchor="t" rtlCol="false" tIns="0" lIns="0" bIns="0" rIns="0">
            <a:spAutoFit/>
          </a:bodyPr>
          <a:lstStyle/>
          <a:p>
            <a:pPr algn="l">
              <a:lnSpc>
                <a:spcPts val="2700"/>
              </a:lnSpc>
            </a:pPr>
            <a:r>
              <a:rPr lang="en-US" sz="2250">
                <a:solidFill>
                  <a:srgbClr val="2D180B"/>
                </a:solidFill>
                <a:latin typeface="Lato"/>
                <a:ea typeface="Lato"/>
                <a:cs typeface="Lato"/>
                <a:sym typeface="Lato"/>
              </a:rPr>
              <a:t>Learners pay for a structured path that turns practice into a finished skill.</a:t>
            </a:r>
          </a:p>
        </p:txBody>
      </p:sp>
      <p:grpSp>
        <p:nvGrpSpPr>
          <p:cNvPr name="Group 15" id="15"/>
          <p:cNvGrpSpPr/>
          <p:nvPr/>
        </p:nvGrpSpPr>
        <p:grpSpPr>
          <a:xfrm rot="0">
            <a:off x="9279731" y="3707606"/>
            <a:ext cx="3657600" cy="4157662"/>
            <a:chOff x="0" y="0"/>
            <a:chExt cx="4876800" cy="5543550"/>
          </a:xfrm>
        </p:grpSpPr>
        <p:sp>
          <p:nvSpPr>
            <p:cNvPr name="Freeform 16" id="16"/>
            <p:cNvSpPr/>
            <p:nvPr/>
          </p:nvSpPr>
          <p:spPr>
            <a:xfrm flipH="false" flipV="false" rot="0">
              <a:off x="0" y="0"/>
              <a:ext cx="4876800" cy="5543550"/>
            </a:xfrm>
            <a:custGeom>
              <a:avLst/>
              <a:gdLst/>
              <a:ahLst/>
              <a:cxnLst/>
              <a:rect r="r" b="b" t="t" l="l"/>
              <a:pathLst>
                <a:path h="5543550" w="4876800">
                  <a:moveTo>
                    <a:pt x="0" y="458978"/>
                  </a:moveTo>
                  <a:cubicBezTo>
                    <a:pt x="0" y="205486"/>
                    <a:pt x="205486" y="0"/>
                    <a:pt x="458978" y="0"/>
                  </a:cubicBezTo>
                  <a:lnTo>
                    <a:pt x="4417822" y="0"/>
                  </a:lnTo>
                  <a:cubicBezTo>
                    <a:pt x="4671314" y="0"/>
                    <a:pt x="4876800" y="205486"/>
                    <a:pt x="4876800" y="458978"/>
                  </a:cubicBezTo>
                  <a:lnTo>
                    <a:pt x="4876800" y="5084572"/>
                  </a:lnTo>
                  <a:cubicBezTo>
                    <a:pt x="4876800" y="5338064"/>
                    <a:pt x="4671314" y="5543550"/>
                    <a:pt x="441782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17" id="17"/>
          <p:cNvGrpSpPr/>
          <p:nvPr/>
        </p:nvGrpSpPr>
        <p:grpSpPr>
          <a:xfrm rot="0">
            <a:off x="9744075" y="4286250"/>
            <a:ext cx="1357312" cy="400050"/>
            <a:chOff x="0" y="0"/>
            <a:chExt cx="1809750" cy="533400"/>
          </a:xfrm>
        </p:grpSpPr>
        <p:sp>
          <p:nvSpPr>
            <p:cNvPr name="Freeform 18" id="18"/>
            <p:cNvSpPr/>
            <p:nvPr/>
          </p:nvSpPr>
          <p:spPr>
            <a:xfrm flipH="false" flipV="false" rot="0">
              <a:off x="0" y="0"/>
              <a:ext cx="1809750" cy="533400"/>
            </a:xfrm>
            <a:custGeom>
              <a:avLst/>
              <a:gdLst/>
              <a:ahLst/>
              <a:cxnLst/>
              <a:rect r="r" b="b" t="t" l="l"/>
              <a:pathLst>
                <a:path h="533400" w="1809750">
                  <a:moveTo>
                    <a:pt x="0" y="266700"/>
                  </a:moveTo>
                  <a:cubicBezTo>
                    <a:pt x="0" y="119380"/>
                    <a:pt x="119380" y="0"/>
                    <a:pt x="266700" y="0"/>
                  </a:cubicBezTo>
                  <a:lnTo>
                    <a:pt x="1543050" y="0"/>
                  </a:lnTo>
                  <a:cubicBezTo>
                    <a:pt x="1690370" y="0"/>
                    <a:pt x="1809750" y="119380"/>
                    <a:pt x="1809750" y="266700"/>
                  </a:cubicBezTo>
                  <a:cubicBezTo>
                    <a:pt x="1809750" y="414020"/>
                    <a:pt x="1690370" y="533400"/>
                    <a:pt x="1543050" y="533400"/>
                  </a:cubicBezTo>
                  <a:lnTo>
                    <a:pt x="266700" y="533400"/>
                  </a:lnTo>
                  <a:cubicBezTo>
                    <a:pt x="119380" y="533400"/>
                    <a:pt x="0" y="414020"/>
                    <a:pt x="0" y="266700"/>
                  </a:cubicBezTo>
                  <a:close/>
                </a:path>
              </a:pathLst>
            </a:custGeom>
            <a:solidFill>
              <a:srgbClr val="FBEAD4"/>
            </a:solidFill>
            <a:ln cap="sq">
              <a:noFill/>
              <a:prstDash val="solid"/>
              <a:miter/>
            </a:ln>
          </p:spPr>
        </p:sp>
        <p:sp>
          <p:nvSpPr>
            <p:cNvPr name="TextBox 19" id="19"/>
            <p:cNvSpPr txBox="true"/>
            <p:nvPr/>
          </p:nvSpPr>
          <p:spPr>
            <a:xfrm>
              <a:off x="0" y="0"/>
              <a:ext cx="1809750" cy="533400"/>
            </a:xfrm>
            <a:prstGeom prst="rect">
              <a:avLst/>
            </a:prstGeom>
          </p:spPr>
          <p:txBody>
            <a:bodyPr anchor="ctr" rtlCol="false" tIns="50800" lIns="50800" bIns="50800" rIns="50800"/>
            <a:lstStyle/>
            <a:p>
              <a:pPr algn="ctr">
                <a:lnSpc>
                  <a:spcPts val="1755"/>
                </a:lnSpc>
              </a:pPr>
              <a:r>
                <a:rPr lang="en-US" sz="1462" b="true">
                  <a:solidFill>
                    <a:srgbClr val="895F3C"/>
                  </a:solidFill>
                  <a:latin typeface="Lato Bold"/>
                  <a:ea typeface="Lato Bold"/>
                  <a:cs typeface="Lato Bold"/>
                  <a:sym typeface="Lato Bold"/>
                </a:rPr>
                <a:t>OPTIONAL</a:t>
              </a:r>
            </a:p>
          </p:txBody>
        </p:sp>
      </p:grpSp>
      <p:sp>
        <p:nvSpPr>
          <p:cNvPr name="TextBox 20" id="20"/>
          <p:cNvSpPr txBox="true"/>
          <p:nvPr/>
        </p:nvSpPr>
        <p:spPr>
          <a:xfrm rot="0">
            <a:off x="9744075" y="5057775"/>
            <a:ext cx="2571750"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AI tokens</a:t>
            </a:r>
          </a:p>
        </p:txBody>
      </p:sp>
      <p:sp>
        <p:nvSpPr>
          <p:cNvPr name="TextBox 21" id="21"/>
          <p:cNvSpPr txBox="true"/>
          <p:nvPr/>
        </p:nvSpPr>
        <p:spPr>
          <a:xfrm rot="0">
            <a:off x="9744075" y="6000750"/>
            <a:ext cx="2500312"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Extra attempts, deeper explanations, or advanced model usage.</a:t>
            </a:r>
          </a:p>
        </p:txBody>
      </p:sp>
      <p:grpSp>
        <p:nvGrpSpPr>
          <p:cNvPr name="Group 22" id="22"/>
          <p:cNvGrpSpPr/>
          <p:nvPr/>
        </p:nvGrpSpPr>
        <p:grpSpPr>
          <a:xfrm rot="0">
            <a:off x="13494544" y="3707606"/>
            <a:ext cx="3729038" cy="4157662"/>
            <a:chOff x="0" y="0"/>
            <a:chExt cx="4972050" cy="5543550"/>
          </a:xfrm>
        </p:grpSpPr>
        <p:sp>
          <p:nvSpPr>
            <p:cNvPr name="Freeform 23" id="23"/>
            <p:cNvSpPr/>
            <p:nvPr/>
          </p:nvSpPr>
          <p:spPr>
            <a:xfrm flipH="false" flipV="false" rot="0">
              <a:off x="0" y="0"/>
              <a:ext cx="4972050" cy="5543550"/>
            </a:xfrm>
            <a:custGeom>
              <a:avLst/>
              <a:gdLst/>
              <a:ahLst/>
              <a:cxnLst/>
              <a:rect r="r" b="b" t="t" l="l"/>
              <a:pathLst>
                <a:path h="5543550" w="4972050">
                  <a:moveTo>
                    <a:pt x="0" y="458978"/>
                  </a:moveTo>
                  <a:cubicBezTo>
                    <a:pt x="0" y="205486"/>
                    <a:pt x="205486" y="0"/>
                    <a:pt x="458978" y="0"/>
                  </a:cubicBezTo>
                  <a:lnTo>
                    <a:pt x="4513072" y="0"/>
                  </a:lnTo>
                  <a:cubicBezTo>
                    <a:pt x="4766564" y="0"/>
                    <a:pt x="4972050" y="205486"/>
                    <a:pt x="4972050" y="458978"/>
                  </a:cubicBezTo>
                  <a:lnTo>
                    <a:pt x="4972050" y="5084572"/>
                  </a:lnTo>
                  <a:cubicBezTo>
                    <a:pt x="4972050" y="5338064"/>
                    <a:pt x="4766564" y="5543550"/>
                    <a:pt x="451307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sp>
      </p:grpSp>
      <p:grpSp>
        <p:nvGrpSpPr>
          <p:cNvPr name="Group 24" id="24"/>
          <p:cNvGrpSpPr/>
          <p:nvPr/>
        </p:nvGrpSpPr>
        <p:grpSpPr>
          <a:xfrm rot="0">
            <a:off x="13944600" y="4286250"/>
            <a:ext cx="1071562" cy="400050"/>
            <a:chOff x="0" y="0"/>
            <a:chExt cx="1428750" cy="533400"/>
          </a:xfrm>
        </p:grpSpPr>
        <p:sp>
          <p:nvSpPr>
            <p:cNvPr name="Freeform 25" id="25"/>
            <p:cNvSpPr/>
            <p:nvPr/>
          </p:nvSpPr>
          <p:spPr>
            <a:xfrm flipH="false" flipV="false" rot="0">
              <a:off x="0" y="0"/>
              <a:ext cx="1428750" cy="533400"/>
            </a:xfrm>
            <a:custGeom>
              <a:avLst/>
              <a:gdLst/>
              <a:ahLst/>
              <a:cxnLst/>
              <a:rect r="r" b="b" t="t" l="l"/>
              <a:pathLst>
                <a:path h="533400" w="1428750">
                  <a:moveTo>
                    <a:pt x="0" y="266700"/>
                  </a:moveTo>
                  <a:cubicBezTo>
                    <a:pt x="0" y="119380"/>
                    <a:pt x="119380" y="0"/>
                    <a:pt x="266700" y="0"/>
                  </a:cubicBezTo>
                  <a:lnTo>
                    <a:pt x="1162050" y="0"/>
                  </a:lnTo>
                  <a:cubicBezTo>
                    <a:pt x="1309370" y="0"/>
                    <a:pt x="1428750" y="119380"/>
                    <a:pt x="1428750" y="266700"/>
                  </a:cubicBezTo>
                  <a:cubicBezTo>
                    <a:pt x="1428750" y="414020"/>
                    <a:pt x="1309370" y="533400"/>
                    <a:pt x="1162050" y="533400"/>
                  </a:cubicBezTo>
                  <a:lnTo>
                    <a:pt x="266700" y="533400"/>
                  </a:lnTo>
                  <a:cubicBezTo>
                    <a:pt x="119380" y="533400"/>
                    <a:pt x="0" y="414020"/>
                    <a:pt x="0" y="266700"/>
                  </a:cubicBezTo>
                  <a:close/>
                </a:path>
              </a:pathLst>
            </a:custGeom>
            <a:solidFill>
              <a:srgbClr val="DFF2E5"/>
            </a:solidFill>
            <a:ln cap="sq">
              <a:noFill/>
              <a:prstDash val="solid"/>
              <a:miter/>
            </a:ln>
          </p:spPr>
        </p:sp>
        <p:sp>
          <p:nvSpPr>
            <p:cNvPr name="TextBox 26" id="26"/>
            <p:cNvSpPr txBox="true"/>
            <p:nvPr/>
          </p:nvSpPr>
          <p:spPr>
            <a:xfrm>
              <a:off x="0" y="0"/>
              <a:ext cx="1428750" cy="533400"/>
            </a:xfrm>
            <a:prstGeom prst="rect">
              <a:avLst/>
            </a:prstGeom>
          </p:spPr>
          <p:txBody>
            <a:bodyPr anchor="ctr" rtlCol="false" tIns="50800" lIns="50800" bIns="50800" rIns="50800"/>
            <a:lstStyle/>
            <a:p>
              <a:pPr algn="ctr">
                <a:lnSpc>
                  <a:spcPts val="1755"/>
                </a:lnSpc>
              </a:pPr>
              <a:r>
                <a:rPr lang="en-US" sz="1462" b="true">
                  <a:solidFill>
                    <a:srgbClr val="2E9B62"/>
                  </a:solidFill>
                  <a:latin typeface="Lato Bold"/>
                  <a:ea typeface="Lato Bold"/>
                  <a:cs typeface="Lato Bold"/>
                  <a:sym typeface="Lato Bold"/>
                </a:rPr>
                <a:t>LATER</a:t>
              </a:r>
            </a:p>
          </p:txBody>
        </p:sp>
      </p:grpSp>
      <p:sp>
        <p:nvSpPr>
          <p:cNvPr name="TextBox 27" id="27"/>
          <p:cNvSpPr txBox="true"/>
          <p:nvPr/>
        </p:nvSpPr>
        <p:spPr>
          <a:xfrm rot="0">
            <a:off x="13944600" y="5057775"/>
            <a:ext cx="2714625" cy="542925"/>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Platform fees</a:t>
            </a:r>
          </a:p>
        </p:txBody>
      </p:sp>
      <p:sp>
        <p:nvSpPr>
          <p:cNvPr name="TextBox 28" id="28"/>
          <p:cNvSpPr txBox="true"/>
          <p:nvPr/>
        </p:nvSpPr>
        <p:spPr>
          <a:xfrm rot="0">
            <a:off x="13944600" y="6000750"/>
            <a:ext cx="2571750"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Commission from creator and institution courses.</a:t>
            </a:r>
          </a:p>
        </p:txBody>
      </p:sp>
      <p:sp>
        <p:nvSpPr>
          <p:cNvPr name="TextBox 29" id="29"/>
          <p:cNvSpPr txBox="true"/>
          <p:nvPr/>
        </p:nvSpPr>
        <p:spPr>
          <a:xfrm rot="0">
            <a:off x="1057275" y="8629650"/>
            <a:ext cx="10858500" cy="400050"/>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Keep the first story simple: one learner pays for one useful outcome.</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Business model · planned streams, launch priority shown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B1910"/>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PLATFORM EXPANSION</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12</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778794"/>
            <a:ext cx="13516926" cy="590550"/>
          </a:xfrm>
          <a:prstGeom prst="rect">
            <a:avLst/>
          </a:prstGeom>
        </p:spPr>
        <p:txBody>
          <a:bodyPr anchor="t" rtlCol="false" tIns="0" lIns="0" bIns="0" rIns="0">
            <a:spAutoFit/>
          </a:bodyPr>
          <a:lstStyle/>
          <a:p>
            <a:pPr algn="l">
              <a:lnSpc>
                <a:spcPts val="4612"/>
              </a:lnSpc>
            </a:pPr>
            <a:r>
              <a:rPr lang="en-US" sz="3843" b="true">
                <a:solidFill>
                  <a:srgbClr val="FFF6E9"/>
                </a:solidFill>
                <a:latin typeface="Lato Bold"/>
                <a:ea typeface="Lato Bold"/>
                <a:cs typeface="Lato Bold"/>
                <a:sym typeface="Lato Bold"/>
              </a:rPr>
              <a:t>The same learning engine can serve creators and institutions</a:t>
            </a:r>
          </a:p>
        </p:txBody>
      </p:sp>
      <p:sp>
        <p:nvSpPr>
          <p:cNvPr name="TextBox 7" id="7"/>
          <p:cNvSpPr txBox="true"/>
          <p:nvPr/>
        </p:nvSpPr>
        <p:spPr>
          <a:xfrm rot="0">
            <a:off x="1028700" y="2559844"/>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Bataa can become the infrastructure behind guided practice, not only a destination app.</a:t>
            </a:r>
          </a:p>
        </p:txBody>
      </p:sp>
      <p:grpSp>
        <p:nvGrpSpPr>
          <p:cNvPr name="Group 8" id="8"/>
          <p:cNvGrpSpPr/>
          <p:nvPr/>
        </p:nvGrpSpPr>
        <p:grpSpPr>
          <a:xfrm rot="0">
            <a:off x="1221581" y="4493419"/>
            <a:ext cx="4300538" cy="2014538"/>
            <a:chOff x="0" y="0"/>
            <a:chExt cx="5734050" cy="2686050"/>
          </a:xfrm>
        </p:grpSpPr>
        <p:sp>
          <p:nvSpPr>
            <p:cNvPr name="Freeform 9" id="9"/>
            <p:cNvSpPr/>
            <p:nvPr/>
          </p:nvSpPr>
          <p:spPr>
            <a:xfrm flipH="false" flipV="false" rot="0">
              <a:off x="0" y="0"/>
              <a:ext cx="5734050" cy="2686050"/>
            </a:xfrm>
            <a:custGeom>
              <a:avLst/>
              <a:gdLst/>
              <a:ahLst/>
              <a:cxnLst/>
              <a:rect r="r" b="b" t="t" l="l"/>
              <a:pathLst>
                <a:path h="2686050" w="5734050">
                  <a:moveTo>
                    <a:pt x="0" y="306959"/>
                  </a:moveTo>
                  <a:cubicBezTo>
                    <a:pt x="0" y="137414"/>
                    <a:pt x="137414" y="0"/>
                    <a:pt x="306959" y="0"/>
                  </a:cubicBezTo>
                  <a:lnTo>
                    <a:pt x="5427091" y="0"/>
                  </a:lnTo>
                  <a:cubicBezTo>
                    <a:pt x="5596636" y="0"/>
                    <a:pt x="5734050" y="137414"/>
                    <a:pt x="5734050" y="306959"/>
                  </a:cubicBezTo>
                  <a:lnTo>
                    <a:pt x="5734050" y="2379091"/>
                  </a:lnTo>
                  <a:cubicBezTo>
                    <a:pt x="5734050" y="2548636"/>
                    <a:pt x="5596636" y="2686050"/>
                    <a:pt x="5427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0" id="10"/>
          <p:cNvSpPr txBox="true"/>
          <p:nvPr/>
        </p:nvSpPr>
        <p:spPr>
          <a:xfrm rot="0">
            <a:off x="1543050" y="4848225"/>
            <a:ext cx="365760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CREATORS + INSTITUTIONS</a:t>
            </a:r>
          </a:p>
        </p:txBody>
      </p:sp>
      <p:sp>
        <p:nvSpPr>
          <p:cNvPr name="TextBox 11" id="11"/>
          <p:cNvSpPr txBox="true"/>
          <p:nvPr/>
        </p:nvSpPr>
        <p:spPr>
          <a:xfrm rot="0">
            <a:off x="1543050" y="5386388"/>
            <a:ext cx="365760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Publish a course or training path</a:t>
            </a:r>
          </a:p>
        </p:txBody>
      </p:sp>
      <p:grpSp>
        <p:nvGrpSpPr>
          <p:cNvPr name="Group 12" id="12"/>
          <p:cNvGrpSpPr/>
          <p:nvPr/>
        </p:nvGrpSpPr>
        <p:grpSpPr>
          <a:xfrm rot="0">
            <a:off x="6993731" y="4064794"/>
            <a:ext cx="4443412" cy="2871788"/>
            <a:chOff x="0" y="0"/>
            <a:chExt cx="5924550" cy="3829050"/>
          </a:xfrm>
        </p:grpSpPr>
        <p:sp>
          <p:nvSpPr>
            <p:cNvPr name="Freeform 13" id="13"/>
            <p:cNvSpPr/>
            <p:nvPr/>
          </p:nvSpPr>
          <p:spPr>
            <a:xfrm flipH="false" flipV="false" rot="0">
              <a:off x="0" y="0"/>
              <a:ext cx="5924550" cy="3829050"/>
            </a:xfrm>
            <a:custGeom>
              <a:avLst/>
              <a:gdLst/>
              <a:ahLst/>
              <a:cxnLst/>
              <a:rect r="r" b="b" t="t" l="l"/>
              <a:pathLst>
                <a:path h="3829050" w="5924550">
                  <a:moveTo>
                    <a:pt x="0" y="306324"/>
                  </a:moveTo>
                  <a:cubicBezTo>
                    <a:pt x="0" y="137160"/>
                    <a:pt x="137160" y="0"/>
                    <a:pt x="306324" y="0"/>
                  </a:cubicBezTo>
                  <a:lnTo>
                    <a:pt x="5618226" y="0"/>
                  </a:lnTo>
                  <a:cubicBezTo>
                    <a:pt x="5787390" y="0"/>
                    <a:pt x="5924550" y="137160"/>
                    <a:pt x="5924550" y="306324"/>
                  </a:cubicBezTo>
                  <a:lnTo>
                    <a:pt x="5924550" y="3522726"/>
                  </a:lnTo>
                  <a:cubicBezTo>
                    <a:pt x="5924550" y="3691890"/>
                    <a:pt x="5787390" y="3829050"/>
                    <a:pt x="5618226" y="3829050"/>
                  </a:cubicBezTo>
                  <a:lnTo>
                    <a:pt x="306324" y="3829050"/>
                  </a:lnTo>
                  <a:cubicBezTo>
                    <a:pt x="137160" y="3829050"/>
                    <a:pt x="0" y="3691890"/>
                    <a:pt x="0" y="3522726"/>
                  </a:cubicBezTo>
                  <a:close/>
                </a:path>
              </a:pathLst>
            </a:custGeom>
            <a:solidFill>
              <a:srgbClr val="FF8500"/>
            </a:solidFill>
            <a:ln w="14288" cap="sq">
              <a:solidFill>
                <a:srgbClr val="FF8500"/>
              </a:solidFill>
              <a:prstDash val="solid"/>
              <a:miter/>
            </a:ln>
          </p:spPr>
        </p:sp>
      </p:grpSp>
      <p:sp>
        <p:nvSpPr>
          <p:cNvPr name="TextBox 14" id="14"/>
          <p:cNvSpPr txBox="true"/>
          <p:nvPr/>
        </p:nvSpPr>
        <p:spPr>
          <a:xfrm rot="0">
            <a:off x="7315200" y="4419600"/>
            <a:ext cx="3800475"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BATAA ENGINE</a:t>
            </a:r>
          </a:p>
        </p:txBody>
      </p:sp>
      <p:sp>
        <p:nvSpPr>
          <p:cNvPr name="TextBox 15" id="15"/>
          <p:cNvSpPr txBox="true"/>
          <p:nvPr/>
        </p:nvSpPr>
        <p:spPr>
          <a:xfrm rot="0">
            <a:off x="7315200" y="4957762"/>
            <a:ext cx="3800475" cy="174307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Guided tasks, feedback, progress, AI context</a:t>
            </a:r>
          </a:p>
        </p:txBody>
      </p:sp>
      <p:grpSp>
        <p:nvGrpSpPr>
          <p:cNvPr name="Group 16" id="16"/>
          <p:cNvGrpSpPr/>
          <p:nvPr/>
        </p:nvGrpSpPr>
        <p:grpSpPr>
          <a:xfrm rot="0">
            <a:off x="12851606" y="3493294"/>
            <a:ext cx="4014788" cy="2014538"/>
            <a:chOff x="0" y="0"/>
            <a:chExt cx="5353050" cy="2686050"/>
          </a:xfrm>
        </p:grpSpPr>
        <p:sp>
          <p:nvSpPr>
            <p:cNvPr name="Freeform 17" id="17"/>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sp>
      </p:grpSp>
      <p:sp>
        <p:nvSpPr>
          <p:cNvPr name="TextBox 18" id="18"/>
          <p:cNvSpPr txBox="true"/>
          <p:nvPr/>
        </p:nvSpPr>
        <p:spPr>
          <a:xfrm rot="0">
            <a:off x="13173075" y="38481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LEARNERS</a:t>
            </a:r>
          </a:p>
        </p:txBody>
      </p:sp>
      <p:sp>
        <p:nvSpPr>
          <p:cNvPr name="TextBox 19" id="19"/>
          <p:cNvSpPr txBox="true"/>
          <p:nvPr/>
        </p:nvSpPr>
        <p:spPr>
          <a:xfrm rot="0">
            <a:off x="13173075" y="43862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Buy, practice, and finish the skill</a:t>
            </a:r>
          </a:p>
        </p:txBody>
      </p:sp>
      <p:sp>
        <p:nvSpPr>
          <p:cNvPr name="AutoShape 20" id="20"/>
          <p:cNvSpPr/>
          <p:nvPr/>
        </p:nvSpPr>
        <p:spPr>
          <a:xfrm flipV="true">
            <a:off x="11372735" y="4514825"/>
            <a:ext cx="1543281" cy="971600"/>
          </a:xfrm>
          <a:prstGeom prst="line">
            <a:avLst/>
          </a:prstGeom>
          <a:ln cap="rnd" w="28575">
            <a:solidFill>
              <a:srgbClr val="FFD5A3"/>
            </a:solidFill>
            <a:prstDash val="solid"/>
            <a:headEnd type="none" len="sm" w="sm"/>
            <a:tailEnd type="none" len="sm" w="sm"/>
          </a:ln>
        </p:spPr>
      </p:sp>
      <p:sp>
        <p:nvSpPr>
          <p:cNvPr name="AutoShape 21" id="21"/>
          <p:cNvSpPr/>
          <p:nvPr/>
        </p:nvSpPr>
        <p:spPr>
          <a:xfrm rot="3131040">
            <a:off x="10932633" y="6415088"/>
            <a:ext cx="2423493" cy="0"/>
          </a:xfrm>
          <a:prstGeom prst="line">
            <a:avLst/>
          </a:prstGeom>
          <a:ln cap="rnd" w="28575">
            <a:solidFill>
              <a:srgbClr val="FFD5A3"/>
            </a:solidFill>
            <a:prstDash val="solid"/>
            <a:headEnd type="none" len="sm" w="sm"/>
            <a:tailEnd type="none" len="sm" w="sm"/>
          </a:ln>
        </p:spPr>
      </p:sp>
      <p:grpSp>
        <p:nvGrpSpPr>
          <p:cNvPr name="Group 22" id="22"/>
          <p:cNvGrpSpPr/>
          <p:nvPr/>
        </p:nvGrpSpPr>
        <p:grpSpPr>
          <a:xfrm rot="0">
            <a:off x="12851606" y="6350794"/>
            <a:ext cx="4014788" cy="2014538"/>
            <a:chOff x="0" y="0"/>
            <a:chExt cx="5353050" cy="2686050"/>
          </a:xfrm>
        </p:grpSpPr>
        <p:sp>
          <p:nvSpPr>
            <p:cNvPr name="Freeform 23" id="23"/>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BBA9E4"/>
            </a:solidFill>
            <a:ln w="14288" cap="sq">
              <a:solidFill>
                <a:srgbClr val="BBA9E4"/>
              </a:solidFill>
              <a:prstDash val="solid"/>
              <a:miter/>
            </a:ln>
          </p:spPr>
        </p:sp>
      </p:grpSp>
      <p:sp>
        <p:nvSpPr>
          <p:cNvPr name="TextBox 24" id="24"/>
          <p:cNvSpPr txBox="true"/>
          <p:nvPr/>
        </p:nvSpPr>
        <p:spPr>
          <a:xfrm rot="0">
            <a:off x="13173075" y="6705600"/>
            <a:ext cx="3371850" cy="338137"/>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IDE / PRODUCT API</a:t>
            </a:r>
          </a:p>
        </p:txBody>
      </p:sp>
      <p:sp>
        <p:nvSpPr>
          <p:cNvPr name="TextBox 25" id="25"/>
          <p:cNvSpPr txBox="true"/>
          <p:nvPr/>
        </p:nvSpPr>
        <p:spPr>
          <a:xfrm rot="0">
            <a:off x="13173075" y="7243762"/>
            <a:ext cx="3371850" cy="885825"/>
          </a:xfrm>
          <a:prstGeom prst="rect">
            <a:avLst/>
          </a:prstGeom>
        </p:spPr>
        <p:txBody>
          <a:bodyPr anchor="t" rtlCol="false" tIns="0" lIns="0" bIns="0" rIns="0">
            <a:spAutoFit/>
          </a:bodyPr>
          <a:lstStyle/>
          <a:p>
            <a:pPr algn="l">
              <a:lnSpc>
                <a:spcPts val="2970"/>
              </a:lnSpc>
            </a:pPr>
            <a:r>
              <a:rPr lang="en-US" sz="2475" b="true">
                <a:solidFill>
                  <a:srgbClr val="2D180B"/>
                </a:solidFill>
                <a:latin typeface="Lato Bold"/>
                <a:ea typeface="Lato Bold"/>
                <a:cs typeface="Lato Bold"/>
                <a:sym typeface="Lato Bold"/>
              </a:rPr>
              <a:t>Bring the tutor into another workflow</a:t>
            </a:r>
          </a:p>
        </p:txBody>
      </p:sp>
      <p:sp>
        <p:nvSpPr>
          <p:cNvPr name="AutoShape 26" id="26"/>
          <p:cNvSpPr/>
          <p:nvPr/>
        </p:nvSpPr>
        <p:spPr>
          <a:xfrm>
            <a:off x="5485867" y="5500688"/>
            <a:ext cx="1544107" cy="0"/>
          </a:xfrm>
          <a:prstGeom prst="line">
            <a:avLst/>
          </a:prstGeom>
          <a:ln cap="rnd" w="28575">
            <a:solidFill>
              <a:srgbClr val="FFD5A3"/>
            </a:solidFill>
            <a:prstDash val="solid"/>
            <a:headEnd type="none" len="sm" w="sm"/>
            <a:tailEnd type="none" len="sm" w="sm"/>
          </a:ln>
        </p:spPr>
      </p:sp>
      <p:grpSp>
        <p:nvGrpSpPr>
          <p:cNvPr name="Group 27" id="27"/>
          <p:cNvGrpSpPr/>
          <p:nvPr/>
        </p:nvGrpSpPr>
        <p:grpSpPr>
          <a:xfrm rot="0">
            <a:off x="971550" y="9001125"/>
            <a:ext cx="2357438" cy="400050"/>
            <a:chOff x="0" y="0"/>
            <a:chExt cx="3143250" cy="533400"/>
          </a:xfrm>
        </p:grpSpPr>
        <p:sp>
          <p:nvSpPr>
            <p:cNvPr name="Freeform 28" id="28"/>
            <p:cNvSpPr/>
            <p:nvPr/>
          </p:nvSpPr>
          <p:spPr>
            <a:xfrm flipH="false" flipV="false" rot="0">
              <a:off x="0" y="0"/>
              <a:ext cx="3143250" cy="533400"/>
            </a:xfrm>
            <a:custGeom>
              <a:avLst/>
              <a:gdLst/>
              <a:ahLst/>
              <a:cxnLst/>
              <a:rect r="r" b="b" t="t" l="l"/>
              <a:pathLst>
                <a:path h="533400" w="3143250">
                  <a:moveTo>
                    <a:pt x="0" y="266700"/>
                  </a:moveTo>
                  <a:cubicBezTo>
                    <a:pt x="0" y="119380"/>
                    <a:pt x="119380" y="0"/>
                    <a:pt x="266700" y="0"/>
                  </a:cubicBezTo>
                  <a:lnTo>
                    <a:pt x="2876550" y="0"/>
                  </a:lnTo>
                  <a:cubicBezTo>
                    <a:pt x="3023870" y="0"/>
                    <a:pt x="3143250" y="119380"/>
                    <a:pt x="3143250" y="266700"/>
                  </a:cubicBezTo>
                  <a:cubicBezTo>
                    <a:pt x="3143250" y="414020"/>
                    <a:pt x="3023870" y="533400"/>
                    <a:pt x="2876550" y="533400"/>
                  </a:cubicBezTo>
                  <a:lnTo>
                    <a:pt x="266700" y="533400"/>
                  </a:lnTo>
                  <a:cubicBezTo>
                    <a:pt x="119380" y="533400"/>
                    <a:pt x="0" y="414020"/>
                    <a:pt x="0" y="266700"/>
                  </a:cubicBezTo>
                  <a:close/>
                </a:path>
              </a:pathLst>
            </a:custGeom>
            <a:solidFill>
              <a:srgbClr val="FF8500"/>
            </a:solidFill>
            <a:ln cap="sq">
              <a:noFill/>
              <a:prstDash val="solid"/>
              <a:miter/>
            </a:ln>
          </p:spPr>
        </p:sp>
        <p:sp>
          <p:nvSpPr>
            <p:cNvPr name="TextBox 29" id="29"/>
            <p:cNvSpPr txBox="true"/>
            <p:nvPr/>
          </p:nvSpPr>
          <p:spPr>
            <a:xfrm>
              <a:off x="0" y="0"/>
              <a:ext cx="3143250" cy="533400"/>
            </a:xfrm>
            <a:prstGeom prst="rect">
              <a:avLst/>
            </a:prstGeom>
          </p:spPr>
          <p:txBody>
            <a:bodyPr anchor="ctr" rtlCol="false" tIns="50800" lIns="50800" bIns="50800" rIns="50800"/>
            <a:lstStyle/>
            <a:p>
              <a:pPr algn="ctr">
                <a:lnSpc>
                  <a:spcPts val="1733"/>
                </a:lnSpc>
              </a:pPr>
              <a:r>
                <a:rPr lang="en-US" sz="1444" b="true">
                  <a:solidFill>
                    <a:srgbClr val="FFFFFF"/>
                  </a:solidFill>
                  <a:latin typeface="Lato Bold"/>
                  <a:ea typeface="Lato Bold"/>
                  <a:cs typeface="Lato Bold"/>
                  <a:sym typeface="Lato Bold"/>
                </a:rPr>
                <a:t>PLANNED EXPANSION</a:t>
              </a:r>
            </a:p>
          </p:txBody>
        </p:sp>
      </p:grpSp>
      <p:sp>
        <p:nvSpPr>
          <p:cNvPr name="TextBox 30" id="30"/>
          <p:cNvSpPr txBox="true"/>
          <p:nvPr/>
        </p:nvSpPr>
        <p:spPr>
          <a:xfrm rot="0">
            <a:off x="3600450" y="9058275"/>
            <a:ext cx="11144250" cy="285750"/>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Commission on course sales plus API licensing for organizations and tools.</a:t>
            </a:r>
          </a:p>
        </p:txBody>
      </p:sp>
      <p:sp>
        <p:nvSpPr>
          <p:cNvPr name="TextBox 31" id="3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Platform architecture · future revenue paths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TEAM</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13</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true">
                <a:solidFill>
                  <a:srgbClr val="FFF6E9"/>
                </a:solidFill>
                <a:latin typeface="Lato Bold"/>
                <a:ea typeface="Lato Bold"/>
                <a:cs typeface="Lato Bold"/>
                <a:sym typeface="Lato Bold"/>
              </a:rPr>
              <a:t>The team built the core surfaces</a:t>
            </a:r>
          </a:p>
        </p:txBody>
      </p:sp>
      <p:sp>
        <p:nvSpPr>
          <p:cNvPr name="TextBox 7" id="7"/>
          <p:cNvSpPr txBox="true"/>
          <p:nvPr/>
        </p:nvSpPr>
        <p:spPr>
          <a:xfrm rot="0">
            <a:off x="957262" y="2455069"/>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product is split across the places where the learner meets Bataa.</a:t>
            </a:r>
          </a:p>
        </p:txBody>
      </p:sp>
      <p:grpSp>
        <p:nvGrpSpPr>
          <p:cNvPr name="Group 8" id="8"/>
          <p:cNvGrpSpPr/>
          <p:nvPr/>
        </p:nvGrpSpPr>
        <p:grpSpPr>
          <a:xfrm rot="0">
            <a:off x="992981" y="4064794"/>
            <a:ext cx="4943475" cy="3729038"/>
            <a:chOff x="0" y="0"/>
            <a:chExt cx="6591300" cy="4972050"/>
          </a:xfrm>
        </p:grpSpPr>
        <p:sp>
          <p:nvSpPr>
            <p:cNvPr name="Freeform 9" id="9"/>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0" id="10"/>
          <p:cNvGrpSpPr/>
          <p:nvPr/>
        </p:nvGrpSpPr>
        <p:grpSpPr>
          <a:xfrm rot="0">
            <a:off x="1371600" y="4500562"/>
            <a:ext cx="714375" cy="714375"/>
            <a:chOff x="0" y="0"/>
            <a:chExt cx="952500" cy="952500"/>
          </a:xfrm>
        </p:grpSpPr>
        <p:sp>
          <p:nvSpPr>
            <p:cNvPr name="Freeform 11" id="11"/>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8500"/>
            </a:solidFill>
            <a:ln cap="sq">
              <a:noFill/>
              <a:prstDash val="solid"/>
              <a:miter/>
            </a:ln>
          </p:spPr>
        </p:sp>
        <p:sp>
          <p:nvSpPr>
            <p:cNvPr name="TextBox 12" id="12"/>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1</a:t>
              </a:r>
            </a:p>
          </p:txBody>
        </p:sp>
      </p:grpSp>
      <p:sp>
        <p:nvSpPr>
          <p:cNvPr name="TextBox 13" id="13"/>
          <p:cNvSpPr txBox="true"/>
          <p:nvPr/>
        </p:nvSpPr>
        <p:spPr>
          <a:xfrm rot="0">
            <a:off x="2343150" y="4543425"/>
            <a:ext cx="3143250" cy="400050"/>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Abdelrahman Mohsen</a:t>
            </a:r>
          </a:p>
        </p:txBody>
      </p:sp>
      <p:sp>
        <p:nvSpPr>
          <p:cNvPr name="TextBox 14" id="14"/>
          <p:cNvSpPr txBox="true"/>
          <p:nvPr/>
        </p:nvSpPr>
        <p:spPr>
          <a:xfrm rot="0">
            <a:off x="2343150" y="5062537"/>
            <a:ext cx="3143250" cy="295275"/>
          </a:xfrm>
          <a:prstGeom prst="rect">
            <a:avLst/>
          </a:prstGeom>
        </p:spPr>
        <p:txBody>
          <a:bodyPr anchor="t" rtlCol="false" tIns="0" lIns="0" bIns="0" rIns="0">
            <a:spAutoFit/>
          </a:bodyPr>
          <a:lstStyle/>
          <a:p>
            <a:pPr algn="l">
              <a:lnSpc>
                <a:spcPts val="1620"/>
              </a:lnSpc>
            </a:pPr>
            <a:r>
              <a:rPr lang="en-US" sz="1350" b="true">
                <a:solidFill>
                  <a:srgbClr val="FF8500"/>
                </a:solidFill>
                <a:latin typeface="Lato Bold"/>
                <a:ea typeface="Lato Bold"/>
                <a:cs typeface="Lato Bold"/>
                <a:sym typeface="Lato Bold"/>
              </a:rPr>
              <a:t>DESKTOP APP</a:t>
            </a:r>
          </a:p>
        </p:txBody>
      </p:sp>
      <p:sp>
        <p:nvSpPr>
          <p:cNvPr name="TextBox 15" id="15"/>
          <p:cNvSpPr txBox="true"/>
          <p:nvPr/>
        </p:nvSpPr>
        <p:spPr>
          <a:xfrm rot="0">
            <a:off x="1165649" y="5715000"/>
            <a:ext cx="459814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guided workspace where the AI can meet the learner inside real software.</a:t>
            </a:r>
          </a:p>
        </p:txBody>
      </p:sp>
      <p:grpSp>
        <p:nvGrpSpPr>
          <p:cNvPr name="Group 16" id="16"/>
          <p:cNvGrpSpPr/>
          <p:nvPr/>
        </p:nvGrpSpPr>
        <p:grpSpPr>
          <a:xfrm rot="0">
            <a:off x="6565106" y="4064794"/>
            <a:ext cx="4943475" cy="3729038"/>
            <a:chOff x="0" y="0"/>
            <a:chExt cx="6591300" cy="4972050"/>
          </a:xfrm>
        </p:grpSpPr>
        <p:sp>
          <p:nvSpPr>
            <p:cNvPr name="Freeform 17" id="17"/>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18" id="18"/>
          <p:cNvGrpSpPr/>
          <p:nvPr/>
        </p:nvGrpSpPr>
        <p:grpSpPr>
          <a:xfrm rot="0">
            <a:off x="6943725" y="4500562"/>
            <a:ext cx="714375" cy="714375"/>
            <a:chOff x="0" y="0"/>
            <a:chExt cx="952500" cy="952500"/>
          </a:xfrm>
        </p:grpSpPr>
        <p:sp>
          <p:nvSpPr>
            <p:cNvPr name="Freeform 19" id="19"/>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6E5BAA"/>
            </a:solidFill>
            <a:ln cap="sq">
              <a:noFill/>
              <a:prstDash val="solid"/>
              <a:miter/>
            </a:ln>
          </p:spPr>
        </p:sp>
        <p:sp>
          <p:nvSpPr>
            <p:cNvPr name="TextBox 20" id="20"/>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2</a:t>
              </a:r>
            </a:p>
          </p:txBody>
        </p:sp>
      </p:grpSp>
      <p:sp>
        <p:nvSpPr>
          <p:cNvPr name="TextBox 21" id="21"/>
          <p:cNvSpPr txBox="true"/>
          <p:nvPr/>
        </p:nvSpPr>
        <p:spPr>
          <a:xfrm rot="0">
            <a:off x="7915275"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Yousef Mohamed</a:t>
            </a:r>
          </a:p>
        </p:txBody>
      </p:sp>
      <p:sp>
        <p:nvSpPr>
          <p:cNvPr name="TextBox 22" id="22"/>
          <p:cNvSpPr txBox="true"/>
          <p:nvPr/>
        </p:nvSpPr>
        <p:spPr>
          <a:xfrm rot="0">
            <a:off x="7915275" y="5062537"/>
            <a:ext cx="3143250" cy="209550"/>
          </a:xfrm>
          <a:prstGeom prst="rect">
            <a:avLst/>
          </a:prstGeom>
        </p:spPr>
        <p:txBody>
          <a:bodyPr anchor="t" rtlCol="false" tIns="0" lIns="0" bIns="0" rIns="0">
            <a:spAutoFit/>
          </a:bodyPr>
          <a:lstStyle/>
          <a:p>
            <a:pPr algn="l">
              <a:lnSpc>
                <a:spcPts val="1620"/>
              </a:lnSpc>
            </a:pPr>
            <a:r>
              <a:rPr lang="en-US" sz="1350" b="true">
                <a:solidFill>
                  <a:srgbClr val="6E5BAA"/>
                </a:solidFill>
                <a:latin typeface="Lato Bold"/>
                <a:ea typeface="Lato Bold"/>
                <a:cs typeface="Lato Bold"/>
                <a:sym typeface="Lato Bold"/>
              </a:rPr>
              <a:t>Web/Mobile app developer </a:t>
            </a:r>
          </a:p>
        </p:txBody>
      </p:sp>
      <p:sp>
        <p:nvSpPr>
          <p:cNvPr name="TextBox 23" id="23"/>
          <p:cNvSpPr txBox="true"/>
          <p:nvPr/>
        </p:nvSpPr>
        <p:spPr>
          <a:xfrm rot="0">
            <a:off x="6943725" y="5757862"/>
            <a:ext cx="4305617"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daily lesson loop for small, approachable practice sessions.</a:t>
            </a:r>
          </a:p>
        </p:txBody>
      </p:sp>
      <p:grpSp>
        <p:nvGrpSpPr>
          <p:cNvPr name="Group 24" id="24"/>
          <p:cNvGrpSpPr/>
          <p:nvPr/>
        </p:nvGrpSpPr>
        <p:grpSpPr>
          <a:xfrm rot="0">
            <a:off x="12137231" y="4064794"/>
            <a:ext cx="4943475" cy="3729038"/>
            <a:chOff x="0" y="0"/>
            <a:chExt cx="6591300" cy="4972050"/>
          </a:xfrm>
        </p:grpSpPr>
        <p:sp>
          <p:nvSpPr>
            <p:cNvPr name="Freeform 25" id="25"/>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sp>
      </p:grpSp>
      <p:grpSp>
        <p:nvGrpSpPr>
          <p:cNvPr name="Group 26" id="26"/>
          <p:cNvGrpSpPr/>
          <p:nvPr/>
        </p:nvGrpSpPr>
        <p:grpSpPr>
          <a:xfrm rot="0">
            <a:off x="12515850" y="4500562"/>
            <a:ext cx="714375" cy="714375"/>
            <a:chOff x="0" y="0"/>
            <a:chExt cx="952500" cy="952500"/>
          </a:xfrm>
        </p:grpSpPr>
        <p:sp>
          <p:nvSpPr>
            <p:cNvPr name="Freeform 27" id="2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E9B62"/>
            </a:solidFill>
            <a:ln cap="sq">
              <a:noFill/>
              <a:prstDash val="solid"/>
              <a:miter/>
            </a:ln>
          </p:spPr>
        </p:sp>
        <p:sp>
          <p:nvSpPr>
            <p:cNvPr name="TextBox 28" id="28"/>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true">
                  <a:solidFill>
                    <a:srgbClr val="FFF6E9"/>
                  </a:solidFill>
                  <a:latin typeface="Lato Bold"/>
                  <a:ea typeface="Lato Bold"/>
                  <a:cs typeface="Lato Bold"/>
                  <a:sym typeface="Lato Bold"/>
                </a:rPr>
                <a:t>3</a:t>
              </a:r>
            </a:p>
          </p:txBody>
        </p:sp>
      </p:grpSp>
      <p:sp>
        <p:nvSpPr>
          <p:cNvPr name="TextBox 29" id="29"/>
          <p:cNvSpPr txBox="true"/>
          <p:nvPr/>
        </p:nvSpPr>
        <p:spPr>
          <a:xfrm rot="0">
            <a:off x="13487400" y="4543425"/>
            <a:ext cx="3143250" cy="352425"/>
          </a:xfrm>
          <a:prstGeom prst="rect">
            <a:avLst/>
          </a:prstGeom>
        </p:spPr>
        <p:txBody>
          <a:bodyPr anchor="t" rtlCol="false" tIns="0" lIns="0" bIns="0" rIns="0">
            <a:spAutoFit/>
          </a:bodyPr>
          <a:lstStyle/>
          <a:p>
            <a:pPr algn="l">
              <a:lnSpc>
                <a:spcPts val="2835"/>
              </a:lnSpc>
            </a:pPr>
            <a:r>
              <a:rPr lang="en-US" sz="2362" b="true">
                <a:solidFill>
                  <a:srgbClr val="FFF6E9"/>
                </a:solidFill>
                <a:latin typeface="Lato Bold"/>
                <a:ea typeface="Lato Bold"/>
                <a:cs typeface="Lato Bold"/>
                <a:sym typeface="Lato Bold"/>
              </a:rPr>
              <a:t>Mostafa Kamal</a:t>
            </a:r>
          </a:p>
        </p:txBody>
      </p:sp>
      <p:sp>
        <p:nvSpPr>
          <p:cNvPr name="TextBox 30" id="30"/>
          <p:cNvSpPr txBox="true"/>
          <p:nvPr/>
        </p:nvSpPr>
        <p:spPr>
          <a:xfrm rot="0">
            <a:off x="13487400" y="5062537"/>
            <a:ext cx="3143250" cy="209550"/>
          </a:xfrm>
          <a:prstGeom prst="rect">
            <a:avLst/>
          </a:prstGeom>
        </p:spPr>
        <p:txBody>
          <a:bodyPr anchor="t" rtlCol="false" tIns="0" lIns="0" bIns="0" rIns="0">
            <a:spAutoFit/>
          </a:bodyPr>
          <a:lstStyle/>
          <a:p>
            <a:pPr algn="l">
              <a:lnSpc>
                <a:spcPts val="1620"/>
              </a:lnSpc>
            </a:pPr>
            <a:r>
              <a:rPr lang="en-US" sz="1350" b="true">
                <a:solidFill>
                  <a:srgbClr val="2E9B62"/>
                </a:solidFill>
                <a:latin typeface="Lato Bold"/>
                <a:ea typeface="Lato Bold"/>
                <a:cs typeface="Lato Bold"/>
                <a:sym typeface="Lato Bold"/>
              </a:rPr>
              <a:t>Web app assistant developer</a:t>
            </a:r>
          </a:p>
        </p:txBody>
      </p:sp>
      <p:sp>
        <p:nvSpPr>
          <p:cNvPr name="TextBox 31" id="31"/>
          <p:cNvSpPr txBox="true"/>
          <p:nvPr/>
        </p:nvSpPr>
        <p:spPr>
          <a:xfrm rot="0">
            <a:off x="12515850" y="5715000"/>
            <a:ext cx="434340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Shapes the public story, visual identity, and first touchpoint for Bataa.</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Team roles · supplied in the Bataa brief</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NEXT MILESTONE</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16</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sp>
      <p:sp>
        <p:nvSpPr>
          <p:cNvPr name="TextBox 6" id="6"/>
          <p:cNvSpPr txBox="true"/>
          <p:nvPr/>
        </p:nvSpPr>
        <p:spPr>
          <a:xfrm rot="0">
            <a:off x="914400" y="1590675"/>
            <a:ext cx="11102269" cy="895350"/>
          </a:xfrm>
          <a:prstGeom prst="rect">
            <a:avLst/>
          </a:prstGeom>
        </p:spPr>
        <p:txBody>
          <a:bodyPr anchor="t" rtlCol="false" tIns="0" lIns="0" bIns="0" rIns="0">
            <a:spAutoFit/>
          </a:bodyPr>
          <a:lstStyle/>
          <a:p>
            <a:pPr algn="l">
              <a:lnSpc>
                <a:spcPts val="7038"/>
              </a:lnSpc>
            </a:pPr>
            <a:r>
              <a:rPr lang="en-US" sz="5865" b="true">
                <a:solidFill>
                  <a:srgbClr val="2D180B"/>
                </a:solidFill>
                <a:latin typeface="Lato Bold"/>
                <a:ea typeface="Lato Bold"/>
                <a:cs typeface="Lato Bold"/>
                <a:sym typeface="Lato Bold"/>
              </a:rPr>
              <a:t>The next milestone is a real pilot.</a:t>
            </a:r>
          </a:p>
        </p:txBody>
      </p:sp>
      <p:sp>
        <p:nvSpPr>
          <p:cNvPr name="TextBox 7" id="7"/>
          <p:cNvSpPr txBox="true"/>
          <p:nvPr/>
        </p:nvSpPr>
        <p:spPr>
          <a:xfrm rot="0">
            <a:off x="971550" y="2928938"/>
            <a:ext cx="9802176" cy="361950"/>
          </a:xfrm>
          <a:prstGeom prst="rect">
            <a:avLst/>
          </a:prstGeom>
        </p:spPr>
        <p:txBody>
          <a:bodyPr anchor="t" rtlCol="false" tIns="0" lIns="0" bIns="0" rIns="0">
            <a:spAutoFit/>
          </a:bodyPr>
          <a:lstStyle/>
          <a:p>
            <a:pPr algn="l">
              <a:lnSpc>
                <a:spcPts val="2896"/>
              </a:lnSpc>
            </a:pPr>
            <a:r>
              <a:rPr lang="en-US" sz="2413">
                <a:solidFill>
                  <a:srgbClr val="2D180B"/>
                </a:solidFill>
                <a:latin typeface="Lato"/>
                <a:ea typeface="Lato"/>
                <a:cs typeface="Lato"/>
                <a:sym typeface="Lato"/>
              </a:rPr>
              <a:t>Prove that one doable action can become a habit and a finished skill.</a:t>
            </a:r>
          </a:p>
        </p:txBody>
      </p:sp>
      <p:grpSp>
        <p:nvGrpSpPr>
          <p:cNvPr name="Group 8" id="8"/>
          <p:cNvGrpSpPr/>
          <p:nvPr/>
        </p:nvGrpSpPr>
        <p:grpSpPr>
          <a:xfrm rot="0">
            <a:off x="992981" y="4564856"/>
            <a:ext cx="9872662" cy="3371850"/>
            <a:chOff x="0" y="0"/>
            <a:chExt cx="13163550" cy="4495800"/>
          </a:xfrm>
        </p:grpSpPr>
        <p:sp>
          <p:nvSpPr>
            <p:cNvPr name="Freeform 9" id="9"/>
            <p:cNvSpPr/>
            <p:nvPr/>
          </p:nvSpPr>
          <p:spPr>
            <a:xfrm flipH="false" flipV="false" rot="0">
              <a:off x="0" y="0"/>
              <a:ext cx="13163423" cy="4495800"/>
            </a:xfrm>
            <a:custGeom>
              <a:avLst/>
              <a:gdLst/>
              <a:ahLst/>
              <a:cxnLst/>
              <a:rect r="r" b="b" t="t" l="l"/>
              <a:pathLst>
                <a:path h="4495800" w="13163423">
                  <a:moveTo>
                    <a:pt x="0" y="459105"/>
                  </a:moveTo>
                  <a:cubicBezTo>
                    <a:pt x="0" y="205613"/>
                    <a:pt x="205613" y="0"/>
                    <a:pt x="459105" y="0"/>
                  </a:cubicBezTo>
                  <a:lnTo>
                    <a:pt x="12704318" y="0"/>
                  </a:lnTo>
                  <a:cubicBezTo>
                    <a:pt x="12957937" y="0"/>
                    <a:pt x="13163423" y="205613"/>
                    <a:pt x="13163423" y="459105"/>
                  </a:cubicBezTo>
                  <a:lnTo>
                    <a:pt x="13163423" y="4036695"/>
                  </a:lnTo>
                  <a:cubicBezTo>
                    <a:pt x="13163423" y="4290314"/>
                    <a:pt x="12957810" y="4495800"/>
                    <a:pt x="12704318" y="4495800"/>
                  </a:cubicBezTo>
                  <a:lnTo>
                    <a:pt x="459105" y="4495800"/>
                  </a:lnTo>
                  <a:cubicBezTo>
                    <a:pt x="205613" y="4495800"/>
                    <a:pt x="0" y="4290187"/>
                    <a:pt x="0" y="4036695"/>
                  </a:cubicBezTo>
                  <a:close/>
                </a:path>
              </a:pathLst>
            </a:custGeom>
            <a:solidFill>
              <a:srgbClr val="F78A17"/>
            </a:solidFill>
            <a:ln w="14288" cap="sq">
              <a:solidFill>
                <a:srgbClr val="FFB557"/>
              </a:solidFill>
              <a:prstDash val="solid"/>
              <a:miter/>
            </a:ln>
          </p:spPr>
        </p:sp>
      </p:grpSp>
      <p:grpSp>
        <p:nvGrpSpPr>
          <p:cNvPr name="Group 10" id="10"/>
          <p:cNvGrpSpPr/>
          <p:nvPr/>
        </p:nvGrpSpPr>
        <p:grpSpPr>
          <a:xfrm rot="0">
            <a:off x="1428750" y="4972050"/>
            <a:ext cx="457200" cy="457200"/>
            <a:chOff x="0" y="0"/>
            <a:chExt cx="609600" cy="609600"/>
          </a:xfrm>
        </p:grpSpPr>
        <p:sp>
          <p:nvSpPr>
            <p:cNvPr name="Freeform 11" id="1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2" id="1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01</a:t>
              </a:r>
            </a:p>
          </p:txBody>
        </p:sp>
      </p:grpSp>
      <p:sp>
        <p:nvSpPr>
          <p:cNvPr name="TextBox 13" id="13"/>
          <p:cNvSpPr txBox="true"/>
          <p:nvPr/>
        </p:nvSpPr>
        <p:spPr>
          <a:xfrm rot="0">
            <a:off x="2143125" y="498633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Beginner mobile path</a:t>
            </a:r>
          </a:p>
        </p:txBody>
      </p:sp>
      <p:sp>
        <p:nvSpPr>
          <p:cNvPr name="TextBox 14" id="14"/>
          <p:cNvSpPr txBox="true"/>
          <p:nvPr/>
        </p:nvSpPr>
        <p:spPr>
          <a:xfrm rot="0">
            <a:off x="5929312" y="4991100"/>
            <a:ext cx="4286250" cy="35242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Ship the first week of simple daily tasks</a:t>
            </a:r>
          </a:p>
        </p:txBody>
      </p:sp>
      <p:grpSp>
        <p:nvGrpSpPr>
          <p:cNvPr name="Group 15" id="15"/>
          <p:cNvGrpSpPr/>
          <p:nvPr/>
        </p:nvGrpSpPr>
        <p:grpSpPr>
          <a:xfrm rot="0">
            <a:off x="1428750" y="5915025"/>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17" id="17"/>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02</a:t>
              </a:r>
            </a:p>
          </p:txBody>
        </p:sp>
      </p:grpSp>
      <p:sp>
        <p:nvSpPr>
          <p:cNvPr name="TextBox 18" id="18"/>
          <p:cNvSpPr txBox="true"/>
          <p:nvPr/>
        </p:nvSpPr>
        <p:spPr>
          <a:xfrm rot="0">
            <a:off x="2143125" y="5929312"/>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Desktop agent pilot</a:t>
            </a:r>
          </a:p>
        </p:txBody>
      </p:sp>
      <p:sp>
        <p:nvSpPr>
          <p:cNvPr name="TextBox 19" id="19"/>
          <p:cNvSpPr txBox="true"/>
          <p:nvPr/>
        </p:nvSpPr>
        <p:spPr>
          <a:xfrm rot="0">
            <a:off x="5929312" y="5943600"/>
            <a:ext cx="4286250" cy="342900"/>
          </a:xfrm>
          <a:prstGeom prst="rect">
            <a:avLst/>
          </a:prstGeom>
        </p:spPr>
        <p:txBody>
          <a:bodyPr anchor="t" rtlCol="false" tIns="0" lIns="0" bIns="0" rIns="0">
            <a:spAutoFit/>
          </a:bodyPr>
          <a:lstStyle/>
          <a:p>
            <a:pPr algn="l">
              <a:lnSpc>
                <a:spcPts val="1976"/>
              </a:lnSpc>
            </a:pPr>
            <a:r>
              <a:rPr lang="en-US" sz="1647">
                <a:solidFill>
                  <a:srgbClr val="2D180B"/>
                </a:solidFill>
                <a:latin typeface="Lato"/>
                <a:ea typeface="Lato"/>
                <a:cs typeface="Lato"/>
                <a:sym typeface="Lato"/>
              </a:rPr>
              <a:t>Guide one real workflow with safe user control</a:t>
            </a:r>
          </a:p>
        </p:txBody>
      </p:sp>
      <p:grpSp>
        <p:nvGrpSpPr>
          <p:cNvPr name="Group 20" id="20"/>
          <p:cNvGrpSpPr/>
          <p:nvPr/>
        </p:nvGrpSpPr>
        <p:grpSpPr>
          <a:xfrm rot="0">
            <a:off x="1428750" y="6858000"/>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sp>
        <p:sp>
          <p:nvSpPr>
            <p:cNvPr name="TextBox 22" id="2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true">
                  <a:solidFill>
                    <a:srgbClr val="C45300"/>
                  </a:solidFill>
                  <a:latin typeface="Lato Bold"/>
                  <a:ea typeface="Lato Bold"/>
                  <a:cs typeface="Lato Bold"/>
                  <a:sym typeface="Lato Bold"/>
                </a:rPr>
                <a:t>03</a:t>
              </a:r>
            </a:p>
          </p:txBody>
        </p:sp>
      </p:grpSp>
      <p:sp>
        <p:nvSpPr>
          <p:cNvPr name="TextBox 23" id="23"/>
          <p:cNvSpPr txBox="true"/>
          <p:nvPr/>
        </p:nvSpPr>
        <p:spPr>
          <a:xfrm rot="0">
            <a:off x="2143125" y="6872288"/>
            <a:ext cx="3429000" cy="314325"/>
          </a:xfrm>
          <a:prstGeom prst="rect">
            <a:avLst/>
          </a:prstGeom>
        </p:spPr>
        <p:txBody>
          <a:bodyPr anchor="t" rtlCol="false" tIns="0" lIns="0" bIns="0" rIns="0">
            <a:spAutoFit/>
          </a:bodyPr>
          <a:lstStyle/>
          <a:p>
            <a:pPr algn="l">
              <a:lnSpc>
                <a:spcPts val="2474"/>
              </a:lnSpc>
            </a:pPr>
            <a:r>
              <a:rPr lang="en-US" sz="2062" b="true">
                <a:solidFill>
                  <a:srgbClr val="2D180B"/>
                </a:solidFill>
                <a:latin typeface="Lato Bold"/>
                <a:ea typeface="Lato Bold"/>
                <a:cs typeface="Lato Bold"/>
                <a:sym typeface="Lato Bold"/>
              </a:rPr>
              <a:t>Partner pilots</a:t>
            </a:r>
          </a:p>
        </p:txBody>
      </p:sp>
      <p:sp>
        <p:nvSpPr>
          <p:cNvPr name="TextBox 24" id="24"/>
          <p:cNvSpPr txBox="true"/>
          <p:nvPr/>
        </p:nvSpPr>
        <p:spPr>
          <a:xfrm rot="0">
            <a:off x="5929312" y="6877050"/>
            <a:ext cx="4286250" cy="52387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Test a creator course and an institutional path</a:t>
            </a:r>
          </a:p>
        </p:txBody>
      </p:sp>
      <p:sp>
        <p:nvSpPr>
          <p:cNvPr name="TextBox 25" id="25"/>
          <p:cNvSpPr txBox="true"/>
          <p:nvPr/>
        </p:nvSpPr>
        <p:spPr>
          <a:xfrm rot="0">
            <a:off x="1000125" y="8929688"/>
            <a:ext cx="11430000" cy="514350"/>
          </a:xfrm>
          <a:prstGeom prst="rect">
            <a:avLst/>
          </a:prstGeom>
        </p:spPr>
        <p:txBody>
          <a:bodyPr anchor="t" rtlCol="false" tIns="0" lIns="0" bIns="0" rIns="0">
            <a:spAutoFit/>
          </a:bodyPr>
          <a:lstStyle/>
          <a:p>
            <a:pPr algn="l">
              <a:lnSpc>
                <a:spcPts val="3779"/>
              </a:lnSpc>
            </a:pPr>
            <a:r>
              <a:rPr lang="en-US" sz="3150" b="true">
                <a:solidFill>
                  <a:srgbClr val="2D180B"/>
                </a:solidFill>
                <a:latin typeface="Lato Bold"/>
                <a:ea typeface="Lato Bold"/>
                <a:cs typeface="Lato Bold"/>
                <a:sym typeface="Lato Bold"/>
              </a:rPr>
              <a:t>Bataa gives every learner a next step.</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Close with a specific pilot ask · replace with contact details before presenting</a:t>
            </a:r>
          </a:p>
        </p:txBody>
      </p:sp>
      <p:grpSp>
        <p:nvGrpSpPr>
          <p:cNvPr name="Group 27" id="27"/>
          <p:cNvGrpSpPr/>
          <p:nvPr/>
        </p:nvGrpSpPr>
        <p:grpSpPr>
          <a:xfrm rot="0">
            <a:off x="13390094" y="4862409"/>
            <a:ext cx="2656670" cy="2656670"/>
            <a:chOff x="0" y="0"/>
            <a:chExt cx="990600" cy="990600"/>
          </a:xfrm>
        </p:grpSpPr>
        <p:sp>
          <p:nvSpPr>
            <p:cNvPr name="Freeform 28" id="28"/>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2D180B"/>
            </a:solidFill>
            <a:ln cap="sq">
              <a:noFill/>
              <a:prstDash val="solid"/>
              <a:miter/>
            </a:ln>
          </p:spPr>
        </p:sp>
        <p:sp>
          <p:nvSpPr>
            <p:cNvPr name="TextBox 29" id="29"/>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b="true" sz="2812">
                  <a:solidFill>
                    <a:srgbClr val="2D180B"/>
                  </a:solidFill>
                  <a:latin typeface="Lato Bold"/>
                  <a:ea typeface="Lato Bold"/>
                  <a:cs typeface="Lato Bold"/>
                  <a:sym typeface="Lato Bold"/>
                </a:rPr>
                <a:t>→</a:t>
              </a:r>
            </a:p>
          </p:txBody>
        </p:sp>
      </p:grpSp>
      <p:sp>
        <p:nvSpPr>
          <p:cNvPr name="TextBox 30" id="30"/>
          <p:cNvSpPr txBox="true"/>
          <p:nvPr/>
        </p:nvSpPr>
        <p:spPr>
          <a:xfrm rot="0">
            <a:off x="13634423" y="4785851"/>
            <a:ext cx="2168014" cy="2529349"/>
          </a:xfrm>
          <a:prstGeom prst="rect">
            <a:avLst/>
          </a:prstGeom>
        </p:spPr>
        <p:txBody>
          <a:bodyPr anchor="t" rtlCol="false" tIns="0" lIns="0" bIns="0" rIns="0">
            <a:spAutoFit/>
          </a:bodyPr>
          <a:lstStyle/>
          <a:p>
            <a:pPr algn="ctr">
              <a:lnSpc>
                <a:spcPts val="20485"/>
              </a:lnSpc>
              <a:spcBef>
                <a:spcPct val="0"/>
              </a:spcBef>
            </a:pPr>
            <a:r>
              <a:rPr lang="en-US" b="true" sz="17070">
                <a:solidFill>
                  <a:srgbClr val="FFFFFF"/>
                </a:solidFill>
                <a:latin typeface="Lato Bold"/>
                <a:ea typeface="Lato Bold"/>
                <a:cs typeface="Lato Bold"/>
                <a:sym typeface="Lato Bold"/>
              </a:rPr>
              <a:t>→</a:t>
            </a:r>
          </a:p>
        </p:txBody>
      </p:sp>
      <p:sp>
        <p:nvSpPr>
          <p:cNvPr name="TextBox 31" id="31"/>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true">
                <a:solidFill>
                  <a:srgbClr val="2D180B"/>
                </a:solidFill>
                <a:latin typeface="Lato Bold"/>
                <a:ea typeface="Lato Bold"/>
                <a:cs typeface="Lato Bold"/>
                <a:sym typeface="Lato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true">
                <a:solidFill>
                  <a:srgbClr val="FF8500"/>
                </a:solidFill>
                <a:latin typeface="Lato Bold"/>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true">
                <a:solidFill>
                  <a:srgbClr val="D7BDA9"/>
                </a:solidFill>
                <a:latin typeface="Lato Bold"/>
                <a:ea typeface="Lato Bold"/>
                <a:cs typeface="Lato Bold"/>
                <a:sym typeface="Lato Bold"/>
              </a:rPr>
              <a:t>STAY CONNECTED</a:t>
            </a:r>
          </a:p>
        </p:txBody>
      </p:sp>
      <p:sp>
        <p:nvSpPr>
          <p:cNvPr name="TextBox 4" id="4"/>
          <p:cNvSpPr txBox="true"/>
          <p:nvPr/>
        </p:nvSpPr>
        <p:spPr>
          <a:xfrm rot="0">
            <a:off x="16859250" y="442912"/>
            <a:ext cx="514350" cy="476250"/>
          </a:xfrm>
          <a:prstGeom prst="rect">
            <a:avLst/>
          </a:prstGeom>
        </p:spPr>
        <p:txBody>
          <a:bodyPr anchor="t" rtlCol="false" tIns="0" lIns="0" bIns="0" rIns="0">
            <a:spAutoFit/>
          </a:bodyPr>
          <a:lstStyle/>
          <a:p>
            <a:pPr algn="r">
              <a:lnSpc>
                <a:spcPts val="1889"/>
              </a:lnSpc>
            </a:pPr>
            <a:r>
              <a:rPr lang="en-US" sz="1575" b="true">
                <a:solidFill>
                  <a:srgbClr val="FFF6E9"/>
                </a:solidFill>
                <a:latin typeface="Lato Bold"/>
                <a:ea typeface="Lato Bold"/>
                <a:cs typeface="Lato Bold"/>
                <a:sym typeface="Lato Bold"/>
              </a:rPr>
              <a:t>15</a:t>
            </a:r>
          </a:p>
          <a:p>
            <a:pPr algn="r">
              <a:lnSpc>
                <a:spcPts val="1889"/>
              </a:lnSpc>
            </a:pP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grpSp>
        <p:nvGrpSpPr>
          <p:cNvPr name="Group 6" id="6"/>
          <p:cNvGrpSpPr/>
          <p:nvPr/>
        </p:nvGrpSpPr>
        <p:grpSpPr>
          <a:xfrm rot="0">
            <a:off x="971550" y="1685925"/>
            <a:ext cx="2171700" cy="428625"/>
            <a:chOff x="0" y="0"/>
            <a:chExt cx="2895600" cy="571500"/>
          </a:xfrm>
        </p:grpSpPr>
        <p:sp>
          <p:nvSpPr>
            <p:cNvPr name="Freeform 7" id="7"/>
            <p:cNvSpPr/>
            <p:nvPr/>
          </p:nvSpPr>
          <p:spPr>
            <a:xfrm flipH="false" flipV="false" rot="0">
              <a:off x="0" y="0"/>
              <a:ext cx="2895600" cy="571500"/>
            </a:xfrm>
            <a:custGeom>
              <a:avLst/>
              <a:gdLst/>
              <a:ahLst/>
              <a:cxnLst/>
              <a:rect r="r" b="b" t="t" l="l"/>
              <a:pathLst>
                <a:path h="571500" w="2895600">
                  <a:moveTo>
                    <a:pt x="0" y="285750"/>
                  </a:moveTo>
                  <a:cubicBezTo>
                    <a:pt x="0" y="127889"/>
                    <a:pt x="127889" y="0"/>
                    <a:pt x="285750" y="0"/>
                  </a:cubicBezTo>
                  <a:lnTo>
                    <a:pt x="2609850" y="0"/>
                  </a:lnTo>
                  <a:cubicBezTo>
                    <a:pt x="2767711" y="0"/>
                    <a:pt x="2895600" y="127889"/>
                    <a:pt x="2895600" y="285750"/>
                  </a:cubicBezTo>
                  <a:cubicBezTo>
                    <a:pt x="2895600" y="443611"/>
                    <a:pt x="2767711" y="571500"/>
                    <a:pt x="2609850" y="571500"/>
                  </a:cubicBezTo>
                  <a:lnTo>
                    <a:pt x="285750" y="571500"/>
                  </a:lnTo>
                  <a:cubicBezTo>
                    <a:pt x="127889" y="571500"/>
                    <a:pt x="0" y="443611"/>
                    <a:pt x="0" y="285750"/>
                  </a:cubicBezTo>
                  <a:close/>
                </a:path>
              </a:pathLst>
            </a:custGeom>
            <a:solidFill>
              <a:srgbClr val="FF8500"/>
            </a:solidFill>
            <a:ln cap="sq">
              <a:noFill/>
              <a:prstDash val="solid"/>
              <a:miter/>
            </a:ln>
          </p:spPr>
        </p:sp>
        <p:sp>
          <p:nvSpPr>
            <p:cNvPr name="TextBox 8" id="8"/>
            <p:cNvSpPr txBox="true"/>
            <p:nvPr/>
          </p:nvSpPr>
          <p:spPr>
            <a:xfrm>
              <a:off x="0" y="0"/>
              <a:ext cx="2895600" cy="571500"/>
            </a:xfrm>
            <a:prstGeom prst="rect">
              <a:avLst/>
            </a:prstGeom>
          </p:spPr>
          <p:txBody>
            <a:bodyPr anchor="ctr" rtlCol="false" tIns="50800" lIns="50800" bIns="50800" rIns="50800"/>
            <a:lstStyle/>
            <a:p>
              <a:pPr algn="ctr">
                <a:lnSpc>
                  <a:spcPts val="1723"/>
                </a:lnSpc>
              </a:pPr>
              <a:r>
                <a:rPr lang="en-US" sz="1436" b="true">
                  <a:solidFill>
                    <a:srgbClr val="FFFFFF"/>
                  </a:solidFill>
                  <a:latin typeface="Lato Bold"/>
                  <a:ea typeface="Lato Bold"/>
                  <a:cs typeface="Lato Bold"/>
                  <a:sym typeface="Lato Bold"/>
                </a:rPr>
                <a:t>FOLLOW THE BUILD</a:t>
              </a:r>
            </a:p>
          </p:txBody>
        </p:sp>
      </p:grpSp>
      <p:sp>
        <p:nvSpPr>
          <p:cNvPr name="TextBox 9" id="9"/>
          <p:cNvSpPr txBox="true"/>
          <p:nvPr/>
        </p:nvSpPr>
        <p:spPr>
          <a:xfrm rot="0">
            <a:off x="971550" y="2457450"/>
            <a:ext cx="8715375" cy="1743075"/>
          </a:xfrm>
          <a:prstGeom prst="rect">
            <a:avLst/>
          </a:prstGeom>
        </p:spPr>
        <p:txBody>
          <a:bodyPr anchor="t" rtlCol="false" tIns="0" lIns="0" bIns="0" rIns="0">
            <a:spAutoFit/>
          </a:bodyPr>
          <a:lstStyle/>
          <a:p>
            <a:pPr algn="l">
              <a:lnSpc>
                <a:spcPts val="6862"/>
              </a:lnSpc>
            </a:pPr>
            <a:r>
              <a:rPr lang="en-US" sz="5718" b="true">
                <a:solidFill>
                  <a:srgbClr val="FFF6E9"/>
                </a:solidFill>
                <a:latin typeface="Lato Bold"/>
                <a:ea typeface="Lato Bold"/>
                <a:cs typeface="Lato Bold"/>
                <a:sym typeface="Lato Bold"/>
              </a:rPr>
              <a:t>Keep building</a:t>
            </a:r>
          </a:p>
          <a:p>
            <a:pPr algn="l">
              <a:lnSpc>
                <a:spcPts val="6862"/>
              </a:lnSpc>
            </a:pPr>
            <a:r>
              <a:rPr lang="en-US" sz="5718" b="true">
                <a:solidFill>
                  <a:srgbClr val="FFF6E9"/>
                </a:solidFill>
                <a:latin typeface="Lato Bold"/>
                <a:ea typeface="Lato Bold"/>
                <a:cs typeface="Lato Bold"/>
                <a:sym typeface="Lato Bold"/>
              </a:rPr>
              <a:t>with Bataa</a:t>
            </a:r>
          </a:p>
        </p:txBody>
      </p:sp>
      <p:sp>
        <p:nvSpPr>
          <p:cNvPr name="TextBox 10" id="10"/>
          <p:cNvSpPr txBox="true"/>
          <p:nvPr/>
        </p:nvSpPr>
        <p:spPr>
          <a:xfrm rot="0">
            <a:off x="1000125" y="4457700"/>
            <a:ext cx="7929562" cy="828675"/>
          </a:xfrm>
          <a:prstGeom prst="rect">
            <a:avLst/>
          </a:prstGeom>
        </p:spPr>
        <p:txBody>
          <a:bodyPr anchor="t" rtlCol="false" tIns="0" lIns="0" bIns="0" rIns="0">
            <a:spAutoFit/>
          </a:bodyPr>
          <a:lstStyle/>
          <a:p>
            <a:pPr algn="l">
              <a:lnSpc>
                <a:spcPts val="2835"/>
              </a:lnSpc>
            </a:pPr>
            <a:r>
              <a:rPr lang="en-US" sz="2362">
                <a:solidFill>
                  <a:srgbClr val="E3CDBB"/>
                </a:solidFill>
                <a:latin typeface="Lato"/>
                <a:ea typeface="Lato"/>
                <a:cs typeface="Lato"/>
                <a:sym typeface="Lato"/>
              </a:rPr>
              <a:t>Follow product updates, new lessons, and the next Bataa launch.</a:t>
            </a:r>
          </a:p>
        </p:txBody>
      </p:sp>
      <p:grpSp>
        <p:nvGrpSpPr>
          <p:cNvPr name="Group 11" id="11"/>
          <p:cNvGrpSpPr/>
          <p:nvPr/>
        </p:nvGrpSpPr>
        <p:grpSpPr>
          <a:xfrm rot="0">
            <a:off x="964406" y="5993606"/>
            <a:ext cx="8443912" cy="2128838"/>
            <a:chOff x="0" y="0"/>
            <a:chExt cx="11258550" cy="2838450"/>
          </a:xfrm>
        </p:grpSpPr>
        <p:sp>
          <p:nvSpPr>
            <p:cNvPr name="Freeform 12" id="12"/>
            <p:cNvSpPr/>
            <p:nvPr/>
          </p:nvSpPr>
          <p:spPr>
            <a:xfrm flipH="false" flipV="false" rot="0">
              <a:off x="0" y="0"/>
              <a:ext cx="11258550" cy="2838450"/>
            </a:xfrm>
            <a:custGeom>
              <a:avLst/>
              <a:gdLst/>
              <a:ahLst/>
              <a:cxnLst/>
              <a:rect r="r" b="b" t="t" l="l"/>
              <a:pathLst>
                <a:path h="2838450" w="11258550">
                  <a:moveTo>
                    <a:pt x="0" y="460248"/>
                  </a:moveTo>
                  <a:cubicBezTo>
                    <a:pt x="0" y="206121"/>
                    <a:pt x="206121" y="0"/>
                    <a:pt x="460248" y="0"/>
                  </a:cubicBezTo>
                  <a:lnTo>
                    <a:pt x="10798302" y="0"/>
                  </a:lnTo>
                  <a:cubicBezTo>
                    <a:pt x="11052556" y="0"/>
                    <a:pt x="11258550" y="206121"/>
                    <a:pt x="11258550" y="460248"/>
                  </a:cubicBezTo>
                  <a:lnTo>
                    <a:pt x="11258550" y="2378202"/>
                  </a:lnTo>
                  <a:cubicBezTo>
                    <a:pt x="11258550" y="2632456"/>
                    <a:pt x="11052429" y="2838450"/>
                    <a:pt x="10798302" y="2838450"/>
                  </a:cubicBezTo>
                  <a:lnTo>
                    <a:pt x="460248" y="2838450"/>
                  </a:lnTo>
                  <a:cubicBezTo>
                    <a:pt x="206121" y="2838450"/>
                    <a:pt x="0" y="2632329"/>
                    <a:pt x="0" y="2378202"/>
                  </a:cubicBezTo>
                  <a:close/>
                </a:path>
              </a:pathLst>
            </a:custGeom>
            <a:solidFill>
              <a:srgbClr val="FF8500"/>
            </a:solidFill>
            <a:ln w="14288" cap="sq">
              <a:solidFill>
                <a:srgbClr val="FF8500"/>
              </a:solidFill>
              <a:prstDash val="solid"/>
              <a:miter/>
            </a:ln>
          </p:spPr>
        </p:sp>
      </p:grpSp>
      <p:sp>
        <p:nvSpPr>
          <p:cNvPr name="TextBox 13" id="13"/>
          <p:cNvSpPr txBox="true"/>
          <p:nvPr/>
        </p:nvSpPr>
        <p:spPr>
          <a:xfrm rot="0">
            <a:off x="1428750" y="6419850"/>
            <a:ext cx="1600200" cy="295275"/>
          </a:xfrm>
          <a:prstGeom prst="rect">
            <a:avLst/>
          </a:prstGeom>
        </p:spPr>
        <p:txBody>
          <a:bodyPr anchor="t" rtlCol="false" tIns="0" lIns="0" bIns="0" rIns="0">
            <a:spAutoFit/>
          </a:bodyPr>
          <a:lstStyle/>
          <a:p>
            <a:pPr algn="l">
              <a:lnSpc>
                <a:spcPts val="1620"/>
              </a:lnSpc>
            </a:pPr>
            <a:r>
              <a:rPr lang="en-US" sz="1350" b="true">
                <a:solidFill>
                  <a:srgbClr val="2D180B"/>
                </a:solidFill>
                <a:latin typeface="Lato Bold"/>
                <a:ea typeface="Lato Bold"/>
                <a:cs typeface="Lato Bold"/>
                <a:sym typeface="Lato Bold"/>
              </a:rPr>
              <a:t>START HERE</a:t>
            </a:r>
          </a:p>
        </p:txBody>
      </p:sp>
      <p:sp>
        <p:nvSpPr>
          <p:cNvPr name="TextBox 14" id="14"/>
          <p:cNvSpPr txBox="true"/>
          <p:nvPr/>
        </p:nvSpPr>
        <p:spPr>
          <a:xfrm rot="0">
            <a:off x="1428750" y="6905625"/>
            <a:ext cx="6000750" cy="809625"/>
          </a:xfrm>
          <a:prstGeom prst="rect">
            <a:avLst/>
          </a:prstGeom>
        </p:spPr>
        <p:txBody>
          <a:bodyPr anchor="t" rtlCol="false" tIns="0" lIns="0" bIns="0" rIns="0">
            <a:spAutoFit/>
          </a:bodyPr>
          <a:lstStyle/>
          <a:p>
            <a:pPr algn="l">
              <a:lnSpc>
                <a:spcPts val="5805"/>
              </a:lnSpc>
            </a:pPr>
            <a:r>
              <a:rPr lang="en-US" sz="4837" b="true">
                <a:solidFill>
                  <a:srgbClr val="2D180B"/>
                </a:solidFill>
                <a:latin typeface="Lato Bold"/>
                <a:ea typeface="Lato Bold"/>
                <a:cs typeface="Lato Bold"/>
                <a:sym typeface="Lato Bold"/>
              </a:rPr>
              <a:t>bataa.app</a:t>
            </a:r>
          </a:p>
        </p:txBody>
      </p:sp>
      <p:grpSp>
        <p:nvGrpSpPr>
          <p:cNvPr name="Group 15" id="15"/>
          <p:cNvGrpSpPr/>
          <p:nvPr/>
        </p:nvGrpSpPr>
        <p:grpSpPr>
          <a:xfrm rot="0">
            <a:off x="8143875" y="6686550"/>
            <a:ext cx="742950" cy="742950"/>
            <a:chOff x="0" y="0"/>
            <a:chExt cx="990600" cy="990600"/>
          </a:xfrm>
        </p:grpSpPr>
        <p:sp>
          <p:nvSpPr>
            <p:cNvPr name="Freeform 16" id="16"/>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FFF6E9"/>
            </a:solidFill>
            <a:ln cap="sq">
              <a:noFill/>
              <a:prstDash val="solid"/>
              <a:miter/>
            </a:ln>
          </p:spPr>
        </p:sp>
        <p:sp>
          <p:nvSpPr>
            <p:cNvPr name="TextBox 17" id="17"/>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sz="2812" b="true">
                  <a:solidFill>
                    <a:srgbClr val="C45300"/>
                  </a:solidFill>
                  <a:latin typeface="Lato Bold"/>
                  <a:ea typeface="Lato Bold"/>
                  <a:cs typeface="Lato Bold"/>
                  <a:sym typeface="Lato Bold"/>
                </a:rPr>
                <a:t>→</a:t>
              </a:r>
            </a:p>
          </p:txBody>
        </p:sp>
      </p:grpSp>
      <p:grpSp>
        <p:nvGrpSpPr>
          <p:cNvPr name="Group 18" id="18"/>
          <p:cNvGrpSpPr/>
          <p:nvPr/>
        </p:nvGrpSpPr>
        <p:grpSpPr>
          <a:xfrm rot="0">
            <a:off x="10679906" y="1678781"/>
            <a:ext cx="6700838" cy="6443662"/>
            <a:chOff x="0" y="0"/>
            <a:chExt cx="8934450" cy="8591550"/>
          </a:xfrm>
        </p:grpSpPr>
        <p:sp>
          <p:nvSpPr>
            <p:cNvPr name="Freeform 19" id="19"/>
            <p:cNvSpPr/>
            <p:nvPr/>
          </p:nvSpPr>
          <p:spPr>
            <a:xfrm flipH="false" flipV="false" rot="0">
              <a:off x="0" y="0"/>
              <a:ext cx="8934450" cy="8591550"/>
            </a:xfrm>
            <a:custGeom>
              <a:avLst/>
              <a:gdLst/>
              <a:ahLst/>
              <a:cxnLst/>
              <a:rect r="r" b="b" t="t" l="l"/>
              <a:pathLst>
                <a:path h="8591550" w="8934450">
                  <a:moveTo>
                    <a:pt x="0" y="458216"/>
                  </a:moveTo>
                  <a:cubicBezTo>
                    <a:pt x="0" y="205105"/>
                    <a:pt x="205105" y="0"/>
                    <a:pt x="458216" y="0"/>
                  </a:cubicBezTo>
                  <a:lnTo>
                    <a:pt x="8476234" y="0"/>
                  </a:lnTo>
                  <a:cubicBezTo>
                    <a:pt x="8729345" y="0"/>
                    <a:pt x="8934450" y="205105"/>
                    <a:pt x="8934450" y="458216"/>
                  </a:cubicBezTo>
                  <a:lnTo>
                    <a:pt x="8934450" y="8133334"/>
                  </a:lnTo>
                  <a:cubicBezTo>
                    <a:pt x="8934450" y="8386445"/>
                    <a:pt x="8729345" y="8591550"/>
                    <a:pt x="8476234" y="8591550"/>
                  </a:cubicBezTo>
                  <a:lnTo>
                    <a:pt x="458216" y="8591550"/>
                  </a:lnTo>
                  <a:cubicBezTo>
                    <a:pt x="205105" y="8591550"/>
                    <a:pt x="0" y="8386445"/>
                    <a:pt x="0" y="8133334"/>
                  </a:cubicBezTo>
                  <a:close/>
                </a:path>
              </a:pathLst>
            </a:custGeom>
            <a:solidFill>
              <a:srgbClr val="2B1910"/>
            </a:solidFill>
            <a:ln w="14288" cap="sq">
              <a:solidFill>
                <a:srgbClr val="5D3B27"/>
              </a:solidFill>
              <a:prstDash val="solid"/>
              <a:miter/>
            </a:ln>
          </p:spPr>
        </p:sp>
      </p:grpSp>
      <p:sp>
        <p:nvSpPr>
          <p:cNvPr name="TextBox 20" id="20"/>
          <p:cNvSpPr txBox="true"/>
          <p:nvPr/>
        </p:nvSpPr>
        <p:spPr>
          <a:xfrm rot="0">
            <a:off x="11258550" y="2233613"/>
            <a:ext cx="5143500" cy="466725"/>
          </a:xfrm>
          <a:prstGeom prst="rect">
            <a:avLst/>
          </a:prstGeom>
        </p:spPr>
        <p:txBody>
          <a:bodyPr anchor="t" rtlCol="false" tIns="0" lIns="0" bIns="0" rIns="0">
            <a:spAutoFit/>
          </a:bodyPr>
          <a:lstStyle/>
          <a:p>
            <a:pPr algn="l">
              <a:lnSpc>
                <a:spcPts val="3375"/>
              </a:lnSpc>
            </a:pPr>
            <a:r>
              <a:rPr lang="en-US" sz="2812" b="true">
                <a:solidFill>
                  <a:srgbClr val="FFF6E9"/>
                </a:solidFill>
                <a:latin typeface="Lato Bold"/>
                <a:ea typeface="Lato Bold"/>
                <a:cs typeface="Lato Bold"/>
                <a:sym typeface="Lato Bold"/>
              </a:rPr>
              <a:t>Follow us on social</a:t>
            </a:r>
          </a:p>
        </p:txBody>
      </p:sp>
      <p:sp>
        <p:nvSpPr>
          <p:cNvPr name="TextBox 21" id="21"/>
          <p:cNvSpPr txBox="true"/>
          <p:nvPr/>
        </p:nvSpPr>
        <p:spPr>
          <a:xfrm rot="0">
            <a:off x="11258550" y="2757488"/>
            <a:ext cx="4286250" cy="300038"/>
          </a:xfrm>
          <a:prstGeom prst="rect">
            <a:avLst/>
          </a:prstGeom>
        </p:spPr>
        <p:txBody>
          <a:bodyPr anchor="t" rtlCol="false" tIns="0" lIns="0" bIns="0" rIns="0">
            <a:spAutoFit/>
          </a:bodyPr>
          <a:lstStyle/>
          <a:p>
            <a:pPr algn="l">
              <a:lnSpc>
                <a:spcPts val="1889"/>
              </a:lnSpc>
            </a:pPr>
            <a:r>
              <a:rPr lang="en-US" sz="1575">
                <a:solidFill>
                  <a:srgbClr val="C9A98C"/>
                </a:solidFill>
                <a:latin typeface="Lato"/>
                <a:ea typeface="Lato"/>
                <a:cs typeface="Lato"/>
                <a:sym typeface="Lato"/>
              </a:rPr>
              <a:t>Find Bataa on every platform</a:t>
            </a:r>
          </a:p>
        </p:txBody>
      </p:sp>
      <p:grpSp>
        <p:nvGrpSpPr>
          <p:cNvPr name="Group 22" id="22"/>
          <p:cNvGrpSpPr/>
          <p:nvPr/>
        </p:nvGrpSpPr>
        <p:grpSpPr>
          <a:xfrm rot="0">
            <a:off x="11251406" y="3307556"/>
            <a:ext cx="5557838" cy="871538"/>
            <a:chOff x="0" y="0"/>
            <a:chExt cx="7410450" cy="1162050"/>
          </a:xfrm>
        </p:grpSpPr>
        <p:sp>
          <p:nvSpPr>
            <p:cNvPr name="Freeform 23" id="23"/>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24" id="24"/>
          <p:cNvGrpSpPr/>
          <p:nvPr/>
        </p:nvGrpSpPr>
        <p:grpSpPr>
          <a:xfrm rot="0">
            <a:off x="11515725" y="3457575"/>
            <a:ext cx="571500" cy="571500"/>
            <a:chOff x="0" y="0"/>
            <a:chExt cx="762000" cy="762000"/>
          </a:xfrm>
        </p:grpSpPr>
        <p:sp>
          <p:nvSpPr>
            <p:cNvPr name="Freeform 25" id="25"/>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26" id="26"/>
          <p:cNvGrpSpPr/>
          <p:nvPr/>
        </p:nvGrpSpPr>
        <p:grpSpPr>
          <a:xfrm rot="0">
            <a:off x="11658600" y="3600450"/>
            <a:ext cx="285750" cy="285750"/>
            <a:chOff x="0" y="0"/>
            <a:chExt cx="381000" cy="381000"/>
          </a:xfrm>
        </p:grpSpPr>
        <p:sp>
          <p:nvSpPr>
            <p:cNvPr name="Freeform 27" id="27"/>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3"/>
              <a:stretch>
                <a:fillRect l="0" t="0" r="0" b="0"/>
              </a:stretch>
            </a:blipFill>
          </p:spPr>
        </p:sp>
      </p:grpSp>
      <p:sp>
        <p:nvSpPr>
          <p:cNvPr name="TextBox 28" id="28"/>
          <p:cNvSpPr txBox="true"/>
          <p:nvPr/>
        </p:nvSpPr>
        <p:spPr>
          <a:xfrm rot="0">
            <a:off x="12372975" y="34575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TIKTOK</a:t>
            </a:r>
          </a:p>
        </p:txBody>
      </p:sp>
      <p:sp>
        <p:nvSpPr>
          <p:cNvPr name="TextBox 29" id="29">
            <a:hlinkClick r:id="rId7"/>
          </p:cNvPr>
          <p:cNvSpPr txBox="true"/>
          <p:nvPr/>
        </p:nvSpPr>
        <p:spPr>
          <a:xfrm rot="0">
            <a:off x="12372975" y="3719513"/>
            <a:ext cx="3143250" cy="338137"/>
          </a:xfrm>
          <a:prstGeom prst="rect">
            <a:avLst/>
          </a:prstGeom>
        </p:spPr>
        <p:txBody>
          <a:bodyPr anchor="t" rtlCol="false" tIns="0" lIns="0" bIns="0" rIns="0">
            <a:spAutoFit/>
          </a:bodyPr>
          <a:lstStyle/>
          <a:p>
            <a:pPr algn="l">
              <a:lnSpc>
                <a:spcPts val="2430"/>
              </a:lnSpc>
            </a:pPr>
            <a:r>
              <a:t>@bataa_app</a:t>
            </a:r>
          </a:p>
        </p:txBody>
      </p:sp>
      <p:grpSp>
        <p:nvGrpSpPr>
          <p:cNvPr name="Group 30" id="30"/>
          <p:cNvGrpSpPr/>
          <p:nvPr/>
        </p:nvGrpSpPr>
        <p:grpSpPr>
          <a:xfrm rot="0">
            <a:off x="11251406" y="4393406"/>
            <a:ext cx="5557838" cy="871538"/>
            <a:chOff x="0" y="0"/>
            <a:chExt cx="7410450" cy="1162050"/>
          </a:xfrm>
        </p:grpSpPr>
        <p:sp>
          <p:nvSpPr>
            <p:cNvPr name="Freeform 31" id="31"/>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32" id="32"/>
          <p:cNvGrpSpPr/>
          <p:nvPr/>
        </p:nvGrpSpPr>
        <p:grpSpPr>
          <a:xfrm rot="0">
            <a:off x="11515725" y="4543425"/>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34" id="34"/>
          <p:cNvGrpSpPr/>
          <p:nvPr/>
        </p:nvGrpSpPr>
        <p:grpSpPr>
          <a:xfrm rot="0">
            <a:off x="11658600" y="4686300"/>
            <a:ext cx="285750" cy="285750"/>
            <a:chOff x="0" y="0"/>
            <a:chExt cx="381000" cy="381000"/>
          </a:xfrm>
        </p:grpSpPr>
        <p:sp>
          <p:nvSpPr>
            <p:cNvPr name="Freeform 35" id="35"/>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4"/>
              <a:stretch>
                <a:fillRect l="0" t="0" r="0" b="0"/>
              </a:stretch>
            </a:blipFill>
          </p:spPr>
        </p:sp>
      </p:grpSp>
      <p:sp>
        <p:nvSpPr>
          <p:cNvPr name="TextBox 36" id="36"/>
          <p:cNvSpPr txBox="true"/>
          <p:nvPr/>
        </p:nvSpPr>
        <p:spPr>
          <a:xfrm rot="0">
            <a:off x="12372975" y="45434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INSTAGRAM</a:t>
            </a:r>
          </a:p>
        </p:txBody>
      </p:sp>
      <p:sp>
        <p:nvSpPr>
          <p:cNvPr name="TextBox 37" id="37">
            <a:hlinkClick r:id="rId8"/>
          </p:cNvPr>
          <p:cNvSpPr txBox="true"/>
          <p:nvPr/>
        </p:nvSpPr>
        <p:spPr>
          <a:xfrm rot="0">
            <a:off x="12372975" y="4805363"/>
            <a:ext cx="3143250" cy="338137"/>
          </a:xfrm>
          <a:prstGeom prst="rect">
            <a:avLst/>
          </a:prstGeom>
        </p:spPr>
        <p:txBody>
          <a:bodyPr anchor="t" rtlCol="false" tIns="0" lIns="0" bIns="0" rIns="0">
            <a:spAutoFit/>
          </a:bodyPr>
          <a:lstStyle/>
          <a:p>
            <a:pPr algn="l">
              <a:lnSpc>
                <a:spcPts val="2430"/>
              </a:lnSpc>
            </a:pPr>
            <a:r>
              <a:t>@bataa_app</a:t>
            </a:r>
          </a:p>
        </p:txBody>
      </p:sp>
      <p:grpSp>
        <p:nvGrpSpPr>
          <p:cNvPr name="Group 38" id="38"/>
          <p:cNvGrpSpPr/>
          <p:nvPr/>
        </p:nvGrpSpPr>
        <p:grpSpPr>
          <a:xfrm rot="0">
            <a:off x="11251406" y="5479256"/>
            <a:ext cx="5557838" cy="871538"/>
            <a:chOff x="0" y="0"/>
            <a:chExt cx="7410450" cy="1162050"/>
          </a:xfrm>
        </p:grpSpPr>
        <p:sp>
          <p:nvSpPr>
            <p:cNvPr name="Freeform 39" id="39"/>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0" id="40"/>
          <p:cNvGrpSpPr/>
          <p:nvPr/>
        </p:nvGrpSpPr>
        <p:grpSpPr>
          <a:xfrm rot="0">
            <a:off x="11515725" y="5629275"/>
            <a:ext cx="571500" cy="571500"/>
            <a:chOff x="0" y="0"/>
            <a:chExt cx="762000" cy="762000"/>
          </a:xfrm>
        </p:grpSpPr>
        <p:sp>
          <p:nvSpPr>
            <p:cNvPr name="Freeform 41" id="41"/>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42" id="42"/>
          <p:cNvGrpSpPr/>
          <p:nvPr/>
        </p:nvGrpSpPr>
        <p:grpSpPr>
          <a:xfrm rot="0">
            <a:off x="11658600" y="5772150"/>
            <a:ext cx="285750" cy="285750"/>
            <a:chOff x="0" y="0"/>
            <a:chExt cx="381000" cy="381000"/>
          </a:xfrm>
        </p:grpSpPr>
        <p:sp>
          <p:nvSpPr>
            <p:cNvPr name="Freeform 43" id="43"/>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sp>
      </p:grpSp>
      <p:sp>
        <p:nvSpPr>
          <p:cNvPr name="TextBox 44" id="44"/>
          <p:cNvSpPr txBox="true"/>
          <p:nvPr/>
        </p:nvSpPr>
        <p:spPr>
          <a:xfrm rot="0">
            <a:off x="12372975" y="562927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FACEBOOK</a:t>
            </a:r>
          </a:p>
        </p:txBody>
      </p:sp>
      <p:sp>
        <p:nvSpPr>
          <p:cNvPr name="TextBox 45" id="45">
            <a:hlinkClick r:id="rId9"/>
          </p:cNvPr>
          <p:cNvSpPr txBox="true"/>
          <p:nvPr/>
        </p:nvSpPr>
        <p:spPr>
          <a:xfrm rot="0">
            <a:off x="12372975" y="5891213"/>
            <a:ext cx="3143250" cy="338137"/>
          </a:xfrm>
          <a:prstGeom prst="rect">
            <a:avLst/>
          </a:prstGeom>
        </p:spPr>
        <p:txBody>
          <a:bodyPr anchor="t" rtlCol="false" tIns="0" lIns="0" bIns="0" rIns="0">
            <a:spAutoFit/>
          </a:bodyPr>
          <a:lstStyle/>
          <a:p>
            <a:pPr algn="l">
              <a:lnSpc>
                <a:spcPts val="2430"/>
              </a:lnSpc>
            </a:pPr>
            <a:r>
              <a:t>Bataa</a:t>
            </a:r>
          </a:p>
        </p:txBody>
      </p:sp>
      <p:grpSp>
        <p:nvGrpSpPr>
          <p:cNvPr name="Group 46" id="46"/>
          <p:cNvGrpSpPr/>
          <p:nvPr/>
        </p:nvGrpSpPr>
        <p:grpSpPr>
          <a:xfrm rot="0">
            <a:off x="11251406" y="6565106"/>
            <a:ext cx="5557838" cy="871538"/>
            <a:chOff x="0" y="0"/>
            <a:chExt cx="7410450" cy="1162050"/>
          </a:xfrm>
        </p:grpSpPr>
        <p:sp>
          <p:nvSpPr>
            <p:cNvPr name="Freeform 47" id="47"/>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sp>
      </p:grpSp>
      <p:grpSp>
        <p:nvGrpSpPr>
          <p:cNvPr name="Group 48" id="48"/>
          <p:cNvGrpSpPr/>
          <p:nvPr/>
        </p:nvGrpSpPr>
        <p:grpSpPr>
          <a:xfrm rot="0">
            <a:off x="11515725" y="6715125"/>
            <a:ext cx="571500" cy="571500"/>
            <a:chOff x="0" y="0"/>
            <a:chExt cx="762000" cy="762000"/>
          </a:xfrm>
        </p:grpSpPr>
        <p:sp>
          <p:nvSpPr>
            <p:cNvPr name="Freeform 49" id="49"/>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sp>
      </p:grpSp>
      <p:grpSp>
        <p:nvGrpSpPr>
          <p:cNvPr name="Group 50" id="50"/>
          <p:cNvGrpSpPr/>
          <p:nvPr/>
        </p:nvGrpSpPr>
        <p:grpSpPr>
          <a:xfrm rot="0">
            <a:off x="11658600" y="6858000"/>
            <a:ext cx="285750" cy="285750"/>
            <a:chOff x="0" y="0"/>
            <a:chExt cx="381000" cy="381000"/>
          </a:xfrm>
        </p:grpSpPr>
        <p:sp>
          <p:nvSpPr>
            <p:cNvPr name="Freeform 51" id="5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6"/>
              <a:stretch>
                <a:fillRect l="0" t="0" r="0" b="0"/>
              </a:stretch>
            </a:blipFill>
          </p:spPr>
        </p:sp>
      </p:grpSp>
      <p:sp>
        <p:nvSpPr>
          <p:cNvPr name="TextBox 52" id="52"/>
          <p:cNvSpPr txBox="true"/>
          <p:nvPr/>
        </p:nvSpPr>
        <p:spPr>
          <a:xfrm rot="0">
            <a:off x="12372975" y="6715125"/>
            <a:ext cx="2571750" cy="257175"/>
          </a:xfrm>
          <a:prstGeom prst="rect">
            <a:avLst/>
          </a:prstGeom>
        </p:spPr>
        <p:txBody>
          <a:bodyPr anchor="t" rtlCol="false" tIns="0" lIns="0" bIns="0" rIns="0">
            <a:spAutoFit/>
          </a:bodyPr>
          <a:lstStyle/>
          <a:p>
            <a:pPr algn="l">
              <a:lnSpc>
                <a:spcPts val="1485"/>
              </a:lnSpc>
            </a:pPr>
            <a:r>
              <a:rPr lang="en-US" sz="1237" b="true">
                <a:solidFill>
                  <a:srgbClr val="FFD5A3"/>
                </a:solidFill>
                <a:latin typeface="Lato Bold"/>
                <a:ea typeface="Lato Bold"/>
                <a:cs typeface="Lato Bold"/>
                <a:sym typeface="Lato Bold"/>
              </a:rPr>
              <a:t>LINKEDIN</a:t>
            </a:r>
          </a:p>
        </p:txBody>
      </p:sp>
      <p:sp>
        <p:nvSpPr>
          <p:cNvPr name="TextBox 53" id="53">
            <a:hlinkClick r:id="rId10"/>
          </p:cNvPr>
          <p:cNvSpPr txBox="true"/>
          <p:nvPr/>
        </p:nvSpPr>
        <p:spPr>
          <a:xfrm rot="0">
            <a:off x="12372975" y="6977063"/>
            <a:ext cx="3143250" cy="338137"/>
          </a:xfrm>
          <a:prstGeom prst="rect">
            <a:avLst/>
          </a:prstGeom>
        </p:spPr>
        <p:txBody>
          <a:bodyPr anchor="t" rtlCol="false" tIns="0" lIns="0" bIns="0" rIns="0">
            <a:spAutoFit/>
          </a:bodyPr>
          <a:lstStyle/>
          <a:p>
            <a:pPr algn="l">
              <a:lnSpc>
                <a:spcPts val="2430"/>
              </a:lnSpc>
            </a:pPr>
            <a:r>
              <a:t>bataaap</a:t>
            </a:r>
          </a:p>
        </p:txBody>
      </p:sp>
      <p:sp>
        <p:nvSpPr>
          <p:cNvPr name="TextBox 54" id="54"/>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t>Official verified channels · Follow Bataa on TikTok, Instagram, Facebook, and LinkedIn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100B"/>
        </a:solidFill>
        <a:effectLst/>
      </p:bgPr>
    </p:bg>
    <p:spTree>
      <p:nvGrpSpPr>
        <p:cNvPr id="1" name=""/>
        <p:cNvGrpSpPr/>
        <p:nvPr/>
      </p:nvGrpSpPr>
      <p:grpSpPr/>
      <p:sp>
        <p:nvSpPr>
          <p:cNvPr id="2" name="TextBox 1"/>
          <p:cNvSpPr txBox="1"/>
          <p:nvPr/>
        </p:nvSpPr>
        <p:spPr>
          <a:xfrm>
            <a:off x="914400" y="390049"/>
            <a:ext cx="1857375" cy="457200"/>
          </a:xfrm>
          <a:prstGeom prst="rect">
            <a:avLst/>
          </a:prstGeom>
          <a:noFill/>
        </p:spPr>
        <p:txBody>
          <a:bodyPr wrap="none" lIns="0" tIns="0" rIns="0" bIns="0">
            <a:spAutoFit/>
          </a:bodyPr>
          <a:lstStyle/>
          <a:p>
            <a:r>
              <a:rPr sz="2587" b="1">
                <a:solidFill>
                  <a:srgbClr val="FF8500"/>
                </a:solidFill>
                <a:latin typeface="Lato Bold"/>
              </a:rPr>
              <a:t>bataa</a:t>
            </a:r>
          </a:p>
        </p:txBody>
      </p:sp>
      <p:sp>
        <p:nvSpPr>
          <p:cNvPr id="3" name="TextBox 2"/>
          <p:cNvSpPr txBox="1"/>
          <p:nvPr/>
        </p:nvSpPr>
        <p:spPr>
          <a:xfrm>
            <a:off x="3171825" y="461486"/>
            <a:ext cx="7143750" cy="342900"/>
          </a:xfrm>
          <a:prstGeom prst="rect">
            <a:avLst/>
          </a:prstGeom>
          <a:noFill/>
        </p:spPr>
        <p:txBody>
          <a:bodyPr wrap="none" lIns="0" tIns="0" rIns="0" bIns="0">
            <a:spAutoFit/>
          </a:bodyPr>
          <a:lstStyle/>
          <a:p>
            <a:r>
              <a:rPr sz="1350" b="1">
                <a:solidFill>
                  <a:srgbClr val="D7BDA9"/>
                </a:solidFill>
                <a:latin typeface="Lato Bold"/>
              </a:rPr>
              <a:t>JUDGES WALKTHROUGH &amp; Q&amp;A</a:t>
            </a:r>
          </a:p>
        </p:txBody>
      </p:sp>
      <p:sp>
        <p:nvSpPr>
          <p:cNvPr id="4" name="TextBox 3"/>
          <p:cNvSpPr txBox="1"/>
          <p:nvPr/>
        </p:nvSpPr>
        <p:spPr>
          <a:xfrm>
            <a:off x="16430625" y="442912"/>
            <a:ext cx="942975" cy="342900"/>
          </a:xfrm>
          <a:prstGeom prst="rect">
            <a:avLst/>
          </a:prstGeom>
          <a:noFill/>
        </p:spPr>
        <p:txBody>
          <a:bodyPr wrap="none" lIns="0" tIns="0" rIns="0" bIns="0">
            <a:spAutoFit/>
          </a:bodyPr>
          <a:lstStyle/>
          <a:p>
            <a:pPr algn="r"/>
            <a:r>
              <a:rPr sz="1575" b="1">
                <a:solidFill>
                  <a:srgbClr val="FFF6E9"/>
                </a:solidFill>
                <a:latin typeface="Lato Bold"/>
              </a:rPr>
              <a:t>16</a:t>
            </a:r>
          </a:p>
        </p:txBody>
      </p:sp>
      <p:sp>
        <p:nvSpPr>
          <p:cNvPr id="5" name="Rectangle 4"/>
          <p:cNvSpPr/>
          <p:nvPr/>
        </p:nvSpPr>
        <p:spPr>
          <a:xfrm>
            <a:off x="914400" y="985838"/>
            <a:ext cx="16459200" cy="14288"/>
          </a:xfrm>
          <a:prstGeom prst="rect">
            <a:avLst/>
          </a:prstGeom>
          <a:solidFill>
            <a:srgbClr val="5D3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71550" y="1600200"/>
            <a:ext cx="3714750" cy="457200"/>
          </a:xfrm>
          <a:prstGeom prst="roundRect">
            <a:avLst/>
          </a:prstGeom>
          <a:solidFill>
            <a:srgbClr val="FF8500"/>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200" b="1">
                <a:solidFill>
                  <a:srgbClr val="FFFFFF"/>
                </a:solidFill>
                <a:latin typeface="Lato Bold"/>
              </a:rPr>
              <a:t>▶  VIDEO DEMO &amp; FAQ</a:t>
            </a:r>
          </a:p>
        </p:txBody>
      </p:sp>
      <p:sp>
        <p:nvSpPr>
          <p:cNvPr id="7" name="TextBox 6"/>
          <p:cNvSpPr txBox="1"/>
          <p:nvPr/>
        </p:nvSpPr>
        <p:spPr>
          <a:xfrm>
            <a:off x="971550" y="2257425"/>
            <a:ext cx="8286750" cy="1785938"/>
          </a:xfrm>
          <a:prstGeom prst="rect">
            <a:avLst/>
          </a:prstGeom>
          <a:noFill/>
        </p:spPr>
        <p:txBody>
          <a:bodyPr wrap="square" lIns="0" tIns="0" rIns="0" bIns="0">
            <a:spAutoFit/>
          </a:bodyPr>
          <a:lstStyle/>
          <a:p>
            <a:pPr>
              <a:lnSpc>
                <a:spcPct val="110000"/>
              </a:lnSpc>
            </a:pPr>
            <a:r>
              <a:rPr sz="4000" b="1">
                <a:solidFill>
                  <a:srgbClr val="FFF6E9"/>
                </a:solidFill>
                <a:latin typeface="Lato Bold"/>
              </a:rPr>
              <a:t>See Bataa in action —
all questions answered fast.</a:t>
            </a:r>
          </a:p>
        </p:txBody>
      </p:sp>
      <p:sp>
        <p:nvSpPr>
          <p:cNvPr id="8" name="TextBox 7"/>
          <p:cNvSpPr txBox="1"/>
          <p:nvPr/>
        </p:nvSpPr>
        <p:spPr>
          <a:xfrm>
            <a:off x="971550" y="4229100"/>
            <a:ext cx="8215312" cy="928688"/>
          </a:xfrm>
          <a:prstGeom prst="rect">
            <a:avLst/>
          </a:prstGeom>
          <a:noFill/>
        </p:spPr>
        <p:txBody>
          <a:bodyPr wrap="square" lIns="0" tIns="0" rIns="0" bIns="0">
            <a:spAutoFit/>
          </a:bodyPr>
          <a:lstStyle/>
          <a:p>
            <a:pPr>
              <a:lnSpc>
                <a:spcPct val="120000"/>
              </a:lnSpc>
            </a:pPr>
            <a:r>
              <a:rPr sz="1600">
                <a:solidFill>
                  <a:srgbClr val="E3CDBB"/>
                </a:solidFill>
                <a:latin typeface="Lato"/>
              </a:rPr>
              <a:t>We recorded an official video walkthrough demonstrating the live product experience and directly answering every competition judge question in minutes.</a:t>
            </a:r>
          </a:p>
        </p:txBody>
      </p:sp>
      <p:sp>
        <p:nvSpPr>
          <p:cNvPr id="9" name="Rounded Rectangle 8">
            <a:hlinkClick r:id="rId2"/>
          </p:cNvPr>
          <p:cNvSpPr/>
          <p:nvPr/>
        </p:nvSpPr>
        <p:spPr>
          <a:xfrm>
            <a:off x="971550" y="5372100"/>
            <a:ext cx="8358188" cy="3514725"/>
          </a:xfrm>
          <a:prstGeom prst="roundRect">
            <a:avLst/>
          </a:prstGeom>
          <a:solidFill>
            <a:srgbClr val="FF8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a:hlinkClick r:id="rId2"/>
          </p:cNvPr>
          <p:cNvSpPr/>
          <p:nvPr/>
        </p:nvSpPr>
        <p:spPr>
          <a:xfrm>
            <a:off x="1371600" y="5657850"/>
            <a:ext cx="2786062" cy="371475"/>
          </a:xfrm>
          <a:prstGeom prst="roundRect">
            <a:avLst/>
          </a:prstGeom>
          <a:solidFill>
            <a:srgbClr val="2D180B"/>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r>
              <a:rPr sz="1000" b="1">
                <a:solidFill>
                  <a:srgbClr val="FFF6E9"/>
                </a:solidFill>
                <a:latin typeface="Lato Bold"/>
              </a:rPr>
              <a:t>▶  YOUTUBE WALKTHROUGH</a:t>
            </a:r>
          </a:p>
        </p:txBody>
      </p:sp>
      <p:sp>
        <p:nvSpPr>
          <p:cNvPr id="11" name="TextBox 10">
            <a:hlinkClick r:id="rId2"/>
          </p:cNvPr>
          <p:cNvSpPr txBox="1"/>
          <p:nvPr/>
        </p:nvSpPr>
        <p:spPr>
          <a:xfrm>
            <a:off x="1371600" y="6115050"/>
            <a:ext cx="4857750" cy="600075"/>
          </a:xfrm>
          <a:prstGeom prst="rect">
            <a:avLst/>
          </a:prstGeom>
          <a:noFill/>
        </p:spPr>
        <p:txBody>
          <a:bodyPr wrap="none" lIns="0" tIns="0" rIns="0" bIns="0">
            <a:spAutoFit/>
          </a:bodyPr>
          <a:lstStyle/>
          <a:p>
            <a:r>
              <a:rPr sz="2800" b="1">
                <a:solidFill>
                  <a:srgbClr val="2D180B"/>
                </a:solidFill>
                <a:latin typeface="Lato Bold"/>
              </a:rPr>
              <a:t>youtu.be/4Lz5fNhs49g</a:t>
            </a:r>
          </a:p>
        </p:txBody>
      </p:sp>
      <p:sp>
        <p:nvSpPr>
          <p:cNvPr id="12" name="TextBox 11"/>
          <p:cNvSpPr txBox="1"/>
          <p:nvPr/>
        </p:nvSpPr>
        <p:spPr>
          <a:xfrm>
            <a:off x="1371600" y="6858000"/>
            <a:ext cx="4929188" cy="1714500"/>
          </a:xfrm>
          <a:prstGeom prst="rect">
            <a:avLst/>
          </a:prstGeom>
          <a:noFill/>
        </p:spPr>
        <p:txBody>
          <a:bodyPr wrap="square" lIns="0" tIns="0" rIns="0" bIns="0">
            <a:spAutoFit/>
          </a:bodyPr>
          <a:lstStyle/>
          <a:p>
            <a:pPr>
              <a:lnSpc>
                <a:spcPct val="128000"/>
              </a:lnSpc>
            </a:pPr>
            <a:r>
              <a:rPr sz="1200">
                <a:solidFill>
                  <a:srgbClr val="2D180B"/>
                </a:solidFill>
                <a:latin typeface="Lato Bold"/>
              </a:rPr>
              <a:t>⚡ Fast-paced: direct answers in minutes</a:t>
            </a:r>
          </a:p>
          <a:p>
            <a:pPr>
              <a:lnSpc>
                <a:spcPct val="128000"/>
              </a:lnSpc>
            </a:pPr>
            <a:r>
              <a:rPr sz="1200">
                <a:solidFill>
                  <a:srgbClr val="2D180B"/>
                </a:solidFill>
                <a:latin typeface="Lato Bold"/>
              </a:rPr>
              <a:t>📱 Live mobile web dev practice in action</a:t>
            </a:r>
          </a:p>
          <a:p>
            <a:pPr>
              <a:lnSpc>
                <a:spcPct val="128000"/>
              </a:lnSpc>
            </a:pPr>
            <a:r>
              <a:rPr sz="1200">
                <a:solidFill>
                  <a:srgbClr val="2D180B"/>
                </a:solidFill>
                <a:latin typeface="Lato Bold"/>
              </a:rPr>
              <a:t>🤖 Contextual desktop AI tutor demonstrated</a:t>
            </a:r>
          </a:p>
          <a:p>
            <a:pPr>
              <a:lnSpc>
                <a:spcPct val="128000"/>
              </a:lnSpc>
            </a:pPr>
            <a:r>
              <a:rPr sz="1200">
                <a:solidFill>
                  <a:srgbClr val="2D180B"/>
                </a:solidFill>
                <a:latin typeface="Lato Bold"/>
              </a:rPr>
              <a:t>🎯 Direct answers to judges' evaluation criteria</a:t>
            </a:r>
          </a:p>
        </p:txBody>
      </p:sp>
      <p:sp>
        <p:nvSpPr>
          <p:cNvPr id="13" name="Rounded Rectangle 12">
            <a:hlinkClick r:id="rId2"/>
          </p:cNvPr>
          <p:cNvSpPr/>
          <p:nvPr/>
        </p:nvSpPr>
        <p:spPr>
          <a:xfrm>
            <a:off x="6657975" y="5657850"/>
            <a:ext cx="2371725" cy="2943225"/>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ataa_youtube_qr.png">
            <a:hlinkClick r:id="rId2"/>
          </p:cNvPr>
          <p:cNvPicPr>
            <a:picLocks noChangeAspect="1"/>
          </p:cNvPicPr>
          <p:nvPr/>
        </p:nvPicPr>
        <p:blipFill>
          <a:blip r:embed="rId3"/>
          <a:stretch>
            <a:fillRect/>
          </a:stretch>
        </p:blipFill>
        <p:spPr>
          <a:xfrm>
            <a:off x="6872288" y="5800725"/>
            <a:ext cx="1943100" cy="1943100"/>
          </a:xfrm>
          <a:prstGeom prst="rect">
            <a:avLst/>
          </a:prstGeom>
        </p:spPr>
      </p:pic>
      <p:sp>
        <p:nvSpPr>
          <p:cNvPr id="15" name="TextBox 14"/>
          <p:cNvSpPr txBox="1"/>
          <p:nvPr/>
        </p:nvSpPr>
        <p:spPr>
          <a:xfrm>
            <a:off x="6715125" y="7800975"/>
            <a:ext cx="2257425" cy="657225"/>
          </a:xfrm>
          <a:prstGeom prst="rect">
            <a:avLst/>
          </a:prstGeom>
          <a:noFill/>
        </p:spPr>
        <p:txBody>
          <a:bodyPr wrap="square" lIns="0" tIns="0" rIns="0" bIns="0">
            <a:spAutoFit/>
          </a:bodyPr>
          <a:lstStyle/>
          <a:p>
            <a:pPr algn="ctr"/>
            <a:r>
              <a:rPr sz="1050" b="1">
                <a:solidFill>
                  <a:srgbClr val="2D180B"/>
                </a:solidFill>
                <a:latin typeface="Lato Bold"/>
              </a:rPr>
              <a:t>SCAN OR CLICK</a:t>
            </a:r>
          </a:p>
          <a:p>
            <a:pPr algn="ctr"/>
            <a:r>
              <a:rPr sz="950">
                <a:solidFill>
                  <a:srgbClr val="6F4525"/>
                </a:solidFill>
                <a:latin typeface="Lato"/>
              </a:rPr>
              <a:t>Watch video instantly</a:t>
            </a:r>
          </a:p>
        </p:txBody>
      </p:sp>
      <p:sp>
        <p:nvSpPr>
          <p:cNvPr id="16" name="Rounded Rectangle 15"/>
          <p:cNvSpPr/>
          <p:nvPr/>
        </p:nvSpPr>
        <p:spPr>
          <a:xfrm>
            <a:off x="9715500" y="1600200"/>
            <a:ext cx="7643812" cy="7286625"/>
          </a:xfrm>
          <a:prstGeom prst="roundRect">
            <a:avLst/>
          </a:prstGeom>
          <a:solidFill>
            <a:srgbClr val="2B1910"/>
          </a:solidFill>
          <a:ln w="12700">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15550" y="1885950"/>
            <a:ext cx="6843712" cy="428625"/>
          </a:xfrm>
          <a:prstGeom prst="rect">
            <a:avLst/>
          </a:prstGeom>
          <a:noFill/>
        </p:spPr>
        <p:txBody>
          <a:bodyPr wrap="none" lIns="0" tIns="0" rIns="0" bIns="0">
            <a:spAutoFit/>
          </a:bodyPr>
          <a:lstStyle/>
          <a:p>
            <a:r>
              <a:rPr sz="2100" b="1">
                <a:solidFill>
                  <a:srgbClr val="FFF6E9"/>
                </a:solidFill>
                <a:latin typeface="Lato Bold"/>
              </a:rPr>
              <a:t>What Judges Will Learn in the Video</a:t>
            </a:r>
          </a:p>
        </p:txBody>
      </p:sp>
      <p:sp>
        <p:nvSpPr>
          <p:cNvPr id="18" name="TextBox 17"/>
          <p:cNvSpPr txBox="1"/>
          <p:nvPr/>
        </p:nvSpPr>
        <p:spPr>
          <a:xfrm>
            <a:off x="10115550" y="2357438"/>
            <a:ext cx="6843712" cy="314325"/>
          </a:xfrm>
          <a:prstGeom prst="rect">
            <a:avLst/>
          </a:prstGeom>
          <a:noFill/>
        </p:spPr>
        <p:txBody>
          <a:bodyPr wrap="none" lIns="0" tIns="0" rIns="0" bIns="0">
            <a:spAutoFit/>
          </a:bodyPr>
          <a:lstStyle/>
          <a:p>
            <a:r>
              <a:rPr sz="1300">
                <a:solidFill>
                  <a:srgbClr val="C9A98C"/>
                </a:solidFill>
                <a:latin typeface="Lato"/>
              </a:rPr>
              <a:t>Every evaluation topic addressed with live proof &amp; clear metrics</a:t>
            </a:r>
          </a:p>
        </p:txBody>
      </p:sp>
      <p:sp>
        <p:nvSpPr>
          <p:cNvPr id="19" name="Rounded Rectangle 18"/>
          <p:cNvSpPr/>
          <p:nvPr/>
        </p:nvSpPr>
        <p:spPr>
          <a:xfrm>
            <a:off x="10058400" y="28289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229850" y="32004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01</a:t>
            </a:r>
          </a:p>
        </p:txBody>
      </p:sp>
      <p:sp>
        <p:nvSpPr>
          <p:cNvPr id="21" name="TextBox 20"/>
          <p:cNvSpPr txBox="1"/>
          <p:nvPr/>
        </p:nvSpPr>
        <p:spPr>
          <a:xfrm>
            <a:off x="10972800" y="29860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SURFACES</a:t>
            </a:r>
          </a:p>
          <a:p>
            <a:pPr algn="l">
              <a:spcAft>
                <a:spcPts val="300"/>
              </a:spcAft>
            </a:pPr>
            <a:r>
              <a:rPr sz="1350" b="1">
                <a:solidFill>
                  <a:srgbClr val="FFF6E9"/>
                </a:solidFill>
                <a:latin typeface="Lato Bold"/>
              </a:rPr>
              <a:t>Live Dual-Surface Product Demo</a:t>
            </a:r>
          </a:p>
          <a:p>
            <a:pPr algn="l">
              <a:lnSpc>
                <a:spcPct val="115000"/>
              </a:lnSpc>
            </a:pPr>
            <a:r>
              <a:rPr sz="1100">
                <a:solidFill>
                  <a:srgbClr val="C9A98C"/>
                </a:solidFill>
                <a:latin typeface="Lato"/>
              </a:rPr>
              <a:t>Watch both daily mobile bite-sized coding tasks and the desktop contextual AI agent work seamlessly together.</a:t>
            </a:r>
          </a:p>
        </p:txBody>
      </p:sp>
      <p:sp>
        <p:nvSpPr>
          <p:cNvPr id="22" name="Rounded Rectangle 21"/>
          <p:cNvSpPr/>
          <p:nvPr/>
        </p:nvSpPr>
        <p:spPr>
          <a:xfrm>
            <a:off x="10058400" y="43148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29850" y="46863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02</a:t>
            </a:r>
          </a:p>
        </p:txBody>
      </p:sp>
      <p:sp>
        <p:nvSpPr>
          <p:cNvPr id="24" name="TextBox 23"/>
          <p:cNvSpPr txBox="1"/>
          <p:nvPr/>
        </p:nvSpPr>
        <p:spPr>
          <a:xfrm>
            <a:off x="10972800" y="44719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MOAT</a:t>
            </a:r>
          </a:p>
          <a:p>
            <a:pPr algn="l">
              <a:spcAft>
                <a:spcPts val="300"/>
              </a:spcAft>
            </a:pPr>
            <a:r>
              <a:rPr sz="1350" b="1">
                <a:solidFill>
                  <a:srgbClr val="FFF6E9"/>
                </a:solidFill>
                <a:latin typeface="Lato Bold"/>
              </a:rPr>
              <a:t>Physical Guidance vs. Passive Chatbots</a:t>
            </a:r>
          </a:p>
          <a:p>
            <a:pPr algn="l">
              <a:lnSpc>
                <a:spcPct val="115000"/>
              </a:lnSpc>
            </a:pPr>
            <a:r>
              <a:rPr sz="1100">
                <a:solidFill>
                  <a:srgbClr val="C9A98C"/>
                </a:solidFill>
                <a:latin typeface="Lato"/>
              </a:rPr>
              <a:t>See why generic AI chats fail learners, and how Bataa points on-screen and verifies actual learner actions.</a:t>
            </a:r>
          </a:p>
        </p:txBody>
      </p:sp>
      <p:sp>
        <p:nvSpPr>
          <p:cNvPr id="25" name="Rounded Rectangle 24"/>
          <p:cNvSpPr/>
          <p:nvPr/>
        </p:nvSpPr>
        <p:spPr>
          <a:xfrm>
            <a:off x="10058400" y="58007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229850" y="61722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03</a:t>
            </a:r>
          </a:p>
        </p:txBody>
      </p:sp>
      <p:sp>
        <p:nvSpPr>
          <p:cNvPr id="27" name="TextBox 26"/>
          <p:cNvSpPr txBox="1"/>
          <p:nvPr/>
        </p:nvSpPr>
        <p:spPr>
          <a:xfrm>
            <a:off x="10972800" y="59578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FAQ</a:t>
            </a:r>
          </a:p>
          <a:p>
            <a:pPr algn="l">
              <a:spcAft>
                <a:spcPts val="300"/>
              </a:spcAft>
            </a:pPr>
            <a:r>
              <a:rPr sz="1350" b="1">
                <a:solidFill>
                  <a:srgbClr val="FFF6E9"/>
                </a:solidFill>
                <a:latin typeface="Lato Bold"/>
              </a:rPr>
              <a:t>Key Evaluator &amp; Judge Questions Answered</a:t>
            </a:r>
          </a:p>
          <a:p>
            <a:pPr algn="l">
              <a:lnSpc>
                <a:spcPct val="115000"/>
              </a:lnSpc>
            </a:pPr>
            <a:r>
              <a:rPr sz="1100">
                <a:solidFill>
                  <a:srgbClr val="C9A98C"/>
                </a:solidFill>
                <a:latin typeface="Lato"/>
              </a:rPr>
              <a:t>Direct answers on learner retention, desktop sandbox safety, revenue roadmap, and Horus University pilot data.</a:t>
            </a:r>
          </a:p>
        </p:txBody>
      </p:sp>
      <p:sp>
        <p:nvSpPr>
          <p:cNvPr id="28" name="Rounded Rectangle 27"/>
          <p:cNvSpPr/>
          <p:nvPr/>
        </p:nvSpPr>
        <p:spPr>
          <a:xfrm>
            <a:off x="10058400" y="7286625"/>
            <a:ext cx="6958012" cy="1314450"/>
          </a:xfrm>
          <a:prstGeom prst="roundRect">
            <a:avLst/>
          </a:prstGeom>
          <a:solidFill>
            <a:srgbClr val="351F14"/>
          </a:solidFill>
          <a:ln w="9525">
            <a:solidFill>
              <a:srgbClr val="5D3B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229850" y="7658100"/>
            <a:ext cx="571500" cy="571500"/>
          </a:xfrm>
          <a:prstGeom prst="ellipse">
            <a:avLst/>
          </a:prstGeom>
          <a:solidFill>
            <a:srgbClr val="FFF6E9"/>
          </a:solidFill>
          <a:ln>
            <a:noFill/>
          </a:ln>
        </p:spPr>
        <p:style>
          <a:lnRef idx="1">
            <a:schemeClr val="accent1"/>
          </a:lnRef>
          <a:fillRef idx="3">
            <a:schemeClr val="accent1"/>
          </a:fillRef>
          <a:effectRef idx="2">
            <a:schemeClr val="accent1"/>
          </a:effectRef>
          <a:fontRef idx="minor">
            <a:schemeClr val="lt1"/>
          </a:fontRef>
        </p:style>
        <p:txBody>
          <a:bodyPr rtlCol="0" anchor="ctr" lIns="0" tIns="0" rIns="0" bIns="0" wrap="none"/>
          <a:lstStyle/>
          <a:p>
            <a:pPr algn="ctr"/>
            <a:r>
              <a:rPr sz="1300" b="1">
                <a:solidFill>
                  <a:srgbClr val="2D180B"/>
                </a:solidFill>
                <a:latin typeface="Lato Bold"/>
              </a:rPr>
              <a:t>04</a:t>
            </a:r>
          </a:p>
        </p:txBody>
      </p:sp>
      <p:sp>
        <p:nvSpPr>
          <p:cNvPr id="30" name="TextBox 29"/>
          <p:cNvSpPr txBox="1"/>
          <p:nvPr/>
        </p:nvSpPr>
        <p:spPr>
          <a:xfrm>
            <a:off x="10972800" y="7443788"/>
            <a:ext cx="5872162" cy="1057275"/>
          </a:xfrm>
          <a:prstGeom prst="rect">
            <a:avLst/>
          </a:prstGeom>
          <a:noFill/>
        </p:spPr>
        <p:txBody>
          <a:bodyPr wrap="square" anchor="t" lIns="0" tIns="0" rIns="0" bIns="0">
            <a:spAutoFit/>
          </a:bodyPr>
          <a:lstStyle/>
          <a:p>
            <a:pPr algn="l">
              <a:spcAft>
                <a:spcPts val="200"/>
              </a:spcAft>
            </a:pPr>
            <a:r>
              <a:rPr sz="1000" b="1">
                <a:solidFill>
                  <a:srgbClr val="FFD5A3"/>
                </a:solidFill>
                <a:latin typeface="Lato Bold"/>
              </a:rPr>
              <a:t>TRACTION</a:t>
            </a:r>
          </a:p>
          <a:p>
            <a:pPr algn="l">
              <a:spcAft>
                <a:spcPts val="300"/>
              </a:spcAft>
            </a:pPr>
            <a:r>
              <a:rPr sz="1350" b="1">
                <a:solidFill>
                  <a:srgbClr val="FFF6E9"/>
                </a:solidFill>
                <a:latin typeface="Lato Bold"/>
              </a:rPr>
              <a:t>Roadmap &amp; Validated Pilot Pipeline</a:t>
            </a:r>
          </a:p>
          <a:p>
            <a:pPr algn="l">
              <a:lnSpc>
                <a:spcPct val="115000"/>
              </a:lnSpc>
            </a:pPr>
            <a:r>
              <a:rPr sz="1100">
                <a:solidFill>
                  <a:srgbClr val="C9A98C"/>
                </a:solidFill>
                <a:latin typeface="Lato"/>
              </a:rPr>
              <a:t>Proof of demand from university students and our path to institutional and creator partnership rollouts.</a:t>
            </a:r>
          </a:p>
        </p:txBody>
      </p:sp>
      <p:sp>
        <p:nvSpPr>
          <p:cNvPr id="31" name="TextBox 30"/>
          <p:cNvSpPr txBox="1"/>
          <p:nvPr/>
        </p:nvSpPr>
        <p:spPr>
          <a:xfrm>
            <a:off x="914400" y="9744075"/>
            <a:ext cx="16459200" cy="257175"/>
          </a:xfrm>
          <a:prstGeom prst="rect">
            <a:avLst/>
          </a:prstGeom>
          <a:noFill/>
        </p:spPr>
        <p:txBody>
          <a:bodyPr wrap="none" lIns="0" tIns="0" rIns="0" bIns="0">
            <a:spAutoFit/>
          </a:bodyPr>
          <a:lstStyle/>
          <a:p>
            <a:r>
              <a:rPr sz="1100">
                <a:solidFill>
                  <a:srgbClr val="C9A98C"/>
                </a:solidFill>
                <a:latin typeface="Lato"/>
              </a:rPr>
              <a:t>Judge evaluation resource · Video Link: </a:t>
            </a:r>
            <a:r>
              <a:rPr sz="1100">
                <a:solidFill>
                  <a:srgbClr val="FFD5A3"/>
                </a:solidFill>
                <a:latin typeface="Lato Bold"/>
                <a:hlinkClick r:id="rId2"/>
              </a:rPr>
              <a:t>https://youtu.be/4Lz5fNhs49g</a:t>
            </a:r>
            <a:r>
              <a:rPr sz="1100">
                <a:solidFill>
                  <a:srgbClr val="C9A98C"/>
                </a:solidFill>
                <a:latin typeface="Lato"/>
              </a:rPr>
              <a:t> · All competition questions answered fast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DAHVrJxWoMQ</dc:identifier>
  <dcterms:modified xsi:type="dcterms:W3CDTF">2011-08-01T06:04:30Z</dcterms:modified>
  <cp:revision>1</cp:revision>
  <dc:title>bataa-pitch-deck-v2.pptx</dc:title>
</cp:coreProperties>
</file>